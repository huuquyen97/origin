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56" r:id="rId2"/>
    <p:sldId id="257" r:id="rId3"/>
    <p:sldId id="292" r:id="rId4"/>
    <p:sldId id="258" r:id="rId5"/>
    <p:sldId id="259" r:id="rId6"/>
    <p:sldId id="260" r:id="rId7"/>
    <p:sldId id="291"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90"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x="12192000" cy="6858000"/>
  <p:notesSz cx="6858000" cy="9144000"/>
  <p:embeddedFontLst>
    <p:embeddedFont>
      <p:font typeface="Quattrocento Sans" panose="020B0502050000020003"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jVSbsWyqOkhrmxdCDzp67zGVXJ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Hiểu EMS để làm gì → nhìn toàn cảnh 9 menu → đi lần lượt từng menu bằng tình huống → ghép lại → phần kỹ thuật và bán hàng.</a:t>
            </a:r>
            <a:endParaRPr/>
          </a:p>
        </p:txBody>
      </p:sp>
      <p:sp>
        <p:nvSpPr>
          <p:cNvPr id="99" name="Google Shape;99;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a:extLst>
            <a:ext uri="{FF2B5EF4-FFF2-40B4-BE49-F238E27FC236}">
              <a16:creationId xmlns:a16="http://schemas.microsoft.com/office/drawing/2014/main" id="{9CA5C0CB-625C-2A85-5365-6A112976062A}"/>
            </a:ext>
          </a:extLst>
        </p:cNvPr>
        <p:cNvGrpSpPr/>
        <p:nvPr/>
      </p:nvGrpSpPr>
      <p:grpSpPr>
        <a:xfrm>
          <a:off x="0" y="0"/>
          <a:ext cx="0" cy="0"/>
          <a:chOff x="0" y="0"/>
          <a:chExt cx="0" cy="0"/>
        </a:xfrm>
      </p:grpSpPr>
      <p:sp>
        <p:nvSpPr>
          <p:cNvPr id="973" name="Google Shape;973;p28:notes">
            <a:extLst>
              <a:ext uri="{FF2B5EF4-FFF2-40B4-BE49-F238E27FC236}">
                <a16:creationId xmlns:a16="http://schemas.microsoft.com/office/drawing/2014/main" id="{F65F2128-EA3F-D7B3-EE64-0134617221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p28:notes">
            <a:extLst>
              <a:ext uri="{FF2B5EF4-FFF2-40B4-BE49-F238E27FC236}">
                <a16:creationId xmlns:a16="http://schemas.microsoft.com/office/drawing/2014/main" id="{06EEBFA5-B887-4EE4-37C5-7222457BC8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975" name="Google Shape;975;p28:notes">
            <a:extLst>
              <a:ext uri="{FF2B5EF4-FFF2-40B4-BE49-F238E27FC236}">
                <a16:creationId xmlns:a16="http://schemas.microsoft.com/office/drawing/2014/main" id="{60282FD6-B395-DEE9-FAD6-D51A845E3F1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003179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h1e75b8713011cdf_2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h1e75b8713011cdf_2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Đọc to định nghĩa ở khung xanh – đây là câu Sales cần thuộc. 4 việc: Tổng hợp – Phân lớp – Phân cấp phân quyền – Truy xuất &amp; quản lý. Dòng “→ Module” cho thấy mỗi việc nằm ở menu nào, dẫn sang slide 9 menu.</a:t>
            </a:r>
            <a:endParaRPr/>
          </a:p>
        </p:txBody>
      </p:sp>
      <p:sp>
        <p:nvSpPr>
          <p:cNvPr id="125" name="Google Shape;125;h1e75b8713011cdf_2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Camera AI ngày nay đã tự nhận ra khuôn mặt, biển số, khói, đếm người… và đẩy về rất nhiều event. Nếu chỉ có từng dòng event như bên trái thì người dùng không trả lời được các câu hỏi bên phải. Hỏi khách: “Anh/chị có bao nhiêu camera? Khi cần biết một người đã đi qua những đâu thì mất bao lâu? Báo cáo lượt người/xe làm thế nào?”.</a:t>
            </a:r>
            <a:endParaRPr/>
          </a:p>
        </p:txBody>
      </p:sp>
      <p:sp>
        <p:nvSpPr>
          <p:cNvPr id="159" name="Google Shape;15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Đọc to định nghĩa ở khung xanh – đây là câu Sales cần thuộc. 4 việc: Tổng hợp – Phân lớp – Phân cấp phân quyền – Truy xuất &amp; quản lý. Dòng “→ Module” cho thấy mỗi việc nằm ở menu nào, dẫn sang slide 9 menu.</a:t>
            </a:r>
            <a:endParaRPr/>
          </a:p>
        </p:txBody>
      </p:sp>
      <p:sp>
        <p:nvSpPr>
          <p:cNvPr id="194" name="Google Shape;19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a:extLst>
            <a:ext uri="{FF2B5EF4-FFF2-40B4-BE49-F238E27FC236}">
              <a16:creationId xmlns:a16="http://schemas.microsoft.com/office/drawing/2014/main" id="{6298A6A0-950E-A657-5135-F18897C00C6D}"/>
            </a:ext>
          </a:extLst>
        </p:cNvPr>
        <p:cNvGrpSpPr/>
        <p:nvPr/>
      </p:nvGrpSpPr>
      <p:grpSpPr>
        <a:xfrm>
          <a:off x="0" y="0"/>
          <a:ext cx="0" cy="0"/>
          <a:chOff x="0" y="0"/>
          <a:chExt cx="0" cy="0"/>
        </a:xfrm>
      </p:grpSpPr>
      <p:sp>
        <p:nvSpPr>
          <p:cNvPr id="973" name="Google Shape;973;p28:notes">
            <a:extLst>
              <a:ext uri="{FF2B5EF4-FFF2-40B4-BE49-F238E27FC236}">
                <a16:creationId xmlns:a16="http://schemas.microsoft.com/office/drawing/2014/main" id="{05513FD3-3326-07B5-2DDC-70BFF98EA9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p28:notes">
            <a:extLst>
              <a:ext uri="{FF2B5EF4-FFF2-40B4-BE49-F238E27FC236}">
                <a16:creationId xmlns:a16="http://schemas.microsoft.com/office/drawing/2014/main" id="{C2EA140E-7FAD-A996-3B47-F35DE2BA0A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975" name="Google Shape;975;p28:notes">
            <a:extLst>
              <a:ext uri="{FF2B5EF4-FFF2-40B4-BE49-F238E27FC236}">
                <a16:creationId xmlns:a16="http://schemas.microsoft.com/office/drawing/2014/main" id="{49D8965B-7078-102E-BE2D-A3A1D00BA0A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9255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Thứ tự theo menu thật trên hệ thống. Nhóm 1–3 là nơi làm việc với event (xem, thống kê, đối chiếu). Nhóm 4–7 là phần thiết lập: ai dùng, dùng gì, thuộc cấp nào, camera nào – đây là nền phân cấp phân quyền. Nhóm 8–9 là cảnh báo: đặt luật và nhận cảnh báo. Các slide sau đi lần lượt từng menu theo đúng thứ tự này.</a:t>
            </a:r>
            <a:endParaRPr/>
          </a:p>
        </p:txBody>
      </p:sp>
      <p:sp>
        <p:nvSpPr>
          <p:cNvPr id="228" name="Google Shape;22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Vì sao không gộp mọi event vào một danh sách: mỗi loại có thông tin khác nhau nên phải tách để bộ lọc có ý nghĩa. Nắm 3 bước Danh sách → Chi tiết → Tra cứu liên quan là dùng được mọi loại sự kiện.</a:t>
            </a:r>
            <a:endParaRPr/>
          </a:p>
        </p:txBody>
      </p:sp>
      <p:sp>
        <p:nvSpPr>
          <p:cNvPr id="277" name="Google Shape;27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Bản chất: EMS biến mỗi lần camera thấy một khuôn mặt thành một bản ghi có thể tìm lại. Thuộc tính tuổi, giới tính… giúp thu hẹp khi chưa có ảnh. Thuộc tính nào camera không nhận diện được thì hệ thống ẩn đi.</a:t>
            </a:r>
            <a:endParaRPr/>
          </a:p>
        </p:txBody>
      </p:sp>
      <p:sp>
        <p:nvSpPr>
          <p:cNvPr id="317" name="Google Shape;31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Đây là tính năng cần và áp dụng khi truy tìm một đối tượng. Ví dụ: biết đối tượng đi qua cổng A lúc 21:05 → lấy ảnh từ event đó → tìm toàn hệ thống → biết đối tượng từng xuất hiện ở bãi xe, hành lang 2… Ảnh tìm kiếm: .jpg/.png, ≤ 5MB, tối thiểu 200x200 px, chỉ 1 khuôn mặt. Việc đối sánh khuôn mặt do ABIS trên máy chủ thực hiện. Kết quả kèm mức tương đồng – cần người xác minh.</a:t>
            </a:r>
            <a:endParaRPr/>
          </a:p>
        </p:txBody>
      </p:sp>
      <p:sp>
        <p:nvSpPr>
          <p:cNvPr id="357" name="Google Shape;35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Bản chất: khuôn mặt không phải lúc nào cũng thấy rõ, nên EMS lưu thêm đặc điểm ngoại hình để tìm theo mô tả. Trang phục: áo ngắn/dài tay, quần ngắn/dài, váy; 10 màu.</a:t>
            </a:r>
            <a:endParaRPr/>
          </a:p>
        </p:txBody>
      </p:sp>
      <p:sp>
        <p:nvSpPr>
          <p:cNvPr id="397" name="Google Shape;39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Bản chất: EMS biến mỗi lần camera thấy một khuôn mặt thành một bản ghi có thể tìm lại. Thuộc tính tuổi, giới tính… giúp thu hẹp khi chưa có ảnh. Thuộc tính nào camera không nhận diện được thì hệ thống ẩn đi.</a:t>
            </a:r>
            <a:endParaRPr/>
          </a:p>
        </p:txBody>
      </p:sp>
      <p:sp>
        <p:nvSpPr>
          <p:cNvPr id="437" name="Google Shape;43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1" name="Google Shape;47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Đây là tính năng cần và áp dụng khi truy tìm một đối tượng. Ví dụ: biết đối tượng đi qua cổng A lúc 21:05 → lấy ảnh từ event đó → tìm toàn hệ thống → biết đối tượng từng xuất hiện ở bãi xe, hành lang 2… Ảnh tìm kiếm: .jpg/.png, ≤ 5MB, tối thiểu 200x200 px, chỉ 1 khuôn mặt. Việc đối sánh khuôn mặt do ABIS trên máy chủ thực hiện. Kết quả kèm mức tương đồng – cần người xác minh.</a:t>
            </a:r>
            <a:endParaRPr/>
          </a:p>
        </p:txBody>
      </p:sp>
      <p:sp>
        <p:nvSpPr>
          <p:cNvPr id="472" name="Google Shape;47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1" name="Google Shape;50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Lảng vảng: ghi nhận thời gian bắt đầu – kết thúc và tổng thời gian; cần cấu hình ngưỡng thời gian cho từng khu vực/camera. SRS chưa có ảnh giao diện màn lảng vảng.</a:t>
            </a:r>
            <a:endParaRPr/>
          </a:p>
        </p:txBody>
      </p:sp>
      <p:sp>
        <p:nvSpPr>
          <p:cNvPr id="502" name="Google Shape;50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h1e75b8713011cdf_2_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6" name="Google Shape;536;h1e75b8713011cdf_2_1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Lảng vảng: ghi nhận thời gian bắt đầu – kết thúc và tổng thời gian; cần cấu hình ngưỡng thời gian cho từng khu vực/camera. SRS chưa có ảnh giao diện màn lảng vảng.</a:t>
            </a:r>
            <a:endParaRPr/>
          </a:p>
        </p:txBody>
      </p:sp>
      <p:sp>
        <p:nvSpPr>
          <p:cNvPr id="537" name="Google Shape;537;h1e75b8713011cdf_2_1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Báo cáo là module riêng vì khác người dùng (lãnh đạo, phân tích) và khác nhịp (theo ngày/tháng chứ không theo từng giây). Khi nói: dùng chữ “lượt”, không phải “số người”.</a:t>
            </a:r>
            <a:endParaRPr/>
          </a:p>
        </p:txBody>
      </p:sp>
      <p:sp>
        <p:nvSpPr>
          <p:cNvPr id="571" name="Google Shape;57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Vì sao là module riêng và đứng sau Sự kiện: Sự kiện cho biết “có ai đó xuất hiện”, Định danh trả lời “người đó là ai, có cần theo dõi không”. Đây là dữ liệu gốc, nhập một lần, cả Sự kiện và Thông báo cùng dùng. Dữ liệu đối tượng định danh được mã hóa bảo vệ. Dữ liệu đồng bộ từ hệ thống khác không sửa tay.</a:t>
            </a:r>
            <a:endParaRPr/>
          </a:p>
        </p:txBody>
      </p:sp>
      <p:sp>
        <p:nvSpPr>
          <p:cNvPr id="609" name="Google Shape;60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Đơn vị là trục DỮ LIỆU của phân quyền (địa lý, phạm vi quản lý). Phân quyền cao nhất đi theo quy mô tổ chức, từ trên xuống. Kết hợp với nhóm quyền (menu 5) thành ma trận.</a:t>
            </a:r>
            <a:endParaRPr/>
          </a:p>
        </p:txBody>
      </p:sp>
      <p:sp>
        <p:nvSpPr>
          <p:cNvPr id="647" name="Google Shape;647;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Bản chất: người dùng là điểm giao của 2 trục phân quyền. Chỉ quản trị mới tạo, khóa, cấp lại mật khẩu. Email không đổi được vì là tên đăng nhập. Mọi thao tác của người dùng được ghi vào nhật ký thao tác (ai làm gì, dữ liệu trước – sau).</a:t>
            </a:r>
            <a:endParaRPr/>
          </a:p>
        </p:txBody>
      </p:sp>
      <p:sp>
        <p:nvSpPr>
          <p:cNvPr id="681" name="Google Shape;68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Nhóm quyền là trục TÍNH NĂNG của phân quyền: phân công nhiệm vụ cho từng phòng ban, bộ phận. Nhóm đang có người dùng thì không xóa được, chỉ chỉnh sửa.</a:t>
            </a:r>
            <a:endParaRPr/>
          </a:p>
        </p:txBody>
      </p:sp>
      <p:sp>
        <p:nvSpPr>
          <p:cNvPr id="723" name="Google Shape;723;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Camera hãng khác phải qua kiểm thử của MK (chuẩn ONVIF Profile M) trước khi khai báo vào hệ thống.</a:t>
            </a:r>
            <a:endParaRPr/>
          </a:p>
        </p:txBody>
      </p:sp>
      <p:sp>
        <p:nvSpPr>
          <p:cNvPr id="766" name="Google Shape;766;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Vì sao nằm gần cuối menu: muốn đặt luật phải có sẵn loại sự kiện (menu 1), danh sách định danh (3), người dùng (4). Mỗi cấu hình áp dụng cho 1 loại sự kiện. KHÔNG giới thiệu cảnh báo qua app mobile và loa (tính năng tương lai).</a:t>
            </a:r>
            <a:endParaRPr/>
          </a:p>
        </p:txBody>
      </p:sp>
      <p:sp>
        <p:nvSpPr>
          <p:cNvPr id="805" name="Google Shape;80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Cùng nội dung cảnh báo còn được gửi qua Email, SMS, Zalo theo cấu hình ở menu 8.</a:t>
            </a:r>
            <a:endParaRPr/>
          </a:p>
        </p:txBody>
      </p:sp>
      <p:sp>
        <p:nvSpPr>
          <p:cNvPr id="843" name="Google Shape;84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a:extLst>
            <a:ext uri="{FF2B5EF4-FFF2-40B4-BE49-F238E27FC236}">
              <a16:creationId xmlns:a16="http://schemas.microsoft.com/office/drawing/2014/main" id="{E9E18F49-28F8-0E70-9AFA-99337539F762}"/>
            </a:ext>
          </a:extLst>
        </p:cNvPr>
        <p:cNvGrpSpPr/>
        <p:nvPr/>
      </p:nvGrpSpPr>
      <p:grpSpPr>
        <a:xfrm>
          <a:off x="0" y="0"/>
          <a:ext cx="0" cy="0"/>
          <a:chOff x="0" y="0"/>
          <a:chExt cx="0" cy="0"/>
        </a:xfrm>
      </p:grpSpPr>
      <p:sp>
        <p:nvSpPr>
          <p:cNvPr id="973" name="Google Shape;973;p28:notes">
            <a:extLst>
              <a:ext uri="{FF2B5EF4-FFF2-40B4-BE49-F238E27FC236}">
                <a16:creationId xmlns:a16="http://schemas.microsoft.com/office/drawing/2014/main" id="{3F95F911-925A-2F38-8B57-4F8FE2F260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p28:notes">
            <a:extLst>
              <a:ext uri="{FF2B5EF4-FFF2-40B4-BE49-F238E27FC236}">
                <a16:creationId xmlns:a16="http://schemas.microsoft.com/office/drawing/2014/main" id="{3BC07C53-1949-AFBF-E9F4-ECED5C6F2B8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975" name="Google Shape;975;p28:notes">
            <a:extLst>
              <a:ext uri="{FF2B5EF4-FFF2-40B4-BE49-F238E27FC236}">
                <a16:creationId xmlns:a16="http://schemas.microsoft.com/office/drawing/2014/main" id="{734C9856-339A-65F3-5143-7958E1DD29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303537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Camera gửi event theo chuẩn → EMS kiểm tra, xếp hàng để không mất → phân lớp, đối sánh → lưu → hiển thị, cảnh báo, truy xuất, báo cáo.</a:t>
            </a:r>
            <a:endParaRPr/>
          </a:p>
        </p:txBody>
      </p:sp>
      <p:sp>
        <p:nvSpPr>
          <p:cNvPr id="882" name="Google Shape;88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h44e9cd8e7ab16f1f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h44e9cd8e7ab16f1f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h44e9cd8e7ab16f1f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h1e75b8713011cdf_2_3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h1e75b8713011cdf_2_3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Sales chỉ cần nắm: mạng chia vùng (Internet – DMZ – Internal – DB – Outbound), cơ sở dữ liệu nằm vùng riêng; dữ liệu đi qua hàng đợi nên không mất event; ABIS là module đối sánh khuôn mặt. Câu hỏi sâu hơn chuyển team kỹ thuật.</a:t>
            </a:r>
            <a:endParaRPr/>
          </a:p>
        </p:txBody>
      </p:sp>
      <p:sp>
        <p:nvSpPr>
          <p:cNvPr id="968" name="Google Shape;968;h1e75b8713011cdf_2_3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975" name="Google Shape;97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Chọn 2–3 điểm phù hợp nhất với từng khách. Khách an ninh: truy tìm đối tượng, định danh, phân quyền, bảo mật. Doanh nghiệp: tổng hợp, báo cáo lưu lượng, cảnh báo cháy.</a:t>
            </a:r>
            <a:endParaRPr/>
          </a:p>
        </p:txBody>
      </p:sp>
      <p:sp>
        <p:nvSpPr>
          <p:cNvPr id="985" name="Google Shape;98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hc73717ff22a4ad1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hc73717ff22a4ad1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hc73717ff22a4ad1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hc73717ff22a4ad1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hc73717ff22a4ad1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hc73717ff22a4ad1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hc73717ff22a4ad1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hc73717ff22a4ad1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hc73717ff22a4ad1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Phần quan trọng nhất cho Sales. Không giới thiệu cảnh báo qua app mobile, loa (tính năng tương lai).</a:t>
            </a:r>
            <a:endParaRPr/>
          </a:p>
        </p:txBody>
      </p:sp>
      <p:sp>
        <p:nvSpPr>
          <p:cNvPr id="1108" name="Google Shape;1108;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1141" name="Google Shape;1141;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8"/>
        <p:cNvGrpSpPr/>
        <p:nvPr/>
      </p:nvGrpSpPr>
      <p:grpSpPr>
        <a:xfrm>
          <a:off x="0" y="0"/>
          <a:ext cx="0" cy="0"/>
          <a:chOff x="0" y="0"/>
          <a:chExt cx="0" cy="0"/>
        </a:xfrm>
      </p:grpSpPr>
      <p:sp>
        <p:nvSpPr>
          <p:cNvPr id="1149" name="Google Shape;114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0" name="Google Shape;115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1151" name="Google Shape;115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1" name="Google Shape;116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Mục tiêu: hiểu EMS dùng để làm gì trước, sau đó đi lần lượt 9 menu trên hệ thống. Mỗi tính năng trả lời được 3 câu: nằm ở menu nào, xây dựng để giải bài toán gì, vì sao nằm ở đó.</a:t>
            </a:r>
            <a:endParaRPr/>
          </a:p>
        </p:txBody>
      </p:sp>
      <p:sp>
        <p:nvSpPr>
          <p:cNvPr id="1162" name="Google Shape;1162;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4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4"/>
          <p:cNvSpPr>
            <a:spLocks noGrp="1"/>
          </p:cNvSpPr>
          <p:nvPr>
            <p:ph type="pic" idx="2"/>
          </p:nvPr>
        </p:nvSpPr>
        <p:spPr>
          <a:xfrm>
            <a:off x="5183188" y="987425"/>
            <a:ext cx="6172200" cy="4873625"/>
          </a:xfrm>
          <a:prstGeom prst="rect">
            <a:avLst/>
          </a:prstGeom>
          <a:noFill/>
          <a:ln>
            <a:noFill/>
          </a:ln>
        </p:spPr>
      </p:sp>
      <p:sp>
        <p:nvSpPr>
          <p:cNvPr id="68" name="Google Shape;68;p4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
        <p:cNvGrpSpPr/>
        <p:nvPr/>
      </p:nvGrpSpPr>
      <p:grpSpPr>
        <a:xfrm>
          <a:off x="0" y="0"/>
          <a:ext cx="0" cy="0"/>
          <a:chOff x="0" y="0"/>
          <a:chExt cx="0" cy="0"/>
        </a:xfrm>
      </p:grpSpPr>
      <p:sp>
        <p:nvSpPr>
          <p:cNvPr id="89" name="Google Shape;89;p1"/>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i="0" u="none" strike="noStrike" cap="none">
                <a:solidFill>
                  <a:srgbClr val="F2B705"/>
                </a:solidFill>
                <a:latin typeface="Arial"/>
                <a:ea typeface="Arial"/>
                <a:cs typeface="Arial"/>
                <a:sym typeface="Arial"/>
              </a:rPr>
              <a:t>ĐÀO TẠO SẢN PHẨM CHO TEAM SALES</a:t>
            </a:r>
            <a:endParaRPr/>
          </a:p>
        </p:txBody>
      </p:sp>
      <p:sp>
        <p:nvSpPr>
          <p:cNvPr id="92" name="Google Shape;92;p1"/>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a:solidFill>
                  <a:srgbClr val="FFFFFF"/>
                </a:solidFill>
                <a:latin typeface="Arial"/>
                <a:ea typeface="Arial"/>
                <a:cs typeface="Arial"/>
                <a:sym typeface="Arial"/>
              </a:rPr>
              <a:t>Hệ thống EMS</a:t>
            </a:r>
            <a:endParaRPr/>
          </a:p>
        </p:txBody>
      </p:sp>
      <p:sp>
        <p:nvSpPr>
          <p:cNvPr id="93" name="Google Shape;93;p1"/>
          <p:cNvSpPr txBox="1"/>
          <p:nvPr/>
        </p:nvSpPr>
        <p:spPr>
          <a:xfrm>
            <a:off x="812800" y="29972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a:solidFill>
                  <a:srgbClr val="FFFFFF"/>
                </a:solidFill>
                <a:latin typeface="Arial"/>
                <a:ea typeface="Arial"/>
                <a:cs typeface="Arial"/>
                <a:sym typeface="Arial"/>
              </a:rPr>
              <a:t>Event Management System</a:t>
            </a:r>
            <a:endParaRPr/>
          </a:p>
        </p:txBody>
      </p:sp>
      <p:sp>
        <p:nvSpPr>
          <p:cNvPr id="94" name="Google Shape;94;p1"/>
          <p:cNvSpPr txBox="1"/>
          <p:nvPr/>
        </p:nvSpPr>
        <p:spPr>
          <a:xfrm>
            <a:off x="812800" y="3810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rgbClr val="C7D2FE"/>
                </a:solidFill>
                <a:latin typeface="Arial"/>
                <a:ea typeface="Arial"/>
                <a:cs typeface="Arial"/>
                <a:sym typeface="Arial"/>
              </a:rPr>
              <a:t>Tổng hợp sự kiện từ camera thành dữ liệu có giá trị – để truy xuất, quản lý và ra quyết định.</a:t>
            </a:r>
            <a:endParaRPr/>
          </a:p>
        </p:txBody>
      </p:sp>
      <p:sp>
        <p:nvSpPr>
          <p:cNvPr id="95" name="Google Shape;95;p1"/>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latin typeface="Arial"/>
                <a:ea typeface="Arial"/>
                <a:cs typeface="Arial"/>
                <a:sym typeface="Arial"/>
              </a:rPr>
              <a:t>MK Vision  |  Tháng 10/2026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
        <p:cNvGrpSpPr/>
        <p:nvPr/>
      </p:nvGrpSpPr>
      <p:grpSpPr>
        <a:xfrm>
          <a:off x="0" y="0"/>
          <a:ext cx="0" cy="0"/>
          <a:chOff x="0" y="0"/>
          <a:chExt cx="0" cy="0"/>
        </a:xfrm>
      </p:grpSpPr>
      <p:sp>
        <p:nvSpPr>
          <p:cNvPr id="101" name="Google Shape;101;p2"/>
          <p:cNvSpPr/>
          <p:nvPr/>
        </p:nvSpPr>
        <p:spPr>
          <a:xfrm>
            <a:off x="6197600" y="4280932"/>
            <a:ext cx="5334000" cy="9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2" name="Google Shape;102;p2"/>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latin typeface="Arial"/>
                <a:ea typeface="Arial"/>
                <a:cs typeface="Arial"/>
                <a:sym typeface="Arial"/>
              </a:rPr>
              <a:t>NỘI DUNG</a:t>
            </a:r>
            <a:endParaRPr/>
          </a:p>
        </p:txBody>
      </p:sp>
      <p:sp>
        <p:nvSpPr>
          <p:cNvPr id="103" name="Google Shape;103;p2"/>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latin typeface="Arial"/>
                <a:ea typeface="Arial"/>
                <a:cs typeface="Arial"/>
                <a:sym typeface="Arial"/>
              </a:rPr>
              <a:t>Lộ trình buổi đào tạo</a:t>
            </a:r>
            <a:endParaRPr/>
          </a:p>
        </p:txBody>
      </p:sp>
      <p:sp>
        <p:nvSpPr>
          <p:cNvPr id="104" name="Google Shape;104;p2"/>
          <p:cNvSpPr/>
          <p:nvPr/>
        </p:nvSpPr>
        <p:spPr>
          <a:xfrm>
            <a:off x="609600" y="116840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2"/>
          <p:cNvSpPr/>
          <p:nvPr/>
        </p:nvSpPr>
        <p:spPr>
          <a:xfrm>
            <a:off x="609600" y="1944132"/>
            <a:ext cx="5334000" cy="9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6" name="Google Shape;106;p2"/>
          <p:cNvSpPr txBox="1"/>
          <p:nvPr/>
        </p:nvSpPr>
        <p:spPr>
          <a:xfrm>
            <a:off x="863600" y="2147332"/>
            <a:ext cx="888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2B705"/>
                </a:solidFill>
                <a:latin typeface="Arial"/>
                <a:ea typeface="Arial"/>
                <a:cs typeface="Arial"/>
                <a:sym typeface="Arial"/>
              </a:rPr>
              <a:t>01</a:t>
            </a:r>
            <a:endParaRPr/>
          </a:p>
        </p:txBody>
      </p:sp>
      <p:sp>
        <p:nvSpPr>
          <p:cNvPr id="107" name="Google Shape;107;p2"/>
          <p:cNvSpPr txBox="1"/>
          <p:nvPr/>
        </p:nvSpPr>
        <p:spPr>
          <a:xfrm>
            <a:off x="1727200" y="2274332"/>
            <a:ext cx="40641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1E3A8A"/>
                </a:solidFill>
                <a:latin typeface="Arial"/>
                <a:ea typeface="Arial"/>
                <a:cs typeface="Arial"/>
                <a:sym typeface="Arial"/>
              </a:rPr>
              <a:t>Bối cảnh, EMS là gì?</a:t>
            </a:r>
            <a:endParaRPr sz="1600" b="1">
              <a:solidFill>
                <a:srgbClr val="1E3A8A"/>
              </a:solidFill>
              <a:latin typeface="Arial"/>
              <a:ea typeface="Arial"/>
              <a:cs typeface="Arial"/>
              <a:sym typeface="Arial"/>
            </a:endParaRPr>
          </a:p>
        </p:txBody>
      </p:sp>
      <p:sp>
        <p:nvSpPr>
          <p:cNvPr id="108" name="Google Shape;108;p2"/>
          <p:cNvSpPr/>
          <p:nvPr/>
        </p:nvSpPr>
        <p:spPr>
          <a:xfrm>
            <a:off x="609600" y="3112532"/>
            <a:ext cx="5334000" cy="9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9" name="Google Shape;109;p2"/>
          <p:cNvSpPr txBox="1"/>
          <p:nvPr/>
        </p:nvSpPr>
        <p:spPr>
          <a:xfrm>
            <a:off x="863600" y="3315732"/>
            <a:ext cx="888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2B705"/>
                </a:solidFill>
                <a:latin typeface="Arial"/>
                <a:ea typeface="Arial"/>
                <a:cs typeface="Arial"/>
                <a:sym typeface="Arial"/>
              </a:rPr>
              <a:t>02</a:t>
            </a:r>
            <a:endParaRPr/>
          </a:p>
        </p:txBody>
      </p:sp>
      <p:sp>
        <p:nvSpPr>
          <p:cNvPr id="110" name="Google Shape;110;p2"/>
          <p:cNvSpPr txBox="1"/>
          <p:nvPr/>
        </p:nvSpPr>
        <p:spPr>
          <a:xfrm>
            <a:off x="1727200" y="3442732"/>
            <a:ext cx="40641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1E3A8A"/>
                </a:solidFill>
                <a:latin typeface="Arial"/>
                <a:ea typeface="Arial"/>
                <a:cs typeface="Arial"/>
                <a:sym typeface="Arial"/>
              </a:rPr>
              <a:t>Các module và điểm nổi bật</a:t>
            </a:r>
            <a:endParaRPr sz="1600" b="1">
              <a:solidFill>
                <a:srgbClr val="1E3A8A"/>
              </a:solidFill>
              <a:latin typeface="Arial"/>
              <a:ea typeface="Arial"/>
              <a:cs typeface="Arial"/>
              <a:sym typeface="Arial"/>
            </a:endParaRPr>
          </a:p>
        </p:txBody>
      </p:sp>
      <p:sp>
        <p:nvSpPr>
          <p:cNvPr id="111" name="Google Shape;111;p2"/>
          <p:cNvSpPr/>
          <p:nvPr/>
        </p:nvSpPr>
        <p:spPr>
          <a:xfrm>
            <a:off x="609600" y="4280932"/>
            <a:ext cx="5334000" cy="9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2" name="Google Shape;112;p2"/>
          <p:cNvSpPr txBox="1"/>
          <p:nvPr/>
        </p:nvSpPr>
        <p:spPr>
          <a:xfrm>
            <a:off x="863600" y="4484132"/>
            <a:ext cx="888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2B705"/>
                </a:solidFill>
                <a:latin typeface="Arial"/>
                <a:ea typeface="Arial"/>
                <a:cs typeface="Arial"/>
                <a:sym typeface="Arial"/>
              </a:rPr>
              <a:t>03</a:t>
            </a:r>
            <a:endParaRPr/>
          </a:p>
        </p:txBody>
      </p:sp>
      <p:sp>
        <p:nvSpPr>
          <p:cNvPr id="113" name="Google Shape;113;p2"/>
          <p:cNvSpPr txBox="1"/>
          <p:nvPr/>
        </p:nvSpPr>
        <p:spPr>
          <a:xfrm>
            <a:off x="1727200" y="4611132"/>
            <a:ext cx="40641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1E3A8A"/>
                </a:solidFill>
                <a:latin typeface="Arial"/>
                <a:ea typeface="Arial"/>
                <a:cs typeface="Arial"/>
                <a:sym typeface="Arial"/>
              </a:rPr>
              <a:t>Luồng xử lý dữ liệu</a:t>
            </a:r>
            <a:endParaRPr sz="1600" b="1">
              <a:solidFill>
                <a:srgbClr val="1E3A8A"/>
              </a:solidFill>
              <a:latin typeface="Arial"/>
              <a:ea typeface="Arial"/>
              <a:cs typeface="Arial"/>
              <a:sym typeface="Arial"/>
            </a:endParaRPr>
          </a:p>
        </p:txBody>
      </p:sp>
      <p:sp>
        <p:nvSpPr>
          <p:cNvPr id="114" name="Google Shape;114;p2"/>
          <p:cNvSpPr/>
          <p:nvPr/>
        </p:nvSpPr>
        <p:spPr>
          <a:xfrm>
            <a:off x="6197600" y="1944132"/>
            <a:ext cx="5334000" cy="9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5" name="Google Shape;115;p2"/>
          <p:cNvSpPr txBox="1"/>
          <p:nvPr/>
        </p:nvSpPr>
        <p:spPr>
          <a:xfrm>
            <a:off x="6451600" y="2147332"/>
            <a:ext cx="888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2B705"/>
                </a:solidFill>
                <a:latin typeface="Arial"/>
                <a:ea typeface="Arial"/>
                <a:cs typeface="Arial"/>
                <a:sym typeface="Arial"/>
              </a:rPr>
              <a:t>04</a:t>
            </a:r>
            <a:endParaRPr/>
          </a:p>
        </p:txBody>
      </p:sp>
      <p:sp>
        <p:nvSpPr>
          <p:cNvPr id="116" name="Google Shape;116;p2"/>
          <p:cNvSpPr txBox="1"/>
          <p:nvPr/>
        </p:nvSpPr>
        <p:spPr>
          <a:xfrm>
            <a:off x="7315200" y="2274332"/>
            <a:ext cx="40641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1E3A8A"/>
                </a:solidFill>
                <a:latin typeface="Arial"/>
                <a:ea typeface="Arial"/>
                <a:cs typeface="Arial"/>
                <a:sym typeface="Arial"/>
              </a:rPr>
              <a:t>Selling point và một số lưu ý</a:t>
            </a:r>
            <a:endParaRPr/>
          </a:p>
        </p:txBody>
      </p:sp>
      <p:sp>
        <p:nvSpPr>
          <p:cNvPr id="117" name="Google Shape;117;p2"/>
          <p:cNvSpPr/>
          <p:nvPr/>
        </p:nvSpPr>
        <p:spPr>
          <a:xfrm>
            <a:off x="6197600" y="3142499"/>
            <a:ext cx="5334000" cy="9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2"/>
          <p:cNvSpPr txBox="1"/>
          <p:nvPr/>
        </p:nvSpPr>
        <p:spPr>
          <a:xfrm>
            <a:off x="6451600" y="3345699"/>
            <a:ext cx="888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2B705"/>
                </a:solidFill>
                <a:latin typeface="Arial"/>
                <a:ea typeface="Arial"/>
                <a:cs typeface="Arial"/>
                <a:sym typeface="Arial"/>
              </a:rPr>
              <a:t>05</a:t>
            </a:r>
            <a:endParaRPr/>
          </a:p>
        </p:txBody>
      </p:sp>
      <p:sp>
        <p:nvSpPr>
          <p:cNvPr id="119" name="Google Shape;119;p2"/>
          <p:cNvSpPr txBox="1"/>
          <p:nvPr/>
        </p:nvSpPr>
        <p:spPr>
          <a:xfrm>
            <a:off x="7315200" y="3472699"/>
            <a:ext cx="40641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1E3A8A"/>
                </a:solidFill>
                <a:latin typeface="Arial"/>
                <a:ea typeface="Arial"/>
                <a:cs typeface="Arial"/>
                <a:sym typeface="Arial"/>
              </a:rPr>
              <a:t>Demo EMS</a:t>
            </a:r>
            <a:endParaRPr/>
          </a:p>
        </p:txBody>
      </p:sp>
      <p:sp>
        <p:nvSpPr>
          <p:cNvPr id="120" name="Google Shape;120;p2"/>
          <p:cNvSpPr txBox="1"/>
          <p:nvPr/>
        </p:nvSpPr>
        <p:spPr>
          <a:xfrm>
            <a:off x="6464300" y="4507468"/>
            <a:ext cx="888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2B705"/>
                </a:solidFill>
                <a:latin typeface="Arial"/>
                <a:ea typeface="Arial"/>
                <a:cs typeface="Arial"/>
                <a:sym typeface="Arial"/>
              </a:rPr>
              <a:t>06</a:t>
            </a:r>
            <a:endParaRPr/>
          </a:p>
        </p:txBody>
      </p:sp>
      <p:sp>
        <p:nvSpPr>
          <p:cNvPr id="121" name="Google Shape;121;p2"/>
          <p:cNvSpPr txBox="1"/>
          <p:nvPr/>
        </p:nvSpPr>
        <p:spPr>
          <a:xfrm>
            <a:off x="7340600" y="4627399"/>
            <a:ext cx="40641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1E3A8A"/>
                </a:solidFill>
                <a:latin typeface="Arial"/>
                <a:ea typeface="Arial"/>
                <a:cs typeface="Arial"/>
                <a:sym typeface="Arial"/>
              </a:rPr>
              <a:t>Q&amp;A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6">
          <a:extLst>
            <a:ext uri="{FF2B5EF4-FFF2-40B4-BE49-F238E27FC236}">
              <a16:creationId xmlns:a16="http://schemas.microsoft.com/office/drawing/2014/main" id="{BAEDF34F-96E0-A2B2-4076-A3D23E2D24A9}"/>
            </a:ext>
          </a:extLst>
        </p:cNvPr>
        <p:cNvGrpSpPr/>
        <p:nvPr/>
      </p:nvGrpSpPr>
      <p:grpSpPr>
        <a:xfrm>
          <a:off x="0" y="0"/>
          <a:ext cx="0" cy="0"/>
          <a:chOff x="0" y="0"/>
          <a:chExt cx="0" cy="0"/>
        </a:xfrm>
      </p:grpSpPr>
      <p:sp>
        <p:nvSpPr>
          <p:cNvPr id="977" name="Google Shape;977;p28">
            <a:extLst>
              <a:ext uri="{FF2B5EF4-FFF2-40B4-BE49-F238E27FC236}">
                <a16:creationId xmlns:a16="http://schemas.microsoft.com/office/drawing/2014/main" id="{3611925A-571F-7054-6421-B3734C4A043D}"/>
              </a:ext>
            </a:extLst>
          </p:cNvPr>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8" name="Google Shape;978;p28">
            <a:extLst>
              <a:ext uri="{FF2B5EF4-FFF2-40B4-BE49-F238E27FC236}">
                <a16:creationId xmlns:a16="http://schemas.microsoft.com/office/drawing/2014/main" id="{747495C2-C6F1-E321-393D-13B8DDD82AF7}"/>
              </a:ext>
            </a:extLst>
          </p:cNvPr>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28">
            <a:extLst>
              <a:ext uri="{FF2B5EF4-FFF2-40B4-BE49-F238E27FC236}">
                <a16:creationId xmlns:a16="http://schemas.microsoft.com/office/drawing/2014/main" id="{130FC4C8-5D17-2D21-43E5-49409058076A}"/>
              </a:ext>
            </a:extLst>
          </p:cNvPr>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F2B705"/>
                </a:solidFill>
              </a:rPr>
              <a:t>ĐÀO TẠO SẢN PHẨM CHO TEAM SALES</a:t>
            </a:r>
            <a:endParaRPr/>
          </a:p>
        </p:txBody>
      </p:sp>
      <p:sp>
        <p:nvSpPr>
          <p:cNvPr id="980" name="Google Shape;980;p28">
            <a:extLst>
              <a:ext uri="{FF2B5EF4-FFF2-40B4-BE49-F238E27FC236}">
                <a16:creationId xmlns:a16="http://schemas.microsoft.com/office/drawing/2014/main" id="{A7CF3012-7148-6AAB-1155-6A59490BFE92}"/>
              </a:ext>
            </a:extLst>
          </p:cNvPr>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dirty="0">
                <a:solidFill>
                  <a:srgbClr val="FFFFFF"/>
                </a:solidFill>
              </a:rPr>
              <a:t>1. </a:t>
            </a:r>
            <a:r>
              <a:rPr lang="en-US" sz="4800" b="1" dirty="0" err="1">
                <a:solidFill>
                  <a:srgbClr val="FFFFFF"/>
                </a:solidFill>
              </a:rPr>
              <a:t>Bối</a:t>
            </a:r>
            <a:r>
              <a:rPr lang="en-US" sz="4800" b="1" dirty="0">
                <a:solidFill>
                  <a:srgbClr val="FFFFFF"/>
                </a:solidFill>
              </a:rPr>
              <a:t> </a:t>
            </a:r>
            <a:r>
              <a:rPr lang="en-US" sz="4800" b="1" dirty="0" err="1">
                <a:solidFill>
                  <a:srgbClr val="FFFFFF"/>
                </a:solidFill>
              </a:rPr>
              <a:t>cảnh</a:t>
            </a:r>
            <a:r>
              <a:rPr lang="en-US" sz="4800" b="1" dirty="0">
                <a:solidFill>
                  <a:srgbClr val="FFFFFF"/>
                </a:solidFill>
              </a:rPr>
              <a:t>, EMS </a:t>
            </a:r>
            <a:r>
              <a:rPr lang="en-US" sz="4800" b="1" dirty="0" err="1">
                <a:solidFill>
                  <a:srgbClr val="FFFFFF"/>
                </a:solidFill>
              </a:rPr>
              <a:t>là</a:t>
            </a:r>
            <a:r>
              <a:rPr lang="en-US" sz="4800" b="1" dirty="0">
                <a:solidFill>
                  <a:srgbClr val="FFFFFF"/>
                </a:solidFill>
              </a:rPr>
              <a:t> </a:t>
            </a:r>
            <a:r>
              <a:rPr lang="en-US" sz="4800" b="1" dirty="0" err="1">
                <a:solidFill>
                  <a:srgbClr val="FFFFFF"/>
                </a:solidFill>
              </a:rPr>
              <a:t>gì</a:t>
            </a:r>
            <a:r>
              <a:rPr lang="en-US" sz="4800" b="1" dirty="0">
                <a:solidFill>
                  <a:srgbClr val="FFFFFF"/>
                </a:solidFill>
              </a:rPr>
              <a:t>?</a:t>
            </a:r>
            <a:endParaRPr dirty="0"/>
          </a:p>
        </p:txBody>
      </p:sp>
      <p:sp>
        <p:nvSpPr>
          <p:cNvPr id="981" name="Google Shape;981;p28">
            <a:extLst>
              <a:ext uri="{FF2B5EF4-FFF2-40B4-BE49-F238E27FC236}">
                <a16:creationId xmlns:a16="http://schemas.microsoft.com/office/drawing/2014/main" id="{D21313BC-F2C9-E7EC-B353-2A4A321523B9}"/>
              </a:ext>
            </a:extLst>
          </p:cNvPr>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rPr>
              <a:t>MK Vision  |  Tháng 10/2026</a:t>
            </a:r>
            <a:endParaRPr/>
          </a:p>
        </p:txBody>
      </p:sp>
    </p:spTree>
    <p:extLst>
      <p:ext uri="{BB962C8B-B14F-4D97-AF65-F5344CB8AC3E}">
        <p14:creationId xmlns:p14="http://schemas.microsoft.com/office/powerpoint/2010/main" val="61092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sp>
        <p:nvSpPr>
          <p:cNvPr id="127" name="Google Shape;127;h1e75b8713011cdf_2_21"/>
          <p:cNvSpPr/>
          <p:nvPr/>
        </p:nvSpPr>
        <p:spPr>
          <a:xfrm>
            <a:off x="6172200" y="2362200"/>
            <a:ext cx="2628900" cy="2997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h1e75b8713011cdf_2_21"/>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01 · TỔNG QUAN SẢN PHẨM </a:t>
            </a:r>
            <a:endParaRPr/>
          </a:p>
        </p:txBody>
      </p:sp>
      <p:sp>
        <p:nvSpPr>
          <p:cNvPr id="129" name="Google Shape;129;h1e75b8713011cdf_2_21"/>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800"/>
              </a:spcBef>
              <a:spcAft>
                <a:spcPts val="0"/>
              </a:spcAft>
              <a:buClr>
                <a:schemeClr val="dk1"/>
              </a:buClr>
              <a:buSzPts val="1100"/>
              <a:buFont typeface="Arial"/>
              <a:buNone/>
            </a:pPr>
            <a:r>
              <a:rPr lang="en-US" sz="2200" b="1">
                <a:solidFill>
                  <a:srgbClr val="1E3A8A"/>
                </a:solidFill>
              </a:rPr>
              <a:t>EMS – Event Management System</a:t>
            </a:r>
            <a:endParaRPr sz="2200" b="1">
              <a:solidFill>
                <a:srgbClr val="1E3A8A"/>
              </a:solidFill>
            </a:endParaRPr>
          </a:p>
          <a:p>
            <a:pPr marL="0" marR="0" lvl="0" indent="0" algn="l" rtl="0">
              <a:spcBef>
                <a:spcPts val="400"/>
              </a:spcBef>
              <a:spcAft>
                <a:spcPts val="0"/>
              </a:spcAft>
              <a:buNone/>
            </a:pPr>
            <a:endParaRPr sz="2600" b="1">
              <a:solidFill>
                <a:srgbClr val="1E3A8A"/>
              </a:solidFill>
            </a:endParaRPr>
          </a:p>
        </p:txBody>
      </p:sp>
      <p:sp>
        <p:nvSpPr>
          <p:cNvPr id="130" name="Google Shape;130;h1e75b8713011cdf_2_21"/>
          <p:cNvSpPr/>
          <p:nvPr/>
        </p:nvSpPr>
        <p:spPr>
          <a:xfrm>
            <a:off x="609600" y="116840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1" name="Google Shape;131;h1e75b8713011cdf_2_21"/>
          <p:cNvSpPr/>
          <p:nvPr/>
        </p:nvSpPr>
        <p:spPr>
          <a:xfrm>
            <a:off x="609600" y="1407375"/>
            <a:ext cx="10972800" cy="648900"/>
          </a:xfrm>
          <a:prstGeom prst="roundRect">
            <a:avLst>
              <a:gd name="adj" fmla="val 6000"/>
            </a:avLst>
          </a:prstGeom>
          <a:solidFill>
            <a:srgbClr val="1E3A8A"/>
          </a:solidFill>
          <a:ln>
            <a:noFill/>
          </a:ln>
        </p:spPr>
        <p:txBody>
          <a:bodyPr spcFirstLastPara="1" wrap="square" lIns="101600" tIns="50800" rIns="101600" bIns="50800" anchor="ctr" anchorCtr="0">
            <a:noAutofit/>
          </a:bodyPr>
          <a:lstStyle/>
          <a:p>
            <a:pPr marL="0" lvl="0" indent="0" algn="ctr" rtl="0">
              <a:lnSpc>
                <a:spcPct val="115000"/>
              </a:lnSpc>
              <a:spcBef>
                <a:spcPts val="1200"/>
              </a:spcBef>
              <a:spcAft>
                <a:spcPts val="0"/>
              </a:spcAft>
              <a:buClr>
                <a:schemeClr val="dk1"/>
              </a:buClr>
              <a:buSzPts val="1100"/>
              <a:buFont typeface="Arial"/>
              <a:buNone/>
            </a:pPr>
            <a:endParaRPr sz="1500">
              <a:solidFill>
                <a:schemeClr val="lt1"/>
              </a:solidFill>
            </a:endParaRPr>
          </a:p>
          <a:p>
            <a:pPr marL="0" lvl="0" indent="0" algn="ctr" rtl="0">
              <a:lnSpc>
                <a:spcPct val="115000"/>
              </a:lnSpc>
              <a:spcBef>
                <a:spcPts val="1200"/>
              </a:spcBef>
              <a:spcAft>
                <a:spcPts val="0"/>
              </a:spcAft>
              <a:buClr>
                <a:schemeClr val="dk1"/>
              </a:buClr>
              <a:buSzPts val="1100"/>
              <a:buFont typeface="Arial"/>
              <a:buNone/>
            </a:pPr>
            <a:r>
              <a:rPr lang="en-US" b="1">
                <a:solidFill>
                  <a:schemeClr val="lt1"/>
                </a:solidFill>
              </a:rPr>
              <a:t>Hệ thống quản lý sự kiện từ Camera AI, tiếp nhận và quản lý tập trung dữ liệu sự kiện phục vụ tra cứu, truy vết và thống kê.</a:t>
            </a:r>
            <a:endParaRPr b="1">
              <a:solidFill>
                <a:schemeClr val="lt1"/>
              </a:solidFill>
            </a:endParaRPr>
          </a:p>
          <a:p>
            <a:pPr marL="0" marR="0" lvl="0" indent="0" algn="ctr" rtl="0">
              <a:spcBef>
                <a:spcPts val="1200"/>
              </a:spcBef>
              <a:spcAft>
                <a:spcPts val="0"/>
              </a:spcAft>
              <a:buNone/>
            </a:pPr>
            <a:endParaRPr b="1">
              <a:solidFill>
                <a:srgbClr val="FFFFFF"/>
              </a:solidFill>
            </a:endParaRPr>
          </a:p>
        </p:txBody>
      </p:sp>
      <p:sp>
        <p:nvSpPr>
          <p:cNvPr id="132" name="Google Shape;132;h1e75b8713011cdf_2_21"/>
          <p:cNvSpPr/>
          <p:nvPr/>
        </p:nvSpPr>
        <p:spPr>
          <a:xfrm>
            <a:off x="609600" y="2362200"/>
            <a:ext cx="2628900" cy="2997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h1e75b8713011cdf_2_21"/>
          <p:cNvSpPr/>
          <p:nvPr/>
        </p:nvSpPr>
        <p:spPr>
          <a:xfrm>
            <a:off x="609600" y="23622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h1e75b8713011cdf_2_21"/>
          <p:cNvSpPr txBox="1"/>
          <p:nvPr/>
        </p:nvSpPr>
        <p:spPr>
          <a:xfrm>
            <a:off x="1256175" y="2918450"/>
            <a:ext cx="1862400" cy="3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Nguồn dữ liệu </a:t>
            </a:r>
            <a:endParaRPr/>
          </a:p>
        </p:txBody>
      </p:sp>
      <p:sp>
        <p:nvSpPr>
          <p:cNvPr id="135" name="Google Shape;135;h1e75b8713011cdf_2_21"/>
          <p:cNvSpPr txBox="1"/>
          <p:nvPr/>
        </p:nvSpPr>
        <p:spPr>
          <a:xfrm>
            <a:off x="774700" y="3586650"/>
            <a:ext cx="2286000" cy="5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Camera AI gửi dữ liệu sự kiện về EMS để tiếp nhận và quản lý tập trung. . </a:t>
            </a:r>
            <a:endParaRPr sz="1150">
              <a:solidFill>
                <a:srgbClr val="1F2937"/>
              </a:solidFill>
              <a:latin typeface="Arial"/>
              <a:ea typeface="Arial"/>
              <a:cs typeface="Arial"/>
              <a:sym typeface="Arial"/>
            </a:endParaRPr>
          </a:p>
        </p:txBody>
      </p:sp>
      <p:sp>
        <p:nvSpPr>
          <p:cNvPr id="136" name="Google Shape;136;h1e75b8713011cdf_2_21"/>
          <p:cNvSpPr txBox="1"/>
          <p:nvPr/>
        </p:nvSpPr>
        <p:spPr>
          <a:xfrm>
            <a:off x="787400" y="477520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a:p>
        </p:txBody>
      </p:sp>
      <p:sp>
        <p:nvSpPr>
          <p:cNvPr id="137" name="Google Shape;137;h1e75b8713011cdf_2_21"/>
          <p:cNvSpPr/>
          <p:nvPr/>
        </p:nvSpPr>
        <p:spPr>
          <a:xfrm>
            <a:off x="3390900" y="2362200"/>
            <a:ext cx="2628900" cy="2997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h1e75b8713011cdf_2_21"/>
          <p:cNvSpPr/>
          <p:nvPr/>
        </p:nvSpPr>
        <p:spPr>
          <a:xfrm>
            <a:off x="3390900" y="23622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h1e75b8713011cdf_2_21"/>
          <p:cNvSpPr txBox="1"/>
          <p:nvPr/>
        </p:nvSpPr>
        <p:spPr>
          <a:xfrm>
            <a:off x="4057650" y="289100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Dữ liệu tiếp nhận  </a:t>
            </a:r>
            <a:endParaRPr/>
          </a:p>
        </p:txBody>
      </p:sp>
      <p:sp>
        <p:nvSpPr>
          <p:cNvPr id="140" name="Google Shape;140;h1e75b8713011cdf_2_21"/>
          <p:cNvSpPr txBox="1"/>
          <p:nvPr/>
        </p:nvSpPr>
        <p:spPr>
          <a:xfrm>
            <a:off x="3562350" y="3598000"/>
            <a:ext cx="2286000" cy="60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Thông tin sự kiện, hình ảnh và các thuộc tính nhận diện như khuôn mặt, biển số, đặc điểm người và phương tiện do nguồn kết nối gửi về EMS. </a:t>
            </a:r>
            <a:endParaRPr sz="1150">
              <a:solidFill>
                <a:srgbClr val="1F2937"/>
              </a:solidFill>
              <a:latin typeface="Arial"/>
              <a:ea typeface="Arial"/>
              <a:cs typeface="Arial"/>
              <a:sym typeface="Arial"/>
            </a:endParaRPr>
          </a:p>
        </p:txBody>
      </p:sp>
      <p:sp>
        <p:nvSpPr>
          <p:cNvPr id="141" name="Google Shape;141;h1e75b8713011cdf_2_21"/>
          <p:cNvSpPr txBox="1"/>
          <p:nvPr/>
        </p:nvSpPr>
        <p:spPr>
          <a:xfrm>
            <a:off x="3568700" y="477520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a:p>
        </p:txBody>
      </p:sp>
      <p:sp>
        <p:nvSpPr>
          <p:cNvPr id="142" name="Google Shape;142;h1e75b8713011cdf_2_21"/>
          <p:cNvSpPr/>
          <p:nvPr/>
        </p:nvSpPr>
        <p:spPr>
          <a:xfrm>
            <a:off x="6172200" y="23622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h1e75b8713011cdf_2_21"/>
          <p:cNvSpPr txBox="1"/>
          <p:nvPr/>
        </p:nvSpPr>
        <p:spPr>
          <a:xfrm>
            <a:off x="6715450" y="2890988"/>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Đối tượng sử dụng  </a:t>
            </a:r>
            <a:endParaRPr/>
          </a:p>
        </p:txBody>
      </p:sp>
      <p:sp>
        <p:nvSpPr>
          <p:cNvPr id="144" name="Google Shape;144;h1e75b8713011cdf_2_21"/>
          <p:cNvSpPr txBox="1"/>
          <p:nvPr/>
        </p:nvSpPr>
        <p:spPr>
          <a:xfrm>
            <a:off x="6343650" y="362135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Nhân viên giám sát, cán bộ truy vết, người quản lý và quản trị hệ thống. </a:t>
            </a:r>
            <a:endParaRPr sz="1150">
              <a:solidFill>
                <a:srgbClr val="1F2937"/>
              </a:solidFill>
              <a:latin typeface="Arial"/>
              <a:ea typeface="Arial"/>
              <a:cs typeface="Arial"/>
              <a:sym typeface="Arial"/>
            </a:endParaRPr>
          </a:p>
        </p:txBody>
      </p:sp>
      <p:sp>
        <p:nvSpPr>
          <p:cNvPr id="145" name="Google Shape;145;h1e75b8713011cdf_2_21"/>
          <p:cNvSpPr txBox="1"/>
          <p:nvPr/>
        </p:nvSpPr>
        <p:spPr>
          <a:xfrm>
            <a:off x="6350000" y="477520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a:p>
        </p:txBody>
      </p:sp>
      <p:sp>
        <p:nvSpPr>
          <p:cNvPr id="146" name="Google Shape;146;h1e75b8713011cdf_2_21"/>
          <p:cNvSpPr/>
          <p:nvPr/>
        </p:nvSpPr>
        <p:spPr>
          <a:xfrm>
            <a:off x="609600" y="5537200"/>
            <a:ext cx="10972800" cy="736500"/>
          </a:xfrm>
          <a:prstGeom prst="roundRect">
            <a:avLst>
              <a:gd name="adj" fmla="val 6000"/>
            </a:avLst>
          </a:prstGeom>
          <a:solidFill>
            <a:srgbClr val="E8EEFB"/>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1250" b="1">
                <a:solidFill>
                  <a:srgbClr val="1E3A8A"/>
                </a:solidFill>
              </a:rPr>
              <a:t>EMS là lớp quản lý dữ liệu sự kiện, giúp người dùng làm việc với thông tin được camera ghi nhận trên một hệ thống tập trung. </a:t>
            </a:r>
            <a:endParaRPr/>
          </a:p>
        </p:txBody>
      </p:sp>
      <p:sp>
        <p:nvSpPr>
          <p:cNvPr id="147" name="Google Shape;147;h1e75b8713011cdf_2_21"/>
          <p:cNvSpPr/>
          <p:nvPr/>
        </p:nvSpPr>
        <p:spPr>
          <a:xfrm>
            <a:off x="8953500" y="2349450"/>
            <a:ext cx="2628900" cy="2997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h1e75b8713011cdf_2_21"/>
          <p:cNvSpPr/>
          <p:nvPr/>
        </p:nvSpPr>
        <p:spPr>
          <a:xfrm>
            <a:off x="8953500" y="23495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h1e75b8713011cdf_2_21"/>
          <p:cNvSpPr txBox="1"/>
          <p:nvPr/>
        </p:nvSpPr>
        <p:spPr>
          <a:xfrm>
            <a:off x="9514150" y="2860788"/>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Phạm vi sản phẩm </a:t>
            </a:r>
            <a:endParaRPr/>
          </a:p>
        </p:txBody>
      </p:sp>
      <p:sp>
        <p:nvSpPr>
          <p:cNvPr id="150" name="Google Shape;150;h1e75b8713011cdf_2_21"/>
          <p:cNvSpPr txBox="1"/>
          <p:nvPr/>
        </p:nvSpPr>
        <p:spPr>
          <a:xfrm>
            <a:off x="9124950" y="359800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Quản lý sự kiện, dữ liệu định danh, báo cáo và các chức năng quản trị liên quan. . </a:t>
            </a:r>
            <a:r>
              <a:rPr lang="en-US" sz="1150">
                <a:solidFill>
                  <a:srgbClr val="1F2937"/>
                </a:solidFill>
                <a:latin typeface="Arial"/>
                <a:ea typeface="Arial"/>
                <a:cs typeface="Arial"/>
                <a:sym typeface="Arial"/>
              </a:rPr>
              <a:t>.</a:t>
            </a:r>
            <a:endParaRPr sz="1150">
              <a:solidFill>
                <a:srgbClr val="1F2937"/>
              </a:solidFill>
              <a:latin typeface="Arial"/>
              <a:ea typeface="Arial"/>
              <a:cs typeface="Arial"/>
              <a:sym typeface="Arial"/>
            </a:endParaRPr>
          </a:p>
        </p:txBody>
      </p:sp>
      <p:sp>
        <p:nvSpPr>
          <p:cNvPr id="151" name="Google Shape;151;h1e75b8713011cdf_2_21"/>
          <p:cNvSpPr txBox="1"/>
          <p:nvPr/>
        </p:nvSpPr>
        <p:spPr>
          <a:xfrm>
            <a:off x="9118600" y="4531575"/>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050" b="1">
              <a:solidFill>
                <a:srgbClr val="2563EB"/>
              </a:solidFill>
              <a:latin typeface="Arial"/>
              <a:ea typeface="Arial"/>
              <a:cs typeface="Arial"/>
              <a:sym typeface="Arial"/>
            </a:endParaRPr>
          </a:p>
        </p:txBody>
      </p:sp>
      <p:pic>
        <p:nvPicPr>
          <p:cNvPr id="152" name="Google Shape;152;h1e75b8713011cdf_2_21"/>
          <p:cNvPicPr preferRelativeResize="0"/>
          <p:nvPr/>
        </p:nvPicPr>
        <p:blipFill>
          <a:blip r:embed="rId3">
            <a:alphaModFix/>
          </a:blip>
          <a:stretch>
            <a:fillRect/>
          </a:stretch>
        </p:blipFill>
        <p:spPr>
          <a:xfrm>
            <a:off x="806088" y="2872775"/>
            <a:ext cx="318319" cy="279500"/>
          </a:xfrm>
          <a:prstGeom prst="rect">
            <a:avLst/>
          </a:prstGeom>
          <a:solidFill>
            <a:srgbClr val="F3F5FA"/>
          </a:solidFill>
          <a:ln>
            <a:noFill/>
          </a:ln>
        </p:spPr>
      </p:pic>
      <p:pic>
        <p:nvPicPr>
          <p:cNvPr id="153" name="Google Shape;153;h1e75b8713011cdf_2_21"/>
          <p:cNvPicPr preferRelativeResize="0"/>
          <p:nvPr/>
        </p:nvPicPr>
        <p:blipFill>
          <a:blip r:embed="rId4">
            <a:alphaModFix/>
          </a:blip>
          <a:stretch>
            <a:fillRect/>
          </a:stretch>
        </p:blipFill>
        <p:spPr>
          <a:xfrm>
            <a:off x="3661400" y="2860800"/>
            <a:ext cx="299000" cy="279500"/>
          </a:xfrm>
          <a:prstGeom prst="rect">
            <a:avLst/>
          </a:prstGeom>
          <a:noFill/>
          <a:ln>
            <a:noFill/>
          </a:ln>
        </p:spPr>
      </p:pic>
      <p:pic>
        <p:nvPicPr>
          <p:cNvPr id="154" name="Google Shape;154;h1e75b8713011cdf_2_21"/>
          <p:cNvPicPr preferRelativeResize="0"/>
          <p:nvPr/>
        </p:nvPicPr>
        <p:blipFill>
          <a:blip r:embed="rId5">
            <a:alphaModFix/>
          </a:blip>
          <a:stretch>
            <a:fillRect/>
          </a:stretch>
        </p:blipFill>
        <p:spPr>
          <a:xfrm>
            <a:off x="6292113" y="2890125"/>
            <a:ext cx="329667" cy="279500"/>
          </a:xfrm>
          <a:prstGeom prst="rect">
            <a:avLst/>
          </a:prstGeom>
          <a:noFill/>
          <a:ln>
            <a:noFill/>
          </a:ln>
        </p:spPr>
      </p:pic>
      <p:pic>
        <p:nvPicPr>
          <p:cNvPr id="155" name="Google Shape;155;h1e75b8713011cdf_2_21"/>
          <p:cNvPicPr preferRelativeResize="0"/>
          <p:nvPr/>
        </p:nvPicPr>
        <p:blipFill>
          <a:blip r:embed="rId6">
            <a:alphaModFix/>
          </a:blip>
          <a:stretch>
            <a:fillRect/>
          </a:stretch>
        </p:blipFill>
        <p:spPr>
          <a:xfrm>
            <a:off x="9131288" y="2805950"/>
            <a:ext cx="299000" cy="279500"/>
          </a:xfrm>
          <a:prstGeom prst="rect">
            <a:avLst/>
          </a:prstGeom>
          <a:solidFill>
            <a:srgbClr val="F3F5FA"/>
          </a:solid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0"/>
        <p:cNvGrpSpPr/>
        <p:nvPr/>
      </p:nvGrpSpPr>
      <p:grpSpPr>
        <a:xfrm>
          <a:off x="0" y="0"/>
          <a:ext cx="0" cy="0"/>
          <a:chOff x="0" y="0"/>
          <a:chExt cx="0" cy="0"/>
        </a:xfrm>
      </p:grpSpPr>
      <p:sp>
        <p:nvSpPr>
          <p:cNvPr id="161" name="Google Shape;161;p5"/>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latin typeface="Arial"/>
                <a:ea typeface="Arial"/>
                <a:cs typeface="Arial"/>
                <a:sym typeface="Arial"/>
              </a:rPr>
              <a:t>0</a:t>
            </a:r>
            <a:r>
              <a:rPr lang="en-US" sz="1100" b="1">
                <a:solidFill>
                  <a:srgbClr val="2563EB"/>
                </a:solidFill>
              </a:rPr>
              <a:t>2</a:t>
            </a:r>
            <a:r>
              <a:rPr lang="en-US" sz="1100" b="1">
                <a:solidFill>
                  <a:srgbClr val="2563EB"/>
                </a:solidFill>
                <a:latin typeface="Arial"/>
                <a:ea typeface="Arial"/>
                <a:cs typeface="Arial"/>
                <a:sym typeface="Arial"/>
              </a:rPr>
              <a:t> · </a:t>
            </a:r>
            <a:r>
              <a:rPr lang="en-US" sz="1100" b="1">
                <a:solidFill>
                  <a:srgbClr val="2563EB"/>
                </a:solidFill>
              </a:rPr>
              <a:t>BÀI TOÁN EMS GIẢI QUYẾT </a:t>
            </a:r>
            <a:endParaRPr b="1"/>
          </a:p>
        </p:txBody>
      </p:sp>
      <p:sp>
        <p:nvSpPr>
          <p:cNvPr id="162" name="Google Shape;162;p5"/>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300" b="1">
                <a:solidFill>
                  <a:srgbClr val="1E3A8A"/>
                </a:solidFill>
                <a:latin typeface="Arial"/>
                <a:ea typeface="Arial"/>
                <a:cs typeface="Arial"/>
                <a:sym typeface="Arial"/>
              </a:rPr>
              <a:t>Camera AI phát hiện sự kiện. EMS giúp biến dữ liệu thành thông tin có giá trị.</a:t>
            </a:r>
            <a:endParaRPr sz="2300" b="1">
              <a:solidFill>
                <a:srgbClr val="1E3A8A"/>
              </a:solidFill>
              <a:latin typeface="Arial"/>
              <a:ea typeface="Arial"/>
              <a:cs typeface="Arial"/>
              <a:sym typeface="Arial"/>
            </a:endParaRPr>
          </a:p>
        </p:txBody>
      </p:sp>
      <p:sp>
        <p:nvSpPr>
          <p:cNvPr id="163" name="Google Shape;163;p5"/>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5"/>
          <p:cNvSpPr txBox="1"/>
          <p:nvPr/>
        </p:nvSpPr>
        <p:spPr>
          <a:xfrm>
            <a:off x="609600" y="1371600"/>
            <a:ext cx="4826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latin typeface="Arial"/>
                <a:ea typeface="Arial"/>
                <a:cs typeface="Arial"/>
                <a:sym typeface="Arial"/>
              </a:rPr>
              <a:t>CAMERA AI GHI NHẬN</a:t>
            </a:r>
            <a:endParaRPr/>
          </a:p>
        </p:txBody>
      </p:sp>
      <p:sp>
        <p:nvSpPr>
          <p:cNvPr id="165" name="Google Shape;165;p5"/>
          <p:cNvSpPr/>
          <p:nvPr/>
        </p:nvSpPr>
        <p:spPr>
          <a:xfrm>
            <a:off x="609600" y="1651000"/>
            <a:ext cx="4826000" cy="381000"/>
          </a:xfrm>
          <a:prstGeom prst="roundRect">
            <a:avLst>
              <a:gd name="adj" fmla="val 6000"/>
            </a:avLst>
          </a:prstGeom>
          <a:solidFill>
            <a:srgbClr val="F3F5FA"/>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050">
                <a:solidFill>
                  <a:srgbClr val="1F2937"/>
                </a:solidFill>
                <a:latin typeface="Arial"/>
                <a:ea typeface="Arial"/>
                <a:cs typeface="Arial"/>
                <a:sym typeface="Arial"/>
              </a:rPr>
              <a:t>21:05:12 · Nhận diện khuôn mặt – Cổng A</a:t>
            </a:r>
            <a:endParaRPr/>
          </a:p>
        </p:txBody>
      </p:sp>
      <p:sp>
        <p:nvSpPr>
          <p:cNvPr id="166" name="Google Shape;166;p5"/>
          <p:cNvSpPr/>
          <p:nvPr/>
        </p:nvSpPr>
        <p:spPr>
          <a:xfrm>
            <a:off x="609600" y="2108200"/>
            <a:ext cx="4826000" cy="381000"/>
          </a:xfrm>
          <a:prstGeom prst="roundRect">
            <a:avLst>
              <a:gd name="adj" fmla="val 6000"/>
            </a:avLst>
          </a:prstGeom>
          <a:solidFill>
            <a:srgbClr val="F3F5FA"/>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050">
                <a:solidFill>
                  <a:srgbClr val="1F2937"/>
                </a:solidFill>
                <a:latin typeface="Arial"/>
                <a:ea typeface="Arial"/>
                <a:cs typeface="Arial"/>
                <a:sym typeface="Arial"/>
              </a:rPr>
              <a:t>21:05:40 · Biển số 30H-43432 · Ô tô · Bãi xe</a:t>
            </a:r>
            <a:endParaRPr sz="1050">
              <a:solidFill>
                <a:srgbClr val="1F2937"/>
              </a:solidFill>
              <a:latin typeface="Arial"/>
              <a:ea typeface="Arial"/>
              <a:cs typeface="Arial"/>
              <a:sym typeface="Arial"/>
            </a:endParaRPr>
          </a:p>
        </p:txBody>
      </p:sp>
      <p:sp>
        <p:nvSpPr>
          <p:cNvPr id="167" name="Google Shape;167;p5"/>
          <p:cNvSpPr/>
          <p:nvPr/>
        </p:nvSpPr>
        <p:spPr>
          <a:xfrm>
            <a:off x="609600" y="2565400"/>
            <a:ext cx="4826000" cy="381000"/>
          </a:xfrm>
          <a:prstGeom prst="roundRect">
            <a:avLst>
              <a:gd name="adj" fmla="val 6000"/>
            </a:avLst>
          </a:prstGeom>
          <a:solidFill>
            <a:srgbClr val="F3F5FA"/>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050">
                <a:solidFill>
                  <a:srgbClr val="1F2937"/>
                </a:solidFill>
                <a:latin typeface="Arial"/>
                <a:ea typeface="Arial"/>
                <a:cs typeface="Arial"/>
                <a:sym typeface="Arial"/>
              </a:rPr>
              <a:t>21:06:03 · </a:t>
            </a:r>
            <a:r>
              <a:rPr lang="en-US" sz="1050">
                <a:solidFill>
                  <a:srgbClr val="1F2937"/>
                </a:solidFill>
              </a:rPr>
              <a:t>Phát hiện lượt vào</a:t>
            </a:r>
            <a:r>
              <a:rPr lang="en-US" sz="1050">
                <a:solidFill>
                  <a:srgbClr val="1F2937"/>
                </a:solidFill>
                <a:latin typeface="Arial"/>
                <a:ea typeface="Arial"/>
                <a:cs typeface="Arial"/>
                <a:sym typeface="Arial"/>
              </a:rPr>
              <a:t> · </a:t>
            </a:r>
            <a:r>
              <a:rPr lang="en-US" sz="1050">
                <a:solidFill>
                  <a:srgbClr val="1F2937"/>
                </a:solidFill>
              </a:rPr>
              <a:t>S</a:t>
            </a:r>
            <a:r>
              <a:rPr lang="en-US" sz="1050">
                <a:solidFill>
                  <a:srgbClr val="1F2937"/>
                </a:solidFill>
                <a:latin typeface="Arial"/>
                <a:ea typeface="Arial"/>
                <a:cs typeface="Arial"/>
                <a:sym typeface="Arial"/>
              </a:rPr>
              <a:t>ảnh chính</a:t>
            </a:r>
            <a:endParaRPr sz="1050">
              <a:solidFill>
                <a:srgbClr val="1F2937"/>
              </a:solidFill>
              <a:latin typeface="Arial"/>
              <a:ea typeface="Arial"/>
              <a:cs typeface="Arial"/>
              <a:sym typeface="Arial"/>
            </a:endParaRPr>
          </a:p>
        </p:txBody>
      </p:sp>
      <p:sp>
        <p:nvSpPr>
          <p:cNvPr id="168" name="Google Shape;168;p5"/>
          <p:cNvSpPr/>
          <p:nvPr/>
        </p:nvSpPr>
        <p:spPr>
          <a:xfrm>
            <a:off x="609600" y="3022600"/>
            <a:ext cx="4826000" cy="381000"/>
          </a:xfrm>
          <a:prstGeom prst="roundRect">
            <a:avLst>
              <a:gd name="adj" fmla="val 6000"/>
            </a:avLst>
          </a:prstGeom>
          <a:solidFill>
            <a:srgbClr val="F3F5FA"/>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050">
                <a:solidFill>
                  <a:srgbClr val="1F2937"/>
                </a:solidFill>
                <a:latin typeface="Arial"/>
                <a:ea typeface="Arial"/>
                <a:cs typeface="Arial"/>
                <a:sym typeface="Arial"/>
              </a:rPr>
              <a:t>21:06:18 · </a:t>
            </a:r>
            <a:r>
              <a:rPr lang="en-US" sz="1050">
                <a:solidFill>
                  <a:srgbClr val="1F2937"/>
                </a:solidFill>
              </a:rPr>
              <a:t>Phát hiện khuôn mặt nữ sảnh A</a:t>
            </a:r>
            <a:endParaRPr/>
          </a:p>
        </p:txBody>
      </p:sp>
      <p:sp>
        <p:nvSpPr>
          <p:cNvPr id="169" name="Google Shape;169;p5"/>
          <p:cNvSpPr/>
          <p:nvPr/>
        </p:nvSpPr>
        <p:spPr>
          <a:xfrm>
            <a:off x="609600" y="3479800"/>
            <a:ext cx="4826000" cy="381000"/>
          </a:xfrm>
          <a:prstGeom prst="roundRect">
            <a:avLst>
              <a:gd name="adj" fmla="val 6000"/>
            </a:avLst>
          </a:prstGeom>
          <a:solidFill>
            <a:srgbClr val="F3F5FA"/>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050">
                <a:solidFill>
                  <a:srgbClr val="1F2937"/>
                </a:solidFill>
                <a:latin typeface="Arial"/>
                <a:ea typeface="Arial"/>
                <a:cs typeface="Arial"/>
                <a:sym typeface="Arial"/>
              </a:rPr>
              <a:t>21:07:55 · </a:t>
            </a:r>
            <a:r>
              <a:rPr lang="en-US" sz="1050">
                <a:solidFill>
                  <a:srgbClr val="1F2937"/>
                </a:solidFill>
              </a:rPr>
              <a:t>Phát hiện khói</a:t>
            </a:r>
            <a:r>
              <a:rPr lang="en-US" sz="1050">
                <a:solidFill>
                  <a:srgbClr val="1F2937"/>
                </a:solidFill>
                <a:latin typeface="Arial"/>
                <a:ea typeface="Arial"/>
                <a:cs typeface="Arial"/>
                <a:sym typeface="Arial"/>
              </a:rPr>
              <a:t> kho B</a:t>
            </a:r>
            <a:endParaRPr sz="1050">
              <a:solidFill>
                <a:srgbClr val="1F2937"/>
              </a:solidFill>
              <a:latin typeface="Arial"/>
              <a:ea typeface="Arial"/>
              <a:cs typeface="Arial"/>
              <a:sym typeface="Arial"/>
            </a:endParaRPr>
          </a:p>
        </p:txBody>
      </p:sp>
      <p:sp>
        <p:nvSpPr>
          <p:cNvPr id="170" name="Google Shape;170;p5"/>
          <p:cNvSpPr/>
          <p:nvPr/>
        </p:nvSpPr>
        <p:spPr>
          <a:xfrm>
            <a:off x="609600" y="3937000"/>
            <a:ext cx="4826000" cy="381000"/>
          </a:xfrm>
          <a:prstGeom prst="roundRect">
            <a:avLst>
              <a:gd name="adj" fmla="val 6000"/>
            </a:avLst>
          </a:prstGeom>
          <a:solidFill>
            <a:srgbClr val="F3F5FA"/>
          </a:solidFill>
          <a:ln>
            <a:noFill/>
          </a:ln>
        </p:spPr>
        <p:txBody>
          <a:bodyPr spcFirstLastPara="1" wrap="square" lIns="101600" tIns="50800" rIns="101600" bIns="50800" anchor="ctr" anchorCtr="0">
            <a:noAutofit/>
          </a:bodyPr>
          <a:lstStyle/>
          <a:p>
            <a:pPr marL="0" lvl="0" indent="0" algn="l" rtl="0">
              <a:spcBef>
                <a:spcPts val="0"/>
              </a:spcBef>
              <a:spcAft>
                <a:spcPts val="0"/>
              </a:spcAft>
              <a:buClr>
                <a:schemeClr val="dk1"/>
              </a:buClr>
              <a:buFont typeface="Arial"/>
              <a:buNone/>
            </a:pPr>
            <a:r>
              <a:rPr lang="en-US" sz="1050">
                <a:solidFill>
                  <a:srgbClr val="1F2937"/>
                </a:solidFill>
              </a:rPr>
              <a:t>21:08:21 · Phát hiện lượt ra · Sảnh chính</a:t>
            </a:r>
            <a:endParaRPr sz="1050">
              <a:solidFill>
                <a:srgbClr val="1F2937"/>
              </a:solidFill>
              <a:latin typeface="Arial"/>
              <a:ea typeface="Arial"/>
              <a:cs typeface="Arial"/>
              <a:sym typeface="Arial"/>
            </a:endParaRPr>
          </a:p>
        </p:txBody>
      </p:sp>
      <p:sp>
        <p:nvSpPr>
          <p:cNvPr id="171" name="Google Shape;171;p5"/>
          <p:cNvSpPr/>
          <p:nvPr/>
        </p:nvSpPr>
        <p:spPr>
          <a:xfrm>
            <a:off x="609600" y="4394200"/>
            <a:ext cx="4826100" cy="587400"/>
          </a:xfrm>
          <a:prstGeom prst="roundRect">
            <a:avLst>
              <a:gd name="adj" fmla="val 6000"/>
            </a:avLst>
          </a:prstGeom>
          <a:solidFill>
            <a:srgbClr val="F3F5FA"/>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050">
                <a:solidFill>
                  <a:srgbClr val="1F2937"/>
                </a:solidFill>
              </a:rPr>
              <a:t>…Nhiều sự kiện được ghi nhận tại nhiều camera và thời điểm khác nhau...</a:t>
            </a:r>
            <a:endParaRPr/>
          </a:p>
        </p:txBody>
      </p:sp>
      <p:sp>
        <p:nvSpPr>
          <p:cNvPr id="172" name="Google Shape;172;p5"/>
          <p:cNvSpPr/>
          <p:nvPr/>
        </p:nvSpPr>
        <p:spPr>
          <a:xfrm>
            <a:off x="5588000" y="3175000"/>
            <a:ext cx="558800" cy="508000"/>
          </a:xfrm>
          <a:prstGeom prst="rightArrow">
            <a:avLst>
              <a:gd name="adj1" fmla="val 50000"/>
              <a:gd name="adj2" fmla="val 50000"/>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5"/>
          <p:cNvSpPr txBox="1"/>
          <p:nvPr/>
        </p:nvSpPr>
        <p:spPr>
          <a:xfrm>
            <a:off x="6324600" y="1371600"/>
            <a:ext cx="5257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DC2626"/>
                </a:solidFill>
                <a:latin typeface="Arial"/>
                <a:ea typeface="Arial"/>
                <a:cs typeface="Arial"/>
                <a:sym typeface="Arial"/>
              </a:rPr>
              <a:t>EMS GIÚP NGƯỜI DÙNG TRẢ LỜI</a:t>
            </a:r>
            <a:endParaRPr b="1"/>
          </a:p>
        </p:txBody>
      </p:sp>
      <p:sp>
        <p:nvSpPr>
          <p:cNvPr id="174" name="Google Shape;174;p5"/>
          <p:cNvSpPr/>
          <p:nvPr/>
        </p:nvSpPr>
        <p:spPr>
          <a:xfrm>
            <a:off x="6324600" y="1651000"/>
            <a:ext cx="5257800" cy="812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5"/>
          <p:cNvSpPr/>
          <p:nvPr/>
        </p:nvSpPr>
        <p:spPr>
          <a:xfrm>
            <a:off x="6324600" y="1778000"/>
            <a:ext cx="50800" cy="558800"/>
          </a:xfrm>
          <a:prstGeom prst="rect">
            <a:avLst/>
          </a:prstGeom>
          <a:solidFill>
            <a:srgbClr val="DC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6" name="Google Shape;176;p5"/>
          <p:cNvSpPr txBox="1"/>
          <p:nvPr/>
        </p:nvSpPr>
        <p:spPr>
          <a:xfrm>
            <a:off x="6527800" y="1803400"/>
            <a:ext cx="49023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b="1">
                <a:solidFill>
                  <a:srgbClr val="1E3A8A"/>
                </a:solidFill>
                <a:latin typeface="Arial"/>
                <a:ea typeface="Arial"/>
                <a:cs typeface="Arial"/>
                <a:sym typeface="Arial"/>
              </a:rPr>
              <a:t>Truy vết đối tượng</a:t>
            </a:r>
            <a:endParaRPr sz="1400" b="1">
              <a:solidFill>
                <a:srgbClr val="1E3A8A"/>
              </a:solidFill>
              <a:latin typeface="Arial"/>
              <a:ea typeface="Arial"/>
              <a:cs typeface="Arial"/>
              <a:sym typeface="Arial"/>
            </a:endParaRPr>
          </a:p>
        </p:txBody>
      </p:sp>
      <p:sp>
        <p:nvSpPr>
          <p:cNvPr id="177" name="Google Shape;177;p5"/>
          <p:cNvSpPr txBox="1"/>
          <p:nvPr/>
        </p:nvSpPr>
        <p:spPr>
          <a:xfrm>
            <a:off x="6527800" y="2044700"/>
            <a:ext cx="49023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latin typeface="Arial"/>
                <a:ea typeface="Arial"/>
                <a:cs typeface="Arial"/>
                <a:sym typeface="Arial"/>
              </a:rPr>
              <a:t>Đối tượng đã xuất hiện tại những camera nào, vào thời điểm nào? Có thể tra cứu lại lịch sử xuất hiện không?</a:t>
            </a:r>
            <a:endParaRPr sz="1150">
              <a:solidFill>
                <a:srgbClr val="1F2937"/>
              </a:solidFill>
              <a:latin typeface="Arial"/>
              <a:ea typeface="Arial"/>
              <a:cs typeface="Arial"/>
              <a:sym typeface="Arial"/>
            </a:endParaRPr>
          </a:p>
        </p:txBody>
      </p:sp>
      <p:sp>
        <p:nvSpPr>
          <p:cNvPr id="178" name="Google Shape;178;p5"/>
          <p:cNvSpPr/>
          <p:nvPr/>
        </p:nvSpPr>
        <p:spPr>
          <a:xfrm>
            <a:off x="6324600" y="2565400"/>
            <a:ext cx="5257800" cy="812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5"/>
          <p:cNvSpPr/>
          <p:nvPr/>
        </p:nvSpPr>
        <p:spPr>
          <a:xfrm>
            <a:off x="6324600" y="2692400"/>
            <a:ext cx="50800" cy="558800"/>
          </a:xfrm>
          <a:prstGeom prst="rect">
            <a:avLst/>
          </a:prstGeom>
          <a:solidFill>
            <a:srgbClr val="DC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5"/>
          <p:cNvSpPr txBox="1"/>
          <p:nvPr/>
        </p:nvSpPr>
        <p:spPr>
          <a:xfrm>
            <a:off x="6527800" y="2717800"/>
            <a:ext cx="49023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b="1">
                <a:solidFill>
                  <a:srgbClr val="1E3A8A"/>
                </a:solidFill>
                <a:latin typeface="Arial"/>
                <a:ea typeface="Arial"/>
                <a:cs typeface="Arial"/>
                <a:sym typeface="Arial"/>
              </a:rPr>
              <a:t>Thống kê sự kiện</a:t>
            </a:r>
            <a:endParaRPr sz="1400" b="1">
              <a:solidFill>
                <a:srgbClr val="1E3A8A"/>
              </a:solidFill>
              <a:latin typeface="Arial"/>
              <a:ea typeface="Arial"/>
              <a:cs typeface="Arial"/>
              <a:sym typeface="Arial"/>
            </a:endParaRPr>
          </a:p>
        </p:txBody>
      </p:sp>
      <p:sp>
        <p:nvSpPr>
          <p:cNvPr id="181" name="Google Shape;181;p5"/>
          <p:cNvSpPr txBox="1"/>
          <p:nvPr/>
        </p:nvSpPr>
        <p:spPr>
          <a:xfrm>
            <a:off x="6553200" y="2959100"/>
            <a:ext cx="49023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latin typeface="Arial"/>
                <a:ea typeface="Arial"/>
                <a:cs typeface="Arial"/>
                <a:sym typeface="Arial"/>
              </a:rPr>
              <a:t>Có bao nhiêu sự kiện theo loại, thời gian, camera hoặc khu vực? Thời điểm nào ghi nhận nhiều sự kiện nhất?</a:t>
            </a:r>
            <a:endParaRPr sz="1150">
              <a:solidFill>
                <a:srgbClr val="1F2937"/>
              </a:solidFill>
              <a:latin typeface="Arial"/>
              <a:ea typeface="Arial"/>
              <a:cs typeface="Arial"/>
              <a:sym typeface="Arial"/>
            </a:endParaRPr>
          </a:p>
        </p:txBody>
      </p:sp>
      <p:sp>
        <p:nvSpPr>
          <p:cNvPr id="182" name="Google Shape;182;p5"/>
          <p:cNvSpPr/>
          <p:nvPr/>
        </p:nvSpPr>
        <p:spPr>
          <a:xfrm>
            <a:off x="6324600" y="3479800"/>
            <a:ext cx="5257800" cy="812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5"/>
          <p:cNvSpPr/>
          <p:nvPr/>
        </p:nvSpPr>
        <p:spPr>
          <a:xfrm>
            <a:off x="6324600" y="3606800"/>
            <a:ext cx="50800" cy="558800"/>
          </a:xfrm>
          <a:prstGeom prst="rect">
            <a:avLst/>
          </a:prstGeom>
          <a:solidFill>
            <a:srgbClr val="DC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5"/>
          <p:cNvSpPr txBox="1"/>
          <p:nvPr/>
        </p:nvSpPr>
        <p:spPr>
          <a:xfrm>
            <a:off x="6527800" y="3632200"/>
            <a:ext cx="49022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b="1">
                <a:solidFill>
                  <a:srgbClr val="1E3A8A"/>
                </a:solidFill>
                <a:latin typeface="Arial"/>
                <a:ea typeface="Arial"/>
                <a:cs typeface="Arial"/>
                <a:sym typeface="Arial"/>
              </a:rPr>
              <a:t>Phân tích tình hình</a:t>
            </a:r>
            <a:endParaRPr sz="1400" b="1">
              <a:solidFill>
                <a:srgbClr val="1E3A8A"/>
              </a:solidFill>
              <a:latin typeface="Arial"/>
              <a:ea typeface="Arial"/>
              <a:cs typeface="Arial"/>
              <a:sym typeface="Arial"/>
            </a:endParaRPr>
          </a:p>
        </p:txBody>
      </p:sp>
      <p:sp>
        <p:nvSpPr>
          <p:cNvPr id="185" name="Google Shape;185;p5"/>
          <p:cNvSpPr txBox="1"/>
          <p:nvPr/>
        </p:nvSpPr>
        <p:spPr>
          <a:xfrm>
            <a:off x="6527800" y="3872150"/>
            <a:ext cx="49023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latin typeface="Arial"/>
                <a:ea typeface="Arial"/>
                <a:cs typeface="Arial"/>
                <a:sym typeface="Arial"/>
              </a:rPr>
              <a:t>Sự kiện nào xảy ra nhiều tại một khu vực? Tình hình sự kiện thay đổi như thế nào theo thời gian?</a:t>
            </a:r>
            <a:endParaRPr sz="1150">
              <a:solidFill>
                <a:srgbClr val="1F2937"/>
              </a:solidFill>
              <a:latin typeface="Arial"/>
              <a:ea typeface="Arial"/>
              <a:cs typeface="Arial"/>
              <a:sym typeface="Arial"/>
            </a:endParaRPr>
          </a:p>
        </p:txBody>
      </p:sp>
      <p:sp>
        <p:nvSpPr>
          <p:cNvPr id="186" name="Google Shape;186;p5"/>
          <p:cNvSpPr/>
          <p:nvPr/>
        </p:nvSpPr>
        <p:spPr>
          <a:xfrm>
            <a:off x="6324600" y="4394200"/>
            <a:ext cx="5257800" cy="812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5"/>
          <p:cNvSpPr/>
          <p:nvPr/>
        </p:nvSpPr>
        <p:spPr>
          <a:xfrm>
            <a:off x="6324600" y="4521200"/>
            <a:ext cx="50800" cy="558800"/>
          </a:xfrm>
          <a:prstGeom prst="rect">
            <a:avLst/>
          </a:prstGeom>
          <a:solidFill>
            <a:srgbClr val="DC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5"/>
          <p:cNvSpPr txBox="1"/>
          <p:nvPr/>
        </p:nvSpPr>
        <p:spPr>
          <a:xfrm>
            <a:off x="6527800" y="4546600"/>
            <a:ext cx="49022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b="1">
                <a:solidFill>
                  <a:srgbClr val="1E3A8A"/>
                </a:solidFill>
                <a:latin typeface="Arial"/>
                <a:ea typeface="Arial"/>
                <a:cs typeface="Arial"/>
                <a:sym typeface="Arial"/>
              </a:rPr>
              <a:t>Quản lý tập trung</a:t>
            </a:r>
            <a:endParaRPr sz="1400" b="1">
              <a:solidFill>
                <a:srgbClr val="1E3A8A"/>
              </a:solidFill>
              <a:latin typeface="Arial"/>
              <a:ea typeface="Arial"/>
              <a:cs typeface="Arial"/>
              <a:sym typeface="Arial"/>
            </a:endParaRPr>
          </a:p>
        </p:txBody>
      </p:sp>
      <p:sp>
        <p:nvSpPr>
          <p:cNvPr id="189" name="Google Shape;189;p5"/>
          <p:cNvSpPr txBox="1"/>
          <p:nvPr/>
        </p:nvSpPr>
        <p:spPr>
          <a:xfrm>
            <a:off x="6527800" y="4785231"/>
            <a:ext cx="49022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latin typeface="Arial"/>
                <a:ea typeface="Arial"/>
                <a:cs typeface="Arial"/>
                <a:sym typeface="Arial"/>
              </a:rPr>
              <a:t>Ai được phép xem dữ liệu? Người dùng phụ trách những khu vực và camera nào?</a:t>
            </a:r>
            <a:endParaRPr sz="1150">
              <a:solidFill>
                <a:srgbClr val="1F2937"/>
              </a:solidFill>
              <a:latin typeface="Arial"/>
              <a:ea typeface="Arial"/>
              <a:cs typeface="Arial"/>
              <a:sym typeface="Arial"/>
            </a:endParaRPr>
          </a:p>
        </p:txBody>
      </p:sp>
      <p:sp>
        <p:nvSpPr>
          <p:cNvPr id="190" name="Google Shape;190;p5"/>
          <p:cNvSpPr/>
          <p:nvPr/>
        </p:nvSpPr>
        <p:spPr>
          <a:xfrm>
            <a:off x="609600" y="5486400"/>
            <a:ext cx="10972800" cy="787400"/>
          </a:xfrm>
          <a:prstGeom prst="roundRect">
            <a:avLst>
              <a:gd name="adj" fmla="val 6000"/>
            </a:avLst>
          </a:prstGeom>
          <a:solidFill>
            <a:srgbClr val="FEF3C7"/>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1250" b="1">
                <a:solidFill>
                  <a:srgbClr val="1E3A8A"/>
                </a:solidFill>
              </a:rPr>
              <a:t>Camera AI cho biết điều gì vừa xảy ra. EMS giúp người dùng tra cứu, tổng hợp và quản lý các sự kiện đó trên một hệ thống tập trung.</a:t>
            </a:r>
            <a:endParaRPr sz="1250" b="1">
              <a:solidFill>
                <a:srgbClr val="1E3A8A"/>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sp>
        <p:nvSpPr>
          <p:cNvPr id="196" name="Google Shape;196;p6"/>
          <p:cNvSpPr/>
          <p:nvPr/>
        </p:nvSpPr>
        <p:spPr>
          <a:xfrm>
            <a:off x="6172200" y="2362200"/>
            <a:ext cx="2628900" cy="2997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6"/>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latin typeface="Arial"/>
                <a:ea typeface="Arial"/>
                <a:cs typeface="Arial"/>
                <a:sym typeface="Arial"/>
              </a:rPr>
              <a:t>0</a:t>
            </a:r>
            <a:r>
              <a:rPr lang="en-US" sz="1100" b="1">
                <a:solidFill>
                  <a:srgbClr val="2563EB"/>
                </a:solidFill>
              </a:rPr>
              <a:t>3</a:t>
            </a:r>
            <a:r>
              <a:rPr lang="en-US" sz="1100" b="1">
                <a:solidFill>
                  <a:srgbClr val="2563EB"/>
                </a:solidFill>
                <a:latin typeface="Arial"/>
                <a:ea typeface="Arial"/>
                <a:cs typeface="Arial"/>
                <a:sym typeface="Arial"/>
              </a:rPr>
              <a:t> · </a:t>
            </a:r>
            <a:r>
              <a:rPr lang="en-US" sz="1100" b="1">
                <a:solidFill>
                  <a:srgbClr val="2563EB"/>
                </a:solidFill>
              </a:rPr>
              <a:t>EMS GIẢI QUYẾT NHƯ THẾ NÀO? </a:t>
            </a:r>
            <a:endParaRPr/>
          </a:p>
        </p:txBody>
      </p:sp>
      <p:sp>
        <p:nvSpPr>
          <p:cNvPr id="198" name="Google Shape;198;p6"/>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EMS biến sự kiện từ camera AI thành dữ liệu có thể khai thác </a:t>
            </a:r>
            <a:endParaRPr sz="2600" b="1">
              <a:solidFill>
                <a:srgbClr val="1E3A8A"/>
              </a:solidFill>
              <a:latin typeface="Arial"/>
              <a:ea typeface="Arial"/>
              <a:cs typeface="Arial"/>
              <a:sym typeface="Arial"/>
            </a:endParaRPr>
          </a:p>
        </p:txBody>
      </p:sp>
      <p:sp>
        <p:nvSpPr>
          <p:cNvPr id="199" name="Google Shape;199;p6"/>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6"/>
          <p:cNvSpPr/>
          <p:nvPr/>
        </p:nvSpPr>
        <p:spPr>
          <a:xfrm>
            <a:off x="609600" y="1371600"/>
            <a:ext cx="10972800" cy="787400"/>
          </a:xfrm>
          <a:prstGeom prst="roundRect">
            <a:avLst>
              <a:gd name="adj" fmla="val 6000"/>
            </a:avLst>
          </a:prstGeom>
          <a:solidFill>
            <a:srgbClr val="1E3A8A"/>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b="1">
                <a:solidFill>
                  <a:srgbClr val="FFFFFF"/>
                </a:solidFill>
              </a:rPr>
              <a:t>EMS tiếp nhận, tổ chức và quản lý tập trung các sự kiện từ camera AI, giúp người dùng tra cứu, truy vết, thống kê và khai thác dữ liệu theo phạm vi được phân quyền. </a:t>
            </a:r>
            <a:endParaRPr sz="1400" b="1">
              <a:solidFill>
                <a:srgbClr val="FFFFFF"/>
              </a:solidFill>
              <a:latin typeface="Arial"/>
              <a:ea typeface="Arial"/>
              <a:cs typeface="Arial"/>
              <a:sym typeface="Arial"/>
            </a:endParaRPr>
          </a:p>
        </p:txBody>
      </p:sp>
      <p:sp>
        <p:nvSpPr>
          <p:cNvPr id="201" name="Google Shape;201;p6"/>
          <p:cNvSpPr/>
          <p:nvPr/>
        </p:nvSpPr>
        <p:spPr>
          <a:xfrm>
            <a:off x="609600" y="2362200"/>
            <a:ext cx="2628900" cy="2997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6"/>
          <p:cNvSpPr/>
          <p:nvPr/>
        </p:nvSpPr>
        <p:spPr>
          <a:xfrm>
            <a:off x="609600" y="23622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6"/>
          <p:cNvSpPr/>
          <p:nvPr/>
        </p:nvSpPr>
        <p:spPr>
          <a:xfrm>
            <a:off x="748625" y="2802350"/>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spcBef>
                <a:spcPts val="0"/>
              </a:spcBef>
              <a:spcAft>
                <a:spcPts val="0"/>
              </a:spcAft>
              <a:buNone/>
            </a:pPr>
            <a:r>
              <a:rPr lang="en-US" sz="1400" b="1">
                <a:solidFill>
                  <a:srgbClr val="FFFFFF"/>
                </a:solidFill>
                <a:latin typeface="Arial"/>
                <a:ea typeface="Arial"/>
                <a:cs typeface="Arial"/>
                <a:sym typeface="Arial"/>
              </a:rPr>
              <a:t>1</a:t>
            </a:r>
            <a:endParaRPr/>
          </a:p>
        </p:txBody>
      </p:sp>
      <p:sp>
        <p:nvSpPr>
          <p:cNvPr id="204" name="Google Shape;204;p6"/>
          <p:cNvSpPr txBox="1"/>
          <p:nvPr/>
        </p:nvSpPr>
        <p:spPr>
          <a:xfrm>
            <a:off x="1234725" y="2878550"/>
            <a:ext cx="1862400" cy="3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Tiếp nhận &amp; tập trung </a:t>
            </a:r>
            <a:endParaRPr/>
          </a:p>
        </p:txBody>
      </p:sp>
      <p:sp>
        <p:nvSpPr>
          <p:cNvPr id="205" name="Google Shape;205;p6"/>
          <p:cNvSpPr txBox="1"/>
          <p:nvPr/>
        </p:nvSpPr>
        <p:spPr>
          <a:xfrm>
            <a:off x="774700" y="3586650"/>
            <a:ext cx="2286000" cy="5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Ghi nhận sự kiện từ nhiều camera và tập trung về một hệ thống quản lý chung. </a:t>
            </a:r>
            <a:endParaRPr sz="1150">
              <a:solidFill>
                <a:srgbClr val="1F2937"/>
              </a:solidFill>
              <a:latin typeface="Arial"/>
              <a:ea typeface="Arial"/>
              <a:cs typeface="Arial"/>
              <a:sym typeface="Arial"/>
            </a:endParaRPr>
          </a:p>
        </p:txBody>
      </p:sp>
      <p:sp>
        <p:nvSpPr>
          <p:cNvPr id="206" name="Google Shape;206;p6"/>
          <p:cNvSpPr txBox="1"/>
          <p:nvPr/>
        </p:nvSpPr>
        <p:spPr>
          <a:xfrm>
            <a:off x="787400" y="4775200"/>
            <a:ext cx="2286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1">
                <a:solidFill>
                  <a:srgbClr val="2563EB"/>
                </a:solidFill>
              </a:rPr>
              <a:t>Chức năng: Quản lý sự kiện, Quản lý camera </a:t>
            </a:r>
            <a:endParaRPr/>
          </a:p>
        </p:txBody>
      </p:sp>
      <p:sp>
        <p:nvSpPr>
          <p:cNvPr id="207" name="Google Shape;207;p6"/>
          <p:cNvSpPr/>
          <p:nvPr/>
        </p:nvSpPr>
        <p:spPr>
          <a:xfrm>
            <a:off x="3390900" y="2362200"/>
            <a:ext cx="2628900" cy="2997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6"/>
          <p:cNvSpPr/>
          <p:nvPr/>
        </p:nvSpPr>
        <p:spPr>
          <a:xfrm>
            <a:off x="3390900" y="23622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6"/>
          <p:cNvSpPr/>
          <p:nvPr/>
        </p:nvSpPr>
        <p:spPr>
          <a:xfrm>
            <a:off x="3529925" y="2802350"/>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spcBef>
                <a:spcPts val="0"/>
              </a:spcBef>
              <a:spcAft>
                <a:spcPts val="0"/>
              </a:spcAft>
              <a:buNone/>
            </a:pPr>
            <a:r>
              <a:rPr lang="en-US" sz="1400" b="1">
                <a:solidFill>
                  <a:srgbClr val="FFFFFF"/>
                </a:solidFill>
                <a:latin typeface="Arial"/>
                <a:ea typeface="Arial"/>
                <a:cs typeface="Arial"/>
                <a:sym typeface="Arial"/>
              </a:rPr>
              <a:t>2</a:t>
            </a:r>
            <a:endParaRPr/>
          </a:p>
        </p:txBody>
      </p:sp>
      <p:sp>
        <p:nvSpPr>
          <p:cNvPr id="210" name="Google Shape;210;p6"/>
          <p:cNvSpPr txBox="1"/>
          <p:nvPr/>
        </p:nvSpPr>
        <p:spPr>
          <a:xfrm>
            <a:off x="4051650" y="287855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Tổ chức &amp; lọc dữ liệu </a:t>
            </a:r>
            <a:endParaRPr/>
          </a:p>
        </p:txBody>
      </p:sp>
      <p:sp>
        <p:nvSpPr>
          <p:cNvPr id="211" name="Google Shape;211;p6"/>
          <p:cNvSpPr txBox="1"/>
          <p:nvPr/>
        </p:nvSpPr>
        <p:spPr>
          <a:xfrm>
            <a:off x="3562350" y="3598000"/>
            <a:ext cx="2286000" cy="60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Phân loại sự kiện và lọc theo thời gian, camera, khu vực, loại sự kiện hoặc thuộc tính được ghi nhận. </a:t>
            </a:r>
            <a:endParaRPr sz="1150">
              <a:solidFill>
                <a:srgbClr val="1F2937"/>
              </a:solidFill>
              <a:latin typeface="Arial"/>
              <a:ea typeface="Arial"/>
              <a:cs typeface="Arial"/>
              <a:sym typeface="Arial"/>
            </a:endParaRPr>
          </a:p>
        </p:txBody>
      </p:sp>
      <p:sp>
        <p:nvSpPr>
          <p:cNvPr id="212" name="Google Shape;212;p6"/>
          <p:cNvSpPr txBox="1"/>
          <p:nvPr/>
        </p:nvSpPr>
        <p:spPr>
          <a:xfrm>
            <a:off x="3568700" y="4775200"/>
            <a:ext cx="2286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1">
                <a:solidFill>
                  <a:srgbClr val="2563EB"/>
                </a:solidFill>
              </a:rPr>
              <a:t>Chức năng: Danh sách sự kiện, Bộ lọc tìm kiếm </a:t>
            </a:r>
            <a:endParaRPr/>
          </a:p>
        </p:txBody>
      </p:sp>
      <p:sp>
        <p:nvSpPr>
          <p:cNvPr id="213" name="Google Shape;213;p6"/>
          <p:cNvSpPr/>
          <p:nvPr/>
        </p:nvSpPr>
        <p:spPr>
          <a:xfrm>
            <a:off x="6236025" y="2814028"/>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spcBef>
                <a:spcPts val="0"/>
              </a:spcBef>
              <a:spcAft>
                <a:spcPts val="0"/>
              </a:spcAft>
              <a:buNone/>
            </a:pPr>
            <a:r>
              <a:rPr lang="en-US" sz="1400" b="1">
                <a:solidFill>
                  <a:srgbClr val="FFFFFF"/>
                </a:solidFill>
                <a:latin typeface="Arial"/>
                <a:ea typeface="Arial"/>
                <a:cs typeface="Arial"/>
                <a:sym typeface="Arial"/>
              </a:rPr>
              <a:t>3</a:t>
            </a:r>
            <a:endParaRPr/>
          </a:p>
        </p:txBody>
      </p:sp>
      <p:sp>
        <p:nvSpPr>
          <p:cNvPr id="214" name="Google Shape;214;p6"/>
          <p:cNvSpPr/>
          <p:nvPr/>
        </p:nvSpPr>
        <p:spPr>
          <a:xfrm>
            <a:off x="6172200" y="23622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6"/>
          <p:cNvSpPr txBox="1"/>
          <p:nvPr/>
        </p:nvSpPr>
        <p:spPr>
          <a:xfrm>
            <a:off x="6715450" y="2890988"/>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Tra cứu &amp; khai thác </a:t>
            </a:r>
            <a:endParaRPr/>
          </a:p>
        </p:txBody>
      </p:sp>
      <p:sp>
        <p:nvSpPr>
          <p:cNvPr id="216" name="Google Shape;216;p6"/>
          <p:cNvSpPr txBox="1"/>
          <p:nvPr/>
        </p:nvSpPr>
        <p:spPr>
          <a:xfrm>
            <a:off x="6343650" y="362135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Tìm lại đối tượng, truy vết lịch sử xuất hiện, theo dõi số liệu và xem báo cáo sự kiện. </a:t>
            </a:r>
            <a:endParaRPr sz="1150">
              <a:solidFill>
                <a:srgbClr val="1F2937"/>
              </a:solidFill>
              <a:latin typeface="Arial"/>
              <a:ea typeface="Arial"/>
              <a:cs typeface="Arial"/>
              <a:sym typeface="Arial"/>
            </a:endParaRPr>
          </a:p>
        </p:txBody>
      </p:sp>
      <p:sp>
        <p:nvSpPr>
          <p:cNvPr id="217" name="Google Shape;217;p6"/>
          <p:cNvSpPr txBox="1"/>
          <p:nvPr/>
        </p:nvSpPr>
        <p:spPr>
          <a:xfrm>
            <a:off x="6350000" y="4775200"/>
            <a:ext cx="2286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1">
                <a:solidFill>
                  <a:srgbClr val="2563EB"/>
                </a:solidFill>
              </a:rPr>
              <a:t>Chức năng: Truy vết, Danh sách định danh, Báo cáo &amp; Thống kê </a:t>
            </a:r>
            <a:endParaRPr/>
          </a:p>
        </p:txBody>
      </p:sp>
      <p:sp>
        <p:nvSpPr>
          <p:cNvPr id="218" name="Google Shape;218;p6"/>
          <p:cNvSpPr/>
          <p:nvPr/>
        </p:nvSpPr>
        <p:spPr>
          <a:xfrm>
            <a:off x="609600" y="5537200"/>
            <a:ext cx="10972800" cy="736600"/>
          </a:xfrm>
          <a:prstGeom prst="roundRect">
            <a:avLst>
              <a:gd name="adj" fmla="val 6000"/>
            </a:avLst>
          </a:prstGeom>
          <a:solidFill>
            <a:srgbClr val="E8EEFB"/>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1250" b="1">
                <a:solidFill>
                  <a:srgbClr val="1E3A8A"/>
                </a:solidFill>
              </a:rPr>
              <a:t>Camera AI phát hiện sự kiện → EMS tập trung và tổ chức dữ liệu → Người dùng tra cứu, thống kê và quản lý theo quyền hạn. </a:t>
            </a:r>
            <a:endParaRPr/>
          </a:p>
        </p:txBody>
      </p:sp>
      <p:sp>
        <p:nvSpPr>
          <p:cNvPr id="219" name="Google Shape;219;p6"/>
          <p:cNvSpPr/>
          <p:nvPr/>
        </p:nvSpPr>
        <p:spPr>
          <a:xfrm>
            <a:off x="8953500" y="2349450"/>
            <a:ext cx="2628900" cy="2997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6"/>
          <p:cNvSpPr/>
          <p:nvPr/>
        </p:nvSpPr>
        <p:spPr>
          <a:xfrm>
            <a:off x="8953500" y="2349500"/>
            <a:ext cx="26289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1" name="Google Shape;221;p6"/>
          <p:cNvSpPr txBox="1"/>
          <p:nvPr/>
        </p:nvSpPr>
        <p:spPr>
          <a:xfrm>
            <a:off x="9480875" y="2805938"/>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Phân cấp &amp; phân quyền </a:t>
            </a:r>
            <a:endParaRPr/>
          </a:p>
        </p:txBody>
      </p:sp>
      <p:sp>
        <p:nvSpPr>
          <p:cNvPr id="222" name="Google Shape;222;p6"/>
          <p:cNvSpPr txBox="1"/>
          <p:nvPr/>
        </p:nvSpPr>
        <p:spPr>
          <a:xfrm>
            <a:off x="9124950" y="3598000"/>
            <a:ext cx="2286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Kiểm soát người dùng được xem dữ liệu và sử dụng chức năng theo vai trò, đơn vị, khu vực được cấp quyền. </a:t>
            </a:r>
            <a:r>
              <a:rPr lang="en-US" sz="1150">
                <a:solidFill>
                  <a:srgbClr val="1F2937"/>
                </a:solidFill>
                <a:latin typeface="Arial"/>
                <a:ea typeface="Arial"/>
                <a:cs typeface="Arial"/>
                <a:sym typeface="Arial"/>
              </a:rPr>
              <a:t>.</a:t>
            </a:r>
            <a:endParaRPr sz="1150">
              <a:solidFill>
                <a:srgbClr val="1F2937"/>
              </a:solidFill>
              <a:latin typeface="Arial"/>
              <a:ea typeface="Arial"/>
              <a:cs typeface="Arial"/>
              <a:sym typeface="Arial"/>
            </a:endParaRPr>
          </a:p>
        </p:txBody>
      </p:sp>
      <p:sp>
        <p:nvSpPr>
          <p:cNvPr id="223" name="Google Shape;223;p6"/>
          <p:cNvSpPr txBox="1"/>
          <p:nvPr/>
        </p:nvSpPr>
        <p:spPr>
          <a:xfrm>
            <a:off x="9131300" y="4762500"/>
            <a:ext cx="2286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1">
                <a:solidFill>
                  <a:srgbClr val="2563EB"/>
                </a:solidFill>
              </a:rPr>
              <a:t>Chức năng: Người dùng, Nhóm quyền, Đơn vị </a:t>
            </a:r>
            <a:endParaRPr sz="1050" b="1">
              <a:solidFill>
                <a:srgbClr val="2563EB"/>
              </a:solidFill>
              <a:latin typeface="Arial"/>
              <a:ea typeface="Arial"/>
              <a:cs typeface="Arial"/>
              <a:sym typeface="Arial"/>
            </a:endParaRPr>
          </a:p>
        </p:txBody>
      </p:sp>
      <p:sp>
        <p:nvSpPr>
          <p:cNvPr id="224" name="Google Shape;224;p6"/>
          <p:cNvSpPr/>
          <p:nvPr/>
        </p:nvSpPr>
        <p:spPr>
          <a:xfrm>
            <a:off x="9001450" y="2764761"/>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spcBef>
                <a:spcPts val="0"/>
              </a:spcBef>
              <a:spcAft>
                <a:spcPts val="0"/>
              </a:spcAft>
              <a:buNone/>
            </a:pPr>
            <a:r>
              <a:rPr lang="en-US" sz="1400" b="1">
                <a:solidFill>
                  <a:srgbClr val="FFFFFF"/>
                </a:solidFill>
                <a:latin typeface="Arial"/>
                <a:ea typeface="Arial"/>
                <a:cs typeface="Arial"/>
                <a:sym typeface="Arial"/>
              </a:rPr>
              <a:t>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6">
          <a:extLst>
            <a:ext uri="{FF2B5EF4-FFF2-40B4-BE49-F238E27FC236}">
              <a16:creationId xmlns:a16="http://schemas.microsoft.com/office/drawing/2014/main" id="{1079DE99-082A-6101-A874-512D211702D9}"/>
            </a:ext>
          </a:extLst>
        </p:cNvPr>
        <p:cNvGrpSpPr/>
        <p:nvPr/>
      </p:nvGrpSpPr>
      <p:grpSpPr>
        <a:xfrm>
          <a:off x="0" y="0"/>
          <a:ext cx="0" cy="0"/>
          <a:chOff x="0" y="0"/>
          <a:chExt cx="0" cy="0"/>
        </a:xfrm>
      </p:grpSpPr>
      <p:sp>
        <p:nvSpPr>
          <p:cNvPr id="977" name="Google Shape;977;p28">
            <a:extLst>
              <a:ext uri="{FF2B5EF4-FFF2-40B4-BE49-F238E27FC236}">
                <a16:creationId xmlns:a16="http://schemas.microsoft.com/office/drawing/2014/main" id="{3A4BDCA9-D741-2F32-EC32-659F7761CD00}"/>
              </a:ext>
            </a:extLst>
          </p:cNvPr>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8" name="Google Shape;978;p28">
            <a:extLst>
              <a:ext uri="{FF2B5EF4-FFF2-40B4-BE49-F238E27FC236}">
                <a16:creationId xmlns:a16="http://schemas.microsoft.com/office/drawing/2014/main" id="{237C4086-77C9-BF6D-BAF0-31EAC3F49B77}"/>
              </a:ext>
            </a:extLst>
          </p:cNvPr>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28">
            <a:extLst>
              <a:ext uri="{FF2B5EF4-FFF2-40B4-BE49-F238E27FC236}">
                <a16:creationId xmlns:a16="http://schemas.microsoft.com/office/drawing/2014/main" id="{2968D85F-EDE3-1C76-A8E3-E96DB9415442}"/>
              </a:ext>
            </a:extLst>
          </p:cNvPr>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F2B705"/>
                </a:solidFill>
              </a:rPr>
              <a:t>ĐÀO TẠO SẢN PHẨM CHO TEAM SALES</a:t>
            </a:r>
            <a:endParaRPr/>
          </a:p>
        </p:txBody>
      </p:sp>
      <p:sp>
        <p:nvSpPr>
          <p:cNvPr id="980" name="Google Shape;980;p28">
            <a:extLst>
              <a:ext uri="{FF2B5EF4-FFF2-40B4-BE49-F238E27FC236}">
                <a16:creationId xmlns:a16="http://schemas.microsoft.com/office/drawing/2014/main" id="{D179585B-0D5C-82FB-9098-AAE6BCA1A62B}"/>
              </a:ext>
            </a:extLst>
          </p:cNvPr>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dirty="0">
                <a:solidFill>
                  <a:srgbClr val="FFFFFF"/>
                </a:solidFill>
              </a:rPr>
              <a:t>2. Các module </a:t>
            </a:r>
            <a:r>
              <a:rPr lang="en-US" sz="4800" b="1" dirty="0" err="1">
                <a:solidFill>
                  <a:srgbClr val="FFFFFF"/>
                </a:solidFill>
              </a:rPr>
              <a:t>và</a:t>
            </a:r>
            <a:r>
              <a:rPr lang="en-US" sz="4800" b="1" dirty="0">
                <a:solidFill>
                  <a:srgbClr val="FFFFFF"/>
                </a:solidFill>
              </a:rPr>
              <a:t> </a:t>
            </a:r>
            <a:r>
              <a:rPr lang="en-US" sz="4800" b="1" dirty="0" err="1">
                <a:solidFill>
                  <a:srgbClr val="FFFFFF"/>
                </a:solidFill>
              </a:rPr>
              <a:t>điểm</a:t>
            </a:r>
            <a:r>
              <a:rPr lang="en-US" sz="4800" b="1" dirty="0">
                <a:solidFill>
                  <a:srgbClr val="FFFFFF"/>
                </a:solidFill>
              </a:rPr>
              <a:t> </a:t>
            </a:r>
            <a:r>
              <a:rPr lang="en-US" sz="4800" b="1" dirty="0" err="1">
                <a:solidFill>
                  <a:srgbClr val="FFFFFF"/>
                </a:solidFill>
              </a:rPr>
              <a:t>nổi</a:t>
            </a:r>
            <a:r>
              <a:rPr lang="en-US" sz="4800" b="1" dirty="0">
                <a:solidFill>
                  <a:srgbClr val="FFFFFF"/>
                </a:solidFill>
              </a:rPr>
              <a:t> </a:t>
            </a:r>
            <a:r>
              <a:rPr lang="en-US" sz="4800" b="1" dirty="0" err="1">
                <a:solidFill>
                  <a:srgbClr val="FFFFFF"/>
                </a:solidFill>
              </a:rPr>
              <a:t>bật</a:t>
            </a:r>
            <a:endParaRPr dirty="0"/>
          </a:p>
        </p:txBody>
      </p:sp>
      <p:sp>
        <p:nvSpPr>
          <p:cNvPr id="981" name="Google Shape;981;p28">
            <a:extLst>
              <a:ext uri="{FF2B5EF4-FFF2-40B4-BE49-F238E27FC236}">
                <a16:creationId xmlns:a16="http://schemas.microsoft.com/office/drawing/2014/main" id="{742178D8-55D2-620F-83B8-137EAFE85443}"/>
              </a:ext>
            </a:extLst>
          </p:cNvPr>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rPr>
              <a:t>MK Vision  |  Tháng 10/2026</a:t>
            </a:r>
            <a:endParaRPr/>
          </a:p>
        </p:txBody>
      </p:sp>
    </p:spTree>
    <p:extLst>
      <p:ext uri="{BB962C8B-B14F-4D97-AF65-F5344CB8AC3E}">
        <p14:creationId xmlns:p14="http://schemas.microsoft.com/office/powerpoint/2010/main" val="424009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9"/>
        <p:cNvGrpSpPr/>
        <p:nvPr/>
      </p:nvGrpSpPr>
      <p:grpSpPr>
        <a:xfrm>
          <a:off x="0" y="0"/>
          <a:ext cx="0" cy="0"/>
          <a:chOff x="0" y="0"/>
          <a:chExt cx="0" cy="0"/>
        </a:xfrm>
      </p:grpSpPr>
      <p:sp>
        <p:nvSpPr>
          <p:cNvPr id="230" name="Google Shape;230;p8"/>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latin typeface="Arial"/>
                <a:ea typeface="Arial"/>
                <a:cs typeface="Arial"/>
                <a:sym typeface="Arial"/>
              </a:rPr>
              <a:t>0</a:t>
            </a:r>
            <a:r>
              <a:rPr lang="en-US" sz="1100" b="1">
                <a:solidFill>
                  <a:srgbClr val="2563EB"/>
                </a:solidFill>
              </a:rPr>
              <a:t>4</a:t>
            </a:r>
            <a:r>
              <a:rPr lang="en-US" sz="1100" b="1">
                <a:solidFill>
                  <a:srgbClr val="2563EB"/>
                </a:solidFill>
                <a:latin typeface="Arial"/>
                <a:ea typeface="Arial"/>
                <a:cs typeface="Arial"/>
                <a:sym typeface="Arial"/>
              </a:rPr>
              <a:t> · CÁC MODULE VÀ ĐIỂM NỔI BẬT</a:t>
            </a:r>
            <a:endParaRPr/>
          </a:p>
        </p:txBody>
      </p:sp>
      <p:sp>
        <p:nvSpPr>
          <p:cNvPr id="231" name="Google Shape;231;p8"/>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latin typeface="Arial"/>
                <a:ea typeface="Arial"/>
                <a:cs typeface="Arial"/>
                <a:sym typeface="Arial"/>
              </a:rPr>
              <a:t>9 menu chính trên hệ thống EMS</a:t>
            </a:r>
            <a:endParaRPr/>
          </a:p>
        </p:txBody>
      </p:sp>
      <p:sp>
        <p:nvSpPr>
          <p:cNvPr id="232" name="Google Shape;232;p8"/>
          <p:cNvSpPr/>
          <p:nvPr/>
        </p:nvSpPr>
        <p:spPr>
          <a:xfrm>
            <a:off x="570825" y="1646525"/>
            <a:ext cx="2540100" cy="4953000"/>
          </a:xfrm>
          <a:prstGeom prst="roundRect">
            <a:avLst>
              <a:gd name="adj" fmla="val 6000"/>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8"/>
          <p:cNvSpPr txBox="1"/>
          <p:nvPr/>
        </p:nvSpPr>
        <p:spPr>
          <a:xfrm>
            <a:off x="748625" y="1748125"/>
            <a:ext cx="21591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F2B705"/>
                </a:solidFill>
                <a:latin typeface="Arial"/>
                <a:ea typeface="Arial"/>
                <a:cs typeface="Arial"/>
                <a:sym typeface="Arial"/>
              </a:rPr>
              <a:t>MENU EMS</a:t>
            </a:r>
            <a:endParaRPr/>
          </a:p>
        </p:txBody>
      </p:sp>
      <p:sp>
        <p:nvSpPr>
          <p:cNvPr id="234" name="Google Shape;234;p8"/>
          <p:cNvSpPr txBox="1"/>
          <p:nvPr/>
        </p:nvSpPr>
        <p:spPr>
          <a:xfrm>
            <a:off x="3301875" y="1652800"/>
            <a:ext cx="1524000" cy="3693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50" b="1">
                <a:solidFill>
                  <a:srgbClr val="1E3A8A"/>
                </a:solidFill>
              </a:rPr>
              <a:t>Chức năng chính </a:t>
            </a:r>
            <a:endParaRPr b="1">
              <a:solidFill>
                <a:srgbClr val="1E3A8A"/>
              </a:solidFill>
            </a:endParaRPr>
          </a:p>
        </p:txBody>
      </p:sp>
      <p:sp>
        <p:nvSpPr>
          <p:cNvPr id="235" name="Google Shape;235;p8"/>
          <p:cNvSpPr txBox="1"/>
          <p:nvPr/>
        </p:nvSpPr>
        <p:spPr>
          <a:xfrm>
            <a:off x="5042225" y="1652800"/>
            <a:ext cx="3810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50" b="1">
                <a:solidFill>
                  <a:srgbClr val="1E3A8A"/>
                </a:solidFill>
              </a:rPr>
              <a:t>Giá trị nghiệp vụ </a:t>
            </a:r>
            <a:endParaRPr>
              <a:solidFill>
                <a:srgbClr val="1E3A8A"/>
              </a:solidFill>
            </a:endParaRPr>
          </a:p>
        </p:txBody>
      </p:sp>
      <p:sp>
        <p:nvSpPr>
          <p:cNvPr id="236" name="Google Shape;236;p8"/>
          <p:cNvSpPr txBox="1"/>
          <p:nvPr/>
        </p:nvSpPr>
        <p:spPr>
          <a:xfrm>
            <a:off x="9106225" y="1646521"/>
            <a:ext cx="26415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50" b="1">
                <a:solidFill>
                  <a:srgbClr val="1E3A8A"/>
                </a:solidFill>
              </a:rPr>
              <a:t>Người dùng chính </a:t>
            </a:r>
            <a:endParaRPr>
              <a:solidFill>
                <a:srgbClr val="1E3A8A"/>
              </a:solidFill>
            </a:endParaRPr>
          </a:p>
        </p:txBody>
      </p:sp>
      <p:sp>
        <p:nvSpPr>
          <p:cNvPr id="237" name="Google Shape;237;p8"/>
          <p:cNvSpPr/>
          <p:nvPr/>
        </p:nvSpPr>
        <p:spPr>
          <a:xfrm>
            <a:off x="697825" y="2002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1. Quản lý sự kiện</a:t>
            </a:r>
            <a:endParaRPr/>
          </a:p>
        </p:txBody>
      </p:sp>
      <p:sp>
        <p:nvSpPr>
          <p:cNvPr id="238" name="Google Shape;238;p8"/>
          <p:cNvSpPr/>
          <p:nvPr/>
        </p:nvSpPr>
        <p:spPr>
          <a:xfrm>
            <a:off x="3288625" y="2027525"/>
            <a:ext cx="1524000" cy="381000"/>
          </a:xfrm>
          <a:prstGeom prst="roundRect">
            <a:avLst>
              <a:gd name="adj" fmla="val 6000"/>
            </a:avLst>
          </a:prstGeom>
          <a:solidFill>
            <a:srgbClr val="2563EB"/>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Tiếp nhận và tra cứu sự kiện </a:t>
            </a:r>
            <a:endParaRPr/>
          </a:p>
        </p:txBody>
      </p:sp>
      <p:sp>
        <p:nvSpPr>
          <p:cNvPr id="239" name="Google Shape;239;p8"/>
          <p:cNvSpPr txBox="1"/>
          <p:nvPr/>
        </p:nvSpPr>
        <p:spPr>
          <a:xfrm>
            <a:off x="5016825" y="1999141"/>
            <a:ext cx="39369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b="1">
                <a:solidFill>
                  <a:srgbClr val="1E3A8A"/>
                </a:solidFill>
              </a:rPr>
              <a:t>Xem danh sách, lọc, xem chi tiết và tra cứu sự kiện theo dữ liệu được ghi nhận. </a:t>
            </a:r>
            <a:endParaRPr sz="1150" b="1">
              <a:solidFill>
                <a:srgbClr val="1E3A8A"/>
              </a:solidFill>
            </a:endParaRPr>
          </a:p>
          <a:p>
            <a:pPr marL="0" marR="0" lvl="0" indent="0" algn="l" rtl="0">
              <a:spcBef>
                <a:spcPts val="0"/>
              </a:spcBef>
              <a:spcAft>
                <a:spcPts val="0"/>
              </a:spcAft>
              <a:buNone/>
            </a:pPr>
            <a:endParaRPr sz="1150" b="1">
              <a:solidFill>
                <a:srgbClr val="1E3A8A"/>
              </a:solidFill>
            </a:endParaRPr>
          </a:p>
        </p:txBody>
      </p:sp>
      <p:sp>
        <p:nvSpPr>
          <p:cNvPr id="240" name="Google Shape;240;p8"/>
          <p:cNvSpPr txBox="1"/>
          <p:nvPr/>
        </p:nvSpPr>
        <p:spPr>
          <a:xfrm>
            <a:off x="9106225" y="2052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rPr>
              <a:t>Nhân viên giám sát, cán bộ truy vết </a:t>
            </a:r>
            <a:endParaRPr sz="1000">
              <a:solidFill>
                <a:srgbClr val="6B7280"/>
              </a:solidFill>
              <a:latin typeface="Arial"/>
              <a:ea typeface="Arial"/>
              <a:cs typeface="Arial"/>
              <a:sym typeface="Arial"/>
            </a:endParaRPr>
          </a:p>
        </p:txBody>
      </p:sp>
      <p:sp>
        <p:nvSpPr>
          <p:cNvPr id="241" name="Google Shape;241;p8"/>
          <p:cNvSpPr/>
          <p:nvPr/>
        </p:nvSpPr>
        <p:spPr>
          <a:xfrm>
            <a:off x="697825" y="2510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2. Báo cáo thống kê</a:t>
            </a:r>
            <a:endParaRPr/>
          </a:p>
        </p:txBody>
      </p:sp>
      <p:sp>
        <p:nvSpPr>
          <p:cNvPr id="242" name="Google Shape;242;p8"/>
          <p:cNvSpPr/>
          <p:nvPr/>
        </p:nvSpPr>
        <p:spPr>
          <a:xfrm>
            <a:off x="3288625" y="2535525"/>
            <a:ext cx="1524000" cy="381000"/>
          </a:xfrm>
          <a:prstGeom prst="roundRect">
            <a:avLst>
              <a:gd name="adj" fmla="val 6000"/>
            </a:avLst>
          </a:prstGeom>
          <a:solidFill>
            <a:srgbClr val="2563EB"/>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Tổng hợp số liệu </a:t>
            </a:r>
            <a:endParaRPr/>
          </a:p>
        </p:txBody>
      </p:sp>
      <p:sp>
        <p:nvSpPr>
          <p:cNvPr id="243" name="Google Shape;243;p8"/>
          <p:cNvSpPr txBox="1"/>
          <p:nvPr/>
        </p:nvSpPr>
        <p:spPr>
          <a:xfrm>
            <a:off x="5042225" y="2489618"/>
            <a:ext cx="38100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b="1">
                <a:solidFill>
                  <a:srgbClr val="1E3A8A"/>
                </a:solidFill>
                <a:latin typeface="Arial"/>
                <a:ea typeface="Arial"/>
                <a:cs typeface="Arial"/>
                <a:sym typeface="Arial"/>
              </a:rPr>
              <a:t>Tổng hợp lưu lượng, nhận diện khung giờ cao điểm và dự báo xu hướng phục vụ ra quyết định</a:t>
            </a:r>
            <a:endParaRPr sz="1150" b="1">
              <a:solidFill>
                <a:srgbClr val="1E3A8A"/>
              </a:solidFill>
              <a:latin typeface="Arial"/>
              <a:ea typeface="Arial"/>
              <a:cs typeface="Arial"/>
              <a:sym typeface="Arial"/>
            </a:endParaRPr>
          </a:p>
        </p:txBody>
      </p:sp>
      <p:sp>
        <p:nvSpPr>
          <p:cNvPr id="244" name="Google Shape;244;p8"/>
          <p:cNvSpPr txBox="1"/>
          <p:nvPr/>
        </p:nvSpPr>
        <p:spPr>
          <a:xfrm>
            <a:off x="9106225" y="2560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rPr>
              <a:t>Quản lý, lãnh đạo, người cần theo dõi số liệu </a:t>
            </a:r>
            <a:endParaRPr/>
          </a:p>
        </p:txBody>
      </p:sp>
      <p:sp>
        <p:nvSpPr>
          <p:cNvPr id="245" name="Google Shape;245;p8"/>
          <p:cNvSpPr/>
          <p:nvPr/>
        </p:nvSpPr>
        <p:spPr>
          <a:xfrm>
            <a:off x="697825" y="3018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3. Quản lý định danh</a:t>
            </a:r>
            <a:endParaRPr/>
          </a:p>
        </p:txBody>
      </p:sp>
      <p:sp>
        <p:nvSpPr>
          <p:cNvPr id="246" name="Google Shape;246;p8"/>
          <p:cNvSpPr/>
          <p:nvPr/>
        </p:nvSpPr>
        <p:spPr>
          <a:xfrm>
            <a:off x="3301875" y="3043525"/>
            <a:ext cx="1524000" cy="381000"/>
          </a:xfrm>
          <a:prstGeom prst="roundRect">
            <a:avLst>
              <a:gd name="adj" fmla="val 6000"/>
            </a:avLst>
          </a:prstGeom>
          <a:solidFill>
            <a:srgbClr val="16A34A"/>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Quản lý danh sách đối tượng </a:t>
            </a:r>
            <a:endParaRPr/>
          </a:p>
        </p:txBody>
      </p:sp>
      <p:sp>
        <p:nvSpPr>
          <p:cNvPr id="247" name="Google Shape;247;p8"/>
          <p:cNvSpPr txBox="1"/>
          <p:nvPr/>
        </p:nvSpPr>
        <p:spPr>
          <a:xfrm>
            <a:off x="5042225" y="3023221"/>
            <a:ext cx="38100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b="1">
                <a:solidFill>
                  <a:srgbClr val="1E3A8A"/>
                </a:solidFill>
              </a:rPr>
              <a:t>Quản lý danh sách đối tượng định danh để đối sánh khuôn mặt và nhận biết khi đối tượng xuất hiện trong sự kiện</a:t>
            </a:r>
            <a:r>
              <a:rPr lang="en-US" sz="1100">
                <a:solidFill>
                  <a:schemeClr val="dk1"/>
                </a:solidFill>
              </a:rPr>
              <a:t> </a:t>
            </a:r>
            <a:endParaRPr sz="1150" b="1">
              <a:solidFill>
                <a:srgbClr val="1E3A8A"/>
              </a:solidFill>
              <a:latin typeface="Arial"/>
              <a:ea typeface="Arial"/>
              <a:cs typeface="Arial"/>
              <a:sym typeface="Arial"/>
            </a:endParaRPr>
          </a:p>
        </p:txBody>
      </p:sp>
      <p:sp>
        <p:nvSpPr>
          <p:cNvPr id="248" name="Google Shape;248;p8"/>
          <p:cNvSpPr txBox="1"/>
          <p:nvPr/>
        </p:nvSpPr>
        <p:spPr>
          <a:xfrm>
            <a:off x="9106225" y="3068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latin typeface="Arial"/>
                <a:ea typeface="Arial"/>
                <a:cs typeface="Arial"/>
                <a:sym typeface="Arial"/>
              </a:rPr>
              <a:t>Người có thẩm quyền quản lý danh sách</a:t>
            </a:r>
            <a:endParaRPr sz="1000">
              <a:solidFill>
                <a:srgbClr val="6B7280"/>
              </a:solidFill>
              <a:latin typeface="Arial"/>
              <a:ea typeface="Arial"/>
              <a:cs typeface="Arial"/>
              <a:sym typeface="Arial"/>
            </a:endParaRPr>
          </a:p>
        </p:txBody>
      </p:sp>
      <p:sp>
        <p:nvSpPr>
          <p:cNvPr id="249" name="Google Shape;249;p8"/>
          <p:cNvSpPr/>
          <p:nvPr/>
        </p:nvSpPr>
        <p:spPr>
          <a:xfrm>
            <a:off x="697825" y="3526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4. Quản lý người dùng</a:t>
            </a:r>
            <a:endParaRPr sz="1100" b="1">
              <a:solidFill>
                <a:srgbClr val="FFFFFF"/>
              </a:solidFill>
              <a:latin typeface="Arial"/>
              <a:ea typeface="Arial"/>
              <a:cs typeface="Arial"/>
              <a:sym typeface="Arial"/>
            </a:endParaRPr>
          </a:p>
        </p:txBody>
      </p:sp>
      <p:sp>
        <p:nvSpPr>
          <p:cNvPr id="250" name="Google Shape;250;p8"/>
          <p:cNvSpPr/>
          <p:nvPr/>
        </p:nvSpPr>
        <p:spPr>
          <a:xfrm>
            <a:off x="3288625" y="3551525"/>
            <a:ext cx="1524000" cy="381000"/>
          </a:xfrm>
          <a:prstGeom prst="roundRect">
            <a:avLst>
              <a:gd name="adj" fmla="val 6000"/>
            </a:avLst>
          </a:prstGeom>
          <a:solidFill>
            <a:srgbClr val="6B7280"/>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Quản lý tài khoản </a:t>
            </a:r>
            <a:endParaRPr/>
          </a:p>
        </p:txBody>
      </p:sp>
      <p:sp>
        <p:nvSpPr>
          <p:cNvPr id="251" name="Google Shape;251;p8"/>
          <p:cNvSpPr txBox="1"/>
          <p:nvPr/>
        </p:nvSpPr>
        <p:spPr>
          <a:xfrm>
            <a:off x="5042225" y="3583200"/>
            <a:ext cx="38100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b="1">
                <a:solidFill>
                  <a:srgbClr val="1E3A8A"/>
                </a:solidFill>
                <a:latin typeface="Arial"/>
                <a:ea typeface="Arial"/>
                <a:cs typeface="Arial"/>
                <a:sym typeface="Arial"/>
              </a:rPr>
              <a:t>Quản lý danh tính, đơn vị công tác và cấp vòng đời tài khoản truy cập hệ thống</a:t>
            </a:r>
            <a:endParaRPr sz="1150" b="1">
              <a:solidFill>
                <a:srgbClr val="1E3A8A"/>
              </a:solidFill>
              <a:latin typeface="Arial"/>
              <a:ea typeface="Arial"/>
              <a:cs typeface="Arial"/>
              <a:sym typeface="Arial"/>
            </a:endParaRPr>
          </a:p>
        </p:txBody>
      </p:sp>
      <p:sp>
        <p:nvSpPr>
          <p:cNvPr id="252" name="Google Shape;252;p8"/>
          <p:cNvSpPr txBox="1"/>
          <p:nvPr/>
        </p:nvSpPr>
        <p:spPr>
          <a:xfrm>
            <a:off x="9106225" y="3576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latin typeface="Arial"/>
                <a:ea typeface="Arial"/>
                <a:cs typeface="Arial"/>
                <a:sym typeface="Arial"/>
              </a:rPr>
              <a:t>Quản trị viên</a:t>
            </a:r>
            <a:endParaRPr/>
          </a:p>
        </p:txBody>
      </p:sp>
      <p:sp>
        <p:nvSpPr>
          <p:cNvPr id="253" name="Google Shape;253;p8"/>
          <p:cNvSpPr/>
          <p:nvPr/>
        </p:nvSpPr>
        <p:spPr>
          <a:xfrm>
            <a:off x="697825" y="4034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5. Quản lý nhóm quyền</a:t>
            </a:r>
            <a:endParaRPr sz="1100" b="1">
              <a:solidFill>
                <a:srgbClr val="FFFFFF"/>
              </a:solidFill>
              <a:latin typeface="Arial"/>
              <a:ea typeface="Arial"/>
              <a:cs typeface="Arial"/>
              <a:sym typeface="Arial"/>
            </a:endParaRPr>
          </a:p>
        </p:txBody>
      </p:sp>
      <p:sp>
        <p:nvSpPr>
          <p:cNvPr id="254" name="Google Shape;254;p8"/>
          <p:cNvSpPr/>
          <p:nvPr/>
        </p:nvSpPr>
        <p:spPr>
          <a:xfrm>
            <a:off x="3288625" y="4059525"/>
            <a:ext cx="1524000" cy="381000"/>
          </a:xfrm>
          <a:prstGeom prst="roundRect">
            <a:avLst>
              <a:gd name="adj" fmla="val 6000"/>
            </a:avLst>
          </a:prstGeom>
          <a:solidFill>
            <a:srgbClr val="6B7280"/>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Phân quyền chức năng </a:t>
            </a:r>
            <a:endParaRPr/>
          </a:p>
        </p:txBody>
      </p:sp>
      <p:sp>
        <p:nvSpPr>
          <p:cNvPr id="255" name="Google Shape;255;p8"/>
          <p:cNvSpPr txBox="1"/>
          <p:nvPr/>
        </p:nvSpPr>
        <p:spPr>
          <a:xfrm>
            <a:off x="5016825" y="4048945"/>
            <a:ext cx="3810000"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50" b="1">
                <a:solidFill>
                  <a:srgbClr val="1E3A8A"/>
                </a:solidFill>
              </a:rPr>
              <a:t>Thiết lập nhóm quyền, kiểm soát người dùng được phép sử dụng những chức năng nào. </a:t>
            </a:r>
            <a:endParaRPr sz="1150" b="1">
              <a:solidFill>
                <a:srgbClr val="1E3A8A"/>
              </a:solidFill>
            </a:endParaRPr>
          </a:p>
          <a:p>
            <a:pPr marL="0" marR="0" lvl="0" indent="0" algn="l" rtl="0">
              <a:spcBef>
                <a:spcPts val="0"/>
              </a:spcBef>
              <a:spcAft>
                <a:spcPts val="0"/>
              </a:spcAft>
              <a:buNone/>
            </a:pPr>
            <a:endParaRPr sz="1150" b="1">
              <a:solidFill>
                <a:srgbClr val="1E3A8A"/>
              </a:solidFill>
            </a:endParaRPr>
          </a:p>
        </p:txBody>
      </p:sp>
      <p:sp>
        <p:nvSpPr>
          <p:cNvPr id="256" name="Google Shape;256;p8"/>
          <p:cNvSpPr txBox="1"/>
          <p:nvPr/>
        </p:nvSpPr>
        <p:spPr>
          <a:xfrm>
            <a:off x="9106225" y="4084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latin typeface="Arial"/>
                <a:ea typeface="Arial"/>
                <a:cs typeface="Arial"/>
                <a:sym typeface="Arial"/>
              </a:rPr>
              <a:t>Quản trị viên</a:t>
            </a:r>
            <a:endParaRPr/>
          </a:p>
        </p:txBody>
      </p:sp>
      <p:sp>
        <p:nvSpPr>
          <p:cNvPr id="257" name="Google Shape;257;p8"/>
          <p:cNvSpPr/>
          <p:nvPr/>
        </p:nvSpPr>
        <p:spPr>
          <a:xfrm>
            <a:off x="697825" y="4542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6. Quản lý đơn vị</a:t>
            </a:r>
            <a:endParaRPr sz="1100" b="1">
              <a:solidFill>
                <a:srgbClr val="FFFFFF"/>
              </a:solidFill>
              <a:latin typeface="Arial"/>
              <a:ea typeface="Arial"/>
              <a:cs typeface="Arial"/>
              <a:sym typeface="Arial"/>
            </a:endParaRPr>
          </a:p>
        </p:txBody>
      </p:sp>
      <p:sp>
        <p:nvSpPr>
          <p:cNvPr id="258" name="Google Shape;258;p8"/>
          <p:cNvSpPr/>
          <p:nvPr/>
        </p:nvSpPr>
        <p:spPr>
          <a:xfrm>
            <a:off x="3288625" y="4567525"/>
            <a:ext cx="1524000" cy="381000"/>
          </a:xfrm>
          <a:prstGeom prst="roundRect">
            <a:avLst>
              <a:gd name="adj" fmla="val 6000"/>
            </a:avLst>
          </a:prstGeom>
          <a:solidFill>
            <a:srgbClr val="6B7280"/>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Phân quyền chức năng  </a:t>
            </a:r>
            <a:endParaRPr/>
          </a:p>
        </p:txBody>
      </p:sp>
      <p:sp>
        <p:nvSpPr>
          <p:cNvPr id="259" name="Google Shape;259;p8"/>
          <p:cNvSpPr txBox="1"/>
          <p:nvPr/>
        </p:nvSpPr>
        <p:spPr>
          <a:xfrm>
            <a:off x="5042225" y="4534521"/>
            <a:ext cx="38100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b="1">
                <a:solidFill>
                  <a:srgbClr val="1E3A8A"/>
                </a:solidFill>
                <a:latin typeface="Arial"/>
                <a:ea typeface="Arial"/>
                <a:cs typeface="Arial"/>
                <a:sym typeface="Arial"/>
              </a:rPr>
              <a:t>Mô hình hóa sơ đồ tổ chức và phân vùng phạm vi quản lý dữ liệu theo cấp bậc</a:t>
            </a:r>
            <a:endParaRPr sz="1150" b="1">
              <a:solidFill>
                <a:srgbClr val="1E3A8A"/>
              </a:solidFill>
              <a:latin typeface="Arial"/>
              <a:ea typeface="Arial"/>
              <a:cs typeface="Arial"/>
              <a:sym typeface="Arial"/>
            </a:endParaRPr>
          </a:p>
        </p:txBody>
      </p:sp>
      <p:sp>
        <p:nvSpPr>
          <p:cNvPr id="260" name="Google Shape;260;p8"/>
          <p:cNvSpPr txBox="1"/>
          <p:nvPr/>
        </p:nvSpPr>
        <p:spPr>
          <a:xfrm>
            <a:off x="9106225" y="4592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latin typeface="Arial"/>
                <a:ea typeface="Arial"/>
                <a:cs typeface="Arial"/>
                <a:sym typeface="Arial"/>
              </a:rPr>
              <a:t>Quản trị viên </a:t>
            </a:r>
            <a:endParaRPr/>
          </a:p>
        </p:txBody>
      </p:sp>
      <p:sp>
        <p:nvSpPr>
          <p:cNvPr id="261" name="Google Shape;261;p8"/>
          <p:cNvSpPr/>
          <p:nvPr/>
        </p:nvSpPr>
        <p:spPr>
          <a:xfrm>
            <a:off x="697825" y="5050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7. Quản lý Camera</a:t>
            </a:r>
            <a:endParaRPr/>
          </a:p>
        </p:txBody>
      </p:sp>
      <p:sp>
        <p:nvSpPr>
          <p:cNvPr id="262" name="Google Shape;262;p8"/>
          <p:cNvSpPr/>
          <p:nvPr/>
        </p:nvSpPr>
        <p:spPr>
          <a:xfrm>
            <a:off x="3301877" y="5075525"/>
            <a:ext cx="1524000" cy="381000"/>
          </a:xfrm>
          <a:prstGeom prst="roundRect">
            <a:avLst>
              <a:gd name="adj" fmla="val 6000"/>
            </a:avLst>
          </a:prstGeom>
          <a:solidFill>
            <a:srgbClr val="6B7280"/>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Nguồn dữ liệu đầu vào</a:t>
            </a:r>
            <a:endParaRPr/>
          </a:p>
        </p:txBody>
      </p:sp>
      <p:sp>
        <p:nvSpPr>
          <p:cNvPr id="263" name="Google Shape;263;p8"/>
          <p:cNvSpPr txBox="1"/>
          <p:nvPr/>
        </p:nvSpPr>
        <p:spPr>
          <a:xfrm>
            <a:off x="5042225" y="5055138"/>
            <a:ext cx="38100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b="1">
                <a:solidFill>
                  <a:srgbClr val="1E3A8A"/>
                </a:solidFill>
                <a:latin typeface="Arial"/>
                <a:ea typeface="Arial"/>
                <a:cs typeface="Arial"/>
                <a:sym typeface="Arial"/>
              </a:rPr>
              <a:t>Quản lý hạ tầng thiết bị, vị trí lắp đặt và phân luồng dữ liệu camera toàn hệ thống</a:t>
            </a:r>
            <a:endParaRPr sz="1150" b="1">
              <a:solidFill>
                <a:srgbClr val="1E3A8A"/>
              </a:solidFill>
              <a:latin typeface="Arial"/>
              <a:ea typeface="Arial"/>
              <a:cs typeface="Arial"/>
              <a:sym typeface="Arial"/>
            </a:endParaRPr>
          </a:p>
        </p:txBody>
      </p:sp>
      <p:sp>
        <p:nvSpPr>
          <p:cNvPr id="264" name="Google Shape;264;p8"/>
          <p:cNvSpPr txBox="1"/>
          <p:nvPr/>
        </p:nvSpPr>
        <p:spPr>
          <a:xfrm>
            <a:off x="9106225" y="5100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latin typeface="Arial"/>
                <a:ea typeface="Arial"/>
                <a:cs typeface="Arial"/>
                <a:sym typeface="Arial"/>
              </a:rPr>
              <a:t>Quản trị viên, kỹ thuật</a:t>
            </a:r>
            <a:endParaRPr/>
          </a:p>
        </p:txBody>
      </p:sp>
      <p:sp>
        <p:nvSpPr>
          <p:cNvPr id="265" name="Google Shape;265;p8"/>
          <p:cNvSpPr/>
          <p:nvPr/>
        </p:nvSpPr>
        <p:spPr>
          <a:xfrm>
            <a:off x="697825" y="5558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8. Cấu hình thông báo</a:t>
            </a:r>
            <a:endParaRPr/>
          </a:p>
        </p:txBody>
      </p:sp>
      <p:sp>
        <p:nvSpPr>
          <p:cNvPr id="266" name="Google Shape;266;p8"/>
          <p:cNvSpPr/>
          <p:nvPr/>
        </p:nvSpPr>
        <p:spPr>
          <a:xfrm>
            <a:off x="3288625" y="5583525"/>
            <a:ext cx="1524000" cy="381000"/>
          </a:xfrm>
          <a:prstGeom prst="roundRect">
            <a:avLst>
              <a:gd name="adj" fmla="val 6000"/>
            </a:avLst>
          </a:prstGeom>
          <a:solidFill>
            <a:srgbClr val="DC2626"/>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Thiết lập kịch bản cảnh báo</a:t>
            </a:r>
            <a:endParaRPr/>
          </a:p>
        </p:txBody>
      </p:sp>
      <p:sp>
        <p:nvSpPr>
          <p:cNvPr id="267" name="Google Shape;267;p8"/>
          <p:cNvSpPr txBox="1"/>
          <p:nvPr/>
        </p:nvSpPr>
        <p:spPr>
          <a:xfrm>
            <a:off x="5042225" y="5615200"/>
            <a:ext cx="3810000" cy="381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50" b="1">
                <a:solidFill>
                  <a:srgbClr val="1E3A8A"/>
                </a:solidFill>
              </a:rPr>
              <a:t>Cấu hình điều kiện phát sinh thông báo và đối tượng nhận theo nghiệp vụ được hỗ trợ. </a:t>
            </a:r>
            <a:endParaRPr sz="1150" b="1">
              <a:solidFill>
                <a:srgbClr val="1E3A8A"/>
              </a:solidFill>
            </a:endParaRPr>
          </a:p>
          <a:p>
            <a:pPr marL="0" marR="0" lvl="0" indent="0" algn="l" rtl="0">
              <a:spcBef>
                <a:spcPts val="0"/>
              </a:spcBef>
              <a:spcAft>
                <a:spcPts val="0"/>
              </a:spcAft>
              <a:buNone/>
            </a:pPr>
            <a:endParaRPr sz="1150" b="1">
              <a:solidFill>
                <a:srgbClr val="1E3A8A"/>
              </a:solidFill>
            </a:endParaRPr>
          </a:p>
        </p:txBody>
      </p:sp>
      <p:sp>
        <p:nvSpPr>
          <p:cNvPr id="268" name="Google Shape;268;p8"/>
          <p:cNvSpPr txBox="1"/>
          <p:nvPr/>
        </p:nvSpPr>
        <p:spPr>
          <a:xfrm>
            <a:off x="9106225" y="5608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latin typeface="Arial"/>
                <a:ea typeface="Arial"/>
                <a:cs typeface="Arial"/>
                <a:sym typeface="Arial"/>
              </a:rPr>
              <a:t>Quản trị cấu hình</a:t>
            </a:r>
            <a:endParaRPr/>
          </a:p>
        </p:txBody>
      </p:sp>
      <p:sp>
        <p:nvSpPr>
          <p:cNvPr id="269" name="Google Shape;269;p8"/>
          <p:cNvSpPr/>
          <p:nvPr/>
        </p:nvSpPr>
        <p:spPr>
          <a:xfrm>
            <a:off x="697825" y="6066125"/>
            <a:ext cx="2286000" cy="431700"/>
          </a:xfrm>
          <a:prstGeom prst="roundRect">
            <a:avLst>
              <a:gd name="adj" fmla="val 6000"/>
            </a:avLst>
          </a:prstGeom>
          <a:solidFill>
            <a:srgbClr val="2B4BA8"/>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r>
              <a:rPr lang="en-US" sz="1100" b="1">
                <a:solidFill>
                  <a:srgbClr val="FFFFFF"/>
                </a:solidFill>
                <a:latin typeface="Arial"/>
                <a:ea typeface="Arial"/>
                <a:cs typeface="Arial"/>
                <a:sym typeface="Arial"/>
              </a:rPr>
              <a:t>9. Thông báo</a:t>
            </a:r>
            <a:endParaRPr/>
          </a:p>
        </p:txBody>
      </p:sp>
      <p:sp>
        <p:nvSpPr>
          <p:cNvPr id="270" name="Google Shape;270;p8"/>
          <p:cNvSpPr/>
          <p:nvPr/>
        </p:nvSpPr>
        <p:spPr>
          <a:xfrm>
            <a:off x="3288625" y="6091525"/>
            <a:ext cx="1524000" cy="381000"/>
          </a:xfrm>
          <a:prstGeom prst="roundRect">
            <a:avLst>
              <a:gd name="adj" fmla="val 6000"/>
            </a:avLst>
          </a:prstGeom>
          <a:solidFill>
            <a:srgbClr val="DC2626"/>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sz="900" b="1">
                <a:solidFill>
                  <a:srgbClr val="FFFFFF"/>
                </a:solidFill>
              </a:rPr>
              <a:t>Thiết lập và xử lý cảnh báo</a:t>
            </a:r>
            <a:endParaRPr/>
          </a:p>
        </p:txBody>
      </p:sp>
      <p:sp>
        <p:nvSpPr>
          <p:cNvPr id="271" name="Google Shape;271;p8"/>
          <p:cNvSpPr txBox="1"/>
          <p:nvPr/>
        </p:nvSpPr>
        <p:spPr>
          <a:xfrm>
            <a:off x="5042225" y="6123200"/>
            <a:ext cx="38100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b="1">
                <a:solidFill>
                  <a:srgbClr val="1E3A8A"/>
                </a:solidFill>
                <a:latin typeface="Arial"/>
                <a:ea typeface="Arial"/>
                <a:cs typeface="Arial"/>
                <a:sym typeface="Arial"/>
              </a:rPr>
              <a:t>Hiển thị tức thì các cảnh báo quan trọng giúp người dùng chủ động ứng phó kịp thời</a:t>
            </a:r>
            <a:endParaRPr sz="1150" b="1">
              <a:solidFill>
                <a:srgbClr val="1E3A8A"/>
              </a:solidFill>
              <a:latin typeface="Arial"/>
              <a:ea typeface="Arial"/>
              <a:cs typeface="Arial"/>
              <a:sym typeface="Arial"/>
            </a:endParaRPr>
          </a:p>
        </p:txBody>
      </p:sp>
      <p:sp>
        <p:nvSpPr>
          <p:cNvPr id="272" name="Google Shape;272;p8"/>
          <p:cNvSpPr txBox="1"/>
          <p:nvPr/>
        </p:nvSpPr>
        <p:spPr>
          <a:xfrm>
            <a:off x="9106225" y="6116921"/>
            <a:ext cx="26415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6B7280"/>
                </a:solidFill>
                <a:latin typeface="Arial"/>
                <a:ea typeface="Arial"/>
                <a:cs typeface="Arial"/>
                <a:sym typeface="Arial"/>
              </a:rPr>
              <a:t>Người </a:t>
            </a:r>
            <a:r>
              <a:rPr lang="en-US" sz="1000">
                <a:solidFill>
                  <a:srgbClr val="6B7280"/>
                </a:solidFill>
              </a:rPr>
              <a:t>dùng được</a:t>
            </a:r>
            <a:r>
              <a:rPr lang="en-US" sz="1000">
                <a:solidFill>
                  <a:srgbClr val="6B7280"/>
                </a:solidFill>
                <a:latin typeface="Arial"/>
                <a:ea typeface="Arial"/>
                <a:cs typeface="Arial"/>
                <a:sym typeface="Arial"/>
              </a:rPr>
              <a:t> phân quyền </a:t>
            </a:r>
            <a:endParaRPr/>
          </a:p>
        </p:txBody>
      </p:sp>
      <p:sp>
        <p:nvSpPr>
          <p:cNvPr id="273" name="Google Shape;273;p8"/>
          <p:cNvSpPr txBox="1"/>
          <p:nvPr/>
        </p:nvSpPr>
        <p:spPr>
          <a:xfrm>
            <a:off x="748625" y="1022984"/>
            <a:ext cx="1051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i="1">
                <a:solidFill>
                  <a:srgbClr val="6B7280"/>
                </a:solidFill>
              </a:rPr>
              <a:t>Từ 4 năng lực cốt lõi đến 9 menu chức năng: mỗi menu đảm nhiệm một nhóm công việc cụ thể, giúp người dùng khai thác dữ liệu sự kiện và quản lý hệ thống theo phạm vi được phân quyền. </a:t>
            </a:r>
            <a:endParaRPr sz="1200" b="1" i="1">
              <a:solidFill>
                <a:srgbClr val="6B728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8"/>
        <p:cNvGrpSpPr/>
        <p:nvPr/>
      </p:nvGrpSpPr>
      <p:grpSpPr>
        <a:xfrm>
          <a:off x="0" y="0"/>
          <a:ext cx="0" cy="0"/>
          <a:chOff x="0" y="0"/>
          <a:chExt cx="0" cy="0"/>
        </a:xfrm>
      </p:grpSpPr>
      <p:sp>
        <p:nvSpPr>
          <p:cNvPr id="279" name="Google Shape;279;p9"/>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latin typeface="Arial"/>
                <a:ea typeface="Arial"/>
                <a:cs typeface="Arial"/>
                <a:sym typeface="Arial"/>
              </a:rPr>
              <a:t>MENU 1 · QUẢN LÝ SỰ KIỆN</a:t>
            </a:r>
            <a:endParaRPr/>
          </a:p>
        </p:txBody>
      </p:sp>
      <p:sp>
        <p:nvSpPr>
          <p:cNvPr id="280" name="Google Shape;280;p9"/>
          <p:cNvSpPr txBox="1"/>
          <p:nvPr/>
        </p:nvSpPr>
        <p:spPr>
          <a:xfrm>
            <a:off x="609600" y="595868"/>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latin typeface="Arial"/>
                <a:ea typeface="Arial"/>
                <a:cs typeface="Arial"/>
                <a:sym typeface="Arial"/>
              </a:rPr>
              <a:t>Quản lý sự kiện</a:t>
            </a:r>
            <a:endParaRPr sz="2600" b="1">
              <a:solidFill>
                <a:srgbClr val="1E3A8A"/>
              </a:solidFill>
              <a:latin typeface="Arial"/>
              <a:ea typeface="Arial"/>
              <a:cs typeface="Arial"/>
              <a:sym typeface="Arial"/>
            </a:endParaRPr>
          </a:p>
        </p:txBody>
      </p:sp>
      <p:sp>
        <p:nvSpPr>
          <p:cNvPr id="281" name="Google Shape;281;p9"/>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2" name="Google Shape;282;p9"/>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latin typeface="Arial"/>
                <a:ea typeface="Arial"/>
                <a:cs typeface="Arial"/>
                <a:sym typeface="Arial"/>
              </a:rPr>
              <a:t>MENU</a:t>
            </a:r>
            <a:endParaRPr/>
          </a:p>
        </p:txBody>
      </p:sp>
      <p:sp>
        <p:nvSpPr>
          <p:cNvPr id="283" name="Google Shape;283;p9"/>
          <p:cNvSpPr/>
          <p:nvPr/>
        </p:nvSpPr>
        <p:spPr>
          <a:xfrm>
            <a:off x="88900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Arial"/>
                <a:ea typeface="Arial"/>
                <a:cs typeface="Arial"/>
                <a:sym typeface="Arial"/>
              </a:rPr>
              <a:t>1</a:t>
            </a:r>
            <a:endParaRPr/>
          </a:p>
        </p:txBody>
      </p:sp>
      <p:sp>
        <p:nvSpPr>
          <p:cNvPr id="284" name="Google Shape;284;p9"/>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2</a:t>
            </a:r>
            <a:endParaRPr/>
          </a:p>
        </p:txBody>
      </p:sp>
      <p:sp>
        <p:nvSpPr>
          <p:cNvPr id="285" name="Google Shape;285;p9"/>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3</a:t>
            </a:r>
            <a:endParaRPr/>
          </a:p>
        </p:txBody>
      </p:sp>
      <p:sp>
        <p:nvSpPr>
          <p:cNvPr id="286" name="Google Shape;286;p9"/>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4</a:t>
            </a:r>
            <a:endParaRPr/>
          </a:p>
        </p:txBody>
      </p:sp>
      <p:sp>
        <p:nvSpPr>
          <p:cNvPr id="287" name="Google Shape;287;p9"/>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5</a:t>
            </a:r>
            <a:endParaRPr/>
          </a:p>
        </p:txBody>
      </p:sp>
      <p:sp>
        <p:nvSpPr>
          <p:cNvPr id="288" name="Google Shape;288;p9"/>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6</a:t>
            </a:r>
            <a:endParaRPr/>
          </a:p>
        </p:txBody>
      </p:sp>
      <p:sp>
        <p:nvSpPr>
          <p:cNvPr id="289" name="Google Shape;289;p9"/>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7</a:t>
            </a:r>
            <a:endParaRPr/>
          </a:p>
        </p:txBody>
      </p:sp>
      <p:sp>
        <p:nvSpPr>
          <p:cNvPr id="290" name="Google Shape;290;p9"/>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8</a:t>
            </a:r>
            <a:endParaRPr/>
          </a:p>
        </p:txBody>
      </p:sp>
      <p:sp>
        <p:nvSpPr>
          <p:cNvPr id="291" name="Google Shape;291;p9"/>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Arial"/>
                <a:ea typeface="Arial"/>
                <a:cs typeface="Arial"/>
                <a:sym typeface="Arial"/>
              </a:rPr>
              <a:t>9</a:t>
            </a:r>
            <a:endParaRPr/>
          </a:p>
        </p:txBody>
      </p:sp>
      <p:sp>
        <p:nvSpPr>
          <p:cNvPr id="292" name="Google Shape;292;p9"/>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latin typeface="Arial"/>
                <a:ea typeface="Arial"/>
                <a:cs typeface="Arial"/>
                <a:sym typeface="Arial"/>
              </a:rPr>
              <a:t>VỊ TRÍ TRÊN MENU:</a:t>
            </a:r>
            <a:r>
              <a:rPr lang="en-US" sz="1050">
                <a:solidFill>
                  <a:srgbClr val="1E3A8A"/>
                </a:solidFill>
                <a:latin typeface="Arial"/>
                <a:ea typeface="Arial"/>
                <a:cs typeface="Arial"/>
                <a:sym typeface="Arial"/>
              </a:rPr>
              <a:t>   </a:t>
            </a:r>
            <a:r>
              <a:rPr lang="en-US" sz="1050">
                <a:solidFill>
                  <a:srgbClr val="1E3A8A"/>
                </a:solidFill>
              </a:rPr>
              <a:t>Quản lý sự kiện → Sự kiện người / Sự kiện giao thông / Sự kiện cháy, khói </a:t>
            </a:r>
            <a:endParaRPr sz="1050">
              <a:solidFill>
                <a:srgbClr val="1E3A8A"/>
              </a:solidFill>
              <a:latin typeface="Arial"/>
              <a:ea typeface="Arial"/>
              <a:cs typeface="Arial"/>
              <a:sym typeface="Arial"/>
            </a:endParaRPr>
          </a:p>
        </p:txBody>
      </p:sp>
      <p:sp>
        <p:nvSpPr>
          <p:cNvPr id="293" name="Google Shape;293;p9"/>
          <p:cNvSpPr txBox="1"/>
          <p:nvPr/>
        </p:nvSpPr>
        <p:spPr>
          <a:xfrm>
            <a:off x="609600" y="1648288"/>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50">
                <a:solidFill>
                  <a:srgbClr val="1F2937"/>
                </a:solidFill>
              </a:rPr>
              <a:t>EMS tiếp nhận và hiển thị các sự kiện do Camera AI ghi nhận, hỗ trợ người dùng lọc dữ liệu, xem chi tiết và tra cứu sự kiện theo thời gian, camera, vị trí và các thuộc tính được ghi nhận. </a:t>
            </a:r>
            <a:endParaRPr/>
          </a:p>
        </p:txBody>
      </p:sp>
      <p:sp>
        <p:nvSpPr>
          <p:cNvPr id="294" name="Google Shape;294;p9"/>
          <p:cNvSpPr/>
          <p:nvPr/>
        </p:nvSpPr>
        <p:spPr>
          <a:xfrm>
            <a:off x="215375" y="2177000"/>
            <a:ext cx="2658000" cy="18114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9"/>
          <p:cNvSpPr/>
          <p:nvPr/>
        </p:nvSpPr>
        <p:spPr>
          <a:xfrm>
            <a:off x="215376" y="2176999"/>
            <a:ext cx="2658000" cy="762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9"/>
          <p:cNvSpPr txBox="1"/>
          <p:nvPr/>
        </p:nvSpPr>
        <p:spPr>
          <a:xfrm>
            <a:off x="418581" y="2380205"/>
            <a:ext cx="3098700" cy="369300"/>
          </a:xfrm>
          <a:prstGeom prst="rect">
            <a:avLst/>
          </a:prstGeom>
          <a:noFill/>
          <a:ln>
            <a:noFill/>
          </a:ln>
        </p:spPr>
        <p:txBody>
          <a:bodyPr spcFirstLastPara="1" wrap="square" lIns="0" tIns="0" rIns="0" bIns="0" anchor="t" anchorCtr="0">
            <a:noAutofit/>
          </a:bodyPr>
          <a:lstStyle/>
          <a:p>
            <a:pPr marL="457200" marR="0" lvl="0" indent="-311150" algn="l" rtl="0">
              <a:spcBef>
                <a:spcPts val="0"/>
              </a:spcBef>
              <a:spcAft>
                <a:spcPts val="0"/>
              </a:spcAft>
              <a:buClr>
                <a:srgbClr val="1E3A8A"/>
              </a:buClr>
              <a:buSzPts val="1300"/>
              <a:buFont typeface="Arial"/>
              <a:buAutoNum type="arabicPeriod"/>
            </a:pPr>
            <a:r>
              <a:rPr lang="en-US" sz="1300" b="1">
                <a:solidFill>
                  <a:srgbClr val="1E3A8A"/>
                </a:solidFill>
                <a:latin typeface="Arial"/>
                <a:ea typeface="Arial"/>
                <a:cs typeface="Arial"/>
                <a:sym typeface="Arial"/>
              </a:rPr>
              <a:t>SỰ KIỆN NGƯỜI</a:t>
            </a:r>
            <a:endParaRPr sz="1300" b="1">
              <a:solidFill>
                <a:srgbClr val="1E3A8A"/>
              </a:solidFill>
              <a:latin typeface="Arial"/>
              <a:ea typeface="Arial"/>
              <a:cs typeface="Arial"/>
              <a:sym typeface="Arial"/>
            </a:endParaRPr>
          </a:p>
        </p:txBody>
      </p:sp>
      <p:sp>
        <p:nvSpPr>
          <p:cNvPr id="297" name="Google Shape;297;p9"/>
          <p:cNvSpPr txBox="1"/>
          <p:nvPr/>
        </p:nvSpPr>
        <p:spPr>
          <a:xfrm>
            <a:off x="215375" y="2648850"/>
            <a:ext cx="2580600" cy="1312800"/>
          </a:xfrm>
          <a:prstGeom prst="rect">
            <a:avLst/>
          </a:prstGeom>
          <a:noFill/>
          <a:ln>
            <a:noFill/>
          </a:ln>
        </p:spPr>
        <p:txBody>
          <a:bodyPr spcFirstLastPara="1" wrap="square" lIns="0" tIns="0" rIns="0" bIns="0" anchor="t" anchorCtr="0">
            <a:noAutofit/>
          </a:bodyPr>
          <a:lstStyle/>
          <a:p>
            <a:pPr marL="457200" lvl="0" indent="-298450" algn="l" rtl="0">
              <a:lnSpc>
                <a:spcPct val="115000"/>
              </a:lnSpc>
              <a:spcBef>
                <a:spcPts val="1200"/>
              </a:spcBef>
              <a:spcAft>
                <a:spcPts val="0"/>
              </a:spcAft>
              <a:buClr>
                <a:srgbClr val="1F2937"/>
              </a:buClr>
              <a:buSzPts val="1100"/>
              <a:buChar char="●"/>
            </a:pPr>
            <a:r>
              <a:rPr lang="en-US" sz="1100">
                <a:solidFill>
                  <a:srgbClr val="1F2937"/>
                </a:solidFill>
              </a:rPr>
              <a:t>Nhận diện khuôn mặt: Ghi nhận hình ảnh khuôn mặt và thông tin nhận diện được.</a:t>
            </a:r>
            <a:endParaRPr sz="1100">
              <a:solidFill>
                <a:srgbClr val="1F2937"/>
              </a:solidFill>
            </a:endParaRPr>
          </a:p>
          <a:p>
            <a:pPr marL="457200" lvl="0" indent="-298450" algn="l" rtl="0">
              <a:lnSpc>
                <a:spcPct val="115000"/>
              </a:lnSpc>
              <a:spcBef>
                <a:spcPts val="0"/>
              </a:spcBef>
              <a:spcAft>
                <a:spcPts val="0"/>
              </a:spcAft>
              <a:buClr>
                <a:srgbClr val="1F2937"/>
              </a:buClr>
              <a:buSzPts val="1100"/>
              <a:buChar char="●"/>
            </a:pPr>
            <a:r>
              <a:rPr lang="en-US" sz="1100">
                <a:solidFill>
                  <a:srgbClr val="1F2937"/>
                </a:solidFill>
              </a:rPr>
              <a:t>Nhận diện đặc điểm: Tra cứu đối tượng theo đặc điểm ngoại hình do camera ghi nhận.</a:t>
            </a:r>
            <a:endParaRPr sz="1100">
              <a:solidFill>
                <a:srgbClr val="1F2937"/>
              </a:solidFill>
            </a:endParaRPr>
          </a:p>
          <a:p>
            <a:pPr marL="0" marR="0" lvl="0" indent="0" algn="l" rtl="0">
              <a:spcBef>
                <a:spcPts val="1200"/>
              </a:spcBef>
              <a:spcAft>
                <a:spcPts val="0"/>
              </a:spcAft>
              <a:buNone/>
            </a:pPr>
            <a:endParaRPr sz="1200">
              <a:solidFill>
                <a:srgbClr val="1F2937"/>
              </a:solidFill>
            </a:endParaRPr>
          </a:p>
        </p:txBody>
      </p:sp>
      <p:sp>
        <p:nvSpPr>
          <p:cNvPr id="298" name="Google Shape;298;p9"/>
          <p:cNvSpPr/>
          <p:nvPr/>
        </p:nvSpPr>
        <p:spPr>
          <a:xfrm>
            <a:off x="215325" y="4169600"/>
            <a:ext cx="2658000" cy="1740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9"/>
          <p:cNvSpPr/>
          <p:nvPr/>
        </p:nvSpPr>
        <p:spPr>
          <a:xfrm>
            <a:off x="231425" y="4109424"/>
            <a:ext cx="2625900" cy="762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9"/>
          <p:cNvSpPr txBox="1"/>
          <p:nvPr/>
        </p:nvSpPr>
        <p:spPr>
          <a:xfrm>
            <a:off x="461556" y="4306655"/>
            <a:ext cx="30987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1E3A8A"/>
                </a:solidFill>
              </a:rPr>
              <a:t>2. SỰ KIỆN HÀNH VI</a:t>
            </a:r>
            <a:endParaRPr/>
          </a:p>
        </p:txBody>
      </p:sp>
      <p:sp>
        <p:nvSpPr>
          <p:cNvPr id="301" name="Google Shape;301;p9"/>
          <p:cNvSpPr txBox="1"/>
          <p:nvPr/>
        </p:nvSpPr>
        <p:spPr>
          <a:xfrm>
            <a:off x="334251" y="4675950"/>
            <a:ext cx="2382600" cy="369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a:solidFill>
                  <a:srgbClr val="1F2937"/>
                </a:solidFill>
              </a:rPr>
              <a:t>Phát hiện lảng vảng: Tra cứu sự kiện phát hiện đối tượng lảng vảng tại khu vực giám sát.</a:t>
            </a:r>
            <a:endParaRPr sz="1100">
              <a:solidFill>
                <a:srgbClr val="1F2937"/>
              </a:solidFill>
            </a:endParaRPr>
          </a:p>
          <a:p>
            <a:pPr marL="0" marR="0" lvl="0" indent="0" algn="l" rtl="0">
              <a:spcBef>
                <a:spcPts val="1200"/>
              </a:spcBef>
              <a:spcAft>
                <a:spcPts val="0"/>
              </a:spcAft>
              <a:buNone/>
            </a:pPr>
            <a:endParaRPr sz="1200">
              <a:solidFill>
                <a:srgbClr val="1F2937"/>
              </a:solidFill>
            </a:endParaRPr>
          </a:p>
        </p:txBody>
      </p:sp>
      <p:sp>
        <p:nvSpPr>
          <p:cNvPr id="302" name="Google Shape;302;p9"/>
          <p:cNvSpPr/>
          <p:nvPr/>
        </p:nvSpPr>
        <p:spPr>
          <a:xfrm>
            <a:off x="6450050" y="2221500"/>
            <a:ext cx="2580600" cy="1740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3" name="Google Shape;303;p9"/>
          <p:cNvSpPr/>
          <p:nvPr/>
        </p:nvSpPr>
        <p:spPr>
          <a:xfrm>
            <a:off x="6480875" y="2145275"/>
            <a:ext cx="2549700" cy="762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9"/>
          <p:cNvSpPr txBox="1"/>
          <p:nvPr/>
        </p:nvSpPr>
        <p:spPr>
          <a:xfrm>
            <a:off x="6630801" y="2338968"/>
            <a:ext cx="30987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1E3A8A"/>
                </a:solidFill>
              </a:rPr>
              <a:t>3. SỰ KIỆN GIAO THÔNG </a:t>
            </a:r>
            <a:endParaRPr/>
          </a:p>
        </p:txBody>
      </p:sp>
      <p:sp>
        <p:nvSpPr>
          <p:cNvPr id="305" name="Google Shape;305;p9"/>
          <p:cNvSpPr txBox="1"/>
          <p:nvPr/>
        </p:nvSpPr>
        <p:spPr>
          <a:xfrm>
            <a:off x="6576300" y="2690813"/>
            <a:ext cx="2040600" cy="369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a:solidFill>
                  <a:srgbClr val="1F2937"/>
                </a:solidFill>
              </a:rPr>
              <a:t>Nhận diện phương tiện: Tra cứu sự kiện theo biển số, loại xe và các thuộc tính phương tiện được camera ghi nhận.</a:t>
            </a:r>
            <a:endParaRPr sz="1100">
              <a:solidFill>
                <a:srgbClr val="1F2937"/>
              </a:solidFill>
            </a:endParaRPr>
          </a:p>
          <a:p>
            <a:pPr marL="0" marR="0" lvl="0" indent="0" algn="l" rtl="0">
              <a:spcBef>
                <a:spcPts val="1200"/>
              </a:spcBef>
              <a:spcAft>
                <a:spcPts val="0"/>
              </a:spcAft>
              <a:buNone/>
            </a:pPr>
            <a:endParaRPr sz="1200">
              <a:solidFill>
                <a:srgbClr val="1F2937"/>
              </a:solidFill>
            </a:endParaRPr>
          </a:p>
        </p:txBody>
      </p:sp>
      <p:sp>
        <p:nvSpPr>
          <p:cNvPr id="306" name="Google Shape;306;p9"/>
          <p:cNvSpPr/>
          <p:nvPr/>
        </p:nvSpPr>
        <p:spPr>
          <a:xfrm>
            <a:off x="6450050" y="4137725"/>
            <a:ext cx="2658000" cy="18114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9"/>
          <p:cNvSpPr/>
          <p:nvPr/>
        </p:nvSpPr>
        <p:spPr>
          <a:xfrm>
            <a:off x="6450050" y="4061524"/>
            <a:ext cx="2580600" cy="762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9"/>
          <p:cNvSpPr txBox="1"/>
          <p:nvPr/>
        </p:nvSpPr>
        <p:spPr>
          <a:xfrm>
            <a:off x="6630801" y="4262343"/>
            <a:ext cx="30987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1E3A8A"/>
                </a:solidFill>
              </a:rPr>
              <a:t>4. </a:t>
            </a:r>
            <a:r>
              <a:rPr lang="en-US" sz="1300" b="1">
                <a:solidFill>
                  <a:srgbClr val="1E3A8A"/>
                </a:solidFill>
                <a:latin typeface="Arial"/>
                <a:ea typeface="Arial"/>
                <a:cs typeface="Arial"/>
                <a:sym typeface="Arial"/>
              </a:rPr>
              <a:t>SỰ KIỆN CHÁY, KHÓI</a:t>
            </a:r>
            <a:endParaRPr/>
          </a:p>
        </p:txBody>
      </p:sp>
      <p:sp>
        <p:nvSpPr>
          <p:cNvPr id="309" name="Google Shape;309;p9"/>
          <p:cNvSpPr txBox="1"/>
          <p:nvPr/>
        </p:nvSpPr>
        <p:spPr>
          <a:xfrm>
            <a:off x="6576300" y="4650525"/>
            <a:ext cx="2219100" cy="369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a:solidFill>
                  <a:srgbClr val="1F2937"/>
                </a:solidFill>
              </a:rPr>
              <a:t>Phát hiện cháy, khói: Tra cứu sự kiện cháy, khói và thông tin nhiệt độ nếu có dữ liệu từ thiết bị hỗ trợ.</a:t>
            </a:r>
            <a:endParaRPr sz="1100">
              <a:solidFill>
                <a:srgbClr val="1F2937"/>
              </a:solidFill>
            </a:endParaRPr>
          </a:p>
          <a:p>
            <a:pPr marL="0" marR="0" lvl="0" indent="0" algn="l" rtl="0">
              <a:spcBef>
                <a:spcPts val="1200"/>
              </a:spcBef>
              <a:spcAft>
                <a:spcPts val="0"/>
              </a:spcAft>
              <a:buNone/>
            </a:pPr>
            <a:endParaRPr sz="1200">
              <a:solidFill>
                <a:srgbClr val="1F2937"/>
              </a:solidFill>
            </a:endParaRPr>
          </a:p>
        </p:txBody>
      </p:sp>
      <p:pic>
        <p:nvPicPr>
          <p:cNvPr id="310" name="Google Shape;310;p9"/>
          <p:cNvPicPr preferRelativeResize="0"/>
          <p:nvPr/>
        </p:nvPicPr>
        <p:blipFill>
          <a:blip r:embed="rId3">
            <a:alphaModFix/>
          </a:blip>
          <a:stretch>
            <a:fillRect/>
          </a:stretch>
        </p:blipFill>
        <p:spPr>
          <a:xfrm>
            <a:off x="9083198" y="4061550"/>
            <a:ext cx="3014964" cy="1678275"/>
          </a:xfrm>
          <a:prstGeom prst="rect">
            <a:avLst/>
          </a:prstGeom>
          <a:noFill/>
          <a:ln>
            <a:noFill/>
          </a:ln>
        </p:spPr>
      </p:pic>
      <p:pic>
        <p:nvPicPr>
          <p:cNvPr id="311" name="Google Shape;311;p9" title="Screenshot 2026-10-09 112951.png"/>
          <p:cNvPicPr preferRelativeResize="0"/>
          <p:nvPr/>
        </p:nvPicPr>
        <p:blipFill>
          <a:blip r:embed="rId4">
            <a:alphaModFix/>
          </a:blip>
          <a:stretch>
            <a:fillRect/>
          </a:stretch>
        </p:blipFill>
        <p:spPr>
          <a:xfrm>
            <a:off x="2931323" y="2178663"/>
            <a:ext cx="3460773" cy="1485002"/>
          </a:xfrm>
          <a:prstGeom prst="rect">
            <a:avLst/>
          </a:prstGeom>
          <a:noFill/>
          <a:ln>
            <a:noFill/>
          </a:ln>
        </p:spPr>
      </p:pic>
      <p:pic>
        <p:nvPicPr>
          <p:cNvPr id="312" name="Google Shape;312;p9" title="Screenshot 2026-10-09 113013.png"/>
          <p:cNvPicPr preferRelativeResize="0"/>
          <p:nvPr/>
        </p:nvPicPr>
        <p:blipFill>
          <a:blip r:embed="rId5">
            <a:alphaModFix/>
          </a:blip>
          <a:stretch>
            <a:fillRect/>
          </a:stretch>
        </p:blipFill>
        <p:spPr>
          <a:xfrm>
            <a:off x="2925875" y="4118100"/>
            <a:ext cx="3471629" cy="1484999"/>
          </a:xfrm>
          <a:prstGeom prst="rect">
            <a:avLst/>
          </a:prstGeom>
          <a:noFill/>
          <a:ln>
            <a:noFill/>
          </a:ln>
        </p:spPr>
      </p:pic>
      <p:pic>
        <p:nvPicPr>
          <p:cNvPr id="313" name="Google Shape;313;p9" title="Screenshot 2026-10-09 113057.png"/>
          <p:cNvPicPr preferRelativeResize="0"/>
          <p:nvPr/>
        </p:nvPicPr>
        <p:blipFill rotWithShape="1">
          <a:blip r:embed="rId6">
            <a:alphaModFix/>
          </a:blip>
          <a:srcRect r="-10522"/>
          <a:stretch/>
        </p:blipFill>
        <p:spPr>
          <a:xfrm>
            <a:off x="9088600" y="2157712"/>
            <a:ext cx="3332215" cy="1435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10"/>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1 · SỰ KIỆN NGƯỜI</a:t>
            </a:r>
            <a:endParaRPr sz="1100" b="1">
              <a:solidFill>
                <a:srgbClr val="2563EB"/>
              </a:solidFill>
            </a:endParaRPr>
          </a:p>
        </p:txBody>
      </p:sp>
      <p:sp>
        <p:nvSpPr>
          <p:cNvPr id="320" name="Google Shape;320;p10"/>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Nhận diện khuôn mặt</a:t>
            </a:r>
            <a:endParaRPr sz="2600" b="1">
              <a:solidFill>
                <a:srgbClr val="1E3A8A"/>
              </a:solidFill>
            </a:endParaRPr>
          </a:p>
        </p:txBody>
      </p:sp>
      <p:sp>
        <p:nvSpPr>
          <p:cNvPr id="321" name="Google Shape;321;p10"/>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10"/>
          <p:cNvSpPr txBox="1"/>
          <p:nvPr/>
        </p:nvSpPr>
        <p:spPr>
          <a:xfrm>
            <a:off x="10299475" y="6077375"/>
            <a:ext cx="1269900" cy="3693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6B7280"/>
                </a:solidFill>
                <a:latin typeface="Calibri"/>
                <a:ea typeface="Calibri"/>
                <a:cs typeface="Calibri"/>
                <a:sym typeface="Calibri"/>
              </a:rPr>
              <a:t>7</a:t>
            </a:r>
            <a:endParaRPr/>
          </a:p>
        </p:txBody>
      </p:sp>
      <p:sp>
        <p:nvSpPr>
          <p:cNvPr id="323" name="Google Shape;323;p10"/>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latin typeface="Calibri"/>
                <a:ea typeface="Calibri"/>
                <a:cs typeface="Calibri"/>
                <a:sym typeface="Calibri"/>
              </a:rPr>
              <a:t>MENU</a:t>
            </a:r>
            <a:endParaRPr/>
          </a:p>
        </p:txBody>
      </p:sp>
      <p:sp>
        <p:nvSpPr>
          <p:cNvPr id="324" name="Google Shape;324;p10"/>
          <p:cNvSpPr/>
          <p:nvPr/>
        </p:nvSpPr>
        <p:spPr>
          <a:xfrm>
            <a:off x="88900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Calibri"/>
                <a:ea typeface="Calibri"/>
                <a:cs typeface="Calibri"/>
                <a:sym typeface="Calibri"/>
              </a:rPr>
              <a:t>1</a:t>
            </a:r>
            <a:endParaRPr/>
          </a:p>
        </p:txBody>
      </p:sp>
      <p:sp>
        <p:nvSpPr>
          <p:cNvPr id="325" name="Google Shape;325;p10"/>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2</a:t>
            </a:r>
            <a:endParaRPr/>
          </a:p>
        </p:txBody>
      </p:sp>
      <p:sp>
        <p:nvSpPr>
          <p:cNvPr id="326" name="Google Shape;326;p10"/>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3</a:t>
            </a:r>
            <a:endParaRPr/>
          </a:p>
        </p:txBody>
      </p:sp>
      <p:sp>
        <p:nvSpPr>
          <p:cNvPr id="327" name="Google Shape;327;p10"/>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4</a:t>
            </a:r>
            <a:endParaRPr/>
          </a:p>
        </p:txBody>
      </p:sp>
      <p:sp>
        <p:nvSpPr>
          <p:cNvPr id="328" name="Google Shape;328;p10"/>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5</a:t>
            </a:r>
            <a:endParaRPr/>
          </a:p>
        </p:txBody>
      </p:sp>
      <p:sp>
        <p:nvSpPr>
          <p:cNvPr id="329" name="Google Shape;329;p10"/>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6</a:t>
            </a:r>
            <a:endParaRPr/>
          </a:p>
        </p:txBody>
      </p:sp>
      <p:sp>
        <p:nvSpPr>
          <p:cNvPr id="330" name="Google Shape;330;p10"/>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7</a:t>
            </a:r>
            <a:endParaRPr/>
          </a:p>
        </p:txBody>
      </p:sp>
      <p:sp>
        <p:nvSpPr>
          <p:cNvPr id="331" name="Google Shape;331;p10"/>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8</a:t>
            </a:r>
            <a:endParaRPr/>
          </a:p>
        </p:txBody>
      </p:sp>
      <p:sp>
        <p:nvSpPr>
          <p:cNvPr id="332" name="Google Shape;332;p10"/>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Calibri"/>
                <a:ea typeface="Calibri"/>
                <a:cs typeface="Calibri"/>
                <a:sym typeface="Calibri"/>
              </a:rPr>
              <a:t>9</a:t>
            </a:r>
            <a:endParaRPr/>
          </a:p>
        </p:txBody>
      </p:sp>
      <p:sp>
        <p:nvSpPr>
          <p:cNvPr id="333" name="Google Shape;333;p10"/>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sự kiện → Sự kiện người → Nhận diện khuôn mặt </a:t>
            </a:r>
            <a:endParaRPr sz="1050">
              <a:solidFill>
                <a:srgbClr val="1E3A8A"/>
              </a:solidFill>
            </a:endParaRPr>
          </a:p>
        </p:txBody>
      </p:sp>
      <p:sp>
        <p:nvSpPr>
          <p:cNvPr id="334" name="Google Shape;334;p10"/>
          <p:cNvSpPr txBox="1"/>
          <p:nvPr/>
        </p:nvSpPr>
        <p:spPr>
          <a:xfrm>
            <a:off x="609600" y="1781875"/>
            <a:ext cx="4048800" cy="229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Giá trị ứng dụng thực tế: </a:t>
            </a:r>
            <a:br>
              <a:rPr lang="en-US" b="1">
                <a:solidFill>
                  <a:srgbClr val="1E3A8A"/>
                </a:solidFill>
              </a:rPr>
            </a:br>
            <a:endParaRPr b="1">
              <a:solidFill>
                <a:srgbClr val="1E3A8A"/>
              </a:solidFill>
            </a:endParaRPr>
          </a:p>
          <a:p>
            <a:pPr marL="457200" lvl="0" indent="-311150" algn="l" rtl="0">
              <a:spcBef>
                <a:spcPts val="0"/>
              </a:spcBef>
              <a:spcAft>
                <a:spcPts val="0"/>
              </a:spcAft>
              <a:buClr>
                <a:schemeClr val="dk1"/>
              </a:buClr>
              <a:buSzPts val="1300"/>
              <a:buChar char="•"/>
            </a:pPr>
            <a:r>
              <a:rPr lang="en-US" sz="1300">
                <a:solidFill>
                  <a:schemeClr val="dk1"/>
                </a:solidFill>
              </a:rPr>
              <a:t>Ghi nhận sự kiện: Tiếp nhận các sự kiện nhận diện khuôn mặt do camera AI gửi về EMS.</a:t>
            </a:r>
            <a:endParaRPr sz="1300">
              <a:solidFill>
                <a:schemeClr val="dk1"/>
              </a:solidFill>
            </a:endParaRPr>
          </a:p>
          <a:p>
            <a:pPr marL="457200" lvl="0" indent="-311150" algn="l" rtl="0">
              <a:spcBef>
                <a:spcPts val="0"/>
              </a:spcBef>
              <a:spcAft>
                <a:spcPts val="0"/>
              </a:spcAft>
              <a:buClr>
                <a:schemeClr val="dk1"/>
              </a:buClr>
              <a:buSzPts val="1300"/>
              <a:buChar char="•"/>
            </a:pPr>
            <a:r>
              <a:rPr lang="en-US" sz="1300">
                <a:solidFill>
                  <a:schemeClr val="dk1"/>
                </a:solidFill>
              </a:rPr>
              <a:t>Theo dõi sự kiện: Hiển thị danh sách khuôn mặt được ghi nhận tại các camera theo thời gian.</a:t>
            </a:r>
            <a:endParaRPr sz="1300">
              <a:solidFill>
                <a:schemeClr val="dk1"/>
              </a:solidFill>
            </a:endParaRPr>
          </a:p>
          <a:p>
            <a:pPr marL="457200" lvl="0" indent="-311150" algn="l" rtl="0">
              <a:spcBef>
                <a:spcPts val="0"/>
              </a:spcBef>
              <a:spcAft>
                <a:spcPts val="0"/>
              </a:spcAft>
              <a:buClr>
                <a:schemeClr val="dk1"/>
              </a:buClr>
              <a:buSzPts val="1300"/>
              <a:buChar char="•"/>
            </a:pPr>
            <a:r>
              <a:rPr lang="en-US" sz="1300">
                <a:solidFill>
                  <a:schemeClr val="dk1"/>
                </a:solidFill>
              </a:rPr>
              <a:t>Xem thông tin nhận diện: Kiểm tra hình ảnh khuôn mặt, thời gian, camera, vị trí và thông tin định danh nếu có.</a:t>
            </a:r>
            <a:endParaRPr sz="1300">
              <a:solidFill>
                <a:schemeClr val="dk1"/>
              </a:solidFill>
            </a:endParaRPr>
          </a:p>
          <a:p>
            <a:pPr marL="457200" lvl="0" indent="-311150" algn="l" rtl="0">
              <a:spcBef>
                <a:spcPts val="0"/>
              </a:spcBef>
              <a:spcAft>
                <a:spcPts val="0"/>
              </a:spcAft>
              <a:buClr>
                <a:schemeClr val="dk1"/>
              </a:buClr>
              <a:buSzPts val="1300"/>
              <a:buChar char="•"/>
            </a:pPr>
            <a:r>
              <a:rPr lang="en-US" sz="1300">
                <a:solidFill>
                  <a:schemeClr val="dk1"/>
                </a:solidFill>
              </a:rPr>
              <a:t>Hỗ trợ giám sát: Cung cấp dữ liệu sự kiện để người dùng kiểm tra và xác minh khi cần.</a:t>
            </a:r>
            <a:endParaRPr sz="1300">
              <a:solidFill>
                <a:schemeClr val="dk1"/>
              </a:solidFill>
            </a:endParaRPr>
          </a:p>
        </p:txBody>
      </p:sp>
      <p:sp>
        <p:nvSpPr>
          <p:cNvPr id="335" name="Google Shape;335;p10"/>
          <p:cNvSpPr/>
          <p:nvPr/>
        </p:nvSpPr>
        <p:spPr>
          <a:xfrm>
            <a:off x="306200" y="4394850"/>
            <a:ext cx="2680800" cy="214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6" name="Google Shape;336;p10"/>
          <p:cNvSpPr/>
          <p:nvPr/>
        </p:nvSpPr>
        <p:spPr>
          <a:xfrm>
            <a:off x="433204" y="4496448"/>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latin typeface="Arial"/>
                <a:ea typeface="Arial"/>
                <a:cs typeface="Arial"/>
                <a:sym typeface="Arial"/>
              </a:rPr>
              <a:t>1</a:t>
            </a:r>
            <a:endParaRPr/>
          </a:p>
        </p:txBody>
      </p:sp>
      <p:sp>
        <p:nvSpPr>
          <p:cNvPr id="337" name="Google Shape;337;p10"/>
          <p:cNvSpPr txBox="1"/>
          <p:nvPr/>
        </p:nvSpPr>
        <p:spPr>
          <a:xfrm>
            <a:off x="872104" y="4566261"/>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latin typeface="Arial"/>
                <a:ea typeface="Arial"/>
                <a:cs typeface="Arial"/>
                <a:sym typeface="Arial"/>
              </a:rPr>
              <a:t>Dữ liệu camera ghi nhận</a:t>
            </a:r>
            <a:endParaRPr sz="1200" b="1">
              <a:solidFill>
                <a:srgbClr val="1E3A8A"/>
              </a:solidFill>
              <a:latin typeface="Arial"/>
              <a:ea typeface="Arial"/>
              <a:cs typeface="Arial"/>
              <a:sym typeface="Arial"/>
            </a:endParaRPr>
          </a:p>
        </p:txBody>
      </p:sp>
      <p:sp>
        <p:nvSpPr>
          <p:cNvPr id="338" name="Google Shape;338;p10"/>
          <p:cNvSpPr txBox="1"/>
          <p:nvPr/>
        </p:nvSpPr>
        <p:spPr>
          <a:xfrm>
            <a:off x="496075" y="4966352"/>
            <a:ext cx="2361000" cy="1413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100">
                <a:solidFill>
                  <a:schemeClr val="dk1"/>
                </a:solidFill>
                <a:latin typeface="Arial"/>
                <a:ea typeface="Arial"/>
                <a:cs typeface="Arial"/>
                <a:sym typeface="Arial"/>
              </a:rPr>
              <a:t>Camera AI ghi nhận khuôn mặt, dữ liệu được gửi lên hệ thống EMS và hiển thị dưới dạng một thẻ thông tin. Thẻ bao gồm hình ảnh khuôn mặt, thời gian, camera, vị trí và các thuộc tính được camera nhận diện như giới tính, độ tuổi, sắc tộc, cảm xúc</a:t>
            </a:r>
            <a:endParaRPr sz="1100">
              <a:solidFill>
                <a:srgbClr val="1F2937"/>
              </a:solidFill>
              <a:latin typeface="Arial"/>
              <a:ea typeface="Arial"/>
              <a:cs typeface="Arial"/>
              <a:sym typeface="Arial"/>
            </a:endParaRPr>
          </a:p>
        </p:txBody>
      </p:sp>
      <p:sp>
        <p:nvSpPr>
          <p:cNvPr id="339" name="Google Shape;339;p10"/>
          <p:cNvSpPr/>
          <p:nvPr/>
        </p:nvSpPr>
        <p:spPr>
          <a:xfrm>
            <a:off x="3218100" y="4389776"/>
            <a:ext cx="2680800" cy="214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0" name="Google Shape;340;p10"/>
          <p:cNvSpPr/>
          <p:nvPr/>
        </p:nvSpPr>
        <p:spPr>
          <a:xfrm>
            <a:off x="3417681" y="4554057"/>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latin typeface="Arial"/>
                <a:ea typeface="Arial"/>
                <a:cs typeface="Arial"/>
                <a:sym typeface="Arial"/>
              </a:rPr>
              <a:t>2</a:t>
            </a:r>
            <a:endParaRPr/>
          </a:p>
        </p:txBody>
      </p:sp>
      <p:sp>
        <p:nvSpPr>
          <p:cNvPr id="341" name="Google Shape;341;p10"/>
          <p:cNvSpPr txBox="1"/>
          <p:nvPr/>
        </p:nvSpPr>
        <p:spPr>
          <a:xfrm>
            <a:off x="3885801" y="4546700"/>
            <a:ext cx="16953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latin typeface="Arial"/>
                <a:ea typeface="Arial"/>
                <a:cs typeface="Arial"/>
                <a:sym typeface="Arial"/>
              </a:rPr>
              <a:t>Tra cứu dữ liệu &amp; tracking đối tượng</a:t>
            </a:r>
            <a:endParaRPr sz="1200" b="1">
              <a:solidFill>
                <a:srgbClr val="1E3A8A"/>
              </a:solidFill>
              <a:latin typeface="Arial"/>
              <a:ea typeface="Arial"/>
              <a:cs typeface="Arial"/>
              <a:sym typeface="Arial"/>
            </a:endParaRPr>
          </a:p>
        </p:txBody>
      </p:sp>
      <p:sp>
        <p:nvSpPr>
          <p:cNvPr id="342" name="Google Shape;342;p10"/>
          <p:cNvSpPr txBox="1"/>
          <p:nvPr/>
        </p:nvSpPr>
        <p:spPr>
          <a:xfrm>
            <a:off x="3459800" y="4966350"/>
            <a:ext cx="2213100" cy="136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100">
                <a:solidFill>
                  <a:srgbClr val="1F2937"/>
                </a:solidFill>
                <a:latin typeface="Arial"/>
                <a:ea typeface="Arial"/>
                <a:cs typeface="Arial"/>
                <a:sym typeface="Arial"/>
              </a:rPr>
              <a:t>Tra cứu đối tượng bằng hình ảnh thực tế, kết hợp ngưỡng tương đồng để xác định kết quả phù hợp.</a:t>
            </a:r>
            <a:endParaRPr sz="1500"/>
          </a:p>
          <a:p>
            <a:pPr marL="0" marR="0" lvl="0" indent="0" algn="l" rtl="0">
              <a:lnSpc>
                <a:spcPct val="115000"/>
              </a:lnSpc>
              <a:spcBef>
                <a:spcPts val="0"/>
              </a:spcBef>
              <a:spcAft>
                <a:spcPts val="0"/>
              </a:spcAft>
              <a:buNone/>
            </a:pPr>
            <a:r>
              <a:rPr lang="en-US" sz="1100">
                <a:solidFill>
                  <a:srgbClr val="1F2937"/>
                </a:solidFill>
                <a:latin typeface="Arial"/>
                <a:ea typeface="Arial"/>
                <a:cs typeface="Arial"/>
                <a:sym typeface="Arial"/>
              </a:rPr>
              <a:t>Tìm kiếm và lọc đối tượng theo các thuộc tính được camera nhận diện.</a:t>
            </a:r>
            <a:endParaRPr sz="1500"/>
          </a:p>
          <a:p>
            <a:pPr marL="0" marR="0" lvl="0" indent="0" algn="l" rtl="0">
              <a:lnSpc>
                <a:spcPct val="115000"/>
              </a:lnSpc>
              <a:spcBef>
                <a:spcPts val="0"/>
              </a:spcBef>
              <a:spcAft>
                <a:spcPts val="0"/>
              </a:spcAft>
              <a:buNone/>
            </a:pPr>
            <a:r>
              <a:rPr lang="en-US" sz="1100">
                <a:solidFill>
                  <a:srgbClr val="1F2937"/>
                </a:solidFill>
                <a:latin typeface="Arial"/>
                <a:ea typeface="Arial"/>
                <a:cs typeface="Arial"/>
                <a:sym typeface="Arial"/>
              </a:rPr>
              <a:t>Tracking hành trình của đối tượng qua hệ thống camera giám sát.</a:t>
            </a:r>
            <a:endParaRPr sz="1100">
              <a:solidFill>
                <a:srgbClr val="1F2937"/>
              </a:solidFill>
              <a:latin typeface="Arial"/>
              <a:ea typeface="Arial"/>
              <a:cs typeface="Arial"/>
              <a:sym typeface="Arial"/>
            </a:endParaRPr>
          </a:p>
        </p:txBody>
      </p:sp>
      <p:sp>
        <p:nvSpPr>
          <p:cNvPr id="343" name="Google Shape;343;p10"/>
          <p:cNvSpPr txBox="1"/>
          <p:nvPr/>
        </p:nvSpPr>
        <p:spPr>
          <a:xfrm>
            <a:off x="6145778" y="5153693"/>
            <a:ext cx="3163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marL="0" marR="0" lvl="0" indent="0" algn="l" rtl="0">
              <a:spcBef>
                <a:spcPts val="0"/>
              </a:spcBef>
              <a:spcAft>
                <a:spcPts val="0"/>
              </a:spcAft>
              <a:buNone/>
            </a:pPr>
            <a:br>
              <a:rPr lang="en-US" sz="1800">
                <a:solidFill>
                  <a:schemeClr val="dk1"/>
                </a:solidFill>
                <a:latin typeface="Arial"/>
                <a:ea typeface="Arial"/>
                <a:cs typeface="Arial"/>
                <a:sym typeface="Arial"/>
              </a:rPr>
            </a:br>
            <a:endParaRPr sz="1050">
              <a:solidFill>
                <a:srgbClr val="1F2937"/>
              </a:solidFill>
              <a:latin typeface="Arial"/>
              <a:ea typeface="Arial"/>
              <a:cs typeface="Arial"/>
              <a:sym typeface="Arial"/>
            </a:endParaRPr>
          </a:p>
        </p:txBody>
      </p:sp>
      <p:sp>
        <p:nvSpPr>
          <p:cNvPr id="344" name="Google Shape;344;p10"/>
          <p:cNvSpPr/>
          <p:nvPr/>
        </p:nvSpPr>
        <p:spPr>
          <a:xfrm>
            <a:off x="6145775" y="4427848"/>
            <a:ext cx="2576100" cy="21024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5" name="Google Shape;345;p10"/>
          <p:cNvSpPr/>
          <p:nvPr/>
        </p:nvSpPr>
        <p:spPr>
          <a:xfrm>
            <a:off x="6276299" y="4540807"/>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latin typeface="Arial"/>
                <a:ea typeface="Arial"/>
                <a:cs typeface="Arial"/>
                <a:sym typeface="Arial"/>
              </a:rPr>
              <a:t>3</a:t>
            </a:r>
            <a:endParaRPr/>
          </a:p>
        </p:txBody>
      </p:sp>
      <p:sp>
        <p:nvSpPr>
          <p:cNvPr id="346" name="Google Shape;346;p10"/>
          <p:cNvSpPr txBox="1"/>
          <p:nvPr/>
        </p:nvSpPr>
        <p:spPr>
          <a:xfrm>
            <a:off x="6737546" y="4566250"/>
            <a:ext cx="1797900" cy="36930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None/>
            </a:pPr>
            <a:r>
              <a:rPr lang="en-US" sz="1200" b="1">
                <a:solidFill>
                  <a:srgbClr val="1E3A8A"/>
                </a:solidFill>
                <a:latin typeface="Arial"/>
                <a:ea typeface="Arial"/>
                <a:cs typeface="Arial"/>
                <a:sym typeface="Arial"/>
              </a:rPr>
              <a:t>Tra cứu đối tượng </a:t>
            </a:r>
            <a:endParaRPr sz="1200" b="1">
              <a:solidFill>
                <a:srgbClr val="1E3A8A"/>
              </a:solidFill>
              <a:latin typeface="Arial"/>
              <a:ea typeface="Arial"/>
              <a:cs typeface="Arial"/>
              <a:sym typeface="Arial"/>
            </a:endParaRPr>
          </a:p>
          <a:p>
            <a:pPr marL="0" marR="0" lvl="0" indent="0" algn="just" rtl="0">
              <a:spcBef>
                <a:spcPts val="0"/>
              </a:spcBef>
              <a:spcAft>
                <a:spcPts val="0"/>
              </a:spcAft>
              <a:buNone/>
            </a:pPr>
            <a:r>
              <a:rPr lang="en-US" sz="1200" b="1">
                <a:solidFill>
                  <a:srgbClr val="1E3A8A"/>
                </a:solidFill>
                <a:latin typeface="Arial"/>
                <a:ea typeface="Arial"/>
                <a:cs typeface="Arial"/>
                <a:sym typeface="Arial"/>
              </a:rPr>
              <a:t>nghi vấn</a:t>
            </a:r>
            <a:endParaRPr sz="1200" b="1">
              <a:solidFill>
                <a:srgbClr val="1E3A8A"/>
              </a:solidFill>
              <a:latin typeface="Arial"/>
              <a:ea typeface="Arial"/>
              <a:cs typeface="Arial"/>
              <a:sym typeface="Arial"/>
            </a:endParaRPr>
          </a:p>
        </p:txBody>
      </p:sp>
      <p:sp>
        <p:nvSpPr>
          <p:cNvPr id="347" name="Google Shape;347;p10"/>
          <p:cNvSpPr txBox="1"/>
          <p:nvPr/>
        </p:nvSpPr>
        <p:spPr>
          <a:xfrm>
            <a:off x="6360675" y="5049420"/>
            <a:ext cx="2232600" cy="1253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100">
                <a:solidFill>
                  <a:schemeClr val="dk1"/>
                </a:solidFill>
                <a:latin typeface="Arial"/>
                <a:ea typeface="Arial"/>
                <a:cs typeface="Arial"/>
                <a:sym typeface="Arial"/>
              </a:rPr>
              <a:t>Tra cứu bất kỳ đối tượng nào đã được camera ghi nhận mà không cần cung cấp hình ảnh thực tế. Tìm kiếm và khoanh vùng đối tượng dựa trên thời gian, camera, vị trí và các thuộc tính được camera nhận diện</a:t>
            </a:r>
            <a:endParaRPr sz="1100">
              <a:solidFill>
                <a:srgbClr val="1F2937"/>
              </a:solidFill>
              <a:latin typeface="Arial"/>
              <a:ea typeface="Arial"/>
              <a:cs typeface="Arial"/>
              <a:sym typeface="Arial"/>
            </a:endParaRPr>
          </a:p>
        </p:txBody>
      </p:sp>
      <p:sp>
        <p:nvSpPr>
          <p:cNvPr id="348" name="Google Shape;348;p10"/>
          <p:cNvSpPr/>
          <p:nvPr/>
        </p:nvSpPr>
        <p:spPr>
          <a:xfrm>
            <a:off x="8968725" y="4386599"/>
            <a:ext cx="2669700" cy="214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9" name="Google Shape;349;p10"/>
          <p:cNvSpPr/>
          <p:nvPr/>
        </p:nvSpPr>
        <p:spPr>
          <a:xfrm>
            <a:off x="9070264" y="4566238"/>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latin typeface="Arial"/>
                <a:ea typeface="Arial"/>
                <a:cs typeface="Arial"/>
                <a:sym typeface="Arial"/>
              </a:rPr>
              <a:t>4</a:t>
            </a:r>
            <a:endParaRPr/>
          </a:p>
        </p:txBody>
      </p:sp>
      <p:sp>
        <p:nvSpPr>
          <p:cNvPr id="350" name="Google Shape;350;p10"/>
          <p:cNvSpPr txBox="1"/>
          <p:nvPr/>
        </p:nvSpPr>
        <p:spPr>
          <a:xfrm>
            <a:off x="9486900" y="4638157"/>
            <a:ext cx="2743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Xem chi tiết sự kiện</a:t>
            </a:r>
            <a:endParaRPr sz="1200" b="1">
              <a:solidFill>
                <a:srgbClr val="1E3A8A"/>
              </a:solidFill>
            </a:endParaRPr>
          </a:p>
        </p:txBody>
      </p:sp>
      <p:sp>
        <p:nvSpPr>
          <p:cNvPr id="351" name="Google Shape;351;p10"/>
          <p:cNvSpPr txBox="1"/>
          <p:nvPr/>
        </p:nvSpPr>
        <p:spPr>
          <a:xfrm>
            <a:off x="9184850" y="5007447"/>
            <a:ext cx="2304000" cy="13275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100">
                <a:solidFill>
                  <a:schemeClr val="dk1"/>
                </a:solidFill>
                <a:latin typeface="Arial"/>
                <a:ea typeface="Arial"/>
                <a:cs typeface="Arial"/>
                <a:sym typeface="Arial"/>
              </a:rPr>
              <a:t>Xem dữ liệu do camera AI ghi nhận, gồm hình ảnh khuôn mặt, thời điểm, camera, vị trí và các thuộc tính nhận diện (giới tính, độ tuổi, sắc tộc, cảm xúc).</a:t>
            </a:r>
            <a:endParaRPr sz="1500"/>
          </a:p>
          <a:p>
            <a:pPr marL="0" marR="0" lvl="0" indent="0" algn="l" rtl="0">
              <a:spcBef>
                <a:spcPts val="0"/>
              </a:spcBef>
              <a:spcAft>
                <a:spcPts val="0"/>
              </a:spcAft>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marL="0" marR="0" lvl="0" indent="0" algn="l" rtl="0">
              <a:spcBef>
                <a:spcPts val="0"/>
              </a:spcBef>
              <a:spcAft>
                <a:spcPts val="0"/>
              </a:spcAft>
              <a:buNone/>
            </a:pPr>
            <a:br>
              <a:rPr lang="en-US" sz="1800">
                <a:solidFill>
                  <a:schemeClr val="dk1"/>
                </a:solidFill>
                <a:latin typeface="Arial"/>
                <a:ea typeface="Arial"/>
                <a:cs typeface="Arial"/>
                <a:sym typeface="Arial"/>
              </a:rPr>
            </a:br>
            <a:endParaRPr sz="1100">
              <a:solidFill>
                <a:srgbClr val="1F2937"/>
              </a:solidFill>
              <a:latin typeface="Arial"/>
              <a:ea typeface="Arial"/>
              <a:cs typeface="Arial"/>
              <a:sym typeface="Arial"/>
            </a:endParaRPr>
          </a:p>
        </p:txBody>
      </p:sp>
      <p:pic>
        <p:nvPicPr>
          <p:cNvPr id="352" name="Google Shape;352;p10"/>
          <p:cNvPicPr preferRelativeResize="0"/>
          <p:nvPr/>
        </p:nvPicPr>
        <p:blipFill>
          <a:blip r:embed="rId3">
            <a:alphaModFix/>
          </a:blip>
          <a:stretch>
            <a:fillRect/>
          </a:stretch>
        </p:blipFill>
        <p:spPr>
          <a:xfrm>
            <a:off x="8485663" y="2127985"/>
            <a:ext cx="3636074" cy="1708627"/>
          </a:xfrm>
          <a:prstGeom prst="rect">
            <a:avLst/>
          </a:prstGeom>
          <a:noFill/>
          <a:ln>
            <a:noFill/>
          </a:ln>
        </p:spPr>
      </p:pic>
      <p:pic>
        <p:nvPicPr>
          <p:cNvPr id="353" name="Google Shape;353;p10" title="Screenshot 2026-10-13 135002.png"/>
          <p:cNvPicPr preferRelativeResize="0"/>
          <p:nvPr/>
        </p:nvPicPr>
        <p:blipFill>
          <a:blip r:embed="rId4">
            <a:alphaModFix/>
          </a:blip>
          <a:stretch>
            <a:fillRect/>
          </a:stretch>
        </p:blipFill>
        <p:spPr>
          <a:xfrm>
            <a:off x="4794660" y="2109187"/>
            <a:ext cx="3691005" cy="17462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8"/>
        <p:cNvGrpSpPr/>
        <p:nvPr/>
      </p:nvGrpSpPr>
      <p:grpSpPr>
        <a:xfrm>
          <a:off x="0" y="0"/>
          <a:ext cx="0" cy="0"/>
          <a:chOff x="0" y="0"/>
          <a:chExt cx="0" cy="0"/>
        </a:xfrm>
      </p:grpSpPr>
      <p:sp>
        <p:nvSpPr>
          <p:cNvPr id="359" name="Google Shape;359;p11"/>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1 · SỰ KIỆN NGƯỜI</a:t>
            </a:r>
            <a:endParaRPr sz="1100" b="1">
              <a:solidFill>
                <a:srgbClr val="2563EB"/>
              </a:solidFill>
            </a:endParaRPr>
          </a:p>
        </p:txBody>
      </p:sp>
      <p:sp>
        <p:nvSpPr>
          <p:cNvPr id="360" name="Google Shape;360;p11"/>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Tìm kiếm &amp; đối sánh đối tượng</a:t>
            </a:r>
            <a:endParaRPr sz="2600" b="1">
              <a:solidFill>
                <a:srgbClr val="1E3A8A"/>
              </a:solidFill>
            </a:endParaRPr>
          </a:p>
        </p:txBody>
      </p:sp>
      <p:sp>
        <p:nvSpPr>
          <p:cNvPr id="361" name="Google Shape;361;p11"/>
          <p:cNvSpPr/>
          <p:nvPr/>
        </p:nvSpPr>
        <p:spPr>
          <a:xfrm>
            <a:off x="609600" y="1113273"/>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2" name="Google Shape;362;p11"/>
          <p:cNvSpPr txBox="1"/>
          <p:nvPr/>
        </p:nvSpPr>
        <p:spPr>
          <a:xfrm>
            <a:off x="9336988" y="4067502"/>
            <a:ext cx="3220800" cy="369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100">
              <a:solidFill>
                <a:schemeClr val="dk1"/>
              </a:solidFill>
            </a:endParaRPr>
          </a:p>
          <a:p>
            <a:pPr marL="0" marR="0" lvl="0" indent="0" algn="l" rtl="0">
              <a:spcBef>
                <a:spcPts val="0"/>
              </a:spcBef>
              <a:spcAft>
                <a:spcPts val="0"/>
              </a:spcAft>
              <a:buNone/>
            </a:pPr>
            <a:endParaRPr sz="1300">
              <a:solidFill>
                <a:srgbClr val="1F2937"/>
              </a:solidFill>
              <a:latin typeface="Quattrocento Sans"/>
              <a:ea typeface="Quattrocento Sans"/>
              <a:cs typeface="Quattrocento Sans"/>
              <a:sym typeface="Quattrocento Sans"/>
            </a:endParaRPr>
          </a:p>
        </p:txBody>
      </p:sp>
      <p:sp>
        <p:nvSpPr>
          <p:cNvPr id="363" name="Google Shape;363;p11"/>
          <p:cNvSpPr/>
          <p:nvPr/>
        </p:nvSpPr>
        <p:spPr>
          <a:xfrm>
            <a:off x="3222456" y="1351784"/>
            <a:ext cx="2628900" cy="1014969"/>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11"/>
          <p:cNvSpPr/>
          <p:nvPr/>
        </p:nvSpPr>
        <p:spPr>
          <a:xfrm>
            <a:off x="3349456" y="1453384"/>
            <a:ext cx="330200" cy="3302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B1</a:t>
            </a:r>
            <a:endParaRPr/>
          </a:p>
        </p:txBody>
      </p:sp>
      <p:sp>
        <p:nvSpPr>
          <p:cNvPr id="365" name="Google Shape;365;p11"/>
          <p:cNvSpPr txBox="1"/>
          <p:nvPr/>
        </p:nvSpPr>
        <p:spPr>
          <a:xfrm>
            <a:off x="3781250" y="14914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Tải ảnh &amp; thiết lập điều kiện </a:t>
            </a:r>
            <a:endParaRPr sz="1200" b="1">
              <a:solidFill>
                <a:srgbClr val="1E3A8A"/>
              </a:solidFill>
            </a:endParaRPr>
          </a:p>
        </p:txBody>
      </p:sp>
      <p:sp>
        <p:nvSpPr>
          <p:cNvPr id="366" name="Google Shape;366;p11"/>
          <p:cNvSpPr txBox="1"/>
          <p:nvPr/>
        </p:nvSpPr>
        <p:spPr>
          <a:xfrm>
            <a:off x="3374856" y="1885184"/>
            <a:ext cx="23495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1F2937"/>
                </a:solidFill>
              </a:rPr>
              <a:t>Tải lên ảnh đối tượng (ảnh hồ sơ, ảnh chụp bên ngoài hoặc ảnh từ event camera đã ghi) và thiết lập ngưỡng tương đồng.</a:t>
            </a:r>
            <a:endParaRPr sz="900">
              <a:solidFill>
                <a:srgbClr val="1F2937"/>
              </a:solidFill>
            </a:endParaRPr>
          </a:p>
        </p:txBody>
      </p:sp>
      <p:sp>
        <p:nvSpPr>
          <p:cNvPr id="367" name="Google Shape;367;p11"/>
          <p:cNvSpPr/>
          <p:nvPr/>
        </p:nvSpPr>
        <p:spPr>
          <a:xfrm>
            <a:off x="4791394" y="2885188"/>
            <a:ext cx="2628900" cy="948956"/>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11"/>
          <p:cNvSpPr/>
          <p:nvPr/>
        </p:nvSpPr>
        <p:spPr>
          <a:xfrm>
            <a:off x="4894597" y="2950917"/>
            <a:ext cx="330200" cy="3302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B2</a:t>
            </a:r>
            <a:endParaRPr/>
          </a:p>
        </p:txBody>
      </p:sp>
      <p:sp>
        <p:nvSpPr>
          <p:cNvPr id="369" name="Google Shape;369;p11"/>
          <p:cNvSpPr txBox="1"/>
          <p:nvPr/>
        </p:nvSpPr>
        <p:spPr>
          <a:xfrm>
            <a:off x="5350194" y="3024888"/>
            <a:ext cx="19685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Đối sánh</a:t>
            </a:r>
            <a:endParaRPr sz="1200" b="1">
              <a:solidFill>
                <a:srgbClr val="1E3A8A"/>
              </a:solidFill>
            </a:endParaRPr>
          </a:p>
        </p:txBody>
      </p:sp>
      <p:sp>
        <p:nvSpPr>
          <p:cNvPr id="370" name="Google Shape;370;p11"/>
          <p:cNvSpPr txBox="1"/>
          <p:nvPr/>
        </p:nvSpPr>
        <p:spPr>
          <a:xfrm>
            <a:off x="4931094" y="3346846"/>
            <a:ext cx="23495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1F2937"/>
                </a:solidFill>
              </a:rPr>
              <a:t>Hệ thống thực hiện đối sánh và trả về kết quả kèm mức độ tương đồng; chọn giá trị trùng khớp để thực hiện truy vấn.</a:t>
            </a:r>
            <a:endParaRPr sz="900">
              <a:solidFill>
                <a:srgbClr val="1F2937"/>
              </a:solidFill>
            </a:endParaRPr>
          </a:p>
        </p:txBody>
      </p:sp>
      <p:sp>
        <p:nvSpPr>
          <p:cNvPr id="371" name="Google Shape;371;p11"/>
          <p:cNvSpPr/>
          <p:nvPr/>
        </p:nvSpPr>
        <p:spPr>
          <a:xfrm>
            <a:off x="6331725" y="4356062"/>
            <a:ext cx="2628900" cy="9489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2" name="Google Shape;372;p11"/>
          <p:cNvSpPr/>
          <p:nvPr/>
        </p:nvSpPr>
        <p:spPr>
          <a:xfrm>
            <a:off x="6458725" y="4457675"/>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B3</a:t>
            </a:r>
            <a:endParaRPr/>
          </a:p>
        </p:txBody>
      </p:sp>
      <p:sp>
        <p:nvSpPr>
          <p:cNvPr id="373" name="Google Shape;373;p11"/>
          <p:cNvSpPr txBox="1"/>
          <p:nvPr/>
        </p:nvSpPr>
        <p:spPr>
          <a:xfrm>
            <a:off x="6890525" y="44957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Xem kết quả &amp; truy vết </a:t>
            </a:r>
            <a:endParaRPr sz="1200" b="1">
              <a:solidFill>
                <a:srgbClr val="1E3A8A"/>
              </a:solidFill>
            </a:endParaRPr>
          </a:p>
        </p:txBody>
      </p:sp>
      <p:sp>
        <p:nvSpPr>
          <p:cNvPr id="374" name="Google Shape;374;p11"/>
          <p:cNvSpPr txBox="1"/>
          <p:nvPr/>
        </p:nvSpPr>
        <p:spPr>
          <a:xfrm>
            <a:off x="6471375" y="4819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1F2937"/>
                </a:solidFill>
              </a:rPr>
              <a:t>Xem danh sách kết quả phù hợp, thời gian và camera ghi nhận; theo dõi lịch sử xuất hiện nếu chức năng hỗ trợ. </a:t>
            </a:r>
            <a:endParaRPr/>
          </a:p>
        </p:txBody>
      </p:sp>
      <p:sp>
        <p:nvSpPr>
          <p:cNvPr id="375" name="Google Shape;375;p11"/>
          <p:cNvSpPr/>
          <p:nvPr/>
        </p:nvSpPr>
        <p:spPr>
          <a:xfrm>
            <a:off x="7608128" y="5649312"/>
            <a:ext cx="2628900" cy="1040191"/>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6" name="Google Shape;376;p11"/>
          <p:cNvSpPr/>
          <p:nvPr/>
        </p:nvSpPr>
        <p:spPr>
          <a:xfrm>
            <a:off x="7735128" y="5750912"/>
            <a:ext cx="330200" cy="3302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B4</a:t>
            </a:r>
            <a:endParaRPr/>
          </a:p>
        </p:txBody>
      </p:sp>
      <p:sp>
        <p:nvSpPr>
          <p:cNvPr id="377" name="Google Shape;377;p11"/>
          <p:cNvSpPr txBox="1"/>
          <p:nvPr/>
        </p:nvSpPr>
        <p:spPr>
          <a:xfrm>
            <a:off x="8166928" y="5789012"/>
            <a:ext cx="19685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Xem chi tiết &amp; xác minh </a:t>
            </a:r>
            <a:endParaRPr sz="1200" b="1">
              <a:solidFill>
                <a:srgbClr val="1E3A8A"/>
              </a:solidFill>
            </a:endParaRPr>
          </a:p>
        </p:txBody>
      </p:sp>
      <p:sp>
        <p:nvSpPr>
          <p:cNvPr id="378" name="Google Shape;378;p11"/>
          <p:cNvSpPr txBox="1"/>
          <p:nvPr/>
        </p:nvSpPr>
        <p:spPr>
          <a:xfrm>
            <a:off x="7760528" y="6182712"/>
            <a:ext cx="23495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1F2937"/>
                </a:solidFill>
              </a:rPr>
              <a:t>Kiểm tra hình ảnh, thông tin sự kiện, thời điểm và vị trí để đối chiếu kết quả. </a:t>
            </a:r>
            <a:endParaRPr sz="900">
              <a:solidFill>
                <a:srgbClr val="1F2937"/>
              </a:solidFill>
            </a:endParaRPr>
          </a:p>
        </p:txBody>
      </p:sp>
      <p:sp>
        <p:nvSpPr>
          <p:cNvPr id="379" name="Google Shape;379;p11"/>
          <p:cNvSpPr/>
          <p:nvPr/>
        </p:nvSpPr>
        <p:spPr>
          <a:xfrm>
            <a:off x="23750" y="4200150"/>
            <a:ext cx="3444300" cy="2489400"/>
          </a:xfrm>
          <a:prstGeom prst="roundRect">
            <a:avLst>
              <a:gd name="adj" fmla="val 6000"/>
            </a:avLst>
          </a:prstGeom>
          <a:solidFill>
            <a:srgbClr val="F3F5FA"/>
          </a:solidFill>
          <a:ln>
            <a:noFill/>
          </a:ln>
        </p:spPr>
        <p:txBody>
          <a:bodyPr spcFirstLastPara="1" wrap="square" lIns="90200" tIns="45100" rIns="90200" bIns="45100" anchor="ctr" anchorCtr="0">
            <a:noAutofit/>
          </a:bodyPr>
          <a:lstStyle/>
          <a:p>
            <a:pPr marL="0" marR="0" lvl="0" indent="0" algn="ctr" rtl="0">
              <a:spcBef>
                <a:spcPts val="0"/>
              </a:spcBef>
              <a:spcAft>
                <a:spcPts val="0"/>
              </a:spcAft>
              <a:buNone/>
            </a:pPr>
            <a:endParaRPr sz="1776">
              <a:solidFill>
                <a:schemeClr val="lt1"/>
              </a:solidFill>
              <a:latin typeface="Calibri"/>
              <a:ea typeface="Calibri"/>
              <a:cs typeface="Calibri"/>
              <a:sym typeface="Calibri"/>
            </a:endParaRPr>
          </a:p>
        </p:txBody>
      </p:sp>
      <p:sp>
        <p:nvSpPr>
          <p:cNvPr id="380" name="Google Shape;380;p11"/>
          <p:cNvSpPr txBox="1"/>
          <p:nvPr/>
        </p:nvSpPr>
        <p:spPr>
          <a:xfrm>
            <a:off x="596554" y="4464378"/>
            <a:ext cx="2318400" cy="294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84" b="1">
                <a:solidFill>
                  <a:srgbClr val="1E3A8A"/>
                </a:solidFill>
              </a:rPr>
              <a:t>Đối sánh khuôn mặt 1:N </a:t>
            </a:r>
            <a:endParaRPr sz="1480">
              <a:solidFill>
                <a:schemeClr val="lt1"/>
              </a:solidFill>
            </a:endParaRPr>
          </a:p>
          <a:p>
            <a:pPr marL="0" lvl="0" indent="0" algn="ctr" rtl="0">
              <a:lnSpc>
                <a:spcPct val="115000"/>
              </a:lnSpc>
              <a:spcBef>
                <a:spcPts val="1184"/>
              </a:spcBef>
              <a:spcAft>
                <a:spcPts val="0"/>
              </a:spcAft>
              <a:buNone/>
            </a:pPr>
            <a:r>
              <a:rPr lang="en-US" sz="1480">
                <a:solidFill>
                  <a:schemeClr val="lt1"/>
                </a:solidFill>
              </a:rPr>
              <a:t> </a:t>
            </a:r>
            <a:endParaRPr sz="1480">
              <a:solidFill>
                <a:schemeClr val="lt1"/>
              </a:solidFill>
            </a:endParaRPr>
          </a:p>
          <a:p>
            <a:pPr marL="0" marR="0" lvl="0" indent="0" algn="l" rtl="0">
              <a:spcBef>
                <a:spcPts val="1184"/>
              </a:spcBef>
              <a:spcAft>
                <a:spcPts val="0"/>
              </a:spcAft>
              <a:buNone/>
            </a:pPr>
            <a:endParaRPr sz="1184" b="1">
              <a:solidFill>
                <a:srgbClr val="1E3A8A"/>
              </a:solidFill>
              <a:latin typeface="Quattrocento Sans"/>
              <a:ea typeface="Quattrocento Sans"/>
              <a:cs typeface="Quattrocento Sans"/>
              <a:sym typeface="Quattrocento Sans"/>
            </a:endParaRPr>
          </a:p>
        </p:txBody>
      </p:sp>
      <p:sp>
        <p:nvSpPr>
          <p:cNvPr id="381" name="Google Shape;381;p11"/>
          <p:cNvSpPr txBox="1"/>
          <p:nvPr/>
        </p:nvSpPr>
        <p:spPr>
          <a:xfrm>
            <a:off x="245625" y="6163633"/>
            <a:ext cx="2944500" cy="44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888">
                <a:solidFill>
                  <a:srgbClr val="1F2937"/>
                </a:solidFill>
              </a:rPr>
              <a:t>Tìm kiếm một khuôn mặt trên nhiều dữ liệu đã ghi nhận, thay vì phải kiểm tra từng sự kiện thủ công. </a:t>
            </a:r>
            <a:endParaRPr sz="888">
              <a:solidFill>
                <a:srgbClr val="1F2937"/>
              </a:solidFill>
            </a:endParaRPr>
          </a:p>
        </p:txBody>
      </p:sp>
      <p:pic>
        <p:nvPicPr>
          <p:cNvPr id="382" name="Google Shape;382;p11"/>
          <p:cNvPicPr preferRelativeResize="0"/>
          <p:nvPr/>
        </p:nvPicPr>
        <p:blipFill>
          <a:blip r:embed="rId3">
            <a:alphaModFix/>
          </a:blip>
          <a:stretch>
            <a:fillRect/>
          </a:stretch>
        </p:blipFill>
        <p:spPr>
          <a:xfrm>
            <a:off x="211610" y="4401480"/>
            <a:ext cx="347723" cy="357121"/>
          </a:xfrm>
          <a:prstGeom prst="rect">
            <a:avLst/>
          </a:prstGeom>
          <a:noFill/>
          <a:ln>
            <a:noFill/>
          </a:ln>
        </p:spPr>
      </p:pic>
      <p:sp>
        <p:nvSpPr>
          <p:cNvPr id="383" name="Google Shape;383;p11"/>
          <p:cNvSpPr/>
          <p:nvPr/>
        </p:nvSpPr>
        <p:spPr>
          <a:xfrm>
            <a:off x="211610" y="4898091"/>
            <a:ext cx="3088200" cy="1093200"/>
          </a:xfrm>
          <a:prstGeom prst="roundRect">
            <a:avLst>
              <a:gd name="adj" fmla="val 6000"/>
            </a:avLst>
          </a:prstGeom>
          <a:solidFill>
            <a:srgbClr val="1E3A8A"/>
          </a:solidFill>
          <a:ln>
            <a:noFill/>
          </a:ln>
        </p:spPr>
        <p:txBody>
          <a:bodyPr spcFirstLastPara="1" wrap="square" lIns="100250" tIns="50125" rIns="100250" bIns="50125" anchor="ctr" anchorCtr="0">
            <a:noAutofit/>
          </a:bodyPr>
          <a:lstStyle/>
          <a:p>
            <a:pPr marL="0" lvl="0" indent="0" algn="l" rtl="0">
              <a:lnSpc>
                <a:spcPct val="115000"/>
              </a:lnSpc>
              <a:spcBef>
                <a:spcPts val="1184"/>
              </a:spcBef>
              <a:spcAft>
                <a:spcPts val="0"/>
              </a:spcAft>
              <a:buSzPts val="1085"/>
              <a:buNone/>
            </a:pPr>
            <a:endParaRPr sz="1480">
              <a:solidFill>
                <a:schemeClr val="lt1"/>
              </a:solidFill>
            </a:endParaRPr>
          </a:p>
          <a:p>
            <a:pPr marL="0" lvl="0" indent="0" algn="ctr" rtl="0">
              <a:lnSpc>
                <a:spcPct val="115000"/>
              </a:lnSpc>
              <a:spcBef>
                <a:spcPts val="1184"/>
              </a:spcBef>
              <a:spcAft>
                <a:spcPts val="0"/>
              </a:spcAft>
              <a:buSzPts val="1085"/>
              <a:buNone/>
            </a:pPr>
            <a:r>
              <a:rPr lang="en-US" sz="1184">
                <a:solidFill>
                  <a:schemeClr val="lt1"/>
                </a:solidFill>
              </a:rPr>
              <a:t>Một ảnh khuôn mặt → Đối sánh với nhiều khuôn mặt được ghi nhận </a:t>
            </a:r>
            <a:endParaRPr sz="1184">
              <a:solidFill>
                <a:schemeClr val="lt1"/>
              </a:solidFill>
            </a:endParaRPr>
          </a:p>
          <a:p>
            <a:pPr marL="0" marR="0" lvl="0" indent="0" algn="ctr" rtl="0">
              <a:spcBef>
                <a:spcPts val="1184"/>
              </a:spcBef>
              <a:spcAft>
                <a:spcPts val="0"/>
              </a:spcAft>
              <a:buNone/>
            </a:pPr>
            <a:endParaRPr sz="1381" b="1">
              <a:solidFill>
                <a:srgbClr val="FFFFFF"/>
              </a:solidFill>
            </a:endParaRPr>
          </a:p>
        </p:txBody>
      </p:sp>
      <p:sp>
        <p:nvSpPr>
          <p:cNvPr id="384" name="Google Shape;384;p11"/>
          <p:cNvSpPr/>
          <p:nvPr/>
        </p:nvSpPr>
        <p:spPr>
          <a:xfrm>
            <a:off x="7760525" y="220675"/>
            <a:ext cx="4077600" cy="447600"/>
          </a:xfrm>
          <a:prstGeom prst="roundRect">
            <a:avLst>
              <a:gd name="adj" fmla="val 6000"/>
            </a:avLst>
          </a:prstGeom>
          <a:solidFill>
            <a:srgbClr val="1E3A8A"/>
          </a:solidFill>
          <a:ln>
            <a:noFill/>
          </a:ln>
        </p:spPr>
        <p:txBody>
          <a:bodyPr spcFirstLastPara="1" wrap="square" lIns="100250" tIns="50125" rIns="100250" bIns="50125" anchor="ctr" anchorCtr="0">
            <a:noAutofit/>
          </a:bodyPr>
          <a:lstStyle/>
          <a:p>
            <a:pPr marL="0" lvl="0" indent="0" algn="l" rtl="0">
              <a:lnSpc>
                <a:spcPct val="115000"/>
              </a:lnSpc>
              <a:spcBef>
                <a:spcPts val="1184"/>
              </a:spcBef>
              <a:spcAft>
                <a:spcPts val="0"/>
              </a:spcAft>
              <a:buSzPts val="1085"/>
              <a:buNone/>
            </a:pPr>
            <a:endParaRPr sz="1480">
              <a:solidFill>
                <a:schemeClr val="lt1"/>
              </a:solidFill>
            </a:endParaRPr>
          </a:p>
          <a:p>
            <a:pPr marL="0" lvl="0" indent="0" algn="ctr" rtl="0">
              <a:lnSpc>
                <a:spcPct val="115000"/>
              </a:lnSpc>
              <a:spcBef>
                <a:spcPts val="1184"/>
              </a:spcBef>
              <a:spcAft>
                <a:spcPts val="0"/>
              </a:spcAft>
              <a:buSzPts val="1085"/>
              <a:buNone/>
            </a:pPr>
            <a:r>
              <a:rPr lang="en-US" sz="1184" b="1">
                <a:solidFill>
                  <a:schemeClr val="lt1"/>
                </a:solidFill>
              </a:rPr>
              <a:t>ỨNG DỤNG THỰC TẾ</a:t>
            </a:r>
            <a:endParaRPr sz="1184" b="1">
              <a:solidFill>
                <a:schemeClr val="lt1"/>
              </a:solidFill>
            </a:endParaRPr>
          </a:p>
          <a:p>
            <a:pPr marL="0" marR="0" lvl="0" indent="0" algn="ctr" rtl="0">
              <a:spcBef>
                <a:spcPts val="1184"/>
              </a:spcBef>
              <a:spcAft>
                <a:spcPts val="0"/>
              </a:spcAft>
              <a:buNone/>
            </a:pPr>
            <a:endParaRPr sz="1381" b="1">
              <a:solidFill>
                <a:srgbClr val="FFFFFF"/>
              </a:solidFill>
            </a:endParaRPr>
          </a:p>
        </p:txBody>
      </p:sp>
      <p:sp>
        <p:nvSpPr>
          <p:cNvPr id="385" name="Google Shape;385;p11"/>
          <p:cNvSpPr/>
          <p:nvPr/>
        </p:nvSpPr>
        <p:spPr>
          <a:xfrm>
            <a:off x="7760525" y="830450"/>
            <a:ext cx="4077600" cy="702000"/>
          </a:xfrm>
          <a:prstGeom prst="roundRect">
            <a:avLst>
              <a:gd name="adj" fmla="val 6000"/>
            </a:avLst>
          </a:prstGeom>
          <a:solidFill>
            <a:srgbClr val="E8EEFB"/>
          </a:solidFill>
          <a:ln>
            <a:noFill/>
          </a:ln>
        </p:spPr>
        <p:txBody>
          <a:bodyPr spcFirstLastPara="1" wrap="square" lIns="100250" tIns="50125" rIns="100250" bIns="50125" anchor="ctr" anchorCtr="0">
            <a:noAutofit/>
          </a:bodyPr>
          <a:lstStyle/>
          <a:p>
            <a:pPr marL="0" lvl="0" indent="0" algn="l" rtl="0">
              <a:lnSpc>
                <a:spcPct val="115000"/>
              </a:lnSpc>
              <a:spcBef>
                <a:spcPts val="1184"/>
              </a:spcBef>
              <a:spcAft>
                <a:spcPts val="0"/>
              </a:spcAft>
              <a:buSzPts val="1085"/>
              <a:buNone/>
            </a:pPr>
            <a:endParaRPr sz="1480">
              <a:solidFill>
                <a:schemeClr val="lt1"/>
              </a:solidFill>
            </a:endParaRPr>
          </a:p>
          <a:p>
            <a:pPr marL="0" lvl="0" indent="0" algn="l" rtl="0">
              <a:spcBef>
                <a:spcPts val="1184"/>
              </a:spcBef>
              <a:spcAft>
                <a:spcPts val="0"/>
              </a:spcAft>
              <a:buNone/>
            </a:pPr>
            <a:endParaRPr sz="1100">
              <a:solidFill>
                <a:schemeClr val="dk1"/>
              </a:solidFill>
            </a:endParaRPr>
          </a:p>
          <a:p>
            <a:pPr marL="0" lvl="0" indent="0" algn="l" rtl="0">
              <a:spcBef>
                <a:spcPts val="0"/>
              </a:spcBef>
              <a:spcAft>
                <a:spcPts val="0"/>
              </a:spcAft>
              <a:buNone/>
            </a:pPr>
            <a:r>
              <a:rPr lang="en-US" sz="1100" b="1">
                <a:solidFill>
                  <a:schemeClr val="dk1"/>
                </a:solidFill>
              </a:rPr>
              <a:t>Tìm kiếm bằng hình ảnh:</a:t>
            </a:r>
            <a:r>
              <a:rPr lang="en-US" sz="1100">
                <a:solidFill>
                  <a:schemeClr val="dk1"/>
                </a:solidFill>
              </a:rPr>
              <a:t> Sử dụng ảnh khuôn mặt cần tìm để truy vấn các sự kiện có hình ảnh tương đồng trong dữ liệu hệ thống.</a:t>
            </a:r>
            <a:endParaRPr sz="1100">
              <a:solidFill>
                <a:schemeClr val="dk1"/>
              </a:solidFill>
            </a:endParaRPr>
          </a:p>
          <a:p>
            <a:pPr marL="0" lvl="0" indent="0" algn="ctr" rtl="0">
              <a:lnSpc>
                <a:spcPct val="115000"/>
              </a:lnSpc>
              <a:spcBef>
                <a:spcPts val="1184"/>
              </a:spcBef>
              <a:spcAft>
                <a:spcPts val="0"/>
              </a:spcAft>
              <a:buSzPts val="1085"/>
              <a:buNone/>
            </a:pPr>
            <a:endParaRPr sz="1184" b="1">
              <a:solidFill>
                <a:schemeClr val="lt1"/>
              </a:solidFill>
            </a:endParaRPr>
          </a:p>
          <a:p>
            <a:pPr marL="0" marR="0" lvl="0" indent="0" algn="ctr" rtl="0">
              <a:spcBef>
                <a:spcPts val="1184"/>
              </a:spcBef>
              <a:spcAft>
                <a:spcPts val="0"/>
              </a:spcAft>
              <a:buNone/>
            </a:pPr>
            <a:endParaRPr sz="1381" b="1">
              <a:solidFill>
                <a:srgbClr val="FFFFFF"/>
              </a:solidFill>
            </a:endParaRPr>
          </a:p>
        </p:txBody>
      </p:sp>
      <p:sp>
        <p:nvSpPr>
          <p:cNvPr id="386" name="Google Shape;386;p11"/>
          <p:cNvSpPr/>
          <p:nvPr/>
        </p:nvSpPr>
        <p:spPr>
          <a:xfrm>
            <a:off x="7760525" y="1638000"/>
            <a:ext cx="4077600" cy="702000"/>
          </a:xfrm>
          <a:prstGeom prst="roundRect">
            <a:avLst>
              <a:gd name="adj" fmla="val 6000"/>
            </a:avLst>
          </a:prstGeom>
          <a:solidFill>
            <a:srgbClr val="E8EEFB"/>
          </a:solidFill>
          <a:ln>
            <a:noFill/>
          </a:ln>
        </p:spPr>
        <p:txBody>
          <a:bodyPr spcFirstLastPara="1" wrap="square" lIns="100250" tIns="50125" rIns="100250" bIns="50125" anchor="ctr" anchorCtr="0">
            <a:noAutofit/>
          </a:bodyPr>
          <a:lstStyle/>
          <a:p>
            <a:pPr marL="0" lvl="0" indent="0" algn="l" rtl="0">
              <a:lnSpc>
                <a:spcPct val="115000"/>
              </a:lnSpc>
              <a:spcBef>
                <a:spcPts val="1184"/>
              </a:spcBef>
              <a:spcAft>
                <a:spcPts val="0"/>
              </a:spcAft>
              <a:buSzPts val="1085"/>
              <a:buNone/>
            </a:pPr>
            <a:endParaRPr sz="1480">
              <a:solidFill>
                <a:schemeClr val="lt1"/>
              </a:solidFill>
            </a:endParaRPr>
          </a:p>
          <a:p>
            <a:pPr marL="0" lvl="0" indent="0" algn="l" rtl="0">
              <a:spcBef>
                <a:spcPts val="1184"/>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US" sz="1100" b="1">
                <a:solidFill>
                  <a:schemeClr val="dk1"/>
                </a:solidFill>
              </a:rPr>
              <a:t>Đối sánh khuôn mặt:</a:t>
            </a:r>
            <a:r>
              <a:rPr lang="en-US" sz="1100">
                <a:solidFill>
                  <a:schemeClr val="dk1"/>
                </a:solidFill>
              </a:rPr>
              <a:t> So sánh khuôn mặt truy vấn với dữ liệu khuôn mặt đã ghi nhận hoặc danh sách định danh, tùy chức năng tìm kiếm.</a:t>
            </a:r>
            <a:endParaRPr sz="1100">
              <a:solidFill>
                <a:schemeClr val="dk1"/>
              </a:solidFill>
            </a:endParaRPr>
          </a:p>
          <a:p>
            <a:pPr marL="0" lvl="0" indent="0" algn="ctr" rtl="0">
              <a:lnSpc>
                <a:spcPct val="115000"/>
              </a:lnSpc>
              <a:spcBef>
                <a:spcPts val="1184"/>
              </a:spcBef>
              <a:spcAft>
                <a:spcPts val="0"/>
              </a:spcAft>
              <a:buSzPts val="1085"/>
              <a:buNone/>
            </a:pPr>
            <a:endParaRPr sz="1184" b="1">
              <a:solidFill>
                <a:schemeClr val="lt1"/>
              </a:solidFill>
            </a:endParaRPr>
          </a:p>
          <a:p>
            <a:pPr marL="0" marR="0" lvl="0" indent="0" algn="ctr" rtl="0">
              <a:spcBef>
                <a:spcPts val="1184"/>
              </a:spcBef>
              <a:spcAft>
                <a:spcPts val="0"/>
              </a:spcAft>
              <a:buNone/>
            </a:pPr>
            <a:endParaRPr sz="1381" b="1">
              <a:solidFill>
                <a:srgbClr val="FFFFFF"/>
              </a:solidFill>
            </a:endParaRPr>
          </a:p>
        </p:txBody>
      </p:sp>
      <p:sp>
        <p:nvSpPr>
          <p:cNvPr id="387" name="Google Shape;387;p11"/>
          <p:cNvSpPr/>
          <p:nvPr/>
        </p:nvSpPr>
        <p:spPr>
          <a:xfrm>
            <a:off x="7760525" y="2484400"/>
            <a:ext cx="4077600" cy="702000"/>
          </a:xfrm>
          <a:prstGeom prst="roundRect">
            <a:avLst>
              <a:gd name="adj" fmla="val 6000"/>
            </a:avLst>
          </a:prstGeom>
          <a:solidFill>
            <a:srgbClr val="E8EEFB"/>
          </a:solidFill>
          <a:ln>
            <a:noFill/>
          </a:ln>
        </p:spPr>
        <p:txBody>
          <a:bodyPr spcFirstLastPara="1" wrap="square" lIns="100250" tIns="50125" rIns="100250" bIns="50125" anchor="ctr" anchorCtr="0">
            <a:noAutofit/>
          </a:bodyPr>
          <a:lstStyle/>
          <a:p>
            <a:pPr marL="0" lvl="0" indent="0" algn="l" rtl="0">
              <a:lnSpc>
                <a:spcPct val="115000"/>
              </a:lnSpc>
              <a:spcBef>
                <a:spcPts val="1184"/>
              </a:spcBef>
              <a:spcAft>
                <a:spcPts val="0"/>
              </a:spcAft>
              <a:buSzPts val="1085"/>
              <a:buNone/>
            </a:pPr>
            <a:endParaRPr sz="1480">
              <a:solidFill>
                <a:schemeClr val="lt1"/>
              </a:solidFill>
            </a:endParaRPr>
          </a:p>
          <a:p>
            <a:pPr marL="0" lvl="0" indent="0" algn="l" rtl="0">
              <a:spcBef>
                <a:spcPts val="1184"/>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US" sz="1100" b="1">
                <a:solidFill>
                  <a:schemeClr val="dk1"/>
                </a:solidFill>
              </a:rPr>
              <a:t>Khoanh vùng kết quả</a:t>
            </a:r>
            <a:r>
              <a:rPr lang="en-US" sz="1100">
                <a:solidFill>
                  <a:schemeClr val="dk1"/>
                </a:solidFill>
              </a:rPr>
              <a:t>: Kết hợp ngưỡng tương đồng, thời gian, camera và các điều kiện lọc được hỗ trợ để thu hẹp kết quả.</a:t>
            </a:r>
            <a:endParaRPr sz="1100" b="1">
              <a:solidFill>
                <a:schemeClr val="dk1"/>
              </a:solidFill>
            </a:endParaRPr>
          </a:p>
          <a:p>
            <a:pPr marL="0" lvl="0" indent="0" algn="ctr" rtl="0">
              <a:lnSpc>
                <a:spcPct val="115000"/>
              </a:lnSpc>
              <a:spcBef>
                <a:spcPts val="1184"/>
              </a:spcBef>
              <a:spcAft>
                <a:spcPts val="0"/>
              </a:spcAft>
              <a:buSzPts val="1085"/>
              <a:buNone/>
            </a:pPr>
            <a:endParaRPr sz="1184" b="1">
              <a:solidFill>
                <a:schemeClr val="lt1"/>
              </a:solidFill>
            </a:endParaRPr>
          </a:p>
          <a:p>
            <a:pPr marL="0" marR="0" lvl="0" indent="0" algn="ctr" rtl="0">
              <a:spcBef>
                <a:spcPts val="1184"/>
              </a:spcBef>
              <a:spcAft>
                <a:spcPts val="0"/>
              </a:spcAft>
              <a:buNone/>
            </a:pPr>
            <a:endParaRPr sz="1381" b="1">
              <a:solidFill>
                <a:srgbClr val="FFFFFF"/>
              </a:solidFill>
            </a:endParaRPr>
          </a:p>
        </p:txBody>
      </p:sp>
      <p:sp>
        <p:nvSpPr>
          <p:cNvPr id="388" name="Google Shape;388;p11"/>
          <p:cNvSpPr/>
          <p:nvPr/>
        </p:nvSpPr>
        <p:spPr>
          <a:xfrm>
            <a:off x="7760525" y="3309725"/>
            <a:ext cx="4077600" cy="702000"/>
          </a:xfrm>
          <a:prstGeom prst="roundRect">
            <a:avLst>
              <a:gd name="adj" fmla="val 6000"/>
            </a:avLst>
          </a:prstGeom>
          <a:solidFill>
            <a:srgbClr val="E8EEFB"/>
          </a:solidFill>
          <a:ln>
            <a:noFill/>
          </a:ln>
        </p:spPr>
        <p:txBody>
          <a:bodyPr spcFirstLastPara="1" wrap="square" lIns="100250" tIns="50125" rIns="100250" bIns="50125" anchor="ctr" anchorCtr="0">
            <a:noAutofit/>
          </a:bodyPr>
          <a:lstStyle/>
          <a:p>
            <a:pPr marL="0" lvl="0" indent="0" algn="l" rtl="0">
              <a:lnSpc>
                <a:spcPct val="115000"/>
              </a:lnSpc>
              <a:spcBef>
                <a:spcPts val="1184"/>
              </a:spcBef>
              <a:spcAft>
                <a:spcPts val="0"/>
              </a:spcAft>
              <a:buSzPts val="1085"/>
              <a:buNone/>
            </a:pPr>
            <a:endParaRPr sz="1480">
              <a:solidFill>
                <a:schemeClr val="lt1"/>
              </a:solidFill>
            </a:endParaRPr>
          </a:p>
          <a:p>
            <a:pPr marL="0" lvl="0" indent="0" algn="l" rtl="0">
              <a:spcBef>
                <a:spcPts val="1184"/>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US" sz="1100" b="1">
                <a:solidFill>
                  <a:schemeClr val="dk1"/>
                </a:solidFill>
              </a:rPr>
              <a:t>Khoanh vùng kết quả</a:t>
            </a:r>
            <a:r>
              <a:rPr lang="en-US" sz="1100">
                <a:solidFill>
                  <a:schemeClr val="dk1"/>
                </a:solidFill>
              </a:rPr>
              <a:t>: Kết hợp ngưỡng tương đồng, thời gian, camera và các điều kiện lọc được hỗ trợ để thu hẹp kết quả.</a:t>
            </a:r>
            <a:endParaRPr sz="1100" b="1">
              <a:solidFill>
                <a:schemeClr val="dk1"/>
              </a:solidFill>
            </a:endParaRPr>
          </a:p>
          <a:p>
            <a:pPr marL="0" lvl="0" indent="0" algn="ctr" rtl="0">
              <a:lnSpc>
                <a:spcPct val="115000"/>
              </a:lnSpc>
              <a:spcBef>
                <a:spcPts val="1184"/>
              </a:spcBef>
              <a:spcAft>
                <a:spcPts val="0"/>
              </a:spcAft>
              <a:buSzPts val="1085"/>
              <a:buNone/>
            </a:pPr>
            <a:endParaRPr sz="1184" b="1">
              <a:solidFill>
                <a:schemeClr val="lt1"/>
              </a:solidFill>
            </a:endParaRPr>
          </a:p>
          <a:p>
            <a:pPr marL="0" marR="0" lvl="0" indent="0" algn="ctr" rtl="0">
              <a:spcBef>
                <a:spcPts val="1184"/>
              </a:spcBef>
              <a:spcAft>
                <a:spcPts val="0"/>
              </a:spcAft>
              <a:buNone/>
            </a:pPr>
            <a:endParaRPr sz="1381" b="1">
              <a:solidFill>
                <a:srgbClr val="FFFFFF"/>
              </a:solidFill>
            </a:endParaRPr>
          </a:p>
        </p:txBody>
      </p:sp>
      <p:pic>
        <p:nvPicPr>
          <p:cNvPr id="389" name="Google Shape;389;p11"/>
          <p:cNvPicPr preferRelativeResize="0"/>
          <p:nvPr/>
        </p:nvPicPr>
        <p:blipFill>
          <a:blip r:embed="rId4">
            <a:alphaModFix/>
          </a:blip>
          <a:stretch>
            <a:fillRect/>
          </a:stretch>
        </p:blipFill>
        <p:spPr>
          <a:xfrm>
            <a:off x="283038" y="1323738"/>
            <a:ext cx="2925720" cy="1385224"/>
          </a:xfrm>
          <a:prstGeom prst="rect">
            <a:avLst/>
          </a:prstGeom>
          <a:noFill/>
          <a:ln>
            <a:noFill/>
          </a:ln>
        </p:spPr>
      </p:pic>
      <p:pic>
        <p:nvPicPr>
          <p:cNvPr id="390" name="Google Shape;390;p11"/>
          <p:cNvPicPr preferRelativeResize="0"/>
          <p:nvPr/>
        </p:nvPicPr>
        <p:blipFill>
          <a:blip r:embed="rId5">
            <a:alphaModFix/>
          </a:blip>
          <a:stretch>
            <a:fillRect/>
          </a:stretch>
        </p:blipFill>
        <p:spPr>
          <a:xfrm>
            <a:off x="1591725" y="2724513"/>
            <a:ext cx="2944502" cy="1382109"/>
          </a:xfrm>
          <a:prstGeom prst="rect">
            <a:avLst/>
          </a:prstGeom>
          <a:noFill/>
          <a:ln>
            <a:noFill/>
          </a:ln>
        </p:spPr>
      </p:pic>
      <p:pic>
        <p:nvPicPr>
          <p:cNvPr id="391" name="Google Shape;391;p11"/>
          <p:cNvPicPr preferRelativeResize="0"/>
          <p:nvPr/>
        </p:nvPicPr>
        <p:blipFill>
          <a:blip r:embed="rId6">
            <a:alphaModFix/>
          </a:blip>
          <a:stretch>
            <a:fillRect/>
          </a:stretch>
        </p:blipFill>
        <p:spPr>
          <a:xfrm>
            <a:off x="3405175" y="4056425"/>
            <a:ext cx="2895957" cy="1372025"/>
          </a:xfrm>
          <a:prstGeom prst="rect">
            <a:avLst/>
          </a:prstGeom>
          <a:noFill/>
          <a:ln>
            <a:noFill/>
          </a:ln>
        </p:spPr>
      </p:pic>
      <p:pic>
        <p:nvPicPr>
          <p:cNvPr id="392" name="Google Shape;392;p11"/>
          <p:cNvPicPr preferRelativeResize="0"/>
          <p:nvPr/>
        </p:nvPicPr>
        <p:blipFill>
          <a:blip r:embed="rId7">
            <a:alphaModFix/>
          </a:blip>
          <a:stretch>
            <a:fillRect/>
          </a:stretch>
        </p:blipFill>
        <p:spPr>
          <a:xfrm>
            <a:off x="4592700" y="5465625"/>
            <a:ext cx="2940053" cy="1385201"/>
          </a:xfrm>
          <a:prstGeom prst="rect">
            <a:avLst/>
          </a:prstGeom>
          <a:noFill/>
          <a:ln>
            <a:noFill/>
          </a:ln>
        </p:spPr>
      </p:pic>
      <p:pic>
        <p:nvPicPr>
          <p:cNvPr id="393" name="Google Shape;393;p11"/>
          <p:cNvPicPr preferRelativeResize="0"/>
          <p:nvPr/>
        </p:nvPicPr>
        <p:blipFill>
          <a:blip r:embed="rId8">
            <a:alphaModFix/>
          </a:blip>
          <a:stretch>
            <a:fillRect/>
          </a:stretch>
        </p:blipFill>
        <p:spPr>
          <a:xfrm rot="-1063781">
            <a:off x="6739674" y="206448"/>
            <a:ext cx="803550" cy="803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8"/>
        <p:cNvGrpSpPr/>
        <p:nvPr/>
      </p:nvGrpSpPr>
      <p:grpSpPr>
        <a:xfrm>
          <a:off x="0" y="0"/>
          <a:ext cx="0" cy="0"/>
          <a:chOff x="0" y="0"/>
          <a:chExt cx="0" cy="0"/>
        </a:xfrm>
      </p:grpSpPr>
      <p:sp>
        <p:nvSpPr>
          <p:cNvPr id="399" name="Google Shape;399;p12"/>
          <p:cNvSpPr/>
          <p:nvPr/>
        </p:nvSpPr>
        <p:spPr>
          <a:xfrm>
            <a:off x="9303700" y="5055450"/>
            <a:ext cx="2680800" cy="160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0" name="Google Shape;400;p12"/>
          <p:cNvSpPr/>
          <p:nvPr/>
        </p:nvSpPr>
        <p:spPr>
          <a:xfrm>
            <a:off x="3410700" y="5044625"/>
            <a:ext cx="2680800" cy="160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1" name="Google Shape;401;p12"/>
          <p:cNvSpPr/>
          <p:nvPr/>
        </p:nvSpPr>
        <p:spPr>
          <a:xfrm>
            <a:off x="6409750" y="5044625"/>
            <a:ext cx="2680800" cy="160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2" name="Google Shape;402;p12"/>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1 · SỰ KIỆN NGƯỜI</a:t>
            </a:r>
            <a:endParaRPr sz="1100" b="1">
              <a:solidFill>
                <a:srgbClr val="2563EB"/>
              </a:solidFill>
            </a:endParaRPr>
          </a:p>
        </p:txBody>
      </p:sp>
      <p:sp>
        <p:nvSpPr>
          <p:cNvPr id="403" name="Google Shape;403;p12"/>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Nhận diện đặc điểm </a:t>
            </a:r>
            <a:endParaRPr/>
          </a:p>
        </p:txBody>
      </p:sp>
      <p:sp>
        <p:nvSpPr>
          <p:cNvPr id="404" name="Google Shape;404;p12"/>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12"/>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latin typeface="Quattrocento Sans"/>
                <a:ea typeface="Quattrocento Sans"/>
                <a:cs typeface="Quattrocento Sans"/>
                <a:sym typeface="Quattrocento Sans"/>
              </a:rPr>
              <a:t>MENU</a:t>
            </a:r>
            <a:endParaRPr/>
          </a:p>
        </p:txBody>
      </p:sp>
      <p:sp>
        <p:nvSpPr>
          <p:cNvPr id="406" name="Google Shape;406;p12"/>
          <p:cNvSpPr/>
          <p:nvPr/>
        </p:nvSpPr>
        <p:spPr>
          <a:xfrm>
            <a:off x="88900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1</a:t>
            </a:r>
            <a:endParaRPr/>
          </a:p>
        </p:txBody>
      </p:sp>
      <p:sp>
        <p:nvSpPr>
          <p:cNvPr id="407" name="Google Shape;407;p12"/>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408" name="Google Shape;408;p12"/>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409" name="Google Shape;409;p12"/>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410" name="Google Shape;410;p12"/>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411" name="Google Shape;411;p12"/>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412" name="Google Shape;412;p12"/>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413" name="Google Shape;413;p12"/>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414" name="Google Shape;414;p12"/>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415" name="Google Shape;415;p12"/>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dirty="0">
                <a:solidFill>
                  <a:srgbClr val="2563EB"/>
                </a:solidFill>
              </a:rPr>
              <a:t>VỊ TRÍ TRÊN MENU:</a:t>
            </a:r>
            <a:r>
              <a:rPr lang="en-US" sz="1050" dirty="0">
                <a:solidFill>
                  <a:srgbClr val="1E3A8A"/>
                </a:solidFill>
              </a:rPr>
              <a:t>   Quản </a:t>
            </a:r>
            <a:r>
              <a:rPr lang="en-US" sz="1050" dirty="0" err="1">
                <a:solidFill>
                  <a:srgbClr val="1E3A8A"/>
                </a:solidFill>
              </a:rPr>
              <a:t>lý</a:t>
            </a:r>
            <a:r>
              <a:rPr lang="en-US" sz="1050" dirty="0">
                <a:solidFill>
                  <a:srgbClr val="1E3A8A"/>
                </a:solidFill>
              </a:rPr>
              <a:t> </a:t>
            </a:r>
            <a:r>
              <a:rPr lang="en-US" sz="1050" dirty="0" err="1">
                <a:solidFill>
                  <a:srgbClr val="1E3A8A"/>
                </a:solidFill>
              </a:rPr>
              <a:t>sự</a:t>
            </a:r>
            <a:r>
              <a:rPr lang="en-US" sz="1050" dirty="0">
                <a:solidFill>
                  <a:srgbClr val="1E3A8A"/>
                </a:solidFill>
              </a:rPr>
              <a:t> </a:t>
            </a:r>
            <a:r>
              <a:rPr lang="en-US" sz="1050" dirty="0" err="1">
                <a:solidFill>
                  <a:srgbClr val="1E3A8A"/>
                </a:solidFill>
              </a:rPr>
              <a:t>kiện</a:t>
            </a:r>
            <a:r>
              <a:rPr lang="en-US" sz="1050" dirty="0">
                <a:solidFill>
                  <a:srgbClr val="1E3A8A"/>
                </a:solidFill>
              </a:rPr>
              <a:t> › </a:t>
            </a:r>
            <a:r>
              <a:rPr lang="en-US" sz="1050" dirty="0" err="1">
                <a:solidFill>
                  <a:srgbClr val="1E3A8A"/>
                </a:solidFill>
              </a:rPr>
              <a:t>Sự</a:t>
            </a:r>
            <a:r>
              <a:rPr lang="en-US" sz="1050" dirty="0">
                <a:solidFill>
                  <a:srgbClr val="1E3A8A"/>
                </a:solidFill>
              </a:rPr>
              <a:t> </a:t>
            </a:r>
            <a:r>
              <a:rPr lang="en-US" sz="1050" dirty="0" err="1">
                <a:solidFill>
                  <a:srgbClr val="1E3A8A"/>
                </a:solidFill>
              </a:rPr>
              <a:t>kiện</a:t>
            </a:r>
            <a:r>
              <a:rPr lang="en-US" sz="1050" dirty="0">
                <a:solidFill>
                  <a:srgbClr val="1E3A8A"/>
                </a:solidFill>
              </a:rPr>
              <a:t> </a:t>
            </a:r>
            <a:r>
              <a:rPr lang="en-US" sz="1050" dirty="0" err="1">
                <a:solidFill>
                  <a:srgbClr val="1E3A8A"/>
                </a:solidFill>
              </a:rPr>
              <a:t>người</a:t>
            </a:r>
            <a:r>
              <a:rPr lang="en-US" sz="1050" dirty="0">
                <a:solidFill>
                  <a:srgbClr val="1E3A8A"/>
                </a:solidFill>
              </a:rPr>
              <a:t> › </a:t>
            </a:r>
            <a:r>
              <a:rPr lang="en-US" sz="1050" dirty="0" err="1">
                <a:solidFill>
                  <a:srgbClr val="1E3A8A"/>
                </a:solidFill>
              </a:rPr>
              <a:t>Nhận</a:t>
            </a:r>
            <a:r>
              <a:rPr lang="en-US" sz="1050" dirty="0">
                <a:solidFill>
                  <a:srgbClr val="1E3A8A"/>
                </a:solidFill>
              </a:rPr>
              <a:t> </a:t>
            </a:r>
            <a:r>
              <a:rPr lang="en-US" sz="1050" dirty="0" err="1">
                <a:solidFill>
                  <a:srgbClr val="1E3A8A"/>
                </a:solidFill>
              </a:rPr>
              <a:t>diện</a:t>
            </a:r>
            <a:r>
              <a:rPr lang="en-US" sz="1050" dirty="0">
                <a:solidFill>
                  <a:srgbClr val="1E3A8A"/>
                </a:solidFill>
              </a:rPr>
              <a:t> </a:t>
            </a:r>
            <a:r>
              <a:rPr lang="en-US" sz="1050" dirty="0" err="1">
                <a:solidFill>
                  <a:srgbClr val="1E3A8A"/>
                </a:solidFill>
              </a:rPr>
              <a:t>đặc</a:t>
            </a:r>
            <a:r>
              <a:rPr lang="en-US" sz="1050" dirty="0">
                <a:solidFill>
                  <a:srgbClr val="1E3A8A"/>
                </a:solidFill>
              </a:rPr>
              <a:t> </a:t>
            </a:r>
            <a:r>
              <a:rPr lang="en-US" sz="1050" dirty="0" err="1">
                <a:solidFill>
                  <a:srgbClr val="1E3A8A"/>
                </a:solidFill>
              </a:rPr>
              <a:t>điểm</a:t>
            </a:r>
            <a:endParaRPr sz="1050" dirty="0">
              <a:solidFill>
                <a:srgbClr val="1E3A8A"/>
              </a:solidFill>
            </a:endParaRPr>
          </a:p>
        </p:txBody>
      </p:sp>
      <p:sp>
        <p:nvSpPr>
          <p:cNvPr id="416" name="Google Shape;416;p12"/>
          <p:cNvSpPr txBox="1"/>
          <p:nvPr/>
        </p:nvSpPr>
        <p:spPr>
          <a:xfrm>
            <a:off x="609600" y="1628725"/>
            <a:ext cx="11157900" cy="369300"/>
          </a:xfrm>
          <a:prstGeom prst="rect">
            <a:avLst/>
          </a:prstGeom>
          <a:noFill/>
          <a:ln>
            <a:noFill/>
          </a:ln>
        </p:spPr>
        <p:txBody>
          <a:bodyPr spcFirstLastPara="1" wrap="square" lIns="0" tIns="0" rIns="0" bIns="0" anchor="t" anchorCtr="0">
            <a:noAutofit/>
          </a:bodyPr>
          <a:lstStyle/>
          <a:p>
            <a:pPr marL="0" lvl="0" indent="0" algn="l" rtl="0">
              <a:lnSpc>
                <a:spcPct val="150000"/>
              </a:lnSpc>
              <a:spcBef>
                <a:spcPts val="0"/>
              </a:spcBef>
              <a:spcAft>
                <a:spcPts val="0"/>
              </a:spcAft>
              <a:buNone/>
            </a:pPr>
            <a:r>
              <a:rPr lang="en-US" sz="1300" b="1" dirty="0" err="1">
                <a:solidFill>
                  <a:srgbClr val="1E3A8A"/>
                </a:solidFill>
              </a:rPr>
              <a:t>Giá</a:t>
            </a:r>
            <a:r>
              <a:rPr lang="en-US" sz="1300" b="1" dirty="0">
                <a:solidFill>
                  <a:srgbClr val="1E3A8A"/>
                </a:solidFill>
              </a:rPr>
              <a:t> </a:t>
            </a:r>
            <a:r>
              <a:rPr lang="en-US" sz="1300" b="1" dirty="0" err="1">
                <a:solidFill>
                  <a:srgbClr val="1E3A8A"/>
                </a:solidFill>
              </a:rPr>
              <a:t>trị</a:t>
            </a:r>
            <a:r>
              <a:rPr lang="en-US" sz="1300" b="1" dirty="0">
                <a:solidFill>
                  <a:srgbClr val="1E3A8A"/>
                </a:solidFill>
              </a:rPr>
              <a:t> </a:t>
            </a:r>
            <a:r>
              <a:rPr lang="en-US" sz="1300" b="1" dirty="0" err="1">
                <a:solidFill>
                  <a:srgbClr val="1E3A8A"/>
                </a:solidFill>
              </a:rPr>
              <a:t>ứng</a:t>
            </a:r>
            <a:r>
              <a:rPr lang="en-US" sz="1300" b="1" dirty="0">
                <a:solidFill>
                  <a:srgbClr val="1E3A8A"/>
                </a:solidFill>
              </a:rPr>
              <a:t> </a:t>
            </a:r>
            <a:r>
              <a:rPr lang="en-US" sz="1300" b="1" dirty="0" err="1">
                <a:solidFill>
                  <a:srgbClr val="1E3A8A"/>
                </a:solidFill>
              </a:rPr>
              <a:t>dụng</a:t>
            </a:r>
            <a:r>
              <a:rPr lang="en-US" sz="1300" b="1" dirty="0">
                <a:solidFill>
                  <a:srgbClr val="1E3A8A"/>
                </a:solidFill>
              </a:rPr>
              <a:t> </a:t>
            </a:r>
            <a:r>
              <a:rPr lang="en-US" sz="1300" b="1" dirty="0" err="1">
                <a:solidFill>
                  <a:srgbClr val="1E3A8A"/>
                </a:solidFill>
              </a:rPr>
              <a:t>thực</a:t>
            </a:r>
            <a:r>
              <a:rPr lang="en-US" sz="1300" b="1" dirty="0">
                <a:solidFill>
                  <a:srgbClr val="1E3A8A"/>
                </a:solidFill>
              </a:rPr>
              <a:t> </a:t>
            </a:r>
            <a:r>
              <a:rPr lang="en-US" sz="1300" b="1" dirty="0" err="1">
                <a:solidFill>
                  <a:srgbClr val="1E3A8A"/>
                </a:solidFill>
              </a:rPr>
              <a:t>tế</a:t>
            </a:r>
            <a:r>
              <a:rPr lang="en-US" sz="1300" b="1" dirty="0">
                <a:solidFill>
                  <a:srgbClr val="1E3A8A"/>
                </a:solidFill>
              </a:rPr>
              <a:t>: </a:t>
            </a:r>
            <a:endParaRPr sz="1300" b="1" dirty="0">
              <a:solidFill>
                <a:srgbClr val="1E3A8A"/>
              </a:solidFill>
            </a:endParaRPr>
          </a:p>
          <a:p>
            <a:pPr marL="457200" marR="0" lvl="0" indent="-298450" algn="l" rtl="0">
              <a:lnSpc>
                <a:spcPct val="115000"/>
              </a:lnSpc>
              <a:spcBef>
                <a:spcPts val="0"/>
              </a:spcBef>
              <a:spcAft>
                <a:spcPts val="0"/>
              </a:spcAft>
              <a:buClr>
                <a:schemeClr val="dk1"/>
              </a:buClr>
              <a:buSzPts val="1100"/>
              <a:buChar char="●"/>
            </a:pPr>
            <a:r>
              <a:rPr lang="en-US" sz="1100" dirty="0" err="1">
                <a:solidFill>
                  <a:schemeClr val="dk1"/>
                </a:solidFill>
              </a:rPr>
              <a:t>Nhận</a:t>
            </a:r>
            <a:r>
              <a:rPr lang="en-US" sz="1100" dirty="0">
                <a:solidFill>
                  <a:schemeClr val="dk1"/>
                </a:solidFill>
              </a:rPr>
              <a:t> </a:t>
            </a:r>
            <a:r>
              <a:rPr lang="en-US" sz="1100" dirty="0" err="1">
                <a:solidFill>
                  <a:schemeClr val="dk1"/>
                </a:solidFill>
              </a:rPr>
              <a:t>diện</a:t>
            </a:r>
            <a:r>
              <a:rPr lang="en-US" sz="1100" dirty="0">
                <a:solidFill>
                  <a:schemeClr val="dk1"/>
                </a:solidFill>
              </a:rPr>
              <a:t> </a:t>
            </a:r>
            <a:r>
              <a:rPr lang="en-US" sz="1100" dirty="0" err="1">
                <a:solidFill>
                  <a:schemeClr val="dk1"/>
                </a:solidFill>
              </a:rPr>
              <a:t>đặc</a:t>
            </a:r>
            <a:r>
              <a:rPr lang="en-US" sz="1100" dirty="0">
                <a:solidFill>
                  <a:schemeClr val="dk1"/>
                </a:solidFill>
              </a:rPr>
              <a:t> </a:t>
            </a:r>
            <a:r>
              <a:rPr lang="en-US" sz="1100" dirty="0" err="1">
                <a:solidFill>
                  <a:schemeClr val="dk1"/>
                </a:solidFill>
              </a:rPr>
              <a:t>điểm</a:t>
            </a:r>
            <a:r>
              <a:rPr lang="en-US" sz="1100" dirty="0">
                <a:solidFill>
                  <a:schemeClr val="dk1"/>
                </a:solidFill>
              </a:rPr>
              <a:t> </a:t>
            </a:r>
            <a:r>
              <a:rPr lang="en-US" sz="1100" dirty="0" err="1">
                <a:solidFill>
                  <a:schemeClr val="dk1"/>
                </a:solidFill>
              </a:rPr>
              <a:t>đối</a:t>
            </a:r>
            <a:r>
              <a:rPr lang="en-US" sz="1100" dirty="0">
                <a:solidFill>
                  <a:schemeClr val="dk1"/>
                </a:solidFill>
              </a:rPr>
              <a:t> </a:t>
            </a:r>
            <a:r>
              <a:rPr lang="en-US" sz="1100" dirty="0" err="1">
                <a:solidFill>
                  <a:schemeClr val="dk1"/>
                </a:solidFill>
              </a:rPr>
              <a:t>tượng</a:t>
            </a:r>
            <a:r>
              <a:rPr lang="en-US" sz="1100" dirty="0">
                <a:solidFill>
                  <a:schemeClr val="dk1"/>
                </a:solidFill>
              </a:rPr>
              <a:t>: Camera </a:t>
            </a:r>
            <a:r>
              <a:rPr lang="en-US" sz="1100" dirty="0" err="1">
                <a:solidFill>
                  <a:schemeClr val="dk1"/>
                </a:solidFill>
              </a:rPr>
              <a:t>tự</a:t>
            </a:r>
            <a:r>
              <a:rPr lang="en-US" sz="1100" dirty="0">
                <a:solidFill>
                  <a:schemeClr val="dk1"/>
                </a:solidFill>
              </a:rPr>
              <a:t> </a:t>
            </a:r>
            <a:r>
              <a:rPr lang="en-US" sz="1100" dirty="0" err="1">
                <a:solidFill>
                  <a:schemeClr val="dk1"/>
                </a:solidFill>
              </a:rPr>
              <a:t>động</a:t>
            </a:r>
            <a:r>
              <a:rPr lang="en-US" sz="1100" dirty="0">
                <a:solidFill>
                  <a:schemeClr val="dk1"/>
                </a:solidFill>
              </a:rPr>
              <a:t> </a:t>
            </a:r>
            <a:r>
              <a:rPr lang="en-US" sz="1100" dirty="0" err="1">
                <a:solidFill>
                  <a:schemeClr val="dk1"/>
                </a:solidFill>
              </a:rPr>
              <a:t>nhận</a:t>
            </a:r>
            <a:r>
              <a:rPr lang="en-US" sz="1100" dirty="0">
                <a:solidFill>
                  <a:schemeClr val="dk1"/>
                </a:solidFill>
              </a:rPr>
              <a:t> </a:t>
            </a:r>
            <a:r>
              <a:rPr lang="en-US" sz="1100" dirty="0" err="1">
                <a:solidFill>
                  <a:schemeClr val="dk1"/>
                </a:solidFill>
              </a:rPr>
              <a:t>diện</a:t>
            </a:r>
            <a:r>
              <a:rPr lang="en-US" sz="1100" dirty="0">
                <a:solidFill>
                  <a:schemeClr val="dk1"/>
                </a:solidFill>
              </a:rPr>
              <a:t> </a:t>
            </a:r>
            <a:r>
              <a:rPr lang="en-US" sz="1100" dirty="0" err="1">
                <a:solidFill>
                  <a:schemeClr val="dk1"/>
                </a:solidFill>
              </a:rPr>
              <a:t>và</a:t>
            </a:r>
            <a:r>
              <a:rPr lang="en-US" sz="1100" dirty="0">
                <a:solidFill>
                  <a:schemeClr val="dk1"/>
                </a:solidFill>
              </a:rPr>
              <a:t> </a:t>
            </a:r>
            <a:r>
              <a:rPr lang="en-US" sz="1100" dirty="0" err="1">
                <a:solidFill>
                  <a:schemeClr val="dk1"/>
                </a:solidFill>
              </a:rPr>
              <a:t>ghi</a:t>
            </a:r>
            <a:r>
              <a:rPr lang="en-US" sz="1100" dirty="0">
                <a:solidFill>
                  <a:schemeClr val="dk1"/>
                </a:solidFill>
              </a:rPr>
              <a:t> </a:t>
            </a:r>
            <a:r>
              <a:rPr lang="en-US" sz="1100" dirty="0" err="1">
                <a:solidFill>
                  <a:schemeClr val="dk1"/>
                </a:solidFill>
              </a:rPr>
              <a:t>nhận</a:t>
            </a:r>
            <a:r>
              <a:rPr lang="en-US" sz="1100" dirty="0">
                <a:solidFill>
                  <a:schemeClr val="dk1"/>
                </a:solidFill>
              </a:rPr>
              <a:t> </a:t>
            </a:r>
            <a:r>
              <a:rPr lang="en-US" sz="1100" dirty="0" err="1">
                <a:solidFill>
                  <a:schemeClr val="dk1"/>
                </a:solidFill>
              </a:rPr>
              <a:t>các</a:t>
            </a:r>
            <a:r>
              <a:rPr lang="en-US" sz="1100" dirty="0">
                <a:solidFill>
                  <a:schemeClr val="dk1"/>
                </a:solidFill>
              </a:rPr>
              <a:t> </a:t>
            </a:r>
            <a:r>
              <a:rPr lang="en-US" sz="1100" dirty="0" err="1">
                <a:solidFill>
                  <a:schemeClr val="dk1"/>
                </a:solidFill>
              </a:rPr>
              <a:t>đặc</a:t>
            </a:r>
            <a:r>
              <a:rPr lang="en-US" sz="1100" dirty="0">
                <a:solidFill>
                  <a:schemeClr val="dk1"/>
                </a:solidFill>
              </a:rPr>
              <a:t> </a:t>
            </a:r>
            <a:r>
              <a:rPr lang="en-US" sz="1100" dirty="0" err="1">
                <a:solidFill>
                  <a:schemeClr val="dk1"/>
                </a:solidFill>
              </a:rPr>
              <a:t>điểm</a:t>
            </a:r>
            <a:r>
              <a:rPr lang="en-US" sz="1100" dirty="0">
                <a:solidFill>
                  <a:schemeClr val="dk1"/>
                </a:solidFill>
              </a:rPr>
              <a:t> </a:t>
            </a:r>
            <a:r>
              <a:rPr lang="en-US" sz="1100" dirty="0" err="1">
                <a:solidFill>
                  <a:schemeClr val="dk1"/>
                </a:solidFill>
              </a:rPr>
              <a:t>của</a:t>
            </a:r>
            <a:r>
              <a:rPr lang="en-US" sz="1100" dirty="0">
                <a:solidFill>
                  <a:schemeClr val="dk1"/>
                </a:solidFill>
              </a:rPr>
              <a:t> </a:t>
            </a:r>
            <a:r>
              <a:rPr lang="en-US" sz="1100" dirty="0" err="1">
                <a:solidFill>
                  <a:schemeClr val="dk1"/>
                </a:solidFill>
              </a:rPr>
              <a:t>đối</a:t>
            </a:r>
            <a:r>
              <a:rPr lang="en-US" sz="1100" dirty="0">
                <a:solidFill>
                  <a:schemeClr val="dk1"/>
                </a:solidFill>
              </a:rPr>
              <a:t> </a:t>
            </a:r>
            <a:r>
              <a:rPr lang="en-US" sz="1100" dirty="0" err="1">
                <a:solidFill>
                  <a:schemeClr val="dk1"/>
                </a:solidFill>
              </a:rPr>
              <a:t>tượng</a:t>
            </a:r>
            <a:r>
              <a:rPr lang="en-US" sz="1100" dirty="0">
                <a:solidFill>
                  <a:schemeClr val="dk1"/>
                </a:solidFill>
              </a:rPr>
              <a:t> </a:t>
            </a:r>
            <a:r>
              <a:rPr lang="en-US" sz="1100" dirty="0" err="1">
                <a:solidFill>
                  <a:schemeClr val="dk1"/>
                </a:solidFill>
              </a:rPr>
              <a:t>như</a:t>
            </a:r>
            <a:r>
              <a:rPr lang="en-US" sz="1100" dirty="0">
                <a:solidFill>
                  <a:schemeClr val="dk1"/>
                </a:solidFill>
              </a:rPr>
              <a:t> </a:t>
            </a:r>
            <a:r>
              <a:rPr lang="en-US" sz="1100" dirty="0" err="1">
                <a:solidFill>
                  <a:schemeClr val="dk1"/>
                </a:solidFill>
              </a:rPr>
              <a:t>giới</a:t>
            </a:r>
            <a:r>
              <a:rPr lang="en-US" sz="1100" dirty="0">
                <a:solidFill>
                  <a:schemeClr val="dk1"/>
                </a:solidFill>
              </a:rPr>
              <a:t> </a:t>
            </a:r>
            <a:r>
              <a:rPr lang="en-US" sz="1100" dirty="0" err="1">
                <a:solidFill>
                  <a:schemeClr val="dk1"/>
                </a:solidFill>
              </a:rPr>
              <a:t>tính</a:t>
            </a:r>
            <a:r>
              <a:rPr lang="en-US" sz="1100" dirty="0">
                <a:solidFill>
                  <a:schemeClr val="dk1"/>
                </a:solidFill>
              </a:rPr>
              <a:t>, </a:t>
            </a:r>
            <a:r>
              <a:rPr lang="en-US" sz="1100" dirty="0" err="1">
                <a:solidFill>
                  <a:schemeClr val="dk1"/>
                </a:solidFill>
              </a:rPr>
              <a:t>độ</a:t>
            </a:r>
            <a:r>
              <a:rPr lang="en-US" sz="1100" dirty="0">
                <a:solidFill>
                  <a:schemeClr val="dk1"/>
                </a:solidFill>
              </a:rPr>
              <a:t> </a:t>
            </a:r>
            <a:r>
              <a:rPr lang="en-US" sz="1100" dirty="0" err="1">
                <a:solidFill>
                  <a:schemeClr val="dk1"/>
                </a:solidFill>
              </a:rPr>
              <a:t>tuổi</a:t>
            </a:r>
            <a:r>
              <a:rPr lang="en-US" sz="1100" dirty="0">
                <a:solidFill>
                  <a:schemeClr val="dk1"/>
                </a:solidFill>
              </a:rPr>
              <a:t>, </a:t>
            </a:r>
            <a:r>
              <a:rPr lang="en-US" sz="1100" dirty="0" err="1">
                <a:solidFill>
                  <a:schemeClr val="dk1"/>
                </a:solidFill>
              </a:rPr>
              <a:t>màu</a:t>
            </a:r>
            <a:r>
              <a:rPr lang="en-US" sz="1100" dirty="0">
                <a:solidFill>
                  <a:schemeClr val="dk1"/>
                </a:solidFill>
              </a:rPr>
              <a:t> </a:t>
            </a:r>
            <a:r>
              <a:rPr lang="en-US" sz="1100" dirty="0" err="1">
                <a:solidFill>
                  <a:schemeClr val="dk1"/>
                </a:solidFill>
              </a:rPr>
              <a:t>sắc</a:t>
            </a:r>
            <a:r>
              <a:rPr lang="en-US" sz="1100" dirty="0">
                <a:solidFill>
                  <a:schemeClr val="dk1"/>
                </a:solidFill>
              </a:rPr>
              <a:t> </a:t>
            </a:r>
            <a:r>
              <a:rPr lang="en-US" sz="1100" dirty="0" err="1">
                <a:solidFill>
                  <a:schemeClr val="dk1"/>
                </a:solidFill>
              </a:rPr>
              <a:t>trang</a:t>
            </a:r>
            <a:r>
              <a:rPr lang="en-US" sz="1100" dirty="0">
                <a:solidFill>
                  <a:schemeClr val="dk1"/>
                </a:solidFill>
              </a:rPr>
              <a:t> </a:t>
            </a:r>
            <a:r>
              <a:rPr lang="en-US" sz="1100" dirty="0" err="1">
                <a:solidFill>
                  <a:schemeClr val="dk1"/>
                </a:solidFill>
              </a:rPr>
              <a:t>phục</a:t>
            </a:r>
            <a:r>
              <a:rPr lang="en-US" sz="1100" dirty="0">
                <a:solidFill>
                  <a:schemeClr val="dk1"/>
                </a:solidFill>
              </a:rPr>
              <a:t>, </a:t>
            </a:r>
            <a:r>
              <a:rPr lang="en-US" sz="1100" dirty="0" err="1">
                <a:solidFill>
                  <a:schemeClr val="dk1"/>
                </a:solidFill>
              </a:rPr>
              <a:t>loại</a:t>
            </a:r>
            <a:r>
              <a:rPr lang="en-US" sz="1100" dirty="0">
                <a:solidFill>
                  <a:schemeClr val="dk1"/>
                </a:solidFill>
              </a:rPr>
              <a:t> </a:t>
            </a:r>
            <a:r>
              <a:rPr lang="en-US" sz="1100" dirty="0" err="1">
                <a:solidFill>
                  <a:schemeClr val="dk1"/>
                </a:solidFill>
              </a:rPr>
              <a:t>phương</a:t>
            </a:r>
            <a:r>
              <a:rPr lang="en-US" sz="1100" dirty="0">
                <a:solidFill>
                  <a:schemeClr val="dk1"/>
                </a:solidFill>
              </a:rPr>
              <a:t> </a:t>
            </a:r>
            <a:r>
              <a:rPr lang="en-US" sz="1100" dirty="0" err="1">
                <a:solidFill>
                  <a:schemeClr val="dk1"/>
                </a:solidFill>
              </a:rPr>
              <a:t>tiện</a:t>
            </a:r>
            <a:r>
              <a:rPr lang="en-US" sz="1100" dirty="0">
                <a:solidFill>
                  <a:schemeClr val="dk1"/>
                </a:solidFill>
              </a:rPr>
              <a:t>, </a:t>
            </a:r>
            <a:r>
              <a:rPr lang="en-US" sz="1100" dirty="0" err="1">
                <a:solidFill>
                  <a:schemeClr val="dk1"/>
                </a:solidFill>
              </a:rPr>
              <a:t>màu</a:t>
            </a:r>
            <a:r>
              <a:rPr lang="en-US" sz="1100" dirty="0">
                <a:solidFill>
                  <a:schemeClr val="dk1"/>
                </a:solidFill>
              </a:rPr>
              <a:t> </a:t>
            </a:r>
            <a:r>
              <a:rPr lang="en-US" sz="1100" dirty="0" err="1">
                <a:solidFill>
                  <a:schemeClr val="dk1"/>
                </a:solidFill>
              </a:rPr>
              <a:t>xe</a:t>
            </a:r>
            <a:r>
              <a:rPr lang="en-US" sz="1100" dirty="0">
                <a:solidFill>
                  <a:schemeClr val="dk1"/>
                </a:solidFill>
              </a:rPr>
              <a:t>...</a:t>
            </a:r>
            <a:endParaRPr sz="1100" dirty="0"/>
          </a:p>
          <a:p>
            <a:pPr marL="457200" marR="0" lvl="0" indent="-298450" algn="l" rtl="0">
              <a:lnSpc>
                <a:spcPct val="115000"/>
              </a:lnSpc>
              <a:spcBef>
                <a:spcPts val="0"/>
              </a:spcBef>
              <a:spcAft>
                <a:spcPts val="0"/>
              </a:spcAft>
              <a:buClr>
                <a:schemeClr val="dk1"/>
              </a:buClr>
              <a:buSzPts val="1100"/>
              <a:buChar char="●"/>
            </a:pPr>
            <a:r>
              <a:rPr lang="en-US" sz="1100" dirty="0">
                <a:solidFill>
                  <a:schemeClr val="dk1"/>
                </a:solidFill>
              </a:rPr>
              <a:t>Tra </a:t>
            </a:r>
            <a:r>
              <a:rPr lang="en-US" sz="1100" dirty="0" err="1">
                <a:solidFill>
                  <a:schemeClr val="dk1"/>
                </a:solidFill>
              </a:rPr>
              <a:t>cứu</a:t>
            </a:r>
            <a:r>
              <a:rPr lang="en-US" sz="1100" dirty="0">
                <a:solidFill>
                  <a:schemeClr val="dk1"/>
                </a:solidFill>
              </a:rPr>
              <a:t> &amp; </a:t>
            </a:r>
            <a:r>
              <a:rPr lang="en-US" sz="1100" dirty="0" err="1">
                <a:solidFill>
                  <a:schemeClr val="dk1"/>
                </a:solidFill>
              </a:rPr>
              <a:t>khoanh</a:t>
            </a:r>
            <a:r>
              <a:rPr lang="en-US" sz="1100" dirty="0">
                <a:solidFill>
                  <a:schemeClr val="dk1"/>
                </a:solidFill>
              </a:rPr>
              <a:t> </a:t>
            </a:r>
            <a:r>
              <a:rPr lang="en-US" sz="1100" dirty="0" err="1">
                <a:solidFill>
                  <a:schemeClr val="dk1"/>
                </a:solidFill>
              </a:rPr>
              <a:t>vùng</a:t>
            </a:r>
            <a:r>
              <a:rPr lang="en-US" sz="1100" dirty="0">
                <a:solidFill>
                  <a:schemeClr val="dk1"/>
                </a:solidFill>
              </a:rPr>
              <a:t>: </a:t>
            </a:r>
            <a:r>
              <a:rPr lang="en-US" sz="1100" dirty="0" err="1">
                <a:solidFill>
                  <a:schemeClr val="dk1"/>
                </a:solidFill>
              </a:rPr>
              <a:t>Hỗ</a:t>
            </a:r>
            <a:r>
              <a:rPr lang="en-US" sz="1100" dirty="0">
                <a:solidFill>
                  <a:schemeClr val="dk1"/>
                </a:solidFill>
              </a:rPr>
              <a:t> </a:t>
            </a:r>
            <a:r>
              <a:rPr lang="en-US" sz="1100" dirty="0" err="1">
                <a:solidFill>
                  <a:schemeClr val="dk1"/>
                </a:solidFill>
              </a:rPr>
              <a:t>trợ</a:t>
            </a:r>
            <a:r>
              <a:rPr lang="en-US" sz="1100" dirty="0">
                <a:solidFill>
                  <a:schemeClr val="dk1"/>
                </a:solidFill>
              </a:rPr>
              <a:t> </a:t>
            </a:r>
            <a:r>
              <a:rPr lang="en-US" sz="1100" dirty="0" err="1">
                <a:solidFill>
                  <a:schemeClr val="dk1"/>
                </a:solidFill>
              </a:rPr>
              <a:t>tìm</a:t>
            </a:r>
            <a:r>
              <a:rPr lang="en-US" sz="1100" dirty="0">
                <a:solidFill>
                  <a:schemeClr val="dk1"/>
                </a:solidFill>
              </a:rPr>
              <a:t> </a:t>
            </a:r>
            <a:r>
              <a:rPr lang="en-US" sz="1100" dirty="0" err="1">
                <a:solidFill>
                  <a:schemeClr val="dk1"/>
                </a:solidFill>
              </a:rPr>
              <a:t>kiếm</a:t>
            </a:r>
            <a:r>
              <a:rPr lang="en-US" sz="1100" dirty="0">
                <a:solidFill>
                  <a:schemeClr val="dk1"/>
                </a:solidFill>
              </a:rPr>
              <a:t> </a:t>
            </a:r>
            <a:r>
              <a:rPr lang="en-US" sz="1100" dirty="0" err="1">
                <a:solidFill>
                  <a:schemeClr val="dk1"/>
                </a:solidFill>
              </a:rPr>
              <a:t>đối</a:t>
            </a:r>
            <a:r>
              <a:rPr lang="en-US" sz="1100" dirty="0">
                <a:solidFill>
                  <a:schemeClr val="dk1"/>
                </a:solidFill>
              </a:rPr>
              <a:t> </a:t>
            </a:r>
            <a:r>
              <a:rPr lang="en-US" sz="1100" dirty="0" err="1">
                <a:solidFill>
                  <a:schemeClr val="dk1"/>
                </a:solidFill>
              </a:rPr>
              <a:t>tượng</a:t>
            </a:r>
            <a:r>
              <a:rPr lang="en-US" sz="1100" dirty="0">
                <a:solidFill>
                  <a:schemeClr val="dk1"/>
                </a:solidFill>
              </a:rPr>
              <a:t> </a:t>
            </a:r>
            <a:r>
              <a:rPr lang="en-US" sz="1100" dirty="0" err="1">
                <a:solidFill>
                  <a:schemeClr val="dk1"/>
                </a:solidFill>
              </a:rPr>
              <a:t>dựa</a:t>
            </a:r>
            <a:r>
              <a:rPr lang="en-US" sz="1100" dirty="0">
                <a:solidFill>
                  <a:schemeClr val="dk1"/>
                </a:solidFill>
              </a:rPr>
              <a:t> </a:t>
            </a:r>
            <a:r>
              <a:rPr lang="en-US" sz="1100" dirty="0" err="1">
                <a:solidFill>
                  <a:schemeClr val="dk1"/>
                </a:solidFill>
              </a:rPr>
              <a:t>trên</a:t>
            </a:r>
            <a:r>
              <a:rPr lang="en-US" sz="1100" dirty="0">
                <a:solidFill>
                  <a:schemeClr val="dk1"/>
                </a:solidFill>
              </a:rPr>
              <a:t> </a:t>
            </a:r>
            <a:r>
              <a:rPr lang="en-US" sz="1100" dirty="0" err="1">
                <a:solidFill>
                  <a:schemeClr val="dk1"/>
                </a:solidFill>
              </a:rPr>
              <a:t>các</a:t>
            </a:r>
            <a:r>
              <a:rPr lang="en-US" sz="1100" dirty="0">
                <a:solidFill>
                  <a:schemeClr val="dk1"/>
                </a:solidFill>
              </a:rPr>
              <a:t> </a:t>
            </a:r>
            <a:r>
              <a:rPr lang="en-US" sz="1100" dirty="0" err="1">
                <a:solidFill>
                  <a:schemeClr val="dk1"/>
                </a:solidFill>
              </a:rPr>
              <a:t>đặc</a:t>
            </a:r>
            <a:r>
              <a:rPr lang="en-US" sz="1100" dirty="0">
                <a:solidFill>
                  <a:schemeClr val="dk1"/>
                </a:solidFill>
              </a:rPr>
              <a:t> </a:t>
            </a:r>
            <a:r>
              <a:rPr lang="en-US" sz="1100" dirty="0" err="1">
                <a:solidFill>
                  <a:schemeClr val="dk1"/>
                </a:solidFill>
              </a:rPr>
              <a:t>điểm</a:t>
            </a:r>
            <a:r>
              <a:rPr lang="en-US" sz="1100" dirty="0">
                <a:solidFill>
                  <a:schemeClr val="dk1"/>
                </a:solidFill>
              </a:rPr>
              <a:t> </a:t>
            </a:r>
            <a:r>
              <a:rPr lang="en-US" sz="1100" dirty="0" err="1">
                <a:solidFill>
                  <a:schemeClr val="dk1"/>
                </a:solidFill>
              </a:rPr>
              <a:t>đã</a:t>
            </a:r>
            <a:r>
              <a:rPr lang="en-US" sz="1100" dirty="0">
                <a:solidFill>
                  <a:schemeClr val="dk1"/>
                </a:solidFill>
              </a:rPr>
              <a:t> </a:t>
            </a:r>
            <a:r>
              <a:rPr lang="en-US" sz="1100" dirty="0" err="1">
                <a:solidFill>
                  <a:schemeClr val="dk1"/>
                </a:solidFill>
              </a:rPr>
              <a:t>được</a:t>
            </a:r>
            <a:r>
              <a:rPr lang="en-US" sz="1100" dirty="0">
                <a:solidFill>
                  <a:schemeClr val="dk1"/>
                </a:solidFill>
              </a:rPr>
              <a:t> camera </a:t>
            </a:r>
            <a:r>
              <a:rPr lang="en-US" sz="1100" dirty="0" err="1">
                <a:solidFill>
                  <a:schemeClr val="dk1"/>
                </a:solidFill>
              </a:rPr>
              <a:t>ghi</a:t>
            </a:r>
            <a:r>
              <a:rPr lang="en-US" sz="1100" dirty="0">
                <a:solidFill>
                  <a:schemeClr val="dk1"/>
                </a:solidFill>
              </a:rPr>
              <a:t> </a:t>
            </a:r>
            <a:r>
              <a:rPr lang="en-US" sz="1100" dirty="0" err="1">
                <a:solidFill>
                  <a:schemeClr val="dk1"/>
                </a:solidFill>
              </a:rPr>
              <a:t>nhận</a:t>
            </a:r>
            <a:r>
              <a:rPr lang="en-US" sz="1100" dirty="0">
                <a:solidFill>
                  <a:schemeClr val="dk1"/>
                </a:solidFill>
              </a:rPr>
              <a:t>, </a:t>
            </a:r>
            <a:r>
              <a:rPr lang="en-US" sz="1100" dirty="0" err="1">
                <a:solidFill>
                  <a:schemeClr val="dk1"/>
                </a:solidFill>
              </a:rPr>
              <a:t>giúp</a:t>
            </a:r>
            <a:r>
              <a:rPr lang="en-US" sz="1100" dirty="0">
                <a:solidFill>
                  <a:schemeClr val="dk1"/>
                </a:solidFill>
              </a:rPr>
              <a:t> </a:t>
            </a:r>
            <a:r>
              <a:rPr lang="en-US" sz="1100" dirty="0" err="1">
                <a:solidFill>
                  <a:schemeClr val="dk1"/>
                </a:solidFill>
              </a:rPr>
              <a:t>nhanh</a:t>
            </a:r>
            <a:r>
              <a:rPr lang="en-US" sz="1100" dirty="0">
                <a:solidFill>
                  <a:schemeClr val="dk1"/>
                </a:solidFill>
              </a:rPr>
              <a:t> </a:t>
            </a:r>
            <a:r>
              <a:rPr lang="en-US" sz="1100" dirty="0" err="1">
                <a:solidFill>
                  <a:schemeClr val="dk1"/>
                </a:solidFill>
              </a:rPr>
              <a:t>chóng</a:t>
            </a:r>
            <a:r>
              <a:rPr lang="en-US" sz="1100" dirty="0">
                <a:solidFill>
                  <a:schemeClr val="dk1"/>
                </a:solidFill>
              </a:rPr>
              <a:t> </a:t>
            </a:r>
            <a:r>
              <a:rPr lang="en-US" sz="1100" dirty="0" err="1">
                <a:solidFill>
                  <a:schemeClr val="dk1"/>
                </a:solidFill>
              </a:rPr>
              <a:t>xác</a:t>
            </a:r>
            <a:r>
              <a:rPr lang="en-US" sz="1100" dirty="0">
                <a:solidFill>
                  <a:schemeClr val="dk1"/>
                </a:solidFill>
              </a:rPr>
              <a:t> </a:t>
            </a:r>
            <a:r>
              <a:rPr lang="en-US" sz="1100" dirty="0" err="1">
                <a:solidFill>
                  <a:schemeClr val="dk1"/>
                </a:solidFill>
              </a:rPr>
              <a:t>định</a:t>
            </a:r>
            <a:r>
              <a:rPr lang="en-US" sz="1100" dirty="0">
                <a:solidFill>
                  <a:schemeClr val="dk1"/>
                </a:solidFill>
              </a:rPr>
              <a:t> </a:t>
            </a:r>
            <a:r>
              <a:rPr lang="en-US" sz="1100" dirty="0" err="1">
                <a:solidFill>
                  <a:schemeClr val="dk1"/>
                </a:solidFill>
              </a:rPr>
              <a:t>và</a:t>
            </a:r>
            <a:r>
              <a:rPr lang="en-US" sz="1100" dirty="0">
                <a:solidFill>
                  <a:schemeClr val="dk1"/>
                </a:solidFill>
              </a:rPr>
              <a:t> </a:t>
            </a:r>
            <a:r>
              <a:rPr lang="en-US" sz="1100" dirty="0" err="1">
                <a:solidFill>
                  <a:schemeClr val="dk1"/>
                </a:solidFill>
              </a:rPr>
              <a:t>truy</a:t>
            </a:r>
            <a:r>
              <a:rPr lang="en-US" sz="1100" dirty="0">
                <a:solidFill>
                  <a:schemeClr val="dk1"/>
                </a:solidFill>
              </a:rPr>
              <a:t> </a:t>
            </a:r>
            <a:r>
              <a:rPr lang="en-US" sz="1100" dirty="0" err="1">
                <a:solidFill>
                  <a:schemeClr val="dk1"/>
                </a:solidFill>
              </a:rPr>
              <a:t>tìm</a:t>
            </a:r>
            <a:r>
              <a:rPr lang="en-US" sz="1100" dirty="0">
                <a:solidFill>
                  <a:schemeClr val="dk1"/>
                </a:solidFill>
              </a:rPr>
              <a:t> </a:t>
            </a:r>
            <a:r>
              <a:rPr lang="en-US" sz="1100" dirty="0" err="1">
                <a:solidFill>
                  <a:schemeClr val="dk1"/>
                </a:solidFill>
              </a:rPr>
              <a:t>đối</a:t>
            </a:r>
            <a:r>
              <a:rPr lang="en-US" sz="1100" dirty="0">
                <a:solidFill>
                  <a:schemeClr val="dk1"/>
                </a:solidFill>
              </a:rPr>
              <a:t> </a:t>
            </a:r>
            <a:r>
              <a:rPr lang="en-US" sz="1100" dirty="0" err="1">
                <a:solidFill>
                  <a:schemeClr val="dk1"/>
                </a:solidFill>
              </a:rPr>
              <a:t>tượng</a:t>
            </a:r>
            <a:r>
              <a:rPr lang="en-US" sz="1100" dirty="0">
                <a:solidFill>
                  <a:schemeClr val="dk1"/>
                </a:solidFill>
              </a:rPr>
              <a:t> </a:t>
            </a:r>
            <a:r>
              <a:rPr lang="en-US" sz="1100" dirty="0" err="1">
                <a:solidFill>
                  <a:schemeClr val="dk1"/>
                </a:solidFill>
              </a:rPr>
              <a:t>trong</a:t>
            </a:r>
            <a:r>
              <a:rPr lang="en-US" sz="1100" dirty="0">
                <a:solidFill>
                  <a:schemeClr val="dk1"/>
                </a:solidFill>
              </a:rPr>
              <a:t> </a:t>
            </a:r>
            <a:r>
              <a:rPr lang="en-US" sz="1100" dirty="0" err="1">
                <a:solidFill>
                  <a:schemeClr val="dk1"/>
                </a:solidFill>
              </a:rPr>
              <a:t>hệ</a:t>
            </a:r>
            <a:r>
              <a:rPr lang="en-US" sz="1100" dirty="0">
                <a:solidFill>
                  <a:schemeClr val="dk1"/>
                </a:solidFill>
              </a:rPr>
              <a:t> </a:t>
            </a:r>
            <a:r>
              <a:rPr lang="en-US" sz="1100" dirty="0" err="1">
                <a:solidFill>
                  <a:schemeClr val="dk1"/>
                </a:solidFill>
              </a:rPr>
              <a:t>thống</a:t>
            </a:r>
            <a:r>
              <a:rPr lang="en-US" sz="1100" dirty="0">
                <a:solidFill>
                  <a:schemeClr val="dk1"/>
                </a:solidFill>
              </a:rPr>
              <a:t> camera </a:t>
            </a:r>
            <a:r>
              <a:rPr lang="en-US" sz="1100" dirty="0" err="1">
                <a:solidFill>
                  <a:schemeClr val="dk1"/>
                </a:solidFill>
              </a:rPr>
              <a:t>giám</a:t>
            </a:r>
            <a:r>
              <a:rPr lang="en-US" sz="1100" dirty="0">
                <a:solidFill>
                  <a:schemeClr val="dk1"/>
                </a:solidFill>
              </a:rPr>
              <a:t> </a:t>
            </a:r>
            <a:r>
              <a:rPr lang="en-US" sz="1100" dirty="0" err="1">
                <a:solidFill>
                  <a:schemeClr val="dk1"/>
                </a:solidFill>
              </a:rPr>
              <a:t>sát</a:t>
            </a:r>
            <a:endParaRPr sz="1100" dirty="0">
              <a:solidFill>
                <a:srgbClr val="1F2937"/>
              </a:solidFill>
            </a:endParaRPr>
          </a:p>
        </p:txBody>
      </p:sp>
      <p:sp>
        <p:nvSpPr>
          <p:cNvPr id="417" name="Google Shape;417;p12"/>
          <p:cNvSpPr/>
          <p:nvPr/>
        </p:nvSpPr>
        <p:spPr>
          <a:xfrm>
            <a:off x="424600" y="5044625"/>
            <a:ext cx="2680800" cy="160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a:p>
        </p:txBody>
      </p:sp>
      <p:sp>
        <p:nvSpPr>
          <p:cNvPr id="418" name="Google Shape;418;p12"/>
          <p:cNvSpPr/>
          <p:nvPr/>
        </p:nvSpPr>
        <p:spPr>
          <a:xfrm>
            <a:off x="543079" y="5212323"/>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419" name="Google Shape;419;p12"/>
          <p:cNvSpPr txBox="1"/>
          <p:nvPr/>
        </p:nvSpPr>
        <p:spPr>
          <a:xfrm>
            <a:off x="994279" y="5294773"/>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Dữ liệu camera ghi nhận</a:t>
            </a:r>
            <a:endParaRPr sz="1200" b="1">
              <a:solidFill>
                <a:srgbClr val="1E3A8A"/>
              </a:solidFill>
            </a:endParaRPr>
          </a:p>
        </p:txBody>
      </p:sp>
      <p:sp>
        <p:nvSpPr>
          <p:cNvPr id="420" name="Google Shape;420;p12"/>
          <p:cNvSpPr txBox="1"/>
          <p:nvPr/>
        </p:nvSpPr>
        <p:spPr>
          <a:xfrm>
            <a:off x="609600" y="5644402"/>
            <a:ext cx="2239800" cy="819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Camera AI ghi nhận hình ảnh người và các đặc điểm ngoại hình ( trang phục, màu sắc, phụ kiện), gửi lên hệ thống EMS và hiển thị dưới dạng thẻ thông tin.</a:t>
            </a:r>
            <a:endParaRPr sz="1000">
              <a:solidFill>
                <a:srgbClr val="1F2937"/>
              </a:solidFill>
            </a:endParaRPr>
          </a:p>
        </p:txBody>
      </p:sp>
      <p:sp>
        <p:nvSpPr>
          <p:cNvPr id="421" name="Google Shape;421;p12"/>
          <p:cNvSpPr/>
          <p:nvPr/>
        </p:nvSpPr>
        <p:spPr>
          <a:xfrm>
            <a:off x="3562931" y="5225494"/>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422" name="Google Shape;422;p12"/>
          <p:cNvSpPr txBox="1"/>
          <p:nvPr/>
        </p:nvSpPr>
        <p:spPr>
          <a:xfrm>
            <a:off x="3969330" y="5294768"/>
            <a:ext cx="1491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Tra cứu dữ liệu </a:t>
            </a:r>
            <a:endParaRPr/>
          </a:p>
        </p:txBody>
      </p:sp>
      <p:sp>
        <p:nvSpPr>
          <p:cNvPr id="423" name="Google Shape;423;p12"/>
          <p:cNvSpPr txBox="1"/>
          <p:nvPr/>
        </p:nvSpPr>
        <p:spPr>
          <a:xfrm>
            <a:off x="3562925" y="5659000"/>
            <a:ext cx="23817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rgbClr val="1F2937"/>
                </a:solidFill>
              </a:rPr>
              <a:t>Tìm kiếm và lọc dữ liệu theo các đặc điểm camera AI nhận diện ( trang phục, màu sắc, phụ kiện), kết hợp bộ lọc thời gian, camera, vị trí</a:t>
            </a:r>
            <a:endParaRPr sz="1000">
              <a:solidFill>
                <a:srgbClr val="1F2937"/>
              </a:solidFill>
            </a:endParaRPr>
          </a:p>
        </p:txBody>
      </p:sp>
      <p:sp>
        <p:nvSpPr>
          <p:cNvPr id="424" name="Google Shape;424;p12"/>
          <p:cNvSpPr txBox="1"/>
          <p:nvPr/>
        </p:nvSpPr>
        <p:spPr>
          <a:xfrm>
            <a:off x="8370703" y="5950681"/>
            <a:ext cx="3163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050">
              <a:solidFill>
                <a:srgbClr val="1F2937"/>
              </a:solidFill>
              <a:latin typeface="Quattrocento Sans"/>
              <a:ea typeface="Quattrocento Sans"/>
              <a:cs typeface="Quattrocento Sans"/>
              <a:sym typeface="Quattrocento Sans"/>
            </a:endParaRPr>
          </a:p>
        </p:txBody>
      </p:sp>
      <p:sp>
        <p:nvSpPr>
          <p:cNvPr id="425" name="Google Shape;425;p12"/>
          <p:cNvSpPr/>
          <p:nvPr/>
        </p:nvSpPr>
        <p:spPr>
          <a:xfrm>
            <a:off x="9465596" y="5236335"/>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426" name="Google Shape;426;p12"/>
          <p:cNvSpPr txBox="1"/>
          <p:nvPr/>
        </p:nvSpPr>
        <p:spPr>
          <a:xfrm>
            <a:off x="9862050" y="5264683"/>
            <a:ext cx="2743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Đối chiếu và truy vết </a:t>
            </a:r>
            <a:endParaRPr sz="1200" b="1">
              <a:solidFill>
                <a:srgbClr val="1E3A8A"/>
              </a:solidFill>
            </a:endParaRPr>
          </a:p>
        </p:txBody>
      </p:sp>
      <p:sp>
        <p:nvSpPr>
          <p:cNvPr id="427" name="Google Shape;427;p12"/>
          <p:cNvSpPr txBox="1"/>
          <p:nvPr/>
        </p:nvSpPr>
        <p:spPr>
          <a:xfrm>
            <a:off x="9595848" y="5624525"/>
            <a:ext cx="2239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Xem dữ liệu do camera AI ghi nhận, gồm hình ảnh khuôn mặt, thời điểm, camera, vị trí và các thuộc tính nhận diện </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100">
              <a:solidFill>
                <a:srgbClr val="1F2937"/>
              </a:solidFill>
              <a:latin typeface="Calibri"/>
              <a:ea typeface="Calibri"/>
              <a:cs typeface="Calibri"/>
              <a:sym typeface="Calibri"/>
            </a:endParaRPr>
          </a:p>
        </p:txBody>
      </p:sp>
      <p:sp>
        <p:nvSpPr>
          <p:cNvPr id="428" name="Google Shape;428;p12"/>
          <p:cNvSpPr txBox="1"/>
          <p:nvPr/>
        </p:nvSpPr>
        <p:spPr>
          <a:xfrm>
            <a:off x="4922728" y="5869556"/>
            <a:ext cx="3163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050">
              <a:solidFill>
                <a:srgbClr val="1F2937"/>
              </a:solidFill>
              <a:latin typeface="Quattrocento Sans"/>
              <a:ea typeface="Quattrocento Sans"/>
              <a:cs typeface="Quattrocento Sans"/>
              <a:sym typeface="Quattrocento Sans"/>
            </a:endParaRPr>
          </a:p>
        </p:txBody>
      </p:sp>
      <p:sp>
        <p:nvSpPr>
          <p:cNvPr id="429" name="Google Shape;429;p12"/>
          <p:cNvSpPr/>
          <p:nvPr/>
        </p:nvSpPr>
        <p:spPr>
          <a:xfrm>
            <a:off x="6582771" y="5225498"/>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430" name="Google Shape;430;p12"/>
          <p:cNvSpPr txBox="1"/>
          <p:nvPr/>
        </p:nvSpPr>
        <p:spPr>
          <a:xfrm>
            <a:off x="7004350" y="5253850"/>
            <a:ext cx="1491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Hiển thị kết quả </a:t>
            </a:r>
            <a:endParaRPr sz="1200" b="1">
              <a:solidFill>
                <a:srgbClr val="1E3A8A"/>
              </a:solidFill>
            </a:endParaRPr>
          </a:p>
        </p:txBody>
      </p:sp>
      <p:sp>
        <p:nvSpPr>
          <p:cNvPr id="431" name="Google Shape;431;p12"/>
          <p:cNvSpPr txBox="1"/>
          <p:nvPr/>
        </p:nvSpPr>
        <p:spPr>
          <a:xfrm>
            <a:off x="6717875" y="5671050"/>
            <a:ext cx="2125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Hiển thị danh sách sự kiện phù hợp với điều kiện tra cứu, kèm hình ảnh và thông tin nhận diện được ghi nhận.</a:t>
            </a:r>
            <a:r>
              <a:rPr lang="en-US" sz="1000">
                <a:solidFill>
                  <a:schemeClr val="dk1"/>
                </a:solidFill>
                <a:latin typeface="Calibri"/>
                <a:ea typeface="Calibri"/>
                <a:cs typeface="Calibri"/>
                <a:sym typeface="Calibri"/>
              </a:rPr>
              <a:t> </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100">
              <a:solidFill>
                <a:srgbClr val="1F2937"/>
              </a:solidFill>
              <a:latin typeface="Calibri"/>
              <a:ea typeface="Calibri"/>
              <a:cs typeface="Calibri"/>
              <a:sym typeface="Calibri"/>
            </a:endParaRPr>
          </a:p>
        </p:txBody>
      </p:sp>
      <p:pic>
        <p:nvPicPr>
          <p:cNvPr id="432" name="Google Shape;432;p12" title="Screenshot 2026-10-09 113013.png"/>
          <p:cNvPicPr preferRelativeResize="0"/>
          <p:nvPr/>
        </p:nvPicPr>
        <p:blipFill>
          <a:blip r:embed="rId3">
            <a:alphaModFix/>
          </a:blip>
          <a:stretch>
            <a:fillRect/>
          </a:stretch>
        </p:blipFill>
        <p:spPr>
          <a:xfrm>
            <a:off x="609600" y="2593412"/>
            <a:ext cx="5458001" cy="2334667"/>
          </a:xfrm>
          <a:prstGeom prst="rect">
            <a:avLst/>
          </a:prstGeom>
          <a:noFill/>
          <a:ln>
            <a:noFill/>
          </a:ln>
        </p:spPr>
      </p:pic>
      <p:pic>
        <p:nvPicPr>
          <p:cNvPr id="433" name="Google Shape;433;p12"/>
          <p:cNvPicPr preferRelativeResize="0"/>
          <p:nvPr/>
        </p:nvPicPr>
        <p:blipFill>
          <a:blip r:embed="rId4">
            <a:alphaModFix/>
          </a:blip>
          <a:stretch>
            <a:fillRect/>
          </a:stretch>
        </p:blipFill>
        <p:spPr>
          <a:xfrm>
            <a:off x="6173550" y="2514400"/>
            <a:ext cx="4971953" cy="2334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8"/>
        <p:cNvGrpSpPr/>
        <p:nvPr/>
      </p:nvGrpSpPr>
      <p:grpSpPr>
        <a:xfrm>
          <a:off x="0" y="0"/>
          <a:ext cx="0" cy="0"/>
          <a:chOff x="0" y="0"/>
          <a:chExt cx="0" cy="0"/>
        </a:xfrm>
      </p:grpSpPr>
      <p:sp>
        <p:nvSpPr>
          <p:cNvPr id="439" name="Google Shape;439;p13"/>
          <p:cNvSpPr/>
          <p:nvPr/>
        </p:nvSpPr>
        <p:spPr>
          <a:xfrm>
            <a:off x="6389875" y="4580949"/>
            <a:ext cx="2680800" cy="21027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0" name="Google Shape;440;p13"/>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1 · NHẬN DIỆN PHƯƠNG TIỆN</a:t>
            </a:r>
            <a:endParaRPr/>
          </a:p>
        </p:txBody>
      </p:sp>
      <p:sp>
        <p:nvSpPr>
          <p:cNvPr id="441" name="Google Shape;441;p13"/>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Nhận diện phương tiện</a:t>
            </a:r>
            <a:endParaRPr sz="2600" b="1">
              <a:solidFill>
                <a:srgbClr val="1E3A8A"/>
              </a:solidFill>
            </a:endParaRPr>
          </a:p>
        </p:txBody>
      </p:sp>
      <p:sp>
        <p:nvSpPr>
          <p:cNvPr id="442" name="Google Shape;442;p13"/>
          <p:cNvSpPr/>
          <p:nvPr/>
        </p:nvSpPr>
        <p:spPr>
          <a:xfrm>
            <a:off x="609600" y="1120887"/>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13"/>
          <p:cNvSpPr txBox="1"/>
          <p:nvPr/>
        </p:nvSpPr>
        <p:spPr>
          <a:xfrm>
            <a:off x="10654975" y="6243075"/>
            <a:ext cx="1269900" cy="3693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444" name="Google Shape;444;p13"/>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latin typeface="Quattrocento Sans"/>
                <a:ea typeface="Quattrocento Sans"/>
                <a:cs typeface="Quattrocento Sans"/>
                <a:sym typeface="Quattrocento Sans"/>
              </a:rPr>
              <a:t>MENU</a:t>
            </a:r>
            <a:endParaRPr/>
          </a:p>
        </p:txBody>
      </p:sp>
      <p:sp>
        <p:nvSpPr>
          <p:cNvPr id="445" name="Google Shape;445;p13"/>
          <p:cNvSpPr/>
          <p:nvPr/>
        </p:nvSpPr>
        <p:spPr>
          <a:xfrm>
            <a:off x="88900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1</a:t>
            </a:r>
            <a:endParaRPr/>
          </a:p>
        </p:txBody>
      </p:sp>
      <p:sp>
        <p:nvSpPr>
          <p:cNvPr id="446" name="Google Shape;446;p13"/>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447" name="Google Shape;447;p13"/>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448" name="Google Shape;448;p13"/>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449" name="Google Shape;449;p13"/>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450" name="Google Shape;450;p13"/>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451" name="Google Shape;451;p13"/>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452" name="Google Shape;452;p13"/>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453" name="Google Shape;453;p13"/>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454" name="Google Shape;454;p13"/>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sự kiện › Nhận diện phương tiện</a:t>
            </a:r>
            <a:endParaRPr sz="1050">
              <a:solidFill>
                <a:srgbClr val="1E3A8A"/>
              </a:solidFill>
            </a:endParaRPr>
          </a:p>
        </p:txBody>
      </p:sp>
      <p:sp>
        <p:nvSpPr>
          <p:cNvPr id="455" name="Google Shape;455;p13"/>
          <p:cNvSpPr txBox="1"/>
          <p:nvPr/>
        </p:nvSpPr>
        <p:spPr>
          <a:xfrm>
            <a:off x="376225" y="1856275"/>
            <a:ext cx="3002700" cy="2757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500" b="1">
                <a:solidFill>
                  <a:srgbClr val="1E3A8A"/>
                </a:solidFill>
              </a:rPr>
              <a:t>Giá trị ứng dụng thực tế:   </a:t>
            </a:r>
            <a:br>
              <a:rPr lang="en-US" sz="1500" b="1">
                <a:solidFill>
                  <a:srgbClr val="1E3A8A"/>
                </a:solidFill>
              </a:rPr>
            </a:br>
            <a:endParaRPr sz="1500" b="1">
              <a:solidFill>
                <a:srgbClr val="1E3A8A"/>
              </a:solidFill>
            </a:endParaRPr>
          </a:p>
          <a:p>
            <a:pPr marL="285750" marR="0" lvl="0" indent="-285750" algn="l" rtl="0">
              <a:lnSpc>
                <a:spcPct val="115000"/>
              </a:lnSpc>
              <a:spcBef>
                <a:spcPts val="0"/>
              </a:spcBef>
              <a:spcAft>
                <a:spcPts val="0"/>
              </a:spcAft>
              <a:buClr>
                <a:schemeClr val="dk1"/>
              </a:buClr>
              <a:buSzPts val="1400"/>
              <a:buChar char="•"/>
            </a:pPr>
            <a:r>
              <a:rPr lang="en-US" sz="1400">
                <a:solidFill>
                  <a:schemeClr val="dk1"/>
                </a:solidFill>
              </a:rPr>
              <a:t>Tra cứu, xác minh phương tiện: Tìm kiếm phương tiện được camera ghi nhận dựa trên biển số và các đặc điểm nhận diện. </a:t>
            </a:r>
            <a:endParaRPr/>
          </a:p>
          <a:p>
            <a:pPr marL="285750" marR="0" lvl="0" indent="-285750" algn="l" rtl="0">
              <a:lnSpc>
                <a:spcPct val="115000"/>
              </a:lnSpc>
              <a:spcBef>
                <a:spcPts val="0"/>
              </a:spcBef>
              <a:spcAft>
                <a:spcPts val="0"/>
              </a:spcAft>
              <a:buClr>
                <a:schemeClr val="dk1"/>
              </a:buClr>
              <a:buSzPts val="1400"/>
              <a:buChar char="•"/>
            </a:pPr>
            <a:r>
              <a:rPr lang="en-US" sz="1400">
                <a:solidFill>
                  <a:schemeClr val="dk1"/>
                </a:solidFill>
              </a:rPr>
              <a:t>Theo dõi hành trình: Tra cứu lịch sử xuất hiện của phương tiện theo thời gian, camera và khu vực.</a:t>
            </a:r>
            <a:endParaRPr/>
          </a:p>
          <a:p>
            <a:pPr marL="285750" marR="0" lvl="0" indent="-285750" algn="l" rtl="0">
              <a:lnSpc>
                <a:spcPct val="115000"/>
              </a:lnSpc>
              <a:spcBef>
                <a:spcPts val="0"/>
              </a:spcBef>
              <a:spcAft>
                <a:spcPts val="0"/>
              </a:spcAft>
              <a:buClr>
                <a:schemeClr val="dk1"/>
              </a:buClr>
              <a:buSzPts val="1400"/>
              <a:buChar char="•"/>
            </a:pPr>
            <a:r>
              <a:rPr lang="en-US" sz="1400">
                <a:solidFill>
                  <a:schemeClr val="dk1"/>
                </a:solidFill>
              </a:rPr>
              <a:t> Khoanh vùng phương tiện: Sử dụng biển số, loại xe, màu xe và các thuộc tính khác để nhanh chóng xác định phương tiện cần tìm. </a:t>
            </a:r>
            <a:endParaRPr/>
          </a:p>
          <a:p>
            <a:pPr marL="285750" marR="0" lvl="0" indent="-285750" algn="l" rtl="0">
              <a:lnSpc>
                <a:spcPct val="115000"/>
              </a:lnSpc>
              <a:spcBef>
                <a:spcPts val="0"/>
              </a:spcBef>
              <a:spcAft>
                <a:spcPts val="0"/>
              </a:spcAft>
              <a:buClr>
                <a:schemeClr val="dk1"/>
              </a:buClr>
              <a:buSzPts val="1400"/>
              <a:buChar char="•"/>
            </a:pPr>
            <a:r>
              <a:rPr lang="en-US" sz="1400">
                <a:solidFill>
                  <a:schemeClr val="dk1"/>
                </a:solidFill>
              </a:rPr>
              <a:t>Giám sát phương tiện: Hỗ trợ lực lượng an ninh kiểm soát, phát hiện và theo dõi phương tiện tại các khu vực giám sát.</a:t>
            </a:r>
            <a:endParaRPr/>
          </a:p>
          <a:p>
            <a:pPr marL="0" marR="0" lvl="0" indent="0" algn="l" rtl="0">
              <a:spcBef>
                <a:spcPts val="0"/>
              </a:spcBef>
              <a:spcAft>
                <a:spcPts val="0"/>
              </a:spcAft>
              <a:buNone/>
            </a:pPr>
            <a:br>
              <a:rPr lang="en-US"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p:txBody>
      </p:sp>
      <p:sp>
        <p:nvSpPr>
          <p:cNvPr id="456" name="Google Shape;456;p13"/>
          <p:cNvSpPr/>
          <p:nvPr/>
        </p:nvSpPr>
        <p:spPr>
          <a:xfrm>
            <a:off x="3584350" y="4581025"/>
            <a:ext cx="2600100" cy="21027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7" name="Google Shape;457;p13"/>
          <p:cNvSpPr/>
          <p:nvPr/>
        </p:nvSpPr>
        <p:spPr>
          <a:xfrm>
            <a:off x="3721179" y="4788623"/>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458" name="Google Shape;458;p13"/>
          <p:cNvSpPr txBox="1"/>
          <p:nvPr/>
        </p:nvSpPr>
        <p:spPr>
          <a:xfrm>
            <a:off x="4152979" y="4826723"/>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Dữ liệu camera ghi nhận</a:t>
            </a:r>
            <a:endParaRPr sz="1200" b="1">
              <a:solidFill>
                <a:srgbClr val="1E3A8A"/>
              </a:solidFill>
            </a:endParaRPr>
          </a:p>
        </p:txBody>
      </p:sp>
      <p:sp>
        <p:nvSpPr>
          <p:cNvPr id="459" name="Google Shape;459;p13"/>
          <p:cNvSpPr txBox="1"/>
          <p:nvPr/>
        </p:nvSpPr>
        <p:spPr>
          <a:xfrm>
            <a:off x="3778249" y="5202300"/>
            <a:ext cx="2316300" cy="45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Camera AI ghi nhận biển số và hình ảnh phương tiện, dữ liệu được gửi lên hệ thống EMS và hiển thị dưới dạng một thẻ thông tin. Thẻ bao gồm hình ảnh phương tiện (biển số, toàn cảnh), thời gian, camera, vị trí và các thuộc tính được camera nhận diện như: biển số xe, loại xe (ô tô, xe máy, xe tải...), màu sắc xe, hãng xe/thương hiệu</a:t>
            </a:r>
            <a:r>
              <a:rPr lang="en-US" sz="1000">
                <a:solidFill>
                  <a:schemeClr val="dk1"/>
                </a:solidFill>
                <a:latin typeface="Calibri"/>
                <a:ea typeface="Calibri"/>
                <a:cs typeface="Calibri"/>
                <a:sym typeface="Calibri"/>
              </a:rPr>
              <a:t>.</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000">
              <a:solidFill>
                <a:srgbClr val="1F2937"/>
              </a:solidFill>
              <a:latin typeface="Calibri"/>
              <a:ea typeface="Calibri"/>
              <a:cs typeface="Calibri"/>
              <a:sym typeface="Calibri"/>
            </a:endParaRPr>
          </a:p>
        </p:txBody>
      </p:sp>
      <p:sp>
        <p:nvSpPr>
          <p:cNvPr id="460" name="Google Shape;460;p13"/>
          <p:cNvSpPr/>
          <p:nvPr/>
        </p:nvSpPr>
        <p:spPr>
          <a:xfrm>
            <a:off x="9231625" y="4535149"/>
            <a:ext cx="2680800" cy="21486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1" name="Google Shape;461;p13"/>
          <p:cNvSpPr/>
          <p:nvPr/>
        </p:nvSpPr>
        <p:spPr>
          <a:xfrm>
            <a:off x="6621481" y="4720194"/>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462" name="Google Shape;462;p13"/>
          <p:cNvSpPr txBox="1"/>
          <p:nvPr/>
        </p:nvSpPr>
        <p:spPr>
          <a:xfrm>
            <a:off x="7027874" y="4768475"/>
            <a:ext cx="1867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Tra cứu dữ liệu &amp; tracking đối tượng</a:t>
            </a:r>
            <a:endParaRPr sz="1200" b="1">
              <a:solidFill>
                <a:srgbClr val="1E3A8A"/>
              </a:solidFill>
            </a:endParaRPr>
          </a:p>
        </p:txBody>
      </p:sp>
      <p:sp>
        <p:nvSpPr>
          <p:cNvPr id="463" name="Google Shape;463;p13"/>
          <p:cNvSpPr txBox="1"/>
          <p:nvPr/>
        </p:nvSpPr>
        <p:spPr>
          <a:xfrm>
            <a:off x="6590082" y="5243852"/>
            <a:ext cx="20355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Tìm kiếm và lọc phương tiện theo thời gian, biển số xe </a:t>
            </a:r>
            <a:endParaRPr/>
          </a:p>
          <a:p>
            <a:pPr marL="0" marR="0" lvl="0" indent="0" algn="l" rtl="0">
              <a:spcBef>
                <a:spcPts val="0"/>
              </a:spcBef>
              <a:spcAft>
                <a:spcPts val="0"/>
              </a:spcAft>
              <a:buNone/>
            </a:pPr>
            <a:endParaRPr sz="1000">
              <a:solidFill>
                <a:schemeClr val="dk1"/>
              </a:solidFill>
            </a:endParaRPr>
          </a:p>
          <a:p>
            <a:pPr marL="0" marR="0" lvl="0" indent="0" algn="l" rtl="0">
              <a:spcBef>
                <a:spcPts val="0"/>
              </a:spcBef>
              <a:spcAft>
                <a:spcPts val="0"/>
              </a:spcAft>
              <a:buNone/>
            </a:pPr>
            <a:r>
              <a:rPr lang="en-US" sz="1000">
                <a:solidFill>
                  <a:schemeClr val="dk1"/>
                </a:solidFill>
              </a:rPr>
              <a:t>Tracking lộ trình/hành trình di chuyển của phương tiện qua hệ thống camera giám sát.</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000">
              <a:solidFill>
                <a:srgbClr val="1F2937"/>
              </a:solidFill>
              <a:latin typeface="Calibri"/>
              <a:ea typeface="Calibri"/>
              <a:cs typeface="Calibri"/>
              <a:sym typeface="Calibri"/>
            </a:endParaRPr>
          </a:p>
        </p:txBody>
      </p:sp>
      <p:sp>
        <p:nvSpPr>
          <p:cNvPr id="464" name="Google Shape;464;p13"/>
          <p:cNvSpPr/>
          <p:nvPr/>
        </p:nvSpPr>
        <p:spPr>
          <a:xfrm>
            <a:off x="9425764" y="4731938"/>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465" name="Google Shape;465;p13"/>
          <p:cNvSpPr txBox="1"/>
          <p:nvPr/>
        </p:nvSpPr>
        <p:spPr>
          <a:xfrm>
            <a:off x="9842175" y="4807682"/>
            <a:ext cx="2743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Xem chi tiết sự kiện</a:t>
            </a:r>
            <a:endParaRPr sz="1200" b="1">
              <a:solidFill>
                <a:srgbClr val="1E3A8A"/>
              </a:solidFill>
            </a:endParaRPr>
          </a:p>
        </p:txBody>
      </p:sp>
      <p:sp>
        <p:nvSpPr>
          <p:cNvPr id="466" name="Google Shape;466;p13"/>
          <p:cNvSpPr txBox="1"/>
          <p:nvPr/>
        </p:nvSpPr>
        <p:spPr>
          <a:xfrm>
            <a:off x="9499603" y="5243850"/>
            <a:ext cx="1867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Xem thông tin chi tiết sự kiện nhận diện phương tiện (bao gồm hình ảnh cắt biển số, ảnh toàn cảnh, danh sách thuộc tính chi tiết, thời điểm chính xác và vị trí camera phát hiện).</a:t>
            </a:r>
            <a:endParaRPr/>
          </a:p>
          <a:p>
            <a:pPr marL="0" marR="0" lvl="0" indent="0" algn="l" rtl="0">
              <a:spcBef>
                <a:spcPts val="0"/>
              </a:spcBef>
              <a:spcAft>
                <a:spcPts val="0"/>
              </a:spcAft>
              <a:buNone/>
            </a:pPr>
            <a:br>
              <a:rPr lang="en-US"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marL="0" marR="0" lvl="0" indent="0" algn="l" rtl="0">
              <a:spcBef>
                <a:spcPts val="0"/>
              </a:spcBef>
              <a:spcAft>
                <a:spcPts val="0"/>
              </a:spcAft>
              <a:buNone/>
            </a:pPr>
            <a:br>
              <a:rPr lang="en-US"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marL="0" marR="0" lvl="0" indent="0" algn="l" rtl="0">
              <a:spcBef>
                <a:spcPts val="0"/>
              </a:spcBef>
              <a:spcAft>
                <a:spcPts val="0"/>
              </a:spcAft>
              <a:buNone/>
            </a:pPr>
            <a:br>
              <a:rPr lang="en-US" sz="1000">
                <a:solidFill>
                  <a:schemeClr val="dk1"/>
                </a:solidFill>
                <a:latin typeface="Calibri"/>
                <a:ea typeface="Calibri"/>
                <a:cs typeface="Calibri"/>
                <a:sym typeface="Calibri"/>
              </a:rPr>
            </a:br>
            <a:endParaRPr sz="1000">
              <a:solidFill>
                <a:srgbClr val="1F2937"/>
              </a:solidFill>
              <a:latin typeface="Calibri"/>
              <a:ea typeface="Calibri"/>
              <a:cs typeface="Calibri"/>
              <a:sym typeface="Calibri"/>
            </a:endParaRPr>
          </a:p>
        </p:txBody>
      </p:sp>
      <p:pic>
        <p:nvPicPr>
          <p:cNvPr id="467" name="Google Shape;467;p13"/>
          <p:cNvPicPr preferRelativeResize="0"/>
          <p:nvPr/>
        </p:nvPicPr>
        <p:blipFill rotWithShape="1">
          <a:blip r:embed="rId3">
            <a:alphaModFix/>
          </a:blip>
          <a:srcRect/>
          <a:stretch/>
        </p:blipFill>
        <p:spPr>
          <a:xfrm>
            <a:off x="3642522" y="2310312"/>
            <a:ext cx="4177555" cy="1971699"/>
          </a:xfrm>
          <a:prstGeom prst="rect">
            <a:avLst/>
          </a:prstGeom>
          <a:noFill/>
          <a:ln>
            <a:noFill/>
          </a:ln>
        </p:spPr>
      </p:pic>
      <p:pic>
        <p:nvPicPr>
          <p:cNvPr id="468" name="Google Shape;468;p13"/>
          <p:cNvPicPr preferRelativeResize="0"/>
          <p:nvPr/>
        </p:nvPicPr>
        <p:blipFill rotWithShape="1">
          <a:blip r:embed="rId4">
            <a:alphaModFix/>
          </a:blip>
          <a:srcRect/>
          <a:stretch/>
        </p:blipFill>
        <p:spPr>
          <a:xfrm>
            <a:off x="7973200" y="2310300"/>
            <a:ext cx="4177552" cy="19682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14"/>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1 · NHẬN DIỆN PHƯƠNG TIỆN</a:t>
            </a:r>
            <a:endParaRPr/>
          </a:p>
        </p:txBody>
      </p:sp>
      <p:sp>
        <p:nvSpPr>
          <p:cNvPr id="475" name="Google Shape;475;p14"/>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Truy vết phương tiện</a:t>
            </a:r>
            <a:endParaRPr/>
          </a:p>
        </p:txBody>
      </p:sp>
      <p:sp>
        <p:nvSpPr>
          <p:cNvPr id="476" name="Google Shape;476;p14"/>
          <p:cNvSpPr/>
          <p:nvPr/>
        </p:nvSpPr>
        <p:spPr>
          <a:xfrm>
            <a:off x="609600" y="1087398"/>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14"/>
          <p:cNvSpPr txBox="1"/>
          <p:nvPr/>
        </p:nvSpPr>
        <p:spPr>
          <a:xfrm>
            <a:off x="103975" y="5014090"/>
            <a:ext cx="3084300" cy="353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341"/>
          </a:p>
          <a:p>
            <a:pPr marL="0" marR="0" lvl="0" indent="0" algn="l" rtl="0">
              <a:spcBef>
                <a:spcPts val="0"/>
              </a:spcBef>
              <a:spcAft>
                <a:spcPts val="0"/>
              </a:spcAft>
              <a:buNone/>
            </a:pPr>
            <a:endParaRPr sz="1245">
              <a:solidFill>
                <a:schemeClr val="dk1"/>
              </a:solidFill>
              <a:latin typeface="Quattrocento Sans"/>
              <a:ea typeface="Quattrocento Sans"/>
              <a:cs typeface="Quattrocento Sans"/>
              <a:sym typeface="Quattrocento Sans"/>
            </a:endParaRPr>
          </a:p>
        </p:txBody>
      </p:sp>
      <p:sp>
        <p:nvSpPr>
          <p:cNvPr id="478" name="Google Shape;478;p14"/>
          <p:cNvSpPr/>
          <p:nvPr/>
        </p:nvSpPr>
        <p:spPr>
          <a:xfrm>
            <a:off x="3798793" y="1674399"/>
            <a:ext cx="2517600" cy="972000"/>
          </a:xfrm>
          <a:prstGeom prst="roundRect">
            <a:avLst>
              <a:gd name="adj" fmla="val 6000"/>
            </a:avLst>
          </a:prstGeom>
          <a:solidFill>
            <a:srgbClr val="F3F5FA"/>
          </a:solidFill>
          <a:ln>
            <a:noFill/>
          </a:ln>
        </p:spPr>
        <p:txBody>
          <a:bodyPr spcFirstLastPara="1" wrap="square" lIns="87550" tIns="43775" rIns="87550" bIns="43775" anchor="ctr" anchorCtr="0">
            <a:noAutofit/>
          </a:bodyPr>
          <a:lstStyle/>
          <a:p>
            <a:pPr marL="0" marR="0" lvl="0" indent="0" algn="ctr" rtl="0">
              <a:spcBef>
                <a:spcPts val="0"/>
              </a:spcBef>
              <a:spcAft>
                <a:spcPts val="0"/>
              </a:spcAft>
              <a:buNone/>
            </a:pPr>
            <a:endParaRPr sz="1724">
              <a:solidFill>
                <a:schemeClr val="lt1"/>
              </a:solidFill>
              <a:latin typeface="Calibri"/>
              <a:ea typeface="Calibri"/>
              <a:cs typeface="Calibri"/>
              <a:sym typeface="Calibri"/>
            </a:endParaRPr>
          </a:p>
        </p:txBody>
      </p:sp>
      <p:sp>
        <p:nvSpPr>
          <p:cNvPr id="479" name="Google Shape;479;p14"/>
          <p:cNvSpPr/>
          <p:nvPr/>
        </p:nvSpPr>
        <p:spPr>
          <a:xfrm>
            <a:off x="3920416" y="1771697"/>
            <a:ext cx="316200" cy="3162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49" b="1">
                <a:solidFill>
                  <a:srgbClr val="1E3A8A"/>
                </a:solidFill>
              </a:rPr>
              <a:t>B1</a:t>
            </a:r>
            <a:endParaRPr sz="1341"/>
          </a:p>
        </p:txBody>
      </p:sp>
      <p:sp>
        <p:nvSpPr>
          <p:cNvPr id="480" name="Google Shape;480;p14"/>
          <p:cNvSpPr txBox="1"/>
          <p:nvPr/>
        </p:nvSpPr>
        <p:spPr>
          <a:xfrm>
            <a:off x="4309610" y="1831551"/>
            <a:ext cx="1885200" cy="353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49" b="1">
                <a:solidFill>
                  <a:srgbClr val="1E3A8A"/>
                </a:solidFill>
              </a:rPr>
              <a:t>Nhập thông tin truy vấn</a:t>
            </a:r>
            <a:endParaRPr sz="1149" b="1">
              <a:solidFill>
                <a:srgbClr val="1E3A8A"/>
              </a:solidFill>
            </a:endParaRPr>
          </a:p>
        </p:txBody>
      </p:sp>
      <p:sp>
        <p:nvSpPr>
          <p:cNvPr id="481" name="Google Shape;481;p14"/>
          <p:cNvSpPr txBox="1"/>
          <p:nvPr/>
        </p:nvSpPr>
        <p:spPr>
          <a:xfrm>
            <a:off x="3932531" y="2185215"/>
            <a:ext cx="2250000" cy="353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3">
                <a:solidFill>
                  <a:schemeClr val="dk1"/>
                </a:solidFill>
              </a:rPr>
              <a:t>Thiết lập các tiêu chí tìm kiếm phương tiện</a:t>
            </a:r>
            <a:endParaRPr sz="1053">
              <a:solidFill>
                <a:srgbClr val="1F2937"/>
              </a:solidFill>
            </a:endParaRPr>
          </a:p>
        </p:txBody>
      </p:sp>
      <p:sp>
        <p:nvSpPr>
          <p:cNvPr id="482" name="Google Shape;482;p14"/>
          <p:cNvSpPr/>
          <p:nvPr/>
        </p:nvSpPr>
        <p:spPr>
          <a:xfrm>
            <a:off x="4771650" y="3358223"/>
            <a:ext cx="2648700" cy="1344300"/>
          </a:xfrm>
          <a:prstGeom prst="roundRect">
            <a:avLst>
              <a:gd name="adj" fmla="val 6000"/>
            </a:avLst>
          </a:prstGeom>
          <a:solidFill>
            <a:srgbClr val="F3F5FA"/>
          </a:solidFill>
          <a:ln>
            <a:noFill/>
          </a:ln>
        </p:spPr>
        <p:txBody>
          <a:bodyPr spcFirstLastPara="1" wrap="square" lIns="87550" tIns="43775" rIns="87550" bIns="43775" anchor="ctr" anchorCtr="0">
            <a:noAutofit/>
          </a:bodyPr>
          <a:lstStyle/>
          <a:p>
            <a:pPr marL="0" marR="0" lvl="0" indent="0" algn="ctr" rtl="0">
              <a:spcBef>
                <a:spcPts val="0"/>
              </a:spcBef>
              <a:spcAft>
                <a:spcPts val="0"/>
              </a:spcAft>
              <a:buNone/>
            </a:pPr>
            <a:endParaRPr sz="1724">
              <a:solidFill>
                <a:schemeClr val="lt1"/>
              </a:solidFill>
              <a:latin typeface="Calibri"/>
              <a:ea typeface="Calibri"/>
              <a:cs typeface="Calibri"/>
              <a:sym typeface="Calibri"/>
            </a:endParaRPr>
          </a:p>
        </p:txBody>
      </p:sp>
      <p:sp>
        <p:nvSpPr>
          <p:cNvPr id="483" name="Google Shape;483;p14"/>
          <p:cNvSpPr/>
          <p:nvPr/>
        </p:nvSpPr>
        <p:spPr>
          <a:xfrm>
            <a:off x="4893270" y="3469401"/>
            <a:ext cx="316200" cy="3162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49" b="1">
                <a:solidFill>
                  <a:srgbClr val="1E3A8A"/>
                </a:solidFill>
              </a:rPr>
              <a:t>B3</a:t>
            </a:r>
            <a:endParaRPr sz="1341"/>
          </a:p>
        </p:txBody>
      </p:sp>
      <p:sp>
        <p:nvSpPr>
          <p:cNvPr id="484" name="Google Shape;484;p14"/>
          <p:cNvSpPr txBox="1"/>
          <p:nvPr/>
        </p:nvSpPr>
        <p:spPr>
          <a:xfrm>
            <a:off x="5282368" y="3514292"/>
            <a:ext cx="1885200" cy="353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49" b="1">
                <a:solidFill>
                  <a:srgbClr val="1E3A8A"/>
                </a:solidFill>
              </a:rPr>
              <a:t>Kết quả</a:t>
            </a:r>
            <a:endParaRPr sz="1149" b="1">
              <a:solidFill>
                <a:srgbClr val="1E3A8A"/>
              </a:solidFill>
            </a:endParaRPr>
          </a:p>
        </p:txBody>
      </p:sp>
      <p:sp>
        <p:nvSpPr>
          <p:cNvPr id="485" name="Google Shape;485;p14"/>
          <p:cNvSpPr txBox="1"/>
          <p:nvPr/>
        </p:nvSpPr>
        <p:spPr>
          <a:xfrm>
            <a:off x="4917595" y="3882919"/>
            <a:ext cx="2250000" cy="353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58">
                <a:solidFill>
                  <a:schemeClr val="dk1"/>
                </a:solidFill>
              </a:rPr>
              <a:t>Hệ thống truy xuất danh sách các thẻ sự kiện phù hợp từ dữ liệu camera ghi nhận.Hiển thị danh sách kết quả và tái hiện lộ trình di chuyển (tracking event) của phương tiện trên bản đồ.</a:t>
            </a:r>
            <a:endParaRPr sz="958">
              <a:solidFill>
                <a:srgbClr val="1F2937"/>
              </a:solidFill>
            </a:endParaRPr>
          </a:p>
        </p:txBody>
      </p:sp>
      <p:sp>
        <p:nvSpPr>
          <p:cNvPr id="486" name="Google Shape;486;p14"/>
          <p:cNvSpPr/>
          <p:nvPr/>
        </p:nvSpPr>
        <p:spPr>
          <a:xfrm>
            <a:off x="5269398" y="5272740"/>
            <a:ext cx="2517600" cy="1138800"/>
          </a:xfrm>
          <a:prstGeom prst="roundRect">
            <a:avLst>
              <a:gd name="adj" fmla="val 6000"/>
            </a:avLst>
          </a:prstGeom>
          <a:solidFill>
            <a:srgbClr val="F3F5FA"/>
          </a:solidFill>
          <a:ln>
            <a:noFill/>
          </a:ln>
        </p:spPr>
        <p:txBody>
          <a:bodyPr spcFirstLastPara="1" wrap="square" lIns="87550" tIns="43775" rIns="87550" bIns="43775" anchor="ctr" anchorCtr="0">
            <a:noAutofit/>
          </a:bodyPr>
          <a:lstStyle/>
          <a:p>
            <a:pPr marL="0" marR="0" lvl="0" indent="0" algn="ctr" rtl="0">
              <a:spcBef>
                <a:spcPts val="0"/>
              </a:spcBef>
              <a:spcAft>
                <a:spcPts val="0"/>
              </a:spcAft>
              <a:buNone/>
            </a:pPr>
            <a:endParaRPr sz="1724">
              <a:solidFill>
                <a:schemeClr val="lt1"/>
              </a:solidFill>
              <a:latin typeface="Calibri"/>
              <a:ea typeface="Calibri"/>
              <a:cs typeface="Calibri"/>
              <a:sym typeface="Calibri"/>
            </a:endParaRPr>
          </a:p>
        </p:txBody>
      </p:sp>
      <p:sp>
        <p:nvSpPr>
          <p:cNvPr id="487" name="Google Shape;487;p14"/>
          <p:cNvSpPr/>
          <p:nvPr/>
        </p:nvSpPr>
        <p:spPr>
          <a:xfrm>
            <a:off x="5391018" y="5420586"/>
            <a:ext cx="316200" cy="3162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149" b="1">
                <a:solidFill>
                  <a:srgbClr val="1E3A8A"/>
                </a:solidFill>
              </a:rPr>
              <a:t>B4</a:t>
            </a:r>
            <a:endParaRPr sz="1341"/>
          </a:p>
        </p:txBody>
      </p:sp>
      <p:sp>
        <p:nvSpPr>
          <p:cNvPr id="488" name="Google Shape;488;p14"/>
          <p:cNvSpPr txBox="1"/>
          <p:nvPr/>
        </p:nvSpPr>
        <p:spPr>
          <a:xfrm>
            <a:off x="5804536" y="5457073"/>
            <a:ext cx="1885200" cy="353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49" b="1">
                <a:solidFill>
                  <a:srgbClr val="1E3A8A"/>
                </a:solidFill>
              </a:rPr>
              <a:t>Xem chi tiết</a:t>
            </a:r>
            <a:endParaRPr sz="1149" b="1">
              <a:solidFill>
                <a:srgbClr val="1E3A8A"/>
              </a:solidFill>
            </a:endParaRPr>
          </a:p>
        </p:txBody>
      </p:sp>
      <p:sp>
        <p:nvSpPr>
          <p:cNvPr id="489" name="Google Shape;489;p14"/>
          <p:cNvSpPr txBox="1"/>
          <p:nvPr/>
        </p:nvSpPr>
        <p:spPr>
          <a:xfrm>
            <a:off x="5415342" y="5834104"/>
            <a:ext cx="2250000" cy="353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58">
                <a:solidFill>
                  <a:schemeClr val="dk1"/>
                </a:solidFill>
              </a:rPr>
              <a:t>Xem thông tin chi tiết từng sự kiện (ảnh biển số, ảnh toàn cảnh, thời điểm, vị trí camera).</a:t>
            </a:r>
            <a:endParaRPr sz="958">
              <a:solidFill>
                <a:srgbClr val="1F2937"/>
              </a:solidFill>
            </a:endParaRPr>
          </a:p>
        </p:txBody>
      </p:sp>
      <p:pic>
        <p:nvPicPr>
          <p:cNvPr id="490" name="Google Shape;490;p14"/>
          <p:cNvPicPr preferRelativeResize="0"/>
          <p:nvPr/>
        </p:nvPicPr>
        <p:blipFill rotWithShape="1">
          <a:blip r:embed="rId3">
            <a:alphaModFix/>
          </a:blip>
          <a:srcRect t="2132" r="2095" b="3117"/>
          <a:stretch/>
        </p:blipFill>
        <p:spPr>
          <a:xfrm>
            <a:off x="1489505" y="3197048"/>
            <a:ext cx="3007726" cy="1668281"/>
          </a:xfrm>
          <a:prstGeom prst="rect">
            <a:avLst/>
          </a:prstGeom>
          <a:noFill/>
          <a:ln w="9125" cap="flat" cmpd="sng">
            <a:solidFill>
              <a:srgbClr val="E5E7EB"/>
            </a:solidFill>
            <a:prstDash val="solid"/>
            <a:round/>
            <a:headEnd type="none" w="sm" len="sm"/>
            <a:tailEnd type="none" w="sm" len="sm"/>
          </a:ln>
        </p:spPr>
      </p:pic>
      <p:pic>
        <p:nvPicPr>
          <p:cNvPr id="491" name="Google Shape;491;p14"/>
          <p:cNvPicPr preferRelativeResize="0"/>
          <p:nvPr/>
        </p:nvPicPr>
        <p:blipFill rotWithShape="1">
          <a:blip r:embed="rId4">
            <a:alphaModFix/>
          </a:blip>
          <a:srcRect l="547" t="3011" r="52283" b="5473"/>
          <a:stretch/>
        </p:blipFill>
        <p:spPr>
          <a:xfrm>
            <a:off x="2352481" y="5044027"/>
            <a:ext cx="2705587" cy="1458373"/>
          </a:xfrm>
          <a:prstGeom prst="rect">
            <a:avLst/>
          </a:prstGeom>
          <a:noFill/>
          <a:ln w="9125" cap="flat" cmpd="sng">
            <a:solidFill>
              <a:srgbClr val="E5E7EB"/>
            </a:solidFill>
            <a:prstDash val="solid"/>
            <a:round/>
            <a:headEnd type="none" w="sm" len="sm"/>
            <a:tailEnd type="none" w="sm" len="sm"/>
          </a:ln>
        </p:spPr>
      </p:pic>
      <p:sp>
        <p:nvSpPr>
          <p:cNvPr id="492" name="Google Shape;492;p14"/>
          <p:cNvSpPr/>
          <p:nvPr/>
        </p:nvSpPr>
        <p:spPr>
          <a:xfrm>
            <a:off x="7971940" y="766056"/>
            <a:ext cx="3905100" cy="428700"/>
          </a:xfrm>
          <a:prstGeom prst="roundRect">
            <a:avLst>
              <a:gd name="adj" fmla="val 6000"/>
            </a:avLst>
          </a:prstGeom>
          <a:solidFill>
            <a:srgbClr val="1E3A8A"/>
          </a:solidFill>
          <a:ln>
            <a:noFill/>
          </a:ln>
        </p:spPr>
        <p:txBody>
          <a:bodyPr spcFirstLastPara="1" wrap="square" lIns="96000" tIns="48000" rIns="96000" bIns="48000" anchor="ctr" anchorCtr="0">
            <a:noAutofit/>
          </a:bodyPr>
          <a:lstStyle/>
          <a:p>
            <a:pPr marL="0" lvl="0" indent="0" algn="l" rtl="0">
              <a:lnSpc>
                <a:spcPct val="115000"/>
              </a:lnSpc>
              <a:spcBef>
                <a:spcPts val="1134"/>
              </a:spcBef>
              <a:spcAft>
                <a:spcPts val="0"/>
              </a:spcAft>
              <a:buSzPts val="1039"/>
              <a:buNone/>
            </a:pPr>
            <a:endParaRPr sz="1417" dirty="0">
              <a:solidFill>
                <a:schemeClr val="lt1"/>
              </a:solidFill>
            </a:endParaRPr>
          </a:p>
          <a:p>
            <a:pPr marL="0" lvl="0" indent="0" algn="ctr" rtl="0">
              <a:lnSpc>
                <a:spcPct val="115000"/>
              </a:lnSpc>
              <a:spcBef>
                <a:spcPts val="1134"/>
              </a:spcBef>
              <a:spcAft>
                <a:spcPts val="0"/>
              </a:spcAft>
              <a:buSzPts val="1039"/>
              <a:buNone/>
            </a:pPr>
            <a:r>
              <a:rPr lang="en-US" sz="1134" b="1" dirty="0">
                <a:solidFill>
                  <a:schemeClr val="lt1"/>
                </a:solidFill>
              </a:rPr>
              <a:t>GIÁ TRỊ ỨNG DỤNG THỰC TẾ</a:t>
            </a:r>
            <a:endParaRPr sz="1134" b="1" dirty="0">
              <a:solidFill>
                <a:schemeClr val="lt1"/>
              </a:solidFill>
            </a:endParaRPr>
          </a:p>
          <a:p>
            <a:pPr marL="0" marR="0" lvl="0" indent="0" algn="ctr" rtl="0">
              <a:spcBef>
                <a:spcPts val="1134"/>
              </a:spcBef>
              <a:spcAft>
                <a:spcPts val="0"/>
              </a:spcAft>
              <a:buNone/>
            </a:pPr>
            <a:endParaRPr sz="1323" b="1" dirty="0">
              <a:solidFill>
                <a:srgbClr val="FFFFFF"/>
              </a:solidFill>
            </a:endParaRPr>
          </a:p>
        </p:txBody>
      </p:sp>
      <p:sp>
        <p:nvSpPr>
          <p:cNvPr id="493" name="Google Shape;493;p14"/>
          <p:cNvSpPr/>
          <p:nvPr/>
        </p:nvSpPr>
        <p:spPr>
          <a:xfrm>
            <a:off x="7971940" y="1380834"/>
            <a:ext cx="3905100" cy="1086934"/>
          </a:xfrm>
          <a:prstGeom prst="roundRect">
            <a:avLst>
              <a:gd name="adj" fmla="val 6000"/>
            </a:avLst>
          </a:prstGeom>
          <a:solidFill>
            <a:srgbClr val="E8EEFB"/>
          </a:solidFill>
          <a:ln>
            <a:noFill/>
          </a:ln>
        </p:spPr>
        <p:txBody>
          <a:bodyPr spcFirstLastPara="1" wrap="square" lIns="96000" tIns="48000" rIns="96000" bIns="48000" anchor="ctr" anchorCtr="0">
            <a:noAutofit/>
          </a:bodyPr>
          <a:lstStyle/>
          <a:p>
            <a:pPr marL="0" lvl="0" indent="0" algn="l" rtl="0">
              <a:lnSpc>
                <a:spcPct val="115000"/>
              </a:lnSpc>
              <a:spcBef>
                <a:spcPts val="1134"/>
              </a:spcBef>
              <a:spcAft>
                <a:spcPts val="0"/>
              </a:spcAft>
              <a:buSzPts val="1039"/>
              <a:buNone/>
            </a:pPr>
            <a:endParaRPr sz="1417" dirty="0">
              <a:solidFill>
                <a:schemeClr val="lt1"/>
              </a:solidFill>
            </a:endParaRPr>
          </a:p>
          <a:p>
            <a:pPr marL="0" lvl="0" indent="0" algn="l" rtl="0">
              <a:spcBef>
                <a:spcPts val="0"/>
              </a:spcBef>
              <a:spcAft>
                <a:spcPts val="0"/>
              </a:spcAft>
              <a:buNone/>
            </a:pPr>
            <a:r>
              <a:rPr lang="en-US" sz="1245" b="1" dirty="0" err="1">
                <a:solidFill>
                  <a:schemeClr val="dk1"/>
                </a:solidFill>
              </a:rPr>
              <a:t>Truy</a:t>
            </a:r>
            <a:r>
              <a:rPr lang="en-US" sz="1245" b="1" dirty="0">
                <a:solidFill>
                  <a:schemeClr val="dk1"/>
                </a:solidFill>
              </a:rPr>
              <a:t> </a:t>
            </a:r>
            <a:r>
              <a:rPr lang="en-US" sz="1245" b="1" dirty="0" err="1">
                <a:solidFill>
                  <a:schemeClr val="dk1"/>
                </a:solidFill>
              </a:rPr>
              <a:t>tìm</a:t>
            </a:r>
            <a:r>
              <a:rPr lang="en-US" sz="1245" b="1" dirty="0">
                <a:solidFill>
                  <a:schemeClr val="dk1"/>
                </a:solidFill>
              </a:rPr>
              <a:t> </a:t>
            </a:r>
            <a:r>
              <a:rPr lang="en-US" sz="1245" b="1" dirty="0" err="1">
                <a:solidFill>
                  <a:schemeClr val="dk1"/>
                </a:solidFill>
              </a:rPr>
              <a:t>phương</a:t>
            </a:r>
            <a:r>
              <a:rPr lang="en-US" sz="1245" b="1" dirty="0">
                <a:solidFill>
                  <a:schemeClr val="dk1"/>
                </a:solidFill>
              </a:rPr>
              <a:t> </a:t>
            </a:r>
            <a:r>
              <a:rPr lang="en-US" sz="1245" b="1" dirty="0" err="1">
                <a:solidFill>
                  <a:schemeClr val="dk1"/>
                </a:solidFill>
              </a:rPr>
              <a:t>tiện</a:t>
            </a:r>
            <a:r>
              <a:rPr lang="en-US" sz="1245" dirty="0">
                <a:solidFill>
                  <a:schemeClr val="dk1"/>
                </a:solidFill>
              </a:rPr>
              <a:t>: </a:t>
            </a:r>
            <a:r>
              <a:rPr lang="en-US" sz="1245" dirty="0" err="1">
                <a:solidFill>
                  <a:schemeClr val="dk1"/>
                </a:solidFill>
              </a:rPr>
              <a:t>Xác</a:t>
            </a:r>
            <a:r>
              <a:rPr lang="en-US" sz="1245" dirty="0">
                <a:solidFill>
                  <a:schemeClr val="dk1"/>
                </a:solidFill>
              </a:rPr>
              <a:t> </a:t>
            </a:r>
            <a:r>
              <a:rPr lang="en-US" sz="1245" dirty="0" err="1">
                <a:solidFill>
                  <a:schemeClr val="dk1"/>
                </a:solidFill>
              </a:rPr>
              <a:t>định</a:t>
            </a:r>
            <a:r>
              <a:rPr lang="en-US" sz="1245" dirty="0">
                <a:solidFill>
                  <a:schemeClr val="dk1"/>
                </a:solidFill>
              </a:rPr>
              <a:t> </a:t>
            </a:r>
            <a:r>
              <a:rPr lang="en-US" sz="1245" dirty="0" err="1">
                <a:solidFill>
                  <a:schemeClr val="dk1"/>
                </a:solidFill>
              </a:rPr>
              <a:t>các</a:t>
            </a:r>
            <a:r>
              <a:rPr lang="en-US" sz="1245" dirty="0">
                <a:solidFill>
                  <a:schemeClr val="dk1"/>
                </a:solidFill>
              </a:rPr>
              <a:t> camera </a:t>
            </a:r>
            <a:r>
              <a:rPr lang="en-US" sz="1245" dirty="0" err="1">
                <a:solidFill>
                  <a:schemeClr val="dk1"/>
                </a:solidFill>
              </a:rPr>
              <a:t>và</a:t>
            </a:r>
            <a:r>
              <a:rPr lang="en-US" sz="1245" dirty="0">
                <a:solidFill>
                  <a:schemeClr val="dk1"/>
                </a:solidFill>
              </a:rPr>
              <a:t> </a:t>
            </a:r>
            <a:r>
              <a:rPr lang="en-US" sz="1245" dirty="0" err="1">
                <a:solidFill>
                  <a:schemeClr val="dk1"/>
                </a:solidFill>
              </a:rPr>
              <a:t>khu</a:t>
            </a:r>
            <a:r>
              <a:rPr lang="en-US" sz="1245" dirty="0">
                <a:solidFill>
                  <a:schemeClr val="dk1"/>
                </a:solidFill>
              </a:rPr>
              <a:t> </a:t>
            </a:r>
            <a:r>
              <a:rPr lang="en-US" sz="1245" dirty="0" err="1">
                <a:solidFill>
                  <a:schemeClr val="dk1"/>
                </a:solidFill>
              </a:rPr>
              <a:t>vực</a:t>
            </a:r>
            <a:r>
              <a:rPr lang="en-US" sz="1245" dirty="0">
                <a:solidFill>
                  <a:schemeClr val="dk1"/>
                </a:solidFill>
              </a:rPr>
              <a:t> </a:t>
            </a:r>
            <a:r>
              <a:rPr lang="en-US" sz="1245" dirty="0" err="1">
                <a:solidFill>
                  <a:schemeClr val="dk1"/>
                </a:solidFill>
              </a:rPr>
              <a:t>mà</a:t>
            </a:r>
            <a:r>
              <a:rPr lang="en-US" sz="1245" dirty="0">
                <a:solidFill>
                  <a:schemeClr val="dk1"/>
                </a:solidFill>
              </a:rPr>
              <a:t> </a:t>
            </a:r>
            <a:r>
              <a:rPr lang="en-US" sz="1245" dirty="0" err="1">
                <a:solidFill>
                  <a:schemeClr val="dk1"/>
                </a:solidFill>
              </a:rPr>
              <a:t>phương</a:t>
            </a:r>
            <a:r>
              <a:rPr lang="en-US" sz="1245" dirty="0">
                <a:solidFill>
                  <a:schemeClr val="dk1"/>
                </a:solidFill>
              </a:rPr>
              <a:t> </a:t>
            </a:r>
            <a:r>
              <a:rPr lang="en-US" sz="1245" dirty="0" err="1">
                <a:solidFill>
                  <a:schemeClr val="dk1"/>
                </a:solidFill>
              </a:rPr>
              <a:t>tiện</a:t>
            </a:r>
            <a:r>
              <a:rPr lang="en-US" sz="1245" dirty="0">
                <a:solidFill>
                  <a:schemeClr val="dk1"/>
                </a:solidFill>
              </a:rPr>
              <a:t> </a:t>
            </a:r>
            <a:r>
              <a:rPr lang="en-US" sz="1245" dirty="0" err="1">
                <a:solidFill>
                  <a:schemeClr val="dk1"/>
                </a:solidFill>
              </a:rPr>
              <a:t>đã</a:t>
            </a:r>
            <a:r>
              <a:rPr lang="en-US" sz="1245" dirty="0">
                <a:solidFill>
                  <a:schemeClr val="dk1"/>
                </a:solidFill>
              </a:rPr>
              <a:t> </a:t>
            </a:r>
            <a:r>
              <a:rPr lang="en-US" sz="1245" dirty="0" err="1">
                <a:solidFill>
                  <a:schemeClr val="dk1"/>
                </a:solidFill>
              </a:rPr>
              <a:t>xuất</a:t>
            </a:r>
            <a:r>
              <a:rPr lang="en-US" sz="1245" dirty="0">
                <a:solidFill>
                  <a:schemeClr val="dk1"/>
                </a:solidFill>
              </a:rPr>
              <a:t> </a:t>
            </a:r>
            <a:r>
              <a:rPr lang="en-US" sz="1245" dirty="0" err="1">
                <a:solidFill>
                  <a:schemeClr val="dk1"/>
                </a:solidFill>
              </a:rPr>
              <a:t>hiện</a:t>
            </a:r>
            <a:r>
              <a:rPr lang="en-US" sz="1245" dirty="0">
                <a:solidFill>
                  <a:schemeClr val="dk1"/>
                </a:solidFill>
              </a:rPr>
              <a:t> </a:t>
            </a:r>
            <a:r>
              <a:rPr lang="en-US" sz="1245" dirty="0" err="1">
                <a:solidFill>
                  <a:schemeClr val="dk1"/>
                </a:solidFill>
              </a:rPr>
              <a:t>dựa</a:t>
            </a:r>
            <a:r>
              <a:rPr lang="en-US" sz="1245" dirty="0">
                <a:solidFill>
                  <a:schemeClr val="dk1"/>
                </a:solidFill>
              </a:rPr>
              <a:t> </a:t>
            </a:r>
            <a:r>
              <a:rPr lang="en-US" sz="1245" dirty="0" err="1">
                <a:solidFill>
                  <a:schemeClr val="dk1"/>
                </a:solidFill>
              </a:rPr>
              <a:t>trên</a:t>
            </a:r>
            <a:r>
              <a:rPr lang="en-US" sz="1245" dirty="0">
                <a:solidFill>
                  <a:schemeClr val="dk1"/>
                </a:solidFill>
              </a:rPr>
              <a:t> </a:t>
            </a:r>
            <a:r>
              <a:rPr lang="en-US" sz="1245" dirty="0" err="1">
                <a:solidFill>
                  <a:schemeClr val="dk1"/>
                </a:solidFill>
              </a:rPr>
              <a:t>biển</a:t>
            </a:r>
            <a:r>
              <a:rPr lang="en-US" sz="1245" dirty="0">
                <a:solidFill>
                  <a:schemeClr val="dk1"/>
                </a:solidFill>
              </a:rPr>
              <a:t> </a:t>
            </a:r>
            <a:r>
              <a:rPr lang="en-US" sz="1245" dirty="0" err="1">
                <a:solidFill>
                  <a:schemeClr val="dk1"/>
                </a:solidFill>
              </a:rPr>
              <a:t>số</a:t>
            </a:r>
            <a:r>
              <a:rPr lang="en-US" sz="1245" dirty="0">
                <a:solidFill>
                  <a:schemeClr val="dk1"/>
                </a:solidFill>
              </a:rPr>
              <a:t> </a:t>
            </a:r>
            <a:r>
              <a:rPr lang="en-US" sz="1245" dirty="0" err="1">
                <a:solidFill>
                  <a:schemeClr val="dk1"/>
                </a:solidFill>
              </a:rPr>
              <a:t>hoặc</a:t>
            </a:r>
            <a:r>
              <a:rPr lang="en-US" sz="1245" dirty="0">
                <a:solidFill>
                  <a:schemeClr val="dk1"/>
                </a:solidFill>
              </a:rPr>
              <a:t> </a:t>
            </a:r>
            <a:r>
              <a:rPr lang="en-US" sz="1245" dirty="0" err="1">
                <a:solidFill>
                  <a:schemeClr val="dk1"/>
                </a:solidFill>
              </a:rPr>
              <a:t>đặc</a:t>
            </a:r>
            <a:r>
              <a:rPr lang="en-US" sz="1245" dirty="0">
                <a:solidFill>
                  <a:schemeClr val="dk1"/>
                </a:solidFill>
              </a:rPr>
              <a:t> </a:t>
            </a:r>
            <a:r>
              <a:rPr lang="en-US" sz="1245" dirty="0" err="1">
                <a:solidFill>
                  <a:schemeClr val="dk1"/>
                </a:solidFill>
              </a:rPr>
              <a:t>điểm</a:t>
            </a:r>
            <a:r>
              <a:rPr lang="en-US" sz="1245" dirty="0">
                <a:solidFill>
                  <a:schemeClr val="dk1"/>
                </a:solidFill>
              </a:rPr>
              <a:t> </a:t>
            </a:r>
            <a:r>
              <a:rPr lang="en-US" sz="1245" dirty="0" err="1">
                <a:solidFill>
                  <a:schemeClr val="dk1"/>
                </a:solidFill>
              </a:rPr>
              <a:t>nhận</a:t>
            </a:r>
            <a:r>
              <a:rPr lang="en-US" sz="1245" dirty="0">
                <a:solidFill>
                  <a:schemeClr val="dk1"/>
                </a:solidFill>
              </a:rPr>
              <a:t> </a:t>
            </a:r>
            <a:r>
              <a:rPr lang="en-US" sz="1245" dirty="0" err="1">
                <a:solidFill>
                  <a:schemeClr val="dk1"/>
                </a:solidFill>
              </a:rPr>
              <a:t>diện</a:t>
            </a:r>
            <a:r>
              <a:rPr lang="en-US" sz="1245" dirty="0">
                <a:solidFill>
                  <a:schemeClr val="dk1"/>
                </a:solidFill>
              </a:rPr>
              <a:t>.</a:t>
            </a:r>
            <a:endParaRPr sz="1053" dirty="0">
              <a:solidFill>
                <a:schemeClr val="dk1"/>
              </a:solidFill>
            </a:endParaRPr>
          </a:p>
          <a:p>
            <a:pPr marL="0" lvl="0" indent="0" algn="ctr" rtl="0">
              <a:lnSpc>
                <a:spcPct val="115000"/>
              </a:lnSpc>
              <a:spcBef>
                <a:spcPts val="1134"/>
              </a:spcBef>
              <a:spcAft>
                <a:spcPts val="0"/>
              </a:spcAft>
              <a:buSzPts val="1039"/>
              <a:buNone/>
            </a:pPr>
            <a:endParaRPr sz="1134" b="1" dirty="0">
              <a:solidFill>
                <a:schemeClr val="lt1"/>
              </a:solidFill>
            </a:endParaRPr>
          </a:p>
          <a:p>
            <a:pPr marL="0" marR="0" lvl="0" indent="0" algn="ctr" rtl="0">
              <a:spcBef>
                <a:spcPts val="1134"/>
              </a:spcBef>
              <a:spcAft>
                <a:spcPts val="0"/>
              </a:spcAft>
              <a:buNone/>
            </a:pPr>
            <a:endParaRPr sz="1323" b="1" dirty="0">
              <a:solidFill>
                <a:srgbClr val="FFFFFF"/>
              </a:solidFill>
            </a:endParaRPr>
          </a:p>
        </p:txBody>
      </p:sp>
      <p:sp>
        <p:nvSpPr>
          <p:cNvPr id="494" name="Google Shape;494;p14"/>
          <p:cNvSpPr/>
          <p:nvPr/>
        </p:nvSpPr>
        <p:spPr>
          <a:xfrm>
            <a:off x="7971940" y="2658297"/>
            <a:ext cx="3905100" cy="967972"/>
          </a:xfrm>
          <a:prstGeom prst="roundRect">
            <a:avLst>
              <a:gd name="adj" fmla="val 6000"/>
            </a:avLst>
          </a:prstGeom>
          <a:solidFill>
            <a:srgbClr val="E8EEFB"/>
          </a:solidFill>
          <a:ln>
            <a:noFill/>
          </a:ln>
        </p:spPr>
        <p:txBody>
          <a:bodyPr spcFirstLastPara="1" wrap="square" lIns="96000" tIns="48000" rIns="96000" bIns="48000" anchor="ctr" anchorCtr="0">
            <a:noAutofit/>
          </a:bodyPr>
          <a:lstStyle/>
          <a:p>
            <a:pPr marL="0" lvl="0" indent="0" algn="l" rtl="0">
              <a:lnSpc>
                <a:spcPct val="115000"/>
              </a:lnSpc>
              <a:spcBef>
                <a:spcPts val="1134"/>
              </a:spcBef>
              <a:spcAft>
                <a:spcPts val="0"/>
              </a:spcAft>
              <a:buSzPts val="1039"/>
              <a:buNone/>
            </a:pPr>
            <a:endParaRPr sz="1417" dirty="0">
              <a:solidFill>
                <a:schemeClr val="lt1"/>
              </a:solidFill>
            </a:endParaRPr>
          </a:p>
          <a:p>
            <a:pPr marL="0" lvl="0" indent="0" algn="l" rtl="0">
              <a:spcBef>
                <a:spcPts val="1134"/>
              </a:spcBef>
              <a:spcAft>
                <a:spcPts val="0"/>
              </a:spcAft>
              <a:buNone/>
            </a:pPr>
            <a:endParaRPr sz="1053" b="1" dirty="0">
              <a:solidFill>
                <a:schemeClr val="dk1"/>
              </a:solidFill>
            </a:endParaRPr>
          </a:p>
          <a:p>
            <a:pPr marL="0" lvl="0" indent="0" algn="l" rtl="0">
              <a:spcBef>
                <a:spcPts val="0"/>
              </a:spcBef>
              <a:spcAft>
                <a:spcPts val="0"/>
              </a:spcAft>
              <a:buNone/>
            </a:pPr>
            <a:endParaRPr sz="1053" dirty="0">
              <a:solidFill>
                <a:schemeClr val="dk1"/>
              </a:solidFill>
            </a:endParaRPr>
          </a:p>
          <a:p>
            <a:pPr marL="0" lvl="0" indent="0" algn="l" rtl="0">
              <a:spcBef>
                <a:spcPts val="0"/>
              </a:spcBef>
              <a:spcAft>
                <a:spcPts val="0"/>
              </a:spcAft>
              <a:buNone/>
            </a:pPr>
            <a:r>
              <a:rPr lang="en-US" sz="1245" b="1" dirty="0">
                <a:solidFill>
                  <a:schemeClr val="dk1"/>
                </a:solidFill>
              </a:rPr>
              <a:t>Theo </a:t>
            </a:r>
            <a:r>
              <a:rPr lang="en-US" sz="1245" b="1" dirty="0" err="1">
                <a:solidFill>
                  <a:schemeClr val="dk1"/>
                </a:solidFill>
              </a:rPr>
              <a:t>dõi</a:t>
            </a:r>
            <a:r>
              <a:rPr lang="en-US" sz="1245" b="1" dirty="0">
                <a:solidFill>
                  <a:schemeClr val="dk1"/>
                </a:solidFill>
              </a:rPr>
              <a:t> </a:t>
            </a:r>
            <a:r>
              <a:rPr lang="en-US" sz="1245" b="1" dirty="0" err="1">
                <a:solidFill>
                  <a:schemeClr val="dk1"/>
                </a:solidFill>
              </a:rPr>
              <a:t>hành</a:t>
            </a:r>
            <a:r>
              <a:rPr lang="en-US" sz="1245" b="1" dirty="0">
                <a:solidFill>
                  <a:schemeClr val="dk1"/>
                </a:solidFill>
              </a:rPr>
              <a:t> </a:t>
            </a:r>
            <a:r>
              <a:rPr lang="en-US" sz="1245" b="1" dirty="0" err="1">
                <a:solidFill>
                  <a:schemeClr val="dk1"/>
                </a:solidFill>
              </a:rPr>
              <a:t>trình</a:t>
            </a:r>
            <a:r>
              <a:rPr lang="en-US" sz="1245" b="1" dirty="0">
                <a:solidFill>
                  <a:schemeClr val="dk1"/>
                </a:solidFill>
              </a:rPr>
              <a:t>:</a:t>
            </a:r>
            <a:r>
              <a:rPr lang="en-US" sz="1245" dirty="0">
                <a:solidFill>
                  <a:schemeClr val="dk1"/>
                </a:solidFill>
              </a:rPr>
              <a:t> </a:t>
            </a:r>
            <a:r>
              <a:rPr lang="en-US" sz="1245" dirty="0" err="1">
                <a:solidFill>
                  <a:schemeClr val="dk1"/>
                </a:solidFill>
              </a:rPr>
              <a:t>Xây</a:t>
            </a:r>
            <a:r>
              <a:rPr lang="en-US" sz="1245" dirty="0">
                <a:solidFill>
                  <a:schemeClr val="dk1"/>
                </a:solidFill>
              </a:rPr>
              <a:t> </a:t>
            </a:r>
            <a:r>
              <a:rPr lang="en-US" sz="1245" dirty="0" err="1">
                <a:solidFill>
                  <a:schemeClr val="dk1"/>
                </a:solidFill>
              </a:rPr>
              <a:t>dựng</a:t>
            </a:r>
            <a:r>
              <a:rPr lang="en-US" sz="1245" dirty="0">
                <a:solidFill>
                  <a:schemeClr val="dk1"/>
                </a:solidFill>
              </a:rPr>
              <a:t> </a:t>
            </a:r>
            <a:r>
              <a:rPr lang="en-US" sz="1245" dirty="0" err="1">
                <a:solidFill>
                  <a:schemeClr val="dk1"/>
                </a:solidFill>
              </a:rPr>
              <a:t>lại</a:t>
            </a:r>
            <a:r>
              <a:rPr lang="en-US" sz="1245" dirty="0">
                <a:solidFill>
                  <a:schemeClr val="dk1"/>
                </a:solidFill>
              </a:rPr>
              <a:t> </a:t>
            </a:r>
            <a:r>
              <a:rPr lang="en-US" sz="1245" dirty="0" err="1">
                <a:solidFill>
                  <a:schemeClr val="dk1"/>
                </a:solidFill>
              </a:rPr>
              <a:t>lộ</a:t>
            </a:r>
            <a:r>
              <a:rPr lang="en-US" sz="1245" dirty="0">
                <a:solidFill>
                  <a:schemeClr val="dk1"/>
                </a:solidFill>
              </a:rPr>
              <a:t> </a:t>
            </a:r>
            <a:r>
              <a:rPr lang="en-US" sz="1245" dirty="0" err="1">
                <a:solidFill>
                  <a:schemeClr val="dk1"/>
                </a:solidFill>
              </a:rPr>
              <a:t>trình</a:t>
            </a:r>
            <a:r>
              <a:rPr lang="en-US" sz="1245" dirty="0">
                <a:solidFill>
                  <a:schemeClr val="dk1"/>
                </a:solidFill>
              </a:rPr>
              <a:t> di </a:t>
            </a:r>
            <a:r>
              <a:rPr lang="en-US" sz="1245" dirty="0" err="1">
                <a:solidFill>
                  <a:schemeClr val="dk1"/>
                </a:solidFill>
              </a:rPr>
              <a:t>chuyển</a:t>
            </a:r>
            <a:r>
              <a:rPr lang="en-US" sz="1245" dirty="0">
                <a:solidFill>
                  <a:schemeClr val="dk1"/>
                </a:solidFill>
              </a:rPr>
              <a:t> </a:t>
            </a:r>
            <a:r>
              <a:rPr lang="en-US" sz="1245" dirty="0" err="1">
                <a:solidFill>
                  <a:schemeClr val="dk1"/>
                </a:solidFill>
              </a:rPr>
              <a:t>của</a:t>
            </a:r>
            <a:r>
              <a:rPr lang="en-US" sz="1245" dirty="0">
                <a:solidFill>
                  <a:schemeClr val="dk1"/>
                </a:solidFill>
              </a:rPr>
              <a:t> </a:t>
            </a:r>
            <a:r>
              <a:rPr lang="en-US" sz="1245" dirty="0" err="1">
                <a:solidFill>
                  <a:schemeClr val="dk1"/>
                </a:solidFill>
              </a:rPr>
              <a:t>phương</a:t>
            </a:r>
            <a:r>
              <a:rPr lang="en-US" sz="1245" dirty="0">
                <a:solidFill>
                  <a:schemeClr val="dk1"/>
                </a:solidFill>
              </a:rPr>
              <a:t> </a:t>
            </a:r>
            <a:r>
              <a:rPr lang="en-US" sz="1245" dirty="0" err="1">
                <a:solidFill>
                  <a:schemeClr val="dk1"/>
                </a:solidFill>
              </a:rPr>
              <a:t>tiện</a:t>
            </a:r>
            <a:r>
              <a:rPr lang="en-US" sz="1245" dirty="0">
                <a:solidFill>
                  <a:schemeClr val="dk1"/>
                </a:solidFill>
              </a:rPr>
              <a:t> qua </a:t>
            </a:r>
            <a:r>
              <a:rPr lang="en-US" sz="1245" dirty="0" err="1">
                <a:solidFill>
                  <a:schemeClr val="dk1"/>
                </a:solidFill>
              </a:rPr>
              <a:t>hệ</a:t>
            </a:r>
            <a:r>
              <a:rPr lang="en-US" sz="1245" dirty="0">
                <a:solidFill>
                  <a:schemeClr val="dk1"/>
                </a:solidFill>
              </a:rPr>
              <a:t> </a:t>
            </a:r>
            <a:r>
              <a:rPr lang="en-US" sz="1245" dirty="0" err="1">
                <a:solidFill>
                  <a:schemeClr val="dk1"/>
                </a:solidFill>
              </a:rPr>
              <a:t>thống</a:t>
            </a:r>
            <a:r>
              <a:rPr lang="en-US" sz="1245" dirty="0">
                <a:solidFill>
                  <a:schemeClr val="dk1"/>
                </a:solidFill>
              </a:rPr>
              <a:t> camera </a:t>
            </a:r>
            <a:r>
              <a:rPr lang="en-US" sz="1245" dirty="0" err="1">
                <a:solidFill>
                  <a:schemeClr val="dk1"/>
                </a:solidFill>
              </a:rPr>
              <a:t>giám</a:t>
            </a:r>
            <a:r>
              <a:rPr lang="en-US" sz="1245" dirty="0">
                <a:solidFill>
                  <a:schemeClr val="dk1"/>
                </a:solidFill>
              </a:rPr>
              <a:t> </a:t>
            </a:r>
            <a:r>
              <a:rPr lang="en-US" sz="1245" dirty="0" err="1">
                <a:solidFill>
                  <a:schemeClr val="dk1"/>
                </a:solidFill>
              </a:rPr>
              <a:t>sát</a:t>
            </a:r>
            <a:r>
              <a:rPr lang="en-US" sz="1245" dirty="0">
                <a:solidFill>
                  <a:schemeClr val="dk1"/>
                </a:solidFill>
              </a:rPr>
              <a:t>.</a:t>
            </a:r>
            <a:endParaRPr sz="1053" dirty="0">
              <a:solidFill>
                <a:schemeClr val="dk1"/>
              </a:solidFill>
            </a:endParaRPr>
          </a:p>
          <a:p>
            <a:pPr marL="0" lvl="0" indent="0" algn="ctr" rtl="0">
              <a:lnSpc>
                <a:spcPct val="115000"/>
              </a:lnSpc>
              <a:spcBef>
                <a:spcPts val="1134"/>
              </a:spcBef>
              <a:spcAft>
                <a:spcPts val="0"/>
              </a:spcAft>
              <a:buSzPts val="1039"/>
              <a:buNone/>
            </a:pPr>
            <a:endParaRPr sz="1134" b="1" dirty="0">
              <a:solidFill>
                <a:schemeClr val="lt1"/>
              </a:solidFill>
            </a:endParaRPr>
          </a:p>
          <a:p>
            <a:pPr marL="0" marR="0" lvl="0" indent="0" algn="ctr" rtl="0">
              <a:spcBef>
                <a:spcPts val="1134"/>
              </a:spcBef>
              <a:spcAft>
                <a:spcPts val="0"/>
              </a:spcAft>
              <a:buNone/>
            </a:pPr>
            <a:r>
              <a:rPr lang="en-US" sz="1323" b="1" dirty="0">
                <a:solidFill>
                  <a:srgbClr val="FFFFFF"/>
                </a:solidFill>
              </a:rPr>
              <a:t>V</a:t>
            </a:r>
            <a:endParaRPr sz="1323" b="1" dirty="0">
              <a:solidFill>
                <a:srgbClr val="FFFFFF"/>
              </a:solidFill>
            </a:endParaRPr>
          </a:p>
        </p:txBody>
      </p:sp>
      <p:sp>
        <p:nvSpPr>
          <p:cNvPr id="495" name="Google Shape;495;p14"/>
          <p:cNvSpPr/>
          <p:nvPr/>
        </p:nvSpPr>
        <p:spPr>
          <a:xfrm>
            <a:off x="7956598" y="3835427"/>
            <a:ext cx="3905100" cy="854165"/>
          </a:xfrm>
          <a:prstGeom prst="roundRect">
            <a:avLst>
              <a:gd name="adj" fmla="val 6000"/>
            </a:avLst>
          </a:prstGeom>
          <a:solidFill>
            <a:srgbClr val="E8EEFB"/>
          </a:solidFill>
          <a:ln>
            <a:noFill/>
          </a:ln>
        </p:spPr>
        <p:txBody>
          <a:bodyPr spcFirstLastPara="1" wrap="square" lIns="96000" tIns="48000" rIns="96000" bIns="48000" anchor="ctr" anchorCtr="0">
            <a:noAutofit/>
          </a:bodyPr>
          <a:lstStyle/>
          <a:p>
            <a:pPr marL="0" lvl="0" indent="0" algn="l" rtl="0">
              <a:lnSpc>
                <a:spcPct val="115000"/>
              </a:lnSpc>
              <a:spcBef>
                <a:spcPts val="1134"/>
              </a:spcBef>
              <a:spcAft>
                <a:spcPts val="0"/>
              </a:spcAft>
              <a:buSzPts val="1039"/>
              <a:buNone/>
            </a:pPr>
            <a:endParaRPr lang="en-US" sz="1417" dirty="0">
              <a:solidFill>
                <a:schemeClr val="lt1"/>
              </a:solidFill>
            </a:endParaRPr>
          </a:p>
          <a:p>
            <a:pPr marL="0" lvl="0" indent="0" algn="l" rtl="0">
              <a:spcBef>
                <a:spcPts val="1134"/>
              </a:spcBef>
              <a:spcAft>
                <a:spcPts val="0"/>
              </a:spcAft>
              <a:buNone/>
            </a:pPr>
            <a:endParaRPr sz="1053" dirty="0">
              <a:solidFill>
                <a:schemeClr val="dk1"/>
              </a:solidFill>
            </a:endParaRPr>
          </a:p>
          <a:p>
            <a:pPr marL="0" lvl="0" indent="0" algn="l" rtl="0">
              <a:spcBef>
                <a:spcPts val="0"/>
              </a:spcBef>
              <a:spcAft>
                <a:spcPts val="0"/>
              </a:spcAft>
              <a:buNone/>
            </a:pPr>
            <a:endParaRPr sz="1053" dirty="0">
              <a:solidFill>
                <a:schemeClr val="dk1"/>
              </a:solidFill>
            </a:endParaRPr>
          </a:p>
          <a:p>
            <a:pPr marL="0" lvl="0" indent="0" algn="l" rtl="0">
              <a:spcBef>
                <a:spcPts val="0"/>
              </a:spcBef>
              <a:spcAft>
                <a:spcPts val="0"/>
              </a:spcAft>
              <a:buNone/>
            </a:pPr>
            <a:endParaRPr sz="1245" dirty="0">
              <a:solidFill>
                <a:schemeClr val="dk1"/>
              </a:solidFill>
            </a:endParaRPr>
          </a:p>
          <a:p>
            <a:pPr marL="0" lvl="0" indent="0" algn="l" rtl="0">
              <a:spcBef>
                <a:spcPts val="0"/>
              </a:spcBef>
              <a:spcAft>
                <a:spcPts val="0"/>
              </a:spcAft>
              <a:buClr>
                <a:schemeClr val="dk1"/>
              </a:buClr>
              <a:buSzPts val="1053"/>
              <a:buFont typeface="Arial"/>
              <a:buNone/>
            </a:pPr>
            <a:r>
              <a:rPr lang="en-US" sz="1245" b="1" dirty="0" err="1">
                <a:solidFill>
                  <a:schemeClr val="dk1"/>
                </a:solidFill>
              </a:rPr>
              <a:t>Điều</a:t>
            </a:r>
            <a:r>
              <a:rPr lang="en-US" sz="1245" b="1" dirty="0">
                <a:solidFill>
                  <a:schemeClr val="dk1"/>
                </a:solidFill>
              </a:rPr>
              <a:t> </a:t>
            </a:r>
            <a:r>
              <a:rPr lang="en-US" sz="1245" b="1" dirty="0" err="1">
                <a:solidFill>
                  <a:schemeClr val="dk1"/>
                </a:solidFill>
              </a:rPr>
              <a:t>tra</a:t>
            </a:r>
            <a:r>
              <a:rPr lang="en-US" sz="1245" b="1" dirty="0">
                <a:solidFill>
                  <a:schemeClr val="dk1"/>
                </a:solidFill>
              </a:rPr>
              <a:t> </a:t>
            </a:r>
            <a:r>
              <a:rPr lang="en-US" sz="1245" b="1" dirty="0" err="1">
                <a:solidFill>
                  <a:schemeClr val="dk1"/>
                </a:solidFill>
              </a:rPr>
              <a:t>sự</a:t>
            </a:r>
            <a:r>
              <a:rPr lang="en-US" sz="1245" b="1" dirty="0">
                <a:solidFill>
                  <a:schemeClr val="dk1"/>
                </a:solidFill>
              </a:rPr>
              <a:t> </a:t>
            </a:r>
            <a:r>
              <a:rPr lang="en-US" sz="1245" b="1" dirty="0" err="1">
                <a:solidFill>
                  <a:schemeClr val="dk1"/>
                </a:solidFill>
              </a:rPr>
              <a:t>cố</a:t>
            </a:r>
            <a:r>
              <a:rPr lang="en-US" sz="1245" b="1" dirty="0">
                <a:solidFill>
                  <a:schemeClr val="dk1"/>
                </a:solidFill>
              </a:rPr>
              <a:t>:</a:t>
            </a:r>
            <a:r>
              <a:rPr lang="en-US" sz="1245" dirty="0">
                <a:solidFill>
                  <a:schemeClr val="dk1"/>
                </a:solidFill>
              </a:rPr>
              <a:t> </a:t>
            </a:r>
            <a:r>
              <a:rPr lang="en-US" sz="1245" dirty="0" err="1">
                <a:solidFill>
                  <a:schemeClr val="dk1"/>
                </a:solidFill>
              </a:rPr>
              <a:t>Hỗ</a:t>
            </a:r>
            <a:r>
              <a:rPr lang="en-US" sz="1245" dirty="0">
                <a:solidFill>
                  <a:schemeClr val="dk1"/>
                </a:solidFill>
              </a:rPr>
              <a:t> </a:t>
            </a:r>
            <a:r>
              <a:rPr lang="en-US" sz="1245" dirty="0" err="1">
                <a:solidFill>
                  <a:schemeClr val="dk1"/>
                </a:solidFill>
              </a:rPr>
              <a:t>trợ</a:t>
            </a:r>
            <a:r>
              <a:rPr lang="en-US" sz="1245" dirty="0">
                <a:solidFill>
                  <a:schemeClr val="dk1"/>
                </a:solidFill>
              </a:rPr>
              <a:t> </a:t>
            </a:r>
            <a:r>
              <a:rPr lang="en-US" sz="1245" dirty="0" err="1">
                <a:solidFill>
                  <a:schemeClr val="dk1"/>
                </a:solidFill>
              </a:rPr>
              <a:t>truy</a:t>
            </a:r>
            <a:r>
              <a:rPr lang="en-US" sz="1245" dirty="0">
                <a:solidFill>
                  <a:schemeClr val="dk1"/>
                </a:solidFill>
              </a:rPr>
              <a:t> </a:t>
            </a:r>
            <a:r>
              <a:rPr lang="en-US" sz="1245" dirty="0" err="1">
                <a:solidFill>
                  <a:schemeClr val="dk1"/>
                </a:solidFill>
              </a:rPr>
              <a:t>tìm</a:t>
            </a:r>
            <a:r>
              <a:rPr lang="en-US" sz="1245" dirty="0">
                <a:solidFill>
                  <a:schemeClr val="dk1"/>
                </a:solidFill>
              </a:rPr>
              <a:t> </a:t>
            </a:r>
            <a:r>
              <a:rPr lang="en-US" sz="1245" dirty="0" err="1">
                <a:solidFill>
                  <a:schemeClr val="dk1"/>
                </a:solidFill>
              </a:rPr>
              <a:t>phương</a:t>
            </a:r>
            <a:r>
              <a:rPr lang="en-US" sz="1245" dirty="0">
                <a:solidFill>
                  <a:schemeClr val="dk1"/>
                </a:solidFill>
              </a:rPr>
              <a:t> </a:t>
            </a:r>
            <a:r>
              <a:rPr lang="en-US" sz="1245" dirty="0" err="1">
                <a:solidFill>
                  <a:schemeClr val="dk1"/>
                </a:solidFill>
              </a:rPr>
              <a:t>tiện</a:t>
            </a:r>
            <a:r>
              <a:rPr lang="en-US" sz="1245" dirty="0">
                <a:solidFill>
                  <a:schemeClr val="dk1"/>
                </a:solidFill>
              </a:rPr>
              <a:t> </a:t>
            </a:r>
            <a:r>
              <a:rPr lang="en-US" sz="1245" dirty="0" err="1">
                <a:solidFill>
                  <a:schemeClr val="dk1"/>
                </a:solidFill>
              </a:rPr>
              <a:t>liên</a:t>
            </a:r>
            <a:r>
              <a:rPr lang="en-US" sz="1245" dirty="0">
                <a:solidFill>
                  <a:schemeClr val="dk1"/>
                </a:solidFill>
              </a:rPr>
              <a:t> </a:t>
            </a:r>
            <a:r>
              <a:rPr lang="en-US" sz="1245" dirty="0" err="1">
                <a:solidFill>
                  <a:schemeClr val="dk1"/>
                </a:solidFill>
              </a:rPr>
              <a:t>quan</a:t>
            </a:r>
            <a:r>
              <a:rPr lang="en-US" sz="1245" dirty="0">
                <a:solidFill>
                  <a:schemeClr val="dk1"/>
                </a:solidFill>
              </a:rPr>
              <a:t> </a:t>
            </a:r>
            <a:r>
              <a:rPr lang="en-US" sz="1245" dirty="0" err="1">
                <a:solidFill>
                  <a:schemeClr val="dk1"/>
                </a:solidFill>
              </a:rPr>
              <a:t>đến</a:t>
            </a:r>
            <a:r>
              <a:rPr lang="en-US" sz="1245" dirty="0">
                <a:solidFill>
                  <a:schemeClr val="dk1"/>
                </a:solidFill>
              </a:rPr>
              <a:t> </a:t>
            </a:r>
            <a:r>
              <a:rPr lang="en-US" sz="1245" dirty="0" err="1">
                <a:solidFill>
                  <a:schemeClr val="dk1"/>
                </a:solidFill>
              </a:rPr>
              <a:t>các</a:t>
            </a:r>
            <a:r>
              <a:rPr lang="en-US" sz="1245" dirty="0">
                <a:solidFill>
                  <a:schemeClr val="dk1"/>
                </a:solidFill>
              </a:rPr>
              <a:t> </a:t>
            </a:r>
            <a:r>
              <a:rPr lang="en-US" sz="1245" dirty="0" err="1">
                <a:solidFill>
                  <a:schemeClr val="dk1"/>
                </a:solidFill>
              </a:rPr>
              <a:t>sự</a:t>
            </a:r>
            <a:r>
              <a:rPr lang="en-US" sz="1245" dirty="0">
                <a:solidFill>
                  <a:schemeClr val="dk1"/>
                </a:solidFill>
              </a:rPr>
              <a:t> </a:t>
            </a:r>
            <a:r>
              <a:rPr lang="en-US" sz="1245" dirty="0" err="1">
                <a:solidFill>
                  <a:schemeClr val="dk1"/>
                </a:solidFill>
              </a:rPr>
              <a:t>việc</a:t>
            </a:r>
            <a:r>
              <a:rPr lang="en-US" sz="1245" dirty="0">
                <a:solidFill>
                  <a:schemeClr val="dk1"/>
                </a:solidFill>
              </a:rPr>
              <a:t>, </a:t>
            </a:r>
            <a:r>
              <a:rPr lang="en-US" sz="1245" dirty="0" err="1">
                <a:solidFill>
                  <a:schemeClr val="dk1"/>
                </a:solidFill>
              </a:rPr>
              <a:t>vụ</a:t>
            </a:r>
            <a:r>
              <a:rPr lang="en-US" sz="1245" dirty="0">
                <a:solidFill>
                  <a:schemeClr val="dk1"/>
                </a:solidFill>
              </a:rPr>
              <a:t> </a:t>
            </a:r>
            <a:r>
              <a:rPr lang="en-US" sz="1245" dirty="0" err="1">
                <a:solidFill>
                  <a:schemeClr val="dk1"/>
                </a:solidFill>
              </a:rPr>
              <a:t>việc</a:t>
            </a:r>
            <a:r>
              <a:rPr lang="en-US" sz="1245" dirty="0">
                <a:solidFill>
                  <a:schemeClr val="dk1"/>
                </a:solidFill>
              </a:rPr>
              <a:t> </a:t>
            </a:r>
            <a:r>
              <a:rPr lang="en-US" sz="1245" dirty="0" err="1">
                <a:solidFill>
                  <a:schemeClr val="dk1"/>
                </a:solidFill>
              </a:rPr>
              <a:t>hoặc</a:t>
            </a:r>
            <a:r>
              <a:rPr lang="en-US" sz="1245" dirty="0">
                <a:solidFill>
                  <a:schemeClr val="dk1"/>
                </a:solidFill>
              </a:rPr>
              <a:t> </a:t>
            </a:r>
            <a:r>
              <a:rPr lang="en-US" sz="1245" dirty="0" err="1">
                <a:solidFill>
                  <a:schemeClr val="dk1"/>
                </a:solidFill>
              </a:rPr>
              <a:t>tình</a:t>
            </a:r>
            <a:r>
              <a:rPr lang="en-US" sz="1245" dirty="0">
                <a:solidFill>
                  <a:schemeClr val="dk1"/>
                </a:solidFill>
              </a:rPr>
              <a:t> </a:t>
            </a:r>
            <a:r>
              <a:rPr lang="en-US" sz="1245" dirty="0" err="1">
                <a:solidFill>
                  <a:schemeClr val="dk1"/>
                </a:solidFill>
              </a:rPr>
              <a:t>huống</a:t>
            </a:r>
            <a:r>
              <a:rPr lang="en-US" sz="1245" dirty="0">
                <a:solidFill>
                  <a:schemeClr val="dk1"/>
                </a:solidFill>
              </a:rPr>
              <a:t> </a:t>
            </a:r>
            <a:r>
              <a:rPr lang="en-US" sz="1245" dirty="0" err="1">
                <a:solidFill>
                  <a:schemeClr val="dk1"/>
                </a:solidFill>
              </a:rPr>
              <a:t>bất</a:t>
            </a:r>
            <a:r>
              <a:rPr lang="en-US" sz="1245" dirty="0">
                <a:solidFill>
                  <a:schemeClr val="dk1"/>
                </a:solidFill>
              </a:rPr>
              <a:t> </a:t>
            </a:r>
            <a:r>
              <a:rPr lang="en-US" sz="1245" dirty="0" err="1">
                <a:solidFill>
                  <a:schemeClr val="dk1"/>
                </a:solidFill>
              </a:rPr>
              <a:t>thường</a:t>
            </a:r>
            <a:r>
              <a:rPr lang="en-US" sz="1245" dirty="0">
                <a:solidFill>
                  <a:schemeClr val="dk1"/>
                </a:solidFill>
              </a:rPr>
              <a:t>.</a:t>
            </a:r>
            <a:endParaRPr sz="1341" dirty="0">
              <a:solidFill>
                <a:schemeClr val="dk1"/>
              </a:solidFill>
            </a:endParaRPr>
          </a:p>
          <a:p>
            <a:pPr marL="0" lvl="0" indent="0" algn="l" rtl="0">
              <a:spcBef>
                <a:spcPts val="0"/>
              </a:spcBef>
              <a:spcAft>
                <a:spcPts val="0"/>
              </a:spcAft>
              <a:buNone/>
            </a:pPr>
            <a:endParaRPr sz="1245" b="1" dirty="0">
              <a:solidFill>
                <a:schemeClr val="dk1"/>
              </a:solidFill>
            </a:endParaRPr>
          </a:p>
          <a:p>
            <a:pPr marL="0" lvl="0" indent="0" algn="ctr" rtl="0">
              <a:lnSpc>
                <a:spcPct val="115000"/>
              </a:lnSpc>
              <a:spcBef>
                <a:spcPts val="1134"/>
              </a:spcBef>
              <a:spcAft>
                <a:spcPts val="0"/>
              </a:spcAft>
              <a:buSzPts val="1039"/>
              <a:buNone/>
            </a:pPr>
            <a:endParaRPr sz="1134" b="1" dirty="0">
              <a:solidFill>
                <a:schemeClr val="lt1"/>
              </a:solidFill>
            </a:endParaRPr>
          </a:p>
          <a:p>
            <a:pPr marL="0" marR="0" lvl="0" indent="0" algn="ctr" rtl="0">
              <a:spcBef>
                <a:spcPts val="1134"/>
              </a:spcBef>
              <a:spcAft>
                <a:spcPts val="0"/>
              </a:spcAft>
              <a:buNone/>
            </a:pPr>
            <a:r>
              <a:rPr lang="en-US" sz="1323" b="1" dirty="0">
                <a:solidFill>
                  <a:srgbClr val="FFFFFF"/>
                </a:solidFill>
              </a:rPr>
              <a:t>V</a:t>
            </a:r>
            <a:endParaRPr sz="1323" b="1" dirty="0">
              <a:solidFill>
                <a:srgbClr val="FFFFFF"/>
              </a:solidFill>
            </a:endParaRPr>
          </a:p>
        </p:txBody>
      </p:sp>
      <p:sp>
        <p:nvSpPr>
          <p:cNvPr id="496" name="Google Shape;496;p14"/>
          <p:cNvSpPr/>
          <p:nvPr/>
        </p:nvSpPr>
        <p:spPr>
          <a:xfrm>
            <a:off x="7971940" y="4829348"/>
            <a:ext cx="3905100" cy="907437"/>
          </a:xfrm>
          <a:prstGeom prst="roundRect">
            <a:avLst>
              <a:gd name="adj" fmla="val 6000"/>
            </a:avLst>
          </a:prstGeom>
          <a:solidFill>
            <a:srgbClr val="E8EEFB"/>
          </a:solidFill>
          <a:ln>
            <a:noFill/>
          </a:ln>
        </p:spPr>
        <p:txBody>
          <a:bodyPr spcFirstLastPara="1" wrap="square" lIns="96000" tIns="48000" rIns="96000" bIns="48000" anchor="ctr" anchorCtr="0">
            <a:noAutofit/>
          </a:bodyPr>
          <a:lstStyle/>
          <a:p>
            <a:pPr marL="0" lvl="0" indent="0" algn="l" rtl="0">
              <a:lnSpc>
                <a:spcPct val="115000"/>
              </a:lnSpc>
              <a:spcBef>
                <a:spcPts val="1134"/>
              </a:spcBef>
              <a:spcAft>
                <a:spcPts val="0"/>
              </a:spcAft>
              <a:buSzPts val="1039"/>
              <a:buNone/>
            </a:pPr>
            <a:endParaRPr sz="1417" dirty="0">
              <a:solidFill>
                <a:schemeClr val="lt1"/>
              </a:solidFill>
            </a:endParaRPr>
          </a:p>
          <a:p>
            <a:pPr marL="0" lvl="0" indent="0" algn="l" rtl="0">
              <a:spcBef>
                <a:spcPts val="1134"/>
              </a:spcBef>
              <a:spcAft>
                <a:spcPts val="0"/>
              </a:spcAft>
              <a:buNone/>
            </a:pPr>
            <a:endParaRPr sz="1053" dirty="0">
              <a:solidFill>
                <a:schemeClr val="dk1"/>
              </a:solidFill>
            </a:endParaRPr>
          </a:p>
          <a:p>
            <a:pPr marL="0" lvl="0" indent="0" algn="l" rtl="0">
              <a:spcBef>
                <a:spcPts val="0"/>
              </a:spcBef>
              <a:spcAft>
                <a:spcPts val="0"/>
              </a:spcAft>
              <a:buNone/>
            </a:pPr>
            <a:endParaRPr sz="1053" dirty="0">
              <a:solidFill>
                <a:schemeClr val="dk1"/>
              </a:solidFill>
            </a:endParaRPr>
          </a:p>
          <a:p>
            <a:pPr marL="0" lvl="0" indent="0" algn="l" rtl="0">
              <a:spcBef>
                <a:spcPts val="0"/>
              </a:spcBef>
              <a:spcAft>
                <a:spcPts val="0"/>
              </a:spcAft>
              <a:buNone/>
            </a:pPr>
            <a:r>
              <a:rPr lang="en-US" sz="1245" b="1" dirty="0" err="1">
                <a:solidFill>
                  <a:schemeClr val="dk1"/>
                </a:solidFill>
              </a:rPr>
              <a:t>Hỗ</a:t>
            </a:r>
            <a:r>
              <a:rPr lang="en-US" sz="1245" b="1" dirty="0">
                <a:solidFill>
                  <a:schemeClr val="dk1"/>
                </a:solidFill>
              </a:rPr>
              <a:t> </a:t>
            </a:r>
            <a:r>
              <a:rPr lang="en-US" sz="1245" b="1" dirty="0" err="1">
                <a:solidFill>
                  <a:schemeClr val="dk1"/>
                </a:solidFill>
              </a:rPr>
              <a:t>trợ</a:t>
            </a:r>
            <a:r>
              <a:rPr lang="en-US" sz="1245" b="1" dirty="0">
                <a:solidFill>
                  <a:schemeClr val="dk1"/>
                </a:solidFill>
              </a:rPr>
              <a:t> an </a:t>
            </a:r>
            <a:r>
              <a:rPr lang="en-US" sz="1245" b="1" dirty="0" err="1">
                <a:solidFill>
                  <a:schemeClr val="dk1"/>
                </a:solidFill>
              </a:rPr>
              <a:t>ninh</a:t>
            </a:r>
            <a:r>
              <a:rPr lang="en-US" sz="1245" b="1" dirty="0">
                <a:solidFill>
                  <a:schemeClr val="dk1"/>
                </a:solidFill>
              </a:rPr>
              <a:t>: </a:t>
            </a:r>
            <a:r>
              <a:rPr lang="en-US" sz="1245" dirty="0">
                <a:solidFill>
                  <a:schemeClr val="dk1"/>
                </a:solidFill>
              </a:rPr>
              <a:t>Cung </a:t>
            </a:r>
            <a:r>
              <a:rPr lang="en-US" sz="1245" dirty="0" err="1">
                <a:solidFill>
                  <a:schemeClr val="dk1"/>
                </a:solidFill>
              </a:rPr>
              <a:t>cấp</a:t>
            </a:r>
            <a:r>
              <a:rPr lang="en-US" sz="1245" dirty="0">
                <a:solidFill>
                  <a:schemeClr val="dk1"/>
                </a:solidFill>
              </a:rPr>
              <a:t> </a:t>
            </a:r>
            <a:r>
              <a:rPr lang="en-US" sz="1245" dirty="0" err="1">
                <a:solidFill>
                  <a:schemeClr val="dk1"/>
                </a:solidFill>
              </a:rPr>
              <a:t>lịch</a:t>
            </a:r>
            <a:r>
              <a:rPr lang="en-US" sz="1245" dirty="0">
                <a:solidFill>
                  <a:schemeClr val="dk1"/>
                </a:solidFill>
              </a:rPr>
              <a:t> </a:t>
            </a:r>
            <a:r>
              <a:rPr lang="en-US" sz="1245" dirty="0" err="1">
                <a:solidFill>
                  <a:schemeClr val="dk1"/>
                </a:solidFill>
              </a:rPr>
              <a:t>sử</a:t>
            </a:r>
            <a:r>
              <a:rPr lang="en-US" sz="1245" dirty="0">
                <a:solidFill>
                  <a:schemeClr val="dk1"/>
                </a:solidFill>
              </a:rPr>
              <a:t> di </a:t>
            </a:r>
            <a:r>
              <a:rPr lang="en-US" sz="1245" dirty="0" err="1">
                <a:solidFill>
                  <a:schemeClr val="dk1"/>
                </a:solidFill>
              </a:rPr>
              <a:t>chuyển</a:t>
            </a:r>
            <a:r>
              <a:rPr lang="en-US" sz="1245" dirty="0">
                <a:solidFill>
                  <a:schemeClr val="dk1"/>
                </a:solidFill>
              </a:rPr>
              <a:t> </a:t>
            </a:r>
            <a:r>
              <a:rPr lang="en-US" sz="1245" dirty="0" err="1">
                <a:solidFill>
                  <a:schemeClr val="dk1"/>
                </a:solidFill>
              </a:rPr>
              <a:t>để</a:t>
            </a:r>
            <a:r>
              <a:rPr lang="en-US" sz="1245" dirty="0">
                <a:solidFill>
                  <a:schemeClr val="dk1"/>
                </a:solidFill>
              </a:rPr>
              <a:t> </a:t>
            </a:r>
            <a:r>
              <a:rPr lang="en-US" sz="1245" dirty="0" err="1">
                <a:solidFill>
                  <a:schemeClr val="dk1"/>
                </a:solidFill>
              </a:rPr>
              <a:t>phục</a:t>
            </a:r>
            <a:r>
              <a:rPr lang="en-US" sz="1245" dirty="0">
                <a:solidFill>
                  <a:schemeClr val="dk1"/>
                </a:solidFill>
              </a:rPr>
              <a:t> </a:t>
            </a:r>
            <a:r>
              <a:rPr lang="en-US" sz="1245" dirty="0" err="1">
                <a:solidFill>
                  <a:schemeClr val="dk1"/>
                </a:solidFill>
              </a:rPr>
              <a:t>vụ</a:t>
            </a:r>
            <a:r>
              <a:rPr lang="en-US" sz="1245" dirty="0">
                <a:solidFill>
                  <a:schemeClr val="dk1"/>
                </a:solidFill>
              </a:rPr>
              <a:t> </a:t>
            </a:r>
            <a:r>
              <a:rPr lang="en-US" sz="1245" dirty="0" err="1">
                <a:solidFill>
                  <a:schemeClr val="dk1"/>
                </a:solidFill>
              </a:rPr>
              <a:t>kiểm</a:t>
            </a:r>
            <a:r>
              <a:rPr lang="en-US" sz="1245" dirty="0">
                <a:solidFill>
                  <a:schemeClr val="dk1"/>
                </a:solidFill>
              </a:rPr>
              <a:t> </a:t>
            </a:r>
            <a:r>
              <a:rPr lang="en-US" sz="1245" dirty="0" err="1">
                <a:solidFill>
                  <a:schemeClr val="dk1"/>
                </a:solidFill>
              </a:rPr>
              <a:t>tra</a:t>
            </a:r>
            <a:r>
              <a:rPr lang="en-US" sz="1245" dirty="0">
                <a:solidFill>
                  <a:schemeClr val="dk1"/>
                </a:solidFill>
              </a:rPr>
              <a:t>, </a:t>
            </a:r>
            <a:r>
              <a:rPr lang="en-US" sz="1245" dirty="0" err="1">
                <a:solidFill>
                  <a:schemeClr val="dk1"/>
                </a:solidFill>
              </a:rPr>
              <a:t>xác</a:t>
            </a:r>
            <a:r>
              <a:rPr lang="en-US" sz="1245" dirty="0">
                <a:solidFill>
                  <a:schemeClr val="dk1"/>
                </a:solidFill>
              </a:rPr>
              <a:t> </a:t>
            </a:r>
            <a:r>
              <a:rPr lang="en-US" sz="1245" dirty="0" err="1">
                <a:solidFill>
                  <a:schemeClr val="dk1"/>
                </a:solidFill>
              </a:rPr>
              <a:t>minh</a:t>
            </a:r>
            <a:r>
              <a:rPr lang="en-US" sz="1245" dirty="0">
                <a:solidFill>
                  <a:schemeClr val="dk1"/>
                </a:solidFill>
              </a:rPr>
              <a:t> </a:t>
            </a:r>
            <a:r>
              <a:rPr lang="en-US" sz="1245" dirty="0" err="1">
                <a:solidFill>
                  <a:schemeClr val="dk1"/>
                </a:solidFill>
              </a:rPr>
              <a:t>và</a:t>
            </a:r>
            <a:r>
              <a:rPr lang="en-US" sz="1245" dirty="0">
                <a:solidFill>
                  <a:schemeClr val="dk1"/>
                </a:solidFill>
              </a:rPr>
              <a:t> </a:t>
            </a:r>
            <a:r>
              <a:rPr lang="en-US" sz="1245" dirty="0" err="1">
                <a:solidFill>
                  <a:schemeClr val="dk1"/>
                </a:solidFill>
              </a:rPr>
              <a:t>xử</a:t>
            </a:r>
            <a:r>
              <a:rPr lang="en-US" sz="1245" dirty="0">
                <a:solidFill>
                  <a:schemeClr val="dk1"/>
                </a:solidFill>
              </a:rPr>
              <a:t> </a:t>
            </a:r>
            <a:r>
              <a:rPr lang="en-US" sz="1245" dirty="0" err="1">
                <a:solidFill>
                  <a:schemeClr val="dk1"/>
                </a:solidFill>
              </a:rPr>
              <a:t>lý</a:t>
            </a:r>
            <a:r>
              <a:rPr lang="en-US" sz="1245" dirty="0">
                <a:solidFill>
                  <a:schemeClr val="dk1"/>
                </a:solidFill>
              </a:rPr>
              <a:t> </a:t>
            </a:r>
            <a:r>
              <a:rPr lang="en-US" sz="1245" dirty="0" err="1">
                <a:solidFill>
                  <a:schemeClr val="dk1"/>
                </a:solidFill>
              </a:rPr>
              <a:t>các</a:t>
            </a:r>
            <a:r>
              <a:rPr lang="en-US" sz="1245" dirty="0">
                <a:solidFill>
                  <a:schemeClr val="dk1"/>
                </a:solidFill>
              </a:rPr>
              <a:t> </a:t>
            </a:r>
            <a:r>
              <a:rPr lang="en-US" sz="1245" dirty="0" err="1">
                <a:solidFill>
                  <a:schemeClr val="dk1"/>
                </a:solidFill>
              </a:rPr>
              <a:t>tình</a:t>
            </a:r>
            <a:r>
              <a:rPr lang="en-US" sz="1245" dirty="0">
                <a:solidFill>
                  <a:schemeClr val="dk1"/>
                </a:solidFill>
              </a:rPr>
              <a:t> </a:t>
            </a:r>
            <a:r>
              <a:rPr lang="en-US" sz="1245" dirty="0" err="1">
                <a:solidFill>
                  <a:schemeClr val="dk1"/>
                </a:solidFill>
              </a:rPr>
              <a:t>huống</a:t>
            </a:r>
            <a:r>
              <a:rPr lang="en-US" sz="1245" dirty="0">
                <a:solidFill>
                  <a:schemeClr val="dk1"/>
                </a:solidFill>
              </a:rPr>
              <a:t> </a:t>
            </a:r>
            <a:r>
              <a:rPr lang="en-US" sz="1245" dirty="0" err="1">
                <a:solidFill>
                  <a:schemeClr val="dk1"/>
                </a:solidFill>
              </a:rPr>
              <a:t>cần</a:t>
            </a:r>
            <a:r>
              <a:rPr lang="en-US" sz="1245" dirty="0">
                <a:solidFill>
                  <a:schemeClr val="dk1"/>
                </a:solidFill>
              </a:rPr>
              <a:t> </a:t>
            </a:r>
            <a:r>
              <a:rPr lang="en-US" sz="1245" dirty="0" err="1">
                <a:solidFill>
                  <a:schemeClr val="dk1"/>
                </a:solidFill>
              </a:rPr>
              <a:t>theo</a:t>
            </a:r>
            <a:r>
              <a:rPr lang="en-US" sz="1245" dirty="0">
                <a:solidFill>
                  <a:schemeClr val="dk1"/>
                </a:solidFill>
              </a:rPr>
              <a:t> </a:t>
            </a:r>
            <a:r>
              <a:rPr lang="en-US" sz="1245" dirty="0" err="1">
                <a:solidFill>
                  <a:schemeClr val="dk1"/>
                </a:solidFill>
              </a:rPr>
              <a:t>dõi</a:t>
            </a:r>
            <a:r>
              <a:rPr lang="en-US" sz="1245" dirty="0">
                <a:solidFill>
                  <a:schemeClr val="dk1"/>
                </a:solidFill>
              </a:rPr>
              <a:t>.</a:t>
            </a:r>
            <a:endParaRPr sz="1245" b="1" dirty="0">
              <a:solidFill>
                <a:schemeClr val="dk1"/>
              </a:solidFill>
            </a:endParaRPr>
          </a:p>
          <a:p>
            <a:pPr marL="0" lvl="0" indent="0" algn="l" rtl="0">
              <a:spcBef>
                <a:spcPts val="0"/>
              </a:spcBef>
              <a:spcAft>
                <a:spcPts val="0"/>
              </a:spcAft>
              <a:buNone/>
            </a:pPr>
            <a:endParaRPr sz="1245" b="1" dirty="0">
              <a:solidFill>
                <a:schemeClr val="dk1"/>
              </a:solidFill>
            </a:endParaRPr>
          </a:p>
          <a:p>
            <a:pPr marL="0" lvl="0" indent="0" algn="ctr" rtl="0">
              <a:lnSpc>
                <a:spcPct val="115000"/>
              </a:lnSpc>
              <a:spcBef>
                <a:spcPts val="1134"/>
              </a:spcBef>
              <a:spcAft>
                <a:spcPts val="0"/>
              </a:spcAft>
              <a:buSzPts val="1039"/>
              <a:buNone/>
            </a:pPr>
            <a:endParaRPr sz="1134" b="1" dirty="0">
              <a:solidFill>
                <a:schemeClr val="lt1"/>
              </a:solidFill>
            </a:endParaRPr>
          </a:p>
          <a:p>
            <a:pPr marL="0" marR="0" lvl="0" indent="0" algn="ctr" rtl="0">
              <a:spcBef>
                <a:spcPts val="1134"/>
              </a:spcBef>
              <a:spcAft>
                <a:spcPts val="0"/>
              </a:spcAft>
              <a:buNone/>
            </a:pPr>
            <a:r>
              <a:rPr lang="en-US" sz="1323" b="1" dirty="0">
                <a:solidFill>
                  <a:srgbClr val="FFFFFF"/>
                </a:solidFill>
              </a:rPr>
              <a:t>V</a:t>
            </a:r>
            <a:endParaRPr sz="1323" b="1" dirty="0">
              <a:solidFill>
                <a:srgbClr val="FFFFFF"/>
              </a:solidFill>
            </a:endParaRPr>
          </a:p>
        </p:txBody>
      </p:sp>
      <p:pic>
        <p:nvPicPr>
          <p:cNvPr id="497" name="Google Shape;497;p14"/>
          <p:cNvPicPr preferRelativeResize="0"/>
          <p:nvPr/>
        </p:nvPicPr>
        <p:blipFill>
          <a:blip r:embed="rId5">
            <a:alphaModFix/>
          </a:blip>
          <a:stretch>
            <a:fillRect/>
          </a:stretch>
        </p:blipFill>
        <p:spPr>
          <a:xfrm>
            <a:off x="502852" y="1451091"/>
            <a:ext cx="3084434" cy="1448651"/>
          </a:xfrm>
          <a:prstGeom prst="rect">
            <a:avLst/>
          </a:prstGeom>
          <a:noFill/>
          <a:ln>
            <a:noFill/>
          </a:ln>
        </p:spPr>
      </p:pic>
      <p:pic>
        <p:nvPicPr>
          <p:cNvPr id="498" name="Google Shape;498;p14"/>
          <p:cNvPicPr preferRelativeResize="0"/>
          <p:nvPr/>
        </p:nvPicPr>
        <p:blipFill>
          <a:blip r:embed="rId6">
            <a:alphaModFix/>
          </a:blip>
          <a:stretch>
            <a:fillRect/>
          </a:stretch>
        </p:blipFill>
        <p:spPr>
          <a:xfrm rot="-854049">
            <a:off x="6961102" y="193815"/>
            <a:ext cx="913900" cy="913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3"/>
        <p:cNvGrpSpPr/>
        <p:nvPr/>
      </p:nvGrpSpPr>
      <p:grpSpPr>
        <a:xfrm>
          <a:off x="0" y="0"/>
          <a:ext cx="0" cy="0"/>
          <a:chOff x="0" y="0"/>
          <a:chExt cx="0" cy="0"/>
        </a:xfrm>
      </p:grpSpPr>
      <p:sp>
        <p:nvSpPr>
          <p:cNvPr id="504" name="Google Shape;504;p15"/>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1 · CHÁY, KHÓI</a:t>
            </a:r>
            <a:endParaRPr/>
          </a:p>
        </p:txBody>
      </p:sp>
      <p:sp>
        <p:nvSpPr>
          <p:cNvPr id="505" name="Google Shape;505;p15"/>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Phát hiện cháy khói</a:t>
            </a:r>
            <a:endParaRPr sz="2600" b="1">
              <a:solidFill>
                <a:srgbClr val="1E3A8A"/>
              </a:solidFill>
            </a:endParaRPr>
          </a:p>
        </p:txBody>
      </p:sp>
      <p:sp>
        <p:nvSpPr>
          <p:cNvPr id="506" name="Google Shape;506;p15"/>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7" name="Google Shape;507;p15"/>
          <p:cNvSpPr txBox="1"/>
          <p:nvPr/>
        </p:nvSpPr>
        <p:spPr>
          <a:xfrm>
            <a:off x="10680825" y="6237375"/>
            <a:ext cx="1269900" cy="3693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6B7280"/>
                </a:solidFill>
                <a:latin typeface="Quattrocento Sans"/>
                <a:ea typeface="Quattrocento Sans"/>
                <a:cs typeface="Quattrocento Sans"/>
                <a:sym typeface="Quattrocento Sans"/>
              </a:rPr>
              <a:t>11</a:t>
            </a:r>
            <a:endParaRPr/>
          </a:p>
        </p:txBody>
      </p:sp>
      <p:sp>
        <p:nvSpPr>
          <p:cNvPr id="508" name="Google Shape;508;p15"/>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509" name="Google Shape;509;p15"/>
          <p:cNvSpPr/>
          <p:nvPr/>
        </p:nvSpPr>
        <p:spPr>
          <a:xfrm>
            <a:off x="88900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1</a:t>
            </a:r>
            <a:endParaRPr/>
          </a:p>
        </p:txBody>
      </p:sp>
      <p:sp>
        <p:nvSpPr>
          <p:cNvPr id="510" name="Google Shape;510;p15"/>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511" name="Google Shape;511;p15"/>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512" name="Google Shape;512;p15"/>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513" name="Google Shape;513;p15"/>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514" name="Google Shape;514;p15"/>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515" name="Google Shape;515;p15"/>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516" name="Google Shape;516;p15"/>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517" name="Google Shape;517;p15"/>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518" name="Google Shape;518;p15"/>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sự kiện › Sự kiện cháy, khói  </a:t>
            </a:r>
            <a:endParaRPr sz="1050">
              <a:solidFill>
                <a:srgbClr val="1E3A8A"/>
              </a:solidFill>
            </a:endParaRPr>
          </a:p>
        </p:txBody>
      </p:sp>
      <p:sp>
        <p:nvSpPr>
          <p:cNvPr id="519" name="Google Shape;519;p15"/>
          <p:cNvSpPr txBox="1"/>
          <p:nvPr/>
        </p:nvSpPr>
        <p:spPr>
          <a:xfrm>
            <a:off x="463650" y="1806125"/>
            <a:ext cx="2842800" cy="369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500" b="1">
                <a:solidFill>
                  <a:srgbClr val="1E3A8A"/>
                </a:solidFill>
              </a:rPr>
              <a:t>Giá trị ứng dụng thực tế: </a:t>
            </a:r>
            <a:endParaRPr sz="1500" b="1">
              <a:solidFill>
                <a:srgbClr val="1E3A8A"/>
              </a:solidFill>
            </a:endParaRPr>
          </a:p>
          <a:p>
            <a:pPr marL="0" marR="0" lvl="0" indent="0" algn="l" rtl="0">
              <a:lnSpc>
                <a:spcPct val="115000"/>
              </a:lnSpc>
              <a:spcBef>
                <a:spcPts val="0"/>
              </a:spcBef>
              <a:spcAft>
                <a:spcPts val="0"/>
              </a:spcAft>
              <a:buNone/>
            </a:pPr>
            <a:endParaRPr sz="1300" b="1">
              <a:solidFill>
                <a:srgbClr val="1E3A8A"/>
              </a:solidFill>
            </a:endParaRPr>
          </a:p>
          <a:p>
            <a:pPr marL="171450" marR="0" lvl="0" indent="-165100" algn="l" rtl="0">
              <a:lnSpc>
                <a:spcPct val="150000"/>
              </a:lnSpc>
              <a:spcBef>
                <a:spcPts val="0"/>
              </a:spcBef>
              <a:spcAft>
                <a:spcPts val="0"/>
              </a:spcAft>
              <a:buClr>
                <a:schemeClr val="dk1"/>
              </a:buClr>
              <a:buSzPts val="1100"/>
              <a:buChar char="•"/>
            </a:pPr>
            <a:r>
              <a:rPr lang="en-US" sz="1100">
                <a:solidFill>
                  <a:schemeClr val="dk1"/>
                </a:solidFill>
              </a:rPr>
              <a:t>Phát hiện sớm nguy cơ cháy: Camera tự động nhận diện dấu hiệu cháy hoặc khói trong khu vực giám sát</a:t>
            </a:r>
            <a:endParaRPr sz="1100">
              <a:solidFill>
                <a:schemeClr val="dk1"/>
              </a:solidFill>
            </a:endParaRPr>
          </a:p>
          <a:p>
            <a:pPr marL="171450" marR="0" lvl="0" indent="-165100" algn="l" rtl="0">
              <a:lnSpc>
                <a:spcPct val="150000"/>
              </a:lnSpc>
              <a:spcBef>
                <a:spcPts val="0"/>
              </a:spcBef>
              <a:spcAft>
                <a:spcPts val="0"/>
              </a:spcAft>
              <a:buClr>
                <a:schemeClr val="dk1"/>
              </a:buClr>
              <a:buSzPts val="1100"/>
              <a:buChar char="•"/>
            </a:pPr>
            <a:r>
              <a:rPr lang="en-US" sz="1100">
                <a:solidFill>
                  <a:schemeClr val="dk1"/>
                </a:solidFill>
              </a:rPr>
              <a:t>Cảnh báo và xử lý kịp thời: Khi phát hiện sự kiện, hệ thống ghi nhận hình ảnh, thời gian, vị trí và camera phát hiện; đồng thời gửi cảnh báo để nhân viên an ninh/kỹ thuật nhanh chóng kiểm tra và xử lý. </a:t>
            </a:r>
            <a:endParaRPr sz="1300"/>
          </a:p>
          <a:p>
            <a:pPr marL="171450" marR="0" lvl="0" indent="-165100" algn="l" rtl="0">
              <a:lnSpc>
                <a:spcPct val="150000"/>
              </a:lnSpc>
              <a:spcBef>
                <a:spcPts val="0"/>
              </a:spcBef>
              <a:spcAft>
                <a:spcPts val="0"/>
              </a:spcAft>
              <a:buClr>
                <a:schemeClr val="dk1"/>
              </a:buClr>
              <a:buSzPts val="1100"/>
              <a:buChar char="•"/>
            </a:pPr>
            <a:r>
              <a:rPr lang="en-US" sz="1100">
                <a:solidFill>
                  <a:schemeClr val="dk1"/>
                </a:solidFill>
              </a:rPr>
              <a:t>Giám sát các khu vực có nguy cơ cao: Theo dõi liên tục tại nhà xưởng, kho hàng, phòng máy, bãi xe hoặc các khu vực tập trung nhiều thiết bị/vật liệu dễ cháy. </a:t>
            </a:r>
            <a:endParaRPr sz="1300"/>
          </a:p>
          <a:p>
            <a:pPr marL="171450" marR="0" lvl="0" indent="-165100" algn="l" rtl="0">
              <a:lnSpc>
                <a:spcPct val="150000"/>
              </a:lnSpc>
              <a:spcBef>
                <a:spcPts val="0"/>
              </a:spcBef>
              <a:spcAft>
                <a:spcPts val="0"/>
              </a:spcAft>
              <a:buClr>
                <a:schemeClr val="dk1"/>
              </a:buClr>
              <a:buSzPts val="1100"/>
              <a:buChar char="•"/>
            </a:pPr>
            <a:r>
              <a:rPr lang="en-US" sz="1100">
                <a:solidFill>
                  <a:schemeClr val="dk1"/>
                </a:solidFill>
              </a:rPr>
              <a:t>Hỗ trợ truy vết sự cố: Lưu lại các sự kiện cháy, khói theo thời gian và khu vực, hỗ trợ kiểm tra, xác định thời điểm phát sinh và phục vụ công tác điều tra sau sự cố.</a:t>
            </a:r>
            <a:endParaRPr sz="1300"/>
          </a:p>
          <a:p>
            <a:pPr marL="0" marR="0" lvl="0" indent="0" algn="l" rtl="0">
              <a:spcBef>
                <a:spcPts val="0"/>
              </a:spcBef>
              <a:spcAft>
                <a:spcPts val="0"/>
              </a:spcAft>
              <a:buNone/>
            </a:pPr>
            <a:br>
              <a:rPr lang="en-US" sz="1700">
                <a:solidFill>
                  <a:schemeClr val="dk1"/>
                </a:solidFill>
                <a:latin typeface="Calibri"/>
                <a:ea typeface="Calibri"/>
                <a:cs typeface="Calibri"/>
                <a:sym typeface="Calibri"/>
              </a:rPr>
            </a:br>
            <a:endParaRPr sz="17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300">
              <a:solidFill>
                <a:srgbClr val="1F2937"/>
              </a:solidFill>
              <a:latin typeface="Quattrocento Sans"/>
              <a:ea typeface="Quattrocento Sans"/>
              <a:cs typeface="Quattrocento Sans"/>
              <a:sym typeface="Quattrocento Sans"/>
            </a:endParaRPr>
          </a:p>
        </p:txBody>
      </p:sp>
      <p:sp>
        <p:nvSpPr>
          <p:cNvPr id="520" name="Google Shape;520;p15"/>
          <p:cNvSpPr/>
          <p:nvPr/>
        </p:nvSpPr>
        <p:spPr>
          <a:xfrm>
            <a:off x="3529825" y="4855150"/>
            <a:ext cx="2706000" cy="1725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1" name="Google Shape;521;p15"/>
          <p:cNvSpPr/>
          <p:nvPr/>
        </p:nvSpPr>
        <p:spPr>
          <a:xfrm>
            <a:off x="3733925" y="4956739"/>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522" name="Google Shape;522;p15"/>
          <p:cNvSpPr txBox="1"/>
          <p:nvPr/>
        </p:nvSpPr>
        <p:spPr>
          <a:xfrm>
            <a:off x="4172200" y="5028839"/>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Phát hiện cảnh báo</a:t>
            </a:r>
            <a:endParaRPr sz="1200" b="1">
              <a:solidFill>
                <a:srgbClr val="1E3A8A"/>
              </a:solidFill>
            </a:endParaRPr>
          </a:p>
        </p:txBody>
      </p:sp>
      <p:sp>
        <p:nvSpPr>
          <p:cNvPr id="523" name="Google Shape;523;p15"/>
          <p:cNvSpPr txBox="1"/>
          <p:nvPr/>
        </p:nvSpPr>
        <p:spPr>
          <a:xfrm>
            <a:off x="3681750" y="5398150"/>
            <a:ext cx="2401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Camera AI tự động phát hiện ngọn lửa hoặc đám khói, gửi dữ liệu cảnh báo về hệ thống EMS dưới dạng thẻ sự kiện thời gian thực. Thông tin thẻ bao gồm: Hình ảnh/video cắt từ sự kiện, mốc thời gian, tên camera, vị trí lắp đặt và phân loại sự kiện (cháy, khói hoặc cả hai).</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050">
              <a:solidFill>
                <a:srgbClr val="1F2937"/>
              </a:solidFill>
              <a:latin typeface="Quattrocento Sans"/>
              <a:ea typeface="Quattrocento Sans"/>
              <a:cs typeface="Quattrocento Sans"/>
              <a:sym typeface="Quattrocento Sans"/>
            </a:endParaRPr>
          </a:p>
        </p:txBody>
      </p:sp>
      <p:sp>
        <p:nvSpPr>
          <p:cNvPr id="524" name="Google Shape;524;p15"/>
          <p:cNvSpPr/>
          <p:nvPr/>
        </p:nvSpPr>
        <p:spPr>
          <a:xfrm>
            <a:off x="6349675" y="4845400"/>
            <a:ext cx="2706000" cy="1725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15"/>
          <p:cNvSpPr/>
          <p:nvPr/>
        </p:nvSpPr>
        <p:spPr>
          <a:xfrm>
            <a:off x="6456700" y="4966339"/>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526" name="Google Shape;526;p15"/>
          <p:cNvSpPr txBox="1"/>
          <p:nvPr/>
        </p:nvSpPr>
        <p:spPr>
          <a:xfrm>
            <a:off x="6888500" y="5004439"/>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Lọc sự kiện</a:t>
            </a:r>
            <a:endParaRPr sz="1200" b="1">
              <a:solidFill>
                <a:srgbClr val="1E3A8A"/>
              </a:solidFill>
            </a:endParaRPr>
          </a:p>
        </p:txBody>
      </p:sp>
      <p:sp>
        <p:nvSpPr>
          <p:cNvPr id="527" name="Google Shape;527;p15"/>
          <p:cNvSpPr txBox="1"/>
          <p:nvPr/>
        </p:nvSpPr>
        <p:spPr>
          <a:xfrm>
            <a:off x="6482100" y="5398150"/>
            <a:ext cx="2434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Tìm kiếm lịch sử cảnh báo cháy/khói theo thời gian, vị trí hoặc nhóm camera giám sát. Theo dõi diễn biến: Đánh giá chuỗi sự kiện phát hiện cháy/khói liên tiếp trên các camera theo khu vực để phục vụ công tác ứng phó.</a:t>
            </a:r>
            <a:endParaRPr sz="1000">
              <a:solidFill>
                <a:srgbClr val="1F2937"/>
              </a:solidFill>
            </a:endParaRPr>
          </a:p>
        </p:txBody>
      </p:sp>
      <p:sp>
        <p:nvSpPr>
          <p:cNvPr id="528" name="Google Shape;528;p15"/>
          <p:cNvSpPr/>
          <p:nvPr/>
        </p:nvSpPr>
        <p:spPr>
          <a:xfrm>
            <a:off x="9169525" y="4855150"/>
            <a:ext cx="2781300" cy="1725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9" name="Google Shape;529;p15"/>
          <p:cNvSpPr/>
          <p:nvPr/>
        </p:nvSpPr>
        <p:spPr>
          <a:xfrm>
            <a:off x="9296525" y="4956739"/>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530" name="Google Shape;530;p15"/>
          <p:cNvSpPr txBox="1"/>
          <p:nvPr/>
        </p:nvSpPr>
        <p:spPr>
          <a:xfrm>
            <a:off x="9728325" y="4994839"/>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Trích xuất thông tin</a:t>
            </a:r>
            <a:endParaRPr/>
          </a:p>
        </p:txBody>
      </p:sp>
      <p:sp>
        <p:nvSpPr>
          <p:cNvPr id="531" name="Google Shape;531;p15"/>
          <p:cNvSpPr txBox="1"/>
          <p:nvPr/>
        </p:nvSpPr>
        <p:spPr>
          <a:xfrm>
            <a:off x="9321925" y="5388550"/>
            <a:ext cx="2464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Xem chi tiết ảnh chụp toàn cảnh, đoạn video ngắn ghi nhận khoảnh khắc phát sinh cháy/khói. Xác thực cảnh báo: Kiểm tra vị trí chính xác trên bản đồ, mốc thời gian phát hiện và độ tin cậy của thuật toán AI để kích hoạt quy trình xử lý sự cố.</a:t>
            </a:r>
            <a:endParaRPr sz="1000">
              <a:solidFill>
                <a:srgbClr val="1F2937"/>
              </a:solidFill>
            </a:endParaRPr>
          </a:p>
        </p:txBody>
      </p:sp>
      <p:pic>
        <p:nvPicPr>
          <p:cNvPr id="532" name="Google Shape;532;p15" title="Screenshot 2026-10-09 145952.png"/>
          <p:cNvPicPr preferRelativeResize="0"/>
          <p:nvPr/>
        </p:nvPicPr>
        <p:blipFill>
          <a:blip r:embed="rId3">
            <a:alphaModFix/>
          </a:blip>
          <a:stretch>
            <a:fillRect/>
          </a:stretch>
        </p:blipFill>
        <p:spPr>
          <a:xfrm>
            <a:off x="3622925" y="2155739"/>
            <a:ext cx="4091250" cy="2292174"/>
          </a:xfrm>
          <a:prstGeom prst="rect">
            <a:avLst/>
          </a:prstGeom>
          <a:noFill/>
          <a:ln>
            <a:noFill/>
          </a:ln>
        </p:spPr>
      </p:pic>
      <p:pic>
        <p:nvPicPr>
          <p:cNvPr id="533" name="Google Shape;533;p15" title="Screenshot 2026-10-09 150038.png"/>
          <p:cNvPicPr preferRelativeResize="0"/>
          <p:nvPr/>
        </p:nvPicPr>
        <p:blipFill>
          <a:blip r:embed="rId4">
            <a:alphaModFix/>
          </a:blip>
          <a:stretch>
            <a:fillRect/>
          </a:stretch>
        </p:blipFill>
        <p:spPr>
          <a:xfrm>
            <a:off x="7780225" y="2181775"/>
            <a:ext cx="3995852" cy="2235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8"/>
        <p:cNvGrpSpPr/>
        <p:nvPr/>
      </p:nvGrpSpPr>
      <p:grpSpPr>
        <a:xfrm>
          <a:off x="0" y="0"/>
          <a:ext cx="0" cy="0"/>
          <a:chOff x="0" y="0"/>
          <a:chExt cx="0" cy="0"/>
        </a:xfrm>
      </p:grpSpPr>
      <p:sp>
        <p:nvSpPr>
          <p:cNvPr id="539" name="Google Shape;539;h1e75b8713011cdf_2_156"/>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1 · NHẬN DIỆN HÀNH VI </a:t>
            </a:r>
            <a:endParaRPr/>
          </a:p>
        </p:txBody>
      </p:sp>
      <p:sp>
        <p:nvSpPr>
          <p:cNvPr id="540" name="Google Shape;540;h1e75b8713011cdf_2_156"/>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Phát hiện lảng vảng </a:t>
            </a:r>
            <a:endParaRPr sz="2600" b="1">
              <a:solidFill>
                <a:srgbClr val="1E3A8A"/>
              </a:solidFill>
            </a:endParaRPr>
          </a:p>
        </p:txBody>
      </p:sp>
      <p:sp>
        <p:nvSpPr>
          <p:cNvPr id="541" name="Google Shape;541;h1e75b8713011cdf_2_156"/>
          <p:cNvSpPr/>
          <p:nvPr/>
        </p:nvSpPr>
        <p:spPr>
          <a:xfrm>
            <a:off x="609600" y="116840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2" name="Google Shape;542;h1e75b8713011cdf_2_156"/>
          <p:cNvSpPr txBox="1"/>
          <p:nvPr/>
        </p:nvSpPr>
        <p:spPr>
          <a:xfrm>
            <a:off x="8128000" y="381000"/>
            <a:ext cx="660300" cy="3693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543" name="Google Shape;543;h1e75b8713011cdf_2_156"/>
          <p:cNvSpPr/>
          <p:nvPr/>
        </p:nvSpPr>
        <p:spPr>
          <a:xfrm>
            <a:off x="8890000" y="330200"/>
            <a:ext cx="279300" cy="2541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1</a:t>
            </a:r>
            <a:endParaRPr/>
          </a:p>
        </p:txBody>
      </p:sp>
      <p:sp>
        <p:nvSpPr>
          <p:cNvPr id="544" name="Google Shape;544;h1e75b8713011cdf_2_156"/>
          <p:cNvSpPr/>
          <p:nvPr/>
        </p:nvSpPr>
        <p:spPr>
          <a:xfrm>
            <a:off x="91948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545" name="Google Shape;545;h1e75b8713011cdf_2_156"/>
          <p:cNvSpPr/>
          <p:nvPr/>
        </p:nvSpPr>
        <p:spPr>
          <a:xfrm>
            <a:off x="94996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546" name="Google Shape;546;h1e75b8713011cdf_2_156"/>
          <p:cNvSpPr/>
          <p:nvPr/>
        </p:nvSpPr>
        <p:spPr>
          <a:xfrm>
            <a:off x="98044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547" name="Google Shape;547;h1e75b8713011cdf_2_156"/>
          <p:cNvSpPr/>
          <p:nvPr/>
        </p:nvSpPr>
        <p:spPr>
          <a:xfrm>
            <a:off x="101092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548" name="Google Shape;548;h1e75b8713011cdf_2_156"/>
          <p:cNvSpPr/>
          <p:nvPr/>
        </p:nvSpPr>
        <p:spPr>
          <a:xfrm>
            <a:off x="104140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549" name="Google Shape;549;h1e75b8713011cdf_2_156"/>
          <p:cNvSpPr/>
          <p:nvPr/>
        </p:nvSpPr>
        <p:spPr>
          <a:xfrm>
            <a:off x="107188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550" name="Google Shape;550;h1e75b8713011cdf_2_156"/>
          <p:cNvSpPr/>
          <p:nvPr/>
        </p:nvSpPr>
        <p:spPr>
          <a:xfrm>
            <a:off x="110236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551" name="Google Shape;551;h1e75b8713011cdf_2_156"/>
          <p:cNvSpPr/>
          <p:nvPr/>
        </p:nvSpPr>
        <p:spPr>
          <a:xfrm>
            <a:off x="11328400" y="330200"/>
            <a:ext cx="279300" cy="2541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552" name="Google Shape;552;h1e75b8713011cdf_2_156"/>
          <p:cNvSpPr/>
          <p:nvPr/>
        </p:nvSpPr>
        <p:spPr>
          <a:xfrm>
            <a:off x="609600" y="1295400"/>
            <a:ext cx="10972800" cy="2793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sự kiện › Sự kiện hành vi › Lảng vảng </a:t>
            </a:r>
            <a:endParaRPr sz="1050">
              <a:solidFill>
                <a:srgbClr val="1E3A8A"/>
              </a:solidFill>
            </a:endParaRPr>
          </a:p>
        </p:txBody>
      </p:sp>
      <p:sp>
        <p:nvSpPr>
          <p:cNvPr id="553" name="Google Shape;553;h1e75b8713011cdf_2_156"/>
          <p:cNvSpPr txBox="1"/>
          <p:nvPr/>
        </p:nvSpPr>
        <p:spPr>
          <a:xfrm>
            <a:off x="399025" y="1832575"/>
            <a:ext cx="2913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a:solidFill>
                  <a:srgbClr val="1E3A8A"/>
                </a:solidFill>
              </a:rPr>
              <a:t>Giá trị ứng dụng thực tế: </a:t>
            </a:r>
            <a:endParaRPr sz="1500" b="1">
              <a:solidFill>
                <a:srgbClr val="1E3A8A"/>
              </a:solidFill>
            </a:endParaRPr>
          </a:p>
          <a:p>
            <a:pPr marL="0" marR="0" lvl="0" indent="0" algn="l" rtl="0">
              <a:spcBef>
                <a:spcPts val="0"/>
              </a:spcBef>
              <a:spcAft>
                <a:spcPts val="0"/>
              </a:spcAft>
              <a:buNone/>
            </a:pPr>
            <a:endParaRPr sz="1300" b="1">
              <a:solidFill>
                <a:srgbClr val="1E3A8A"/>
              </a:solidFill>
            </a:endParaRPr>
          </a:p>
          <a:p>
            <a:pPr marL="457200" lvl="0" indent="-304800" algn="l" rtl="0">
              <a:lnSpc>
                <a:spcPct val="150000"/>
              </a:lnSpc>
              <a:spcBef>
                <a:spcPts val="0"/>
              </a:spcBef>
              <a:spcAft>
                <a:spcPts val="0"/>
              </a:spcAft>
              <a:buClr>
                <a:schemeClr val="dk1"/>
              </a:buClr>
              <a:buSzPts val="1200"/>
              <a:buChar char="•"/>
            </a:pPr>
            <a:r>
              <a:rPr lang="en-US" sz="1200">
                <a:solidFill>
                  <a:schemeClr val="dk1"/>
                </a:solidFill>
              </a:rPr>
              <a:t>Phát hiện hành vi lảng vảng: Nhận diện người ở lại trong khu vực giám sát vượt quá khoảng thời gian được cấu hình.</a:t>
            </a:r>
            <a:endParaRPr sz="1200">
              <a:solidFill>
                <a:schemeClr val="dk1"/>
              </a:solidFill>
            </a:endParaRPr>
          </a:p>
          <a:p>
            <a:pPr marL="457200" lvl="0" indent="-304800" algn="l" rtl="0">
              <a:lnSpc>
                <a:spcPct val="150000"/>
              </a:lnSpc>
              <a:spcBef>
                <a:spcPts val="0"/>
              </a:spcBef>
              <a:spcAft>
                <a:spcPts val="0"/>
              </a:spcAft>
              <a:buClr>
                <a:schemeClr val="dk1"/>
              </a:buClr>
              <a:buSzPts val="1200"/>
              <a:buChar char="•"/>
            </a:pPr>
            <a:r>
              <a:rPr lang="en-US" sz="1200">
                <a:solidFill>
                  <a:schemeClr val="dk1"/>
                </a:solidFill>
              </a:rPr>
              <a:t>Hỗ trợ giám sát khu vực nhạy cảm: Theo dõi các khu vực như cổng ra vào, hành lang, hàng rào hoặc khu vực hạn chế tiếp cận.</a:t>
            </a:r>
            <a:endParaRPr sz="1200">
              <a:solidFill>
                <a:schemeClr val="dk1"/>
              </a:solidFill>
            </a:endParaRPr>
          </a:p>
          <a:p>
            <a:pPr marL="457200" lvl="0" indent="-304800" algn="l" rtl="0">
              <a:lnSpc>
                <a:spcPct val="150000"/>
              </a:lnSpc>
              <a:spcBef>
                <a:spcPts val="0"/>
              </a:spcBef>
              <a:spcAft>
                <a:spcPts val="0"/>
              </a:spcAft>
              <a:buClr>
                <a:schemeClr val="dk1"/>
              </a:buClr>
              <a:buSzPts val="1200"/>
              <a:buChar char="•"/>
            </a:pPr>
            <a:r>
              <a:rPr lang="en-US" sz="1200">
                <a:solidFill>
                  <a:schemeClr val="dk1"/>
                </a:solidFill>
              </a:rPr>
              <a:t>Hỗ trợ xác minh sự kiện: Tra cứu hình ảnh, thời gian, camera và vị trí ghi nhận để đánh giá tình huống và có biện pháp xử lý phù hợp.</a:t>
            </a:r>
            <a:endParaRPr sz="1200">
              <a:solidFill>
                <a:schemeClr val="dk1"/>
              </a:solidFill>
            </a:endParaRPr>
          </a:p>
          <a:p>
            <a:pPr marL="0" marR="0" lvl="0" indent="0" algn="l" rtl="0">
              <a:spcBef>
                <a:spcPts val="0"/>
              </a:spcBef>
              <a:spcAft>
                <a:spcPts val="0"/>
              </a:spcAft>
              <a:buNone/>
            </a:pPr>
            <a:br>
              <a:rPr lang="en-US" sz="1800">
                <a:solidFill>
                  <a:schemeClr val="dk1"/>
                </a:solidFill>
              </a:rPr>
            </a:br>
            <a:endParaRPr sz="1800">
              <a:solidFill>
                <a:schemeClr val="dk1"/>
              </a:solidFill>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300">
              <a:solidFill>
                <a:srgbClr val="1F2937"/>
              </a:solidFill>
              <a:latin typeface="Quattrocento Sans"/>
              <a:ea typeface="Quattrocento Sans"/>
              <a:cs typeface="Quattrocento Sans"/>
              <a:sym typeface="Quattrocento Sans"/>
            </a:endParaRPr>
          </a:p>
        </p:txBody>
      </p:sp>
      <p:sp>
        <p:nvSpPr>
          <p:cNvPr id="554" name="Google Shape;554;h1e75b8713011cdf_2_156"/>
          <p:cNvSpPr/>
          <p:nvPr/>
        </p:nvSpPr>
        <p:spPr>
          <a:xfrm>
            <a:off x="3567700" y="4958553"/>
            <a:ext cx="2628900" cy="1499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h1e75b8713011cdf_2_156"/>
          <p:cNvSpPr/>
          <p:nvPr/>
        </p:nvSpPr>
        <p:spPr>
          <a:xfrm>
            <a:off x="3694700" y="5060139"/>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556" name="Google Shape;556;h1e75b8713011cdf_2_156"/>
          <p:cNvSpPr txBox="1"/>
          <p:nvPr/>
        </p:nvSpPr>
        <p:spPr>
          <a:xfrm>
            <a:off x="4126500" y="5098239"/>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Phát hiện hành vi </a:t>
            </a:r>
            <a:endParaRPr sz="1200" b="1">
              <a:solidFill>
                <a:srgbClr val="1E3A8A"/>
              </a:solidFill>
            </a:endParaRPr>
          </a:p>
        </p:txBody>
      </p:sp>
      <p:sp>
        <p:nvSpPr>
          <p:cNvPr id="557" name="Google Shape;557;h1e75b8713011cdf_2_156"/>
          <p:cNvSpPr txBox="1"/>
          <p:nvPr/>
        </p:nvSpPr>
        <p:spPr>
          <a:xfrm>
            <a:off x="3720100" y="5491939"/>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Camera AI phát hiện người ở lại trong khu vực vượt ngưỡng thời gian được thiết lập. .</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050">
              <a:solidFill>
                <a:srgbClr val="1F2937"/>
              </a:solidFill>
              <a:latin typeface="Quattrocento Sans"/>
              <a:ea typeface="Quattrocento Sans"/>
              <a:cs typeface="Quattrocento Sans"/>
              <a:sym typeface="Quattrocento Sans"/>
            </a:endParaRPr>
          </a:p>
        </p:txBody>
      </p:sp>
      <p:sp>
        <p:nvSpPr>
          <p:cNvPr id="558" name="Google Shape;558;h1e75b8713011cdf_2_156"/>
          <p:cNvSpPr/>
          <p:nvPr/>
        </p:nvSpPr>
        <p:spPr>
          <a:xfrm>
            <a:off x="6349000" y="4958550"/>
            <a:ext cx="2628900" cy="1499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h1e75b8713011cdf_2_156"/>
          <p:cNvSpPr/>
          <p:nvPr/>
        </p:nvSpPr>
        <p:spPr>
          <a:xfrm>
            <a:off x="6476000" y="5060139"/>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560" name="Google Shape;560;h1e75b8713011cdf_2_156"/>
          <p:cNvSpPr txBox="1"/>
          <p:nvPr/>
        </p:nvSpPr>
        <p:spPr>
          <a:xfrm>
            <a:off x="6907800" y="5098239"/>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Tra cứu sự kiện </a:t>
            </a:r>
            <a:endParaRPr sz="1200" b="1">
              <a:solidFill>
                <a:srgbClr val="1E3A8A"/>
              </a:solidFill>
            </a:endParaRPr>
          </a:p>
        </p:txBody>
      </p:sp>
      <p:sp>
        <p:nvSpPr>
          <p:cNvPr id="561" name="Google Shape;561;h1e75b8713011cdf_2_156"/>
          <p:cNvSpPr txBox="1"/>
          <p:nvPr/>
        </p:nvSpPr>
        <p:spPr>
          <a:xfrm>
            <a:off x="6501400" y="5491939"/>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Tìm kiếm, lọc sự kiện theo thời gian, camera, khu vực và các thông tin được ghi nhận. </a:t>
            </a:r>
            <a:endParaRPr sz="1000">
              <a:solidFill>
                <a:srgbClr val="1F2937"/>
              </a:solidFill>
            </a:endParaRPr>
          </a:p>
        </p:txBody>
      </p:sp>
      <p:sp>
        <p:nvSpPr>
          <p:cNvPr id="562" name="Google Shape;562;h1e75b8713011cdf_2_156"/>
          <p:cNvSpPr/>
          <p:nvPr/>
        </p:nvSpPr>
        <p:spPr>
          <a:xfrm>
            <a:off x="9130300" y="4958552"/>
            <a:ext cx="2628900" cy="1499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3" name="Google Shape;563;h1e75b8713011cdf_2_156"/>
          <p:cNvSpPr/>
          <p:nvPr/>
        </p:nvSpPr>
        <p:spPr>
          <a:xfrm>
            <a:off x="9257300" y="5060139"/>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564" name="Google Shape;564;h1e75b8713011cdf_2_156"/>
          <p:cNvSpPr txBox="1"/>
          <p:nvPr/>
        </p:nvSpPr>
        <p:spPr>
          <a:xfrm>
            <a:off x="9689100" y="5098239"/>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Xem chi tiết sự kiện </a:t>
            </a:r>
            <a:endParaRPr/>
          </a:p>
        </p:txBody>
      </p:sp>
      <p:sp>
        <p:nvSpPr>
          <p:cNvPr id="565" name="Google Shape;565;h1e75b8713011cdf_2_156"/>
          <p:cNvSpPr txBox="1"/>
          <p:nvPr/>
        </p:nvSpPr>
        <p:spPr>
          <a:xfrm>
            <a:off x="9282700" y="5491939"/>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rPr>
              <a:t>Kiểm tra hình ảnh, thời điểm, vị trí và camera phát hiện để hỗ trợ xác minh hành vi. </a:t>
            </a:r>
            <a:endParaRPr sz="1000">
              <a:solidFill>
                <a:srgbClr val="1F2937"/>
              </a:solidFill>
            </a:endParaRPr>
          </a:p>
        </p:txBody>
      </p:sp>
      <p:pic>
        <p:nvPicPr>
          <p:cNvPr id="566" name="Google Shape;566;h1e75b8713011cdf_2_156"/>
          <p:cNvPicPr preferRelativeResize="0"/>
          <p:nvPr/>
        </p:nvPicPr>
        <p:blipFill>
          <a:blip r:embed="rId3">
            <a:alphaModFix/>
          </a:blip>
          <a:stretch>
            <a:fillRect/>
          </a:stretch>
        </p:blipFill>
        <p:spPr>
          <a:xfrm>
            <a:off x="3720101" y="1766200"/>
            <a:ext cx="5130899" cy="2899867"/>
          </a:xfrm>
          <a:prstGeom prst="rect">
            <a:avLst/>
          </a:prstGeom>
          <a:noFill/>
          <a:ln>
            <a:noFill/>
          </a:ln>
        </p:spPr>
      </p:pic>
      <p:pic>
        <p:nvPicPr>
          <p:cNvPr id="567" name="Google Shape;567;h1e75b8713011cdf_2_156"/>
          <p:cNvPicPr preferRelativeResize="0"/>
          <p:nvPr/>
        </p:nvPicPr>
        <p:blipFill>
          <a:blip r:embed="rId4">
            <a:alphaModFix/>
          </a:blip>
          <a:stretch>
            <a:fillRect/>
          </a:stretch>
        </p:blipFill>
        <p:spPr>
          <a:xfrm>
            <a:off x="8280875" y="2920050"/>
            <a:ext cx="3415300" cy="19263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2"/>
        <p:cNvGrpSpPr/>
        <p:nvPr/>
      </p:nvGrpSpPr>
      <p:grpSpPr>
        <a:xfrm>
          <a:off x="0" y="0"/>
          <a:ext cx="0" cy="0"/>
          <a:chOff x="0" y="0"/>
          <a:chExt cx="0" cy="0"/>
        </a:xfrm>
      </p:grpSpPr>
      <p:sp>
        <p:nvSpPr>
          <p:cNvPr id="573" name="Google Shape;573;p16"/>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2 · BÁO CÁO THỐNG KÊ</a:t>
            </a:r>
            <a:endParaRPr/>
          </a:p>
        </p:txBody>
      </p:sp>
      <p:sp>
        <p:nvSpPr>
          <p:cNvPr id="574" name="Google Shape;574;p16"/>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Báo cáo </a:t>
            </a:r>
            <a:endParaRPr/>
          </a:p>
        </p:txBody>
      </p:sp>
      <p:sp>
        <p:nvSpPr>
          <p:cNvPr id="575" name="Google Shape;575;p16"/>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6" name="Google Shape;576;p16"/>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577" name="Google Shape;577;p16"/>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578" name="Google Shape;578;p16"/>
          <p:cNvSpPr/>
          <p:nvPr/>
        </p:nvSpPr>
        <p:spPr>
          <a:xfrm>
            <a:off x="91948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2</a:t>
            </a:r>
            <a:endParaRPr/>
          </a:p>
        </p:txBody>
      </p:sp>
      <p:sp>
        <p:nvSpPr>
          <p:cNvPr id="579" name="Google Shape;579;p16"/>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580" name="Google Shape;580;p16"/>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581" name="Google Shape;581;p16"/>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582" name="Google Shape;582;p16"/>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583" name="Google Shape;583;p16"/>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584" name="Google Shape;584;p16"/>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585" name="Google Shape;585;p16"/>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586" name="Google Shape;586;p16"/>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Báo cáo thống kê › Thống kê dữ liệu về người › Thống kê lưu lượng/Đặc điểm nhận diện</a:t>
            </a:r>
            <a:endParaRPr sz="1050">
              <a:solidFill>
                <a:srgbClr val="1E3A8A"/>
              </a:solidFill>
            </a:endParaRPr>
          </a:p>
        </p:txBody>
      </p:sp>
      <p:sp>
        <p:nvSpPr>
          <p:cNvPr id="587" name="Google Shape;587;p16"/>
          <p:cNvSpPr txBox="1"/>
          <p:nvPr/>
        </p:nvSpPr>
        <p:spPr>
          <a:xfrm>
            <a:off x="609600" y="1734000"/>
            <a:ext cx="11080200" cy="964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b="1" dirty="0" err="1">
                <a:solidFill>
                  <a:srgbClr val="1E3A8A"/>
                </a:solidFill>
              </a:rPr>
              <a:t>Ứng</a:t>
            </a:r>
            <a:r>
              <a:rPr lang="en-US" b="1" dirty="0">
                <a:solidFill>
                  <a:srgbClr val="1E3A8A"/>
                </a:solidFill>
              </a:rPr>
              <a:t> </a:t>
            </a:r>
            <a:r>
              <a:rPr lang="en-US" b="1" dirty="0" err="1">
                <a:solidFill>
                  <a:srgbClr val="1E3A8A"/>
                </a:solidFill>
              </a:rPr>
              <a:t>dụng</a:t>
            </a:r>
            <a:r>
              <a:rPr lang="en-US" b="1" dirty="0">
                <a:solidFill>
                  <a:srgbClr val="1E3A8A"/>
                </a:solidFill>
              </a:rPr>
              <a:t> </a:t>
            </a:r>
            <a:r>
              <a:rPr lang="en-US" b="1" dirty="0" err="1">
                <a:solidFill>
                  <a:srgbClr val="1E3A8A"/>
                </a:solidFill>
              </a:rPr>
              <a:t>thực</a:t>
            </a:r>
            <a:r>
              <a:rPr lang="en-US" b="1" dirty="0">
                <a:solidFill>
                  <a:srgbClr val="1E3A8A"/>
                </a:solidFill>
              </a:rPr>
              <a:t> </a:t>
            </a:r>
            <a:r>
              <a:rPr lang="en-US" b="1" dirty="0" err="1">
                <a:solidFill>
                  <a:srgbClr val="1E3A8A"/>
                </a:solidFill>
              </a:rPr>
              <a:t>tế</a:t>
            </a:r>
            <a:r>
              <a:rPr lang="en-US" b="1" dirty="0">
                <a:solidFill>
                  <a:srgbClr val="1E3A8A"/>
                </a:solidFill>
              </a:rPr>
              <a:t>:</a:t>
            </a:r>
            <a:endParaRPr b="1" dirty="0">
              <a:solidFill>
                <a:srgbClr val="1E3A8A"/>
              </a:solidFill>
            </a:endParaRPr>
          </a:p>
          <a:p>
            <a:pPr marL="457200" lvl="0" indent="-304800" algn="l" rtl="0">
              <a:lnSpc>
                <a:spcPct val="150000"/>
              </a:lnSpc>
              <a:spcBef>
                <a:spcPts val="1200"/>
              </a:spcBef>
              <a:spcAft>
                <a:spcPts val="0"/>
              </a:spcAft>
              <a:buClr>
                <a:schemeClr val="dk1"/>
              </a:buClr>
              <a:buSzPts val="1200"/>
              <a:buChar char="●"/>
            </a:pPr>
            <a:r>
              <a:rPr lang="en-US" sz="1200" b="1" dirty="0">
                <a:solidFill>
                  <a:schemeClr val="dk1"/>
                </a:solidFill>
              </a:rPr>
              <a:t>Theo </a:t>
            </a:r>
            <a:r>
              <a:rPr lang="en-US" sz="1200" b="1" dirty="0" err="1">
                <a:solidFill>
                  <a:schemeClr val="dk1"/>
                </a:solidFill>
              </a:rPr>
              <a:t>dõi</a:t>
            </a:r>
            <a:r>
              <a:rPr lang="en-US" sz="1200" b="1" dirty="0">
                <a:solidFill>
                  <a:schemeClr val="dk1"/>
                </a:solidFill>
              </a:rPr>
              <a:t> </a:t>
            </a:r>
            <a:r>
              <a:rPr lang="en-US" sz="1200" b="1" dirty="0" err="1">
                <a:solidFill>
                  <a:schemeClr val="dk1"/>
                </a:solidFill>
              </a:rPr>
              <a:t>lưu</a:t>
            </a:r>
            <a:r>
              <a:rPr lang="en-US" sz="1200" b="1" dirty="0">
                <a:solidFill>
                  <a:schemeClr val="dk1"/>
                </a:solidFill>
              </a:rPr>
              <a:t> </a:t>
            </a:r>
            <a:r>
              <a:rPr lang="en-US" sz="1200" b="1" dirty="0" err="1">
                <a:solidFill>
                  <a:schemeClr val="dk1"/>
                </a:solidFill>
              </a:rPr>
              <a:t>lượng</a:t>
            </a:r>
            <a:r>
              <a:rPr lang="en-US" sz="1200" b="1" dirty="0">
                <a:solidFill>
                  <a:schemeClr val="dk1"/>
                </a:solidFill>
              </a:rPr>
              <a:t>:</a:t>
            </a:r>
            <a:r>
              <a:rPr lang="en-US" sz="1200" dirty="0">
                <a:solidFill>
                  <a:schemeClr val="dk1"/>
                </a:solidFill>
              </a:rPr>
              <a:t> </a:t>
            </a:r>
            <a:r>
              <a:rPr lang="en-US" sz="1200" dirty="0" err="1">
                <a:solidFill>
                  <a:schemeClr val="dk1"/>
                </a:solidFill>
              </a:rPr>
              <a:t>Tổng</a:t>
            </a:r>
            <a:r>
              <a:rPr lang="en-US" sz="1200" dirty="0">
                <a:solidFill>
                  <a:schemeClr val="dk1"/>
                </a:solidFill>
              </a:rPr>
              <a:t> </a:t>
            </a:r>
            <a:r>
              <a:rPr lang="en-US" sz="1200" dirty="0" err="1">
                <a:solidFill>
                  <a:schemeClr val="dk1"/>
                </a:solidFill>
              </a:rPr>
              <a:t>hợp</a:t>
            </a:r>
            <a:r>
              <a:rPr lang="en-US" sz="1200" dirty="0">
                <a:solidFill>
                  <a:schemeClr val="dk1"/>
                </a:solidFill>
              </a:rPr>
              <a:t> </a:t>
            </a:r>
            <a:r>
              <a:rPr lang="en-US" sz="1200" dirty="0" err="1">
                <a:solidFill>
                  <a:schemeClr val="dk1"/>
                </a:solidFill>
              </a:rPr>
              <a:t>số</a:t>
            </a:r>
            <a:r>
              <a:rPr lang="en-US" sz="1200" dirty="0">
                <a:solidFill>
                  <a:schemeClr val="dk1"/>
                </a:solidFill>
              </a:rPr>
              <a:t> </a:t>
            </a:r>
            <a:r>
              <a:rPr lang="en-US" sz="1200" dirty="0" err="1">
                <a:solidFill>
                  <a:schemeClr val="dk1"/>
                </a:solidFill>
              </a:rPr>
              <a:t>liệu</a:t>
            </a:r>
            <a:r>
              <a:rPr lang="en-US" sz="1200" dirty="0">
                <a:solidFill>
                  <a:schemeClr val="dk1"/>
                </a:solidFill>
              </a:rPr>
              <a:t> </a:t>
            </a:r>
            <a:r>
              <a:rPr lang="en-US" sz="1200" dirty="0" err="1">
                <a:solidFill>
                  <a:schemeClr val="dk1"/>
                </a:solidFill>
              </a:rPr>
              <a:t>người</a:t>
            </a:r>
            <a:r>
              <a:rPr lang="en-US" sz="1200" dirty="0">
                <a:solidFill>
                  <a:schemeClr val="dk1"/>
                </a:solidFill>
              </a:rPr>
              <a:t> </a:t>
            </a:r>
            <a:r>
              <a:rPr lang="en-US" sz="1200" dirty="0" err="1">
                <a:solidFill>
                  <a:schemeClr val="dk1"/>
                </a:solidFill>
              </a:rPr>
              <a:t>được</a:t>
            </a:r>
            <a:r>
              <a:rPr lang="en-US" sz="1200" dirty="0">
                <a:solidFill>
                  <a:schemeClr val="dk1"/>
                </a:solidFill>
              </a:rPr>
              <a:t> </a:t>
            </a:r>
            <a:r>
              <a:rPr lang="en-US" sz="1200" dirty="0" err="1">
                <a:solidFill>
                  <a:schemeClr val="dk1"/>
                </a:solidFill>
              </a:rPr>
              <a:t>ghi</a:t>
            </a:r>
            <a:r>
              <a:rPr lang="en-US" sz="1200" dirty="0">
                <a:solidFill>
                  <a:schemeClr val="dk1"/>
                </a:solidFill>
              </a:rPr>
              <a:t> </a:t>
            </a:r>
            <a:r>
              <a:rPr lang="en-US" sz="1200" dirty="0" err="1">
                <a:solidFill>
                  <a:schemeClr val="dk1"/>
                </a:solidFill>
              </a:rPr>
              <a:t>nhận</a:t>
            </a:r>
            <a:r>
              <a:rPr lang="en-US" sz="1200" dirty="0">
                <a:solidFill>
                  <a:schemeClr val="dk1"/>
                </a:solidFill>
              </a:rPr>
              <a:t> </a:t>
            </a:r>
            <a:r>
              <a:rPr lang="en-US" sz="1200" dirty="0" err="1">
                <a:solidFill>
                  <a:schemeClr val="dk1"/>
                </a:solidFill>
              </a:rPr>
              <a:t>theo</a:t>
            </a:r>
            <a:r>
              <a:rPr lang="en-US" sz="1200" dirty="0">
                <a:solidFill>
                  <a:schemeClr val="dk1"/>
                </a:solidFill>
              </a:rPr>
              <a:t> </a:t>
            </a:r>
            <a:r>
              <a:rPr lang="en-US" sz="1200" dirty="0" err="1">
                <a:solidFill>
                  <a:schemeClr val="dk1"/>
                </a:solidFill>
              </a:rPr>
              <a:t>thời</a:t>
            </a:r>
            <a:r>
              <a:rPr lang="en-US" sz="1200" dirty="0">
                <a:solidFill>
                  <a:schemeClr val="dk1"/>
                </a:solidFill>
              </a:rPr>
              <a:t> </a:t>
            </a:r>
            <a:r>
              <a:rPr lang="en-US" sz="1200" dirty="0" err="1">
                <a:solidFill>
                  <a:schemeClr val="dk1"/>
                </a:solidFill>
              </a:rPr>
              <a:t>gian</a:t>
            </a:r>
            <a:r>
              <a:rPr lang="en-US" sz="1200" dirty="0">
                <a:solidFill>
                  <a:schemeClr val="dk1"/>
                </a:solidFill>
              </a:rPr>
              <a:t>, </a:t>
            </a:r>
            <a:r>
              <a:rPr lang="en-US" sz="1200" dirty="0" err="1">
                <a:solidFill>
                  <a:schemeClr val="dk1"/>
                </a:solidFill>
              </a:rPr>
              <a:t>hỗ</a:t>
            </a:r>
            <a:r>
              <a:rPr lang="en-US" sz="1200" dirty="0">
                <a:solidFill>
                  <a:schemeClr val="dk1"/>
                </a:solidFill>
              </a:rPr>
              <a:t> </a:t>
            </a:r>
            <a:r>
              <a:rPr lang="en-US" sz="1200" dirty="0" err="1">
                <a:solidFill>
                  <a:schemeClr val="dk1"/>
                </a:solidFill>
              </a:rPr>
              <a:t>trợ</a:t>
            </a:r>
            <a:r>
              <a:rPr lang="en-US" sz="1200" dirty="0">
                <a:solidFill>
                  <a:schemeClr val="dk1"/>
                </a:solidFill>
              </a:rPr>
              <a:t> </a:t>
            </a:r>
            <a:r>
              <a:rPr lang="en-US" sz="1200" dirty="0" err="1">
                <a:solidFill>
                  <a:schemeClr val="dk1"/>
                </a:solidFill>
              </a:rPr>
              <a:t>theo</a:t>
            </a:r>
            <a:r>
              <a:rPr lang="en-US" sz="1200" dirty="0">
                <a:solidFill>
                  <a:schemeClr val="dk1"/>
                </a:solidFill>
              </a:rPr>
              <a:t> </a:t>
            </a:r>
            <a:r>
              <a:rPr lang="en-US" sz="1200" dirty="0" err="1">
                <a:solidFill>
                  <a:schemeClr val="dk1"/>
                </a:solidFill>
              </a:rPr>
              <a:t>dõi</a:t>
            </a:r>
            <a:r>
              <a:rPr lang="en-US" sz="1200" dirty="0">
                <a:solidFill>
                  <a:schemeClr val="dk1"/>
                </a:solidFill>
              </a:rPr>
              <a:t> </a:t>
            </a:r>
            <a:r>
              <a:rPr lang="en-US" sz="1200" dirty="0" err="1">
                <a:solidFill>
                  <a:schemeClr val="dk1"/>
                </a:solidFill>
              </a:rPr>
              <a:t>tình</a:t>
            </a:r>
            <a:r>
              <a:rPr lang="en-US" sz="1200" dirty="0">
                <a:solidFill>
                  <a:schemeClr val="dk1"/>
                </a:solidFill>
              </a:rPr>
              <a:t> </a:t>
            </a:r>
            <a:r>
              <a:rPr lang="en-US" sz="1200" dirty="0" err="1">
                <a:solidFill>
                  <a:schemeClr val="dk1"/>
                </a:solidFill>
              </a:rPr>
              <a:t>hình</a:t>
            </a:r>
            <a:r>
              <a:rPr lang="en-US" sz="1200" dirty="0">
                <a:solidFill>
                  <a:schemeClr val="dk1"/>
                </a:solidFill>
              </a:rPr>
              <a:t> </a:t>
            </a:r>
            <a:r>
              <a:rPr lang="en-US" sz="1200" dirty="0" err="1">
                <a:solidFill>
                  <a:schemeClr val="dk1"/>
                </a:solidFill>
              </a:rPr>
              <a:t>và</a:t>
            </a:r>
            <a:r>
              <a:rPr lang="en-US" sz="1200" dirty="0">
                <a:solidFill>
                  <a:schemeClr val="dk1"/>
                </a:solidFill>
              </a:rPr>
              <a:t> </a:t>
            </a:r>
            <a:r>
              <a:rPr lang="en-US" sz="1200" dirty="0" err="1">
                <a:solidFill>
                  <a:schemeClr val="dk1"/>
                </a:solidFill>
              </a:rPr>
              <a:t>biến</a:t>
            </a:r>
            <a:r>
              <a:rPr lang="en-US" sz="1200" dirty="0">
                <a:solidFill>
                  <a:schemeClr val="dk1"/>
                </a:solidFill>
              </a:rPr>
              <a:t> </a:t>
            </a:r>
            <a:r>
              <a:rPr lang="en-US" sz="1200" dirty="0" err="1">
                <a:solidFill>
                  <a:schemeClr val="dk1"/>
                </a:solidFill>
              </a:rPr>
              <a:t>động</a:t>
            </a:r>
            <a:r>
              <a:rPr lang="en-US" sz="1200" dirty="0">
                <a:solidFill>
                  <a:schemeClr val="dk1"/>
                </a:solidFill>
              </a:rPr>
              <a:t> </a:t>
            </a:r>
            <a:r>
              <a:rPr lang="en-US" sz="1200" dirty="0" err="1">
                <a:solidFill>
                  <a:schemeClr val="dk1"/>
                </a:solidFill>
              </a:rPr>
              <a:t>lưu</a:t>
            </a:r>
            <a:r>
              <a:rPr lang="en-US" sz="1200" dirty="0">
                <a:solidFill>
                  <a:schemeClr val="dk1"/>
                </a:solidFill>
              </a:rPr>
              <a:t> </a:t>
            </a:r>
            <a:r>
              <a:rPr lang="en-US" sz="1200" dirty="0" err="1">
                <a:solidFill>
                  <a:schemeClr val="dk1"/>
                </a:solidFill>
              </a:rPr>
              <a:t>lượng</a:t>
            </a:r>
            <a:r>
              <a:rPr lang="en-US" sz="1200" dirty="0">
                <a:solidFill>
                  <a:schemeClr val="dk1"/>
                </a:solidFill>
              </a:rPr>
              <a:t> </a:t>
            </a:r>
            <a:r>
              <a:rPr lang="en-US" sz="1200" dirty="0" err="1">
                <a:solidFill>
                  <a:schemeClr val="dk1"/>
                </a:solidFill>
              </a:rPr>
              <a:t>tại</a:t>
            </a:r>
            <a:r>
              <a:rPr lang="en-US" sz="1200" dirty="0">
                <a:solidFill>
                  <a:schemeClr val="dk1"/>
                </a:solidFill>
              </a:rPr>
              <a:t> </a:t>
            </a:r>
            <a:r>
              <a:rPr lang="en-US" sz="1200" dirty="0" err="1">
                <a:solidFill>
                  <a:schemeClr val="dk1"/>
                </a:solidFill>
              </a:rPr>
              <a:t>khu</a:t>
            </a:r>
            <a:r>
              <a:rPr lang="en-US" sz="1200" dirty="0">
                <a:solidFill>
                  <a:schemeClr val="dk1"/>
                </a:solidFill>
              </a:rPr>
              <a:t> </a:t>
            </a:r>
            <a:r>
              <a:rPr lang="en-US" sz="1200" dirty="0" err="1">
                <a:solidFill>
                  <a:schemeClr val="dk1"/>
                </a:solidFill>
              </a:rPr>
              <a:t>vực</a:t>
            </a:r>
            <a:r>
              <a:rPr lang="en-US" sz="1200" dirty="0">
                <a:solidFill>
                  <a:schemeClr val="dk1"/>
                </a:solidFill>
              </a:rPr>
              <a:t> </a:t>
            </a:r>
            <a:r>
              <a:rPr lang="en-US" sz="1200" dirty="0" err="1">
                <a:solidFill>
                  <a:schemeClr val="dk1"/>
                </a:solidFill>
              </a:rPr>
              <a:t>giám</a:t>
            </a:r>
            <a:r>
              <a:rPr lang="en-US" sz="1200" dirty="0">
                <a:solidFill>
                  <a:schemeClr val="dk1"/>
                </a:solidFill>
              </a:rPr>
              <a:t> </a:t>
            </a:r>
            <a:r>
              <a:rPr lang="en-US" sz="1200" dirty="0" err="1">
                <a:solidFill>
                  <a:schemeClr val="dk1"/>
                </a:solidFill>
              </a:rPr>
              <a:t>sát</a:t>
            </a:r>
            <a:r>
              <a:rPr lang="en-US" sz="1200" dirty="0">
                <a:solidFill>
                  <a:schemeClr val="dk1"/>
                </a:solidFill>
              </a:rPr>
              <a:t>.</a:t>
            </a:r>
            <a:endParaRPr sz="1200" dirty="0">
              <a:solidFill>
                <a:schemeClr val="dk1"/>
              </a:solidFill>
            </a:endParaRPr>
          </a:p>
          <a:p>
            <a:pPr marL="457200" lvl="0" indent="-304800" algn="l" rtl="0">
              <a:lnSpc>
                <a:spcPct val="150000"/>
              </a:lnSpc>
              <a:spcBef>
                <a:spcPts val="0"/>
              </a:spcBef>
              <a:spcAft>
                <a:spcPts val="0"/>
              </a:spcAft>
              <a:buClr>
                <a:schemeClr val="dk1"/>
              </a:buClr>
              <a:buSzPts val="1200"/>
              <a:buChar char="●"/>
            </a:pPr>
            <a:r>
              <a:rPr lang="en-US" sz="1200" b="1" dirty="0" err="1">
                <a:solidFill>
                  <a:schemeClr val="dk1"/>
                </a:solidFill>
              </a:rPr>
              <a:t>Thống</a:t>
            </a:r>
            <a:r>
              <a:rPr lang="en-US" sz="1200" b="1" dirty="0">
                <a:solidFill>
                  <a:schemeClr val="dk1"/>
                </a:solidFill>
              </a:rPr>
              <a:t> </a:t>
            </a:r>
            <a:r>
              <a:rPr lang="en-US" sz="1200" b="1" dirty="0" err="1">
                <a:solidFill>
                  <a:schemeClr val="dk1"/>
                </a:solidFill>
              </a:rPr>
              <a:t>kê</a:t>
            </a:r>
            <a:r>
              <a:rPr lang="en-US" sz="1200" b="1" dirty="0">
                <a:solidFill>
                  <a:schemeClr val="dk1"/>
                </a:solidFill>
              </a:rPr>
              <a:t> </a:t>
            </a:r>
            <a:r>
              <a:rPr lang="en-US" sz="1200" b="1" dirty="0" err="1">
                <a:solidFill>
                  <a:schemeClr val="dk1"/>
                </a:solidFill>
              </a:rPr>
              <a:t>đặc</a:t>
            </a:r>
            <a:r>
              <a:rPr lang="en-US" sz="1200" b="1" dirty="0">
                <a:solidFill>
                  <a:schemeClr val="dk1"/>
                </a:solidFill>
              </a:rPr>
              <a:t> </a:t>
            </a:r>
            <a:r>
              <a:rPr lang="en-US" sz="1200" b="1" dirty="0" err="1">
                <a:solidFill>
                  <a:schemeClr val="dk1"/>
                </a:solidFill>
              </a:rPr>
              <a:t>điểm</a:t>
            </a:r>
            <a:r>
              <a:rPr lang="en-US" sz="1200" b="1" dirty="0">
                <a:solidFill>
                  <a:schemeClr val="dk1"/>
                </a:solidFill>
              </a:rPr>
              <a:t> </a:t>
            </a:r>
            <a:r>
              <a:rPr lang="en-US" sz="1200" b="1" dirty="0" err="1">
                <a:solidFill>
                  <a:schemeClr val="dk1"/>
                </a:solidFill>
              </a:rPr>
              <a:t>nhận</a:t>
            </a:r>
            <a:r>
              <a:rPr lang="en-US" sz="1200" b="1" dirty="0">
                <a:solidFill>
                  <a:schemeClr val="dk1"/>
                </a:solidFill>
              </a:rPr>
              <a:t> </a:t>
            </a:r>
            <a:r>
              <a:rPr lang="en-US" sz="1200" b="1" dirty="0" err="1">
                <a:solidFill>
                  <a:schemeClr val="dk1"/>
                </a:solidFill>
              </a:rPr>
              <a:t>diện</a:t>
            </a:r>
            <a:r>
              <a:rPr lang="en-US" sz="1200" b="1" dirty="0">
                <a:solidFill>
                  <a:schemeClr val="dk1"/>
                </a:solidFill>
              </a:rPr>
              <a:t>:</a:t>
            </a:r>
            <a:r>
              <a:rPr lang="en-US" sz="1200" dirty="0">
                <a:solidFill>
                  <a:schemeClr val="dk1"/>
                </a:solidFill>
              </a:rPr>
              <a:t> </a:t>
            </a:r>
            <a:r>
              <a:rPr lang="en-US" sz="1200" dirty="0" err="1">
                <a:solidFill>
                  <a:schemeClr val="dk1"/>
                </a:solidFill>
              </a:rPr>
              <a:t>Phân</a:t>
            </a:r>
            <a:r>
              <a:rPr lang="en-US" sz="1200" dirty="0">
                <a:solidFill>
                  <a:schemeClr val="dk1"/>
                </a:solidFill>
              </a:rPr>
              <a:t> </a:t>
            </a:r>
            <a:r>
              <a:rPr lang="en-US" sz="1200" dirty="0" err="1">
                <a:solidFill>
                  <a:schemeClr val="dk1"/>
                </a:solidFill>
              </a:rPr>
              <a:t>tích</a:t>
            </a:r>
            <a:r>
              <a:rPr lang="en-US" sz="1200" dirty="0">
                <a:solidFill>
                  <a:schemeClr val="dk1"/>
                </a:solidFill>
              </a:rPr>
              <a:t> </a:t>
            </a:r>
            <a:r>
              <a:rPr lang="en-US" sz="1200" dirty="0" err="1">
                <a:solidFill>
                  <a:schemeClr val="dk1"/>
                </a:solidFill>
              </a:rPr>
              <a:t>phân</a:t>
            </a:r>
            <a:r>
              <a:rPr lang="en-US" sz="1200" dirty="0">
                <a:solidFill>
                  <a:schemeClr val="dk1"/>
                </a:solidFill>
              </a:rPr>
              <a:t> </a:t>
            </a:r>
            <a:r>
              <a:rPr lang="en-US" sz="1200" dirty="0" err="1">
                <a:solidFill>
                  <a:schemeClr val="dk1"/>
                </a:solidFill>
              </a:rPr>
              <a:t>bố</a:t>
            </a:r>
            <a:r>
              <a:rPr lang="en-US" sz="1200" dirty="0">
                <a:solidFill>
                  <a:schemeClr val="dk1"/>
                </a:solidFill>
              </a:rPr>
              <a:t> </a:t>
            </a:r>
            <a:r>
              <a:rPr lang="en-US" sz="1200" dirty="0" err="1">
                <a:solidFill>
                  <a:schemeClr val="dk1"/>
                </a:solidFill>
              </a:rPr>
              <a:t>các</a:t>
            </a:r>
            <a:r>
              <a:rPr lang="en-US" sz="1200" dirty="0">
                <a:solidFill>
                  <a:schemeClr val="dk1"/>
                </a:solidFill>
              </a:rPr>
              <a:t> </a:t>
            </a:r>
            <a:r>
              <a:rPr lang="en-US" sz="1200" dirty="0" err="1">
                <a:solidFill>
                  <a:schemeClr val="dk1"/>
                </a:solidFill>
              </a:rPr>
              <a:t>thuộc</a:t>
            </a:r>
            <a:r>
              <a:rPr lang="en-US" sz="1200" dirty="0">
                <a:solidFill>
                  <a:schemeClr val="dk1"/>
                </a:solidFill>
              </a:rPr>
              <a:t> </a:t>
            </a:r>
            <a:r>
              <a:rPr lang="en-US" sz="1200" dirty="0" err="1">
                <a:solidFill>
                  <a:schemeClr val="dk1"/>
                </a:solidFill>
              </a:rPr>
              <a:t>tính</a:t>
            </a:r>
            <a:r>
              <a:rPr lang="en-US" sz="1200" dirty="0">
                <a:solidFill>
                  <a:schemeClr val="dk1"/>
                </a:solidFill>
              </a:rPr>
              <a:t> </a:t>
            </a:r>
            <a:r>
              <a:rPr lang="en-US" sz="1200" dirty="0" err="1">
                <a:solidFill>
                  <a:schemeClr val="dk1"/>
                </a:solidFill>
              </a:rPr>
              <a:t>như</a:t>
            </a:r>
            <a:r>
              <a:rPr lang="en-US" sz="1200" dirty="0">
                <a:solidFill>
                  <a:schemeClr val="dk1"/>
                </a:solidFill>
              </a:rPr>
              <a:t> </a:t>
            </a:r>
            <a:r>
              <a:rPr lang="en-US" sz="1200" dirty="0" err="1">
                <a:solidFill>
                  <a:schemeClr val="dk1"/>
                </a:solidFill>
              </a:rPr>
              <a:t>nhóm</a:t>
            </a:r>
            <a:r>
              <a:rPr lang="en-US" sz="1200" dirty="0">
                <a:solidFill>
                  <a:schemeClr val="dk1"/>
                </a:solidFill>
              </a:rPr>
              <a:t> </a:t>
            </a:r>
            <a:r>
              <a:rPr lang="en-US" sz="1200" dirty="0" err="1">
                <a:solidFill>
                  <a:schemeClr val="dk1"/>
                </a:solidFill>
              </a:rPr>
              <a:t>tuổi</a:t>
            </a:r>
            <a:r>
              <a:rPr lang="en-US" sz="1200" dirty="0">
                <a:solidFill>
                  <a:schemeClr val="dk1"/>
                </a:solidFill>
              </a:rPr>
              <a:t>, </a:t>
            </a:r>
            <a:r>
              <a:rPr lang="en-US" sz="1200" dirty="0" err="1">
                <a:solidFill>
                  <a:schemeClr val="dk1"/>
                </a:solidFill>
              </a:rPr>
              <a:t>giới</a:t>
            </a:r>
            <a:r>
              <a:rPr lang="en-US" sz="1200" dirty="0">
                <a:solidFill>
                  <a:schemeClr val="dk1"/>
                </a:solidFill>
              </a:rPr>
              <a:t> </a:t>
            </a:r>
            <a:r>
              <a:rPr lang="en-US" sz="1200" dirty="0" err="1">
                <a:solidFill>
                  <a:schemeClr val="dk1"/>
                </a:solidFill>
              </a:rPr>
              <a:t>tính</a:t>
            </a:r>
            <a:r>
              <a:rPr lang="en-US" sz="1200" dirty="0">
                <a:solidFill>
                  <a:schemeClr val="dk1"/>
                </a:solidFill>
              </a:rPr>
              <a:t>, </a:t>
            </a:r>
            <a:r>
              <a:rPr lang="en-US" sz="1200" dirty="0" err="1">
                <a:solidFill>
                  <a:schemeClr val="dk1"/>
                </a:solidFill>
              </a:rPr>
              <a:t>cảm</a:t>
            </a:r>
            <a:r>
              <a:rPr lang="en-US" sz="1200" dirty="0">
                <a:solidFill>
                  <a:schemeClr val="dk1"/>
                </a:solidFill>
              </a:rPr>
              <a:t> </a:t>
            </a:r>
            <a:r>
              <a:rPr lang="en-US" sz="1200" dirty="0" err="1">
                <a:solidFill>
                  <a:schemeClr val="dk1"/>
                </a:solidFill>
              </a:rPr>
              <a:t>xúc</a:t>
            </a:r>
            <a:r>
              <a:rPr lang="en-US" sz="1200" dirty="0">
                <a:solidFill>
                  <a:schemeClr val="dk1"/>
                </a:solidFill>
              </a:rPr>
              <a:t> </a:t>
            </a:r>
            <a:r>
              <a:rPr lang="en-US" sz="1200" dirty="0" err="1">
                <a:solidFill>
                  <a:schemeClr val="dk1"/>
                </a:solidFill>
              </a:rPr>
              <a:t>và</a:t>
            </a:r>
            <a:r>
              <a:rPr lang="en-US" sz="1200" dirty="0">
                <a:solidFill>
                  <a:schemeClr val="dk1"/>
                </a:solidFill>
              </a:rPr>
              <a:t> </a:t>
            </a:r>
            <a:r>
              <a:rPr lang="en-US" sz="1200" dirty="0" err="1">
                <a:solidFill>
                  <a:schemeClr val="dk1"/>
                </a:solidFill>
              </a:rPr>
              <a:t>các</a:t>
            </a:r>
            <a:r>
              <a:rPr lang="en-US" sz="1200" dirty="0">
                <a:solidFill>
                  <a:schemeClr val="dk1"/>
                </a:solidFill>
              </a:rPr>
              <a:t> </a:t>
            </a:r>
            <a:r>
              <a:rPr lang="en-US" sz="1200" dirty="0" err="1">
                <a:solidFill>
                  <a:schemeClr val="dk1"/>
                </a:solidFill>
              </a:rPr>
              <a:t>đặc</a:t>
            </a:r>
            <a:r>
              <a:rPr lang="en-US" sz="1200" dirty="0">
                <a:solidFill>
                  <a:schemeClr val="dk1"/>
                </a:solidFill>
              </a:rPr>
              <a:t> </a:t>
            </a:r>
            <a:r>
              <a:rPr lang="en-US" sz="1200" dirty="0" err="1">
                <a:solidFill>
                  <a:schemeClr val="dk1"/>
                </a:solidFill>
              </a:rPr>
              <a:t>điểm</a:t>
            </a:r>
            <a:r>
              <a:rPr lang="en-US" sz="1200" dirty="0">
                <a:solidFill>
                  <a:schemeClr val="dk1"/>
                </a:solidFill>
              </a:rPr>
              <a:t> </a:t>
            </a:r>
            <a:r>
              <a:rPr lang="en-US" sz="1200" dirty="0" err="1">
                <a:solidFill>
                  <a:schemeClr val="dk1"/>
                </a:solidFill>
              </a:rPr>
              <a:t>khác</a:t>
            </a:r>
            <a:r>
              <a:rPr lang="en-US" sz="1200" dirty="0">
                <a:solidFill>
                  <a:schemeClr val="dk1"/>
                </a:solidFill>
              </a:rPr>
              <a:t> do camera </a:t>
            </a:r>
            <a:r>
              <a:rPr lang="en-US" sz="1200" dirty="0" err="1">
                <a:solidFill>
                  <a:schemeClr val="dk1"/>
                </a:solidFill>
              </a:rPr>
              <a:t>hỗ</a:t>
            </a:r>
            <a:r>
              <a:rPr lang="en-US" sz="1200" dirty="0">
                <a:solidFill>
                  <a:schemeClr val="dk1"/>
                </a:solidFill>
              </a:rPr>
              <a:t> </a:t>
            </a:r>
            <a:r>
              <a:rPr lang="en-US" sz="1200" dirty="0" err="1">
                <a:solidFill>
                  <a:schemeClr val="dk1"/>
                </a:solidFill>
              </a:rPr>
              <a:t>trợ</a:t>
            </a:r>
            <a:r>
              <a:rPr lang="en-US" sz="1200" dirty="0">
                <a:solidFill>
                  <a:schemeClr val="dk1"/>
                </a:solidFill>
              </a:rPr>
              <a:t> </a:t>
            </a:r>
            <a:r>
              <a:rPr lang="en-US" sz="1200" dirty="0" err="1">
                <a:solidFill>
                  <a:schemeClr val="dk1"/>
                </a:solidFill>
              </a:rPr>
              <a:t>nhận</a:t>
            </a:r>
            <a:r>
              <a:rPr lang="en-US" sz="1200" dirty="0">
                <a:solidFill>
                  <a:schemeClr val="dk1"/>
                </a:solidFill>
              </a:rPr>
              <a:t> </a:t>
            </a:r>
            <a:r>
              <a:rPr lang="en-US" sz="1200" dirty="0" err="1">
                <a:solidFill>
                  <a:schemeClr val="dk1"/>
                </a:solidFill>
              </a:rPr>
              <a:t>diện</a:t>
            </a:r>
            <a:r>
              <a:rPr lang="en-US" sz="1200" dirty="0">
                <a:solidFill>
                  <a:schemeClr val="dk1"/>
                </a:solidFill>
              </a:rPr>
              <a:t>.</a:t>
            </a:r>
            <a:endParaRPr sz="1200" dirty="0">
              <a:solidFill>
                <a:schemeClr val="dk1"/>
              </a:solidFill>
            </a:endParaRPr>
          </a:p>
          <a:p>
            <a:pPr marL="457200" lvl="0" indent="-304800" algn="l" rtl="0">
              <a:lnSpc>
                <a:spcPct val="150000"/>
              </a:lnSpc>
              <a:spcBef>
                <a:spcPts val="0"/>
              </a:spcBef>
              <a:spcAft>
                <a:spcPts val="0"/>
              </a:spcAft>
              <a:buClr>
                <a:schemeClr val="dk1"/>
              </a:buClr>
              <a:buSzPts val="1200"/>
              <a:buChar char="●"/>
            </a:pPr>
            <a:r>
              <a:rPr lang="en-US" sz="1200" b="1" dirty="0" err="1">
                <a:solidFill>
                  <a:schemeClr val="dk1"/>
                </a:solidFill>
              </a:rPr>
              <a:t>Hỗ</a:t>
            </a:r>
            <a:r>
              <a:rPr lang="en-US" sz="1200" b="1" dirty="0">
                <a:solidFill>
                  <a:schemeClr val="dk1"/>
                </a:solidFill>
              </a:rPr>
              <a:t> </a:t>
            </a:r>
            <a:r>
              <a:rPr lang="en-US" sz="1200" b="1" dirty="0" err="1">
                <a:solidFill>
                  <a:schemeClr val="dk1"/>
                </a:solidFill>
              </a:rPr>
              <a:t>trợ</a:t>
            </a:r>
            <a:r>
              <a:rPr lang="en-US" sz="1200" b="1" dirty="0">
                <a:solidFill>
                  <a:schemeClr val="dk1"/>
                </a:solidFill>
              </a:rPr>
              <a:t> </a:t>
            </a:r>
            <a:r>
              <a:rPr lang="en-US" sz="1200" b="1" dirty="0" err="1">
                <a:solidFill>
                  <a:schemeClr val="dk1"/>
                </a:solidFill>
              </a:rPr>
              <a:t>quản</a:t>
            </a:r>
            <a:r>
              <a:rPr lang="en-US" sz="1200" b="1" dirty="0">
                <a:solidFill>
                  <a:schemeClr val="dk1"/>
                </a:solidFill>
              </a:rPr>
              <a:t> </a:t>
            </a:r>
            <a:r>
              <a:rPr lang="en-US" sz="1200" b="1" dirty="0" err="1">
                <a:solidFill>
                  <a:schemeClr val="dk1"/>
                </a:solidFill>
              </a:rPr>
              <a:t>lý</a:t>
            </a:r>
            <a:r>
              <a:rPr lang="en-US" sz="1200" b="1" dirty="0">
                <a:solidFill>
                  <a:schemeClr val="dk1"/>
                </a:solidFill>
              </a:rPr>
              <a:t>, </a:t>
            </a:r>
            <a:r>
              <a:rPr lang="en-US" sz="1200" b="1" dirty="0" err="1">
                <a:solidFill>
                  <a:schemeClr val="dk1"/>
                </a:solidFill>
              </a:rPr>
              <a:t>đánh</a:t>
            </a:r>
            <a:r>
              <a:rPr lang="en-US" sz="1200" b="1" dirty="0">
                <a:solidFill>
                  <a:schemeClr val="dk1"/>
                </a:solidFill>
              </a:rPr>
              <a:t> </a:t>
            </a:r>
            <a:r>
              <a:rPr lang="en-US" sz="1200" b="1" dirty="0" err="1">
                <a:solidFill>
                  <a:schemeClr val="dk1"/>
                </a:solidFill>
              </a:rPr>
              <a:t>giá</a:t>
            </a:r>
            <a:r>
              <a:rPr lang="en-US" sz="1200" b="1" dirty="0">
                <a:solidFill>
                  <a:schemeClr val="dk1"/>
                </a:solidFill>
              </a:rPr>
              <a:t>:</a:t>
            </a:r>
            <a:r>
              <a:rPr lang="en-US" sz="1200" dirty="0">
                <a:solidFill>
                  <a:schemeClr val="dk1"/>
                </a:solidFill>
              </a:rPr>
              <a:t> Cung </a:t>
            </a:r>
            <a:r>
              <a:rPr lang="en-US" sz="1200" dirty="0" err="1">
                <a:solidFill>
                  <a:schemeClr val="dk1"/>
                </a:solidFill>
              </a:rPr>
              <a:t>cấp</a:t>
            </a:r>
            <a:r>
              <a:rPr lang="en-US" sz="1200" dirty="0">
                <a:solidFill>
                  <a:schemeClr val="dk1"/>
                </a:solidFill>
              </a:rPr>
              <a:t> </a:t>
            </a:r>
            <a:r>
              <a:rPr lang="en-US" sz="1200" dirty="0" err="1">
                <a:solidFill>
                  <a:schemeClr val="dk1"/>
                </a:solidFill>
              </a:rPr>
              <a:t>số</a:t>
            </a:r>
            <a:r>
              <a:rPr lang="en-US" sz="1200" dirty="0">
                <a:solidFill>
                  <a:schemeClr val="dk1"/>
                </a:solidFill>
              </a:rPr>
              <a:t> </a:t>
            </a:r>
            <a:r>
              <a:rPr lang="en-US" sz="1200" dirty="0" err="1">
                <a:solidFill>
                  <a:schemeClr val="dk1"/>
                </a:solidFill>
              </a:rPr>
              <a:t>liệu</a:t>
            </a:r>
            <a:r>
              <a:rPr lang="en-US" sz="1200" dirty="0">
                <a:solidFill>
                  <a:schemeClr val="dk1"/>
                </a:solidFill>
              </a:rPr>
              <a:t> </a:t>
            </a:r>
            <a:r>
              <a:rPr lang="en-US" sz="1200" dirty="0" err="1">
                <a:solidFill>
                  <a:schemeClr val="dk1"/>
                </a:solidFill>
              </a:rPr>
              <a:t>tổng</a:t>
            </a:r>
            <a:r>
              <a:rPr lang="en-US" sz="1200" dirty="0">
                <a:solidFill>
                  <a:schemeClr val="dk1"/>
                </a:solidFill>
              </a:rPr>
              <a:t> </a:t>
            </a:r>
            <a:r>
              <a:rPr lang="en-US" sz="1200" dirty="0" err="1">
                <a:solidFill>
                  <a:schemeClr val="dk1"/>
                </a:solidFill>
              </a:rPr>
              <a:t>hợp</a:t>
            </a:r>
            <a:r>
              <a:rPr lang="en-US" sz="1200" dirty="0">
                <a:solidFill>
                  <a:schemeClr val="dk1"/>
                </a:solidFill>
              </a:rPr>
              <a:t> </a:t>
            </a:r>
            <a:r>
              <a:rPr lang="en-US" sz="1200" dirty="0" err="1">
                <a:solidFill>
                  <a:schemeClr val="dk1"/>
                </a:solidFill>
              </a:rPr>
              <a:t>và</a:t>
            </a:r>
            <a:r>
              <a:rPr lang="en-US" sz="1200" dirty="0">
                <a:solidFill>
                  <a:schemeClr val="dk1"/>
                </a:solidFill>
              </a:rPr>
              <a:t> </a:t>
            </a:r>
            <a:r>
              <a:rPr lang="en-US" sz="1200" dirty="0" err="1">
                <a:solidFill>
                  <a:schemeClr val="dk1"/>
                </a:solidFill>
              </a:rPr>
              <a:t>biểu</a:t>
            </a:r>
            <a:r>
              <a:rPr lang="en-US" sz="1200" dirty="0">
                <a:solidFill>
                  <a:schemeClr val="dk1"/>
                </a:solidFill>
              </a:rPr>
              <a:t> </a:t>
            </a:r>
            <a:r>
              <a:rPr lang="en-US" sz="1200" dirty="0" err="1">
                <a:solidFill>
                  <a:schemeClr val="dk1"/>
                </a:solidFill>
              </a:rPr>
              <a:t>đồ</a:t>
            </a:r>
            <a:r>
              <a:rPr lang="en-US" sz="1200" dirty="0">
                <a:solidFill>
                  <a:schemeClr val="dk1"/>
                </a:solidFill>
              </a:rPr>
              <a:t> </a:t>
            </a:r>
            <a:r>
              <a:rPr lang="en-US" sz="1200" dirty="0" err="1">
                <a:solidFill>
                  <a:schemeClr val="dk1"/>
                </a:solidFill>
              </a:rPr>
              <a:t>trực</a:t>
            </a:r>
            <a:r>
              <a:rPr lang="en-US" sz="1200" dirty="0">
                <a:solidFill>
                  <a:schemeClr val="dk1"/>
                </a:solidFill>
              </a:rPr>
              <a:t> </a:t>
            </a:r>
            <a:r>
              <a:rPr lang="en-US" sz="1200" dirty="0" err="1">
                <a:solidFill>
                  <a:schemeClr val="dk1"/>
                </a:solidFill>
              </a:rPr>
              <a:t>quan</a:t>
            </a:r>
            <a:r>
              <a:rPr lang="en-US" sz="1200" dirty="0">
                <a:solidFill>
                  <a:schemeClr val="dk1"/>
                </a:solidFill>
              </a:rPr>
              <a:t>, </a:t>
            </a:r>
            <a:r>
              <a:rPr lang="en-US" sz="1200" dirty="0" err="1">
                <a:solidFill>
                  <a:schemeClr val="dk1"/>
                </a:solidFill>
              </a:rPr>
              <a:t>giúp</a:t>
            </a:r>
            <a:r>
              <a:rPr lang="en-US" sz="1200" dirty="0">
                <a:solidFill>
                  <a:schemeClr val="dk1"/>
                </a:solidFill>
              </a:rPr>
              <a:t> </a:t>
            </a:r>
            <a:r>
              <a:rPr lang="en-US" sz="1200" dirty="0" err="1">
                <a:solidFill>
                  <a:schemeClr val="dk1"/>
                </a:solidFill>
              </a:rPr>
              <a:t>người</a:t>
            </a:r>
            <a:r>
              <a:rPr lang="en-US" sz="1200" dirty="0">
                <a:solidFill>
                  <a:schemeClr val="dk1"/>
                </a:solidFill>
              </a:rPr>
              <a:t> </a:t>
            </a:r>
            <a:r>
              <a:rPr lang="en-US" sz="1200" dirty="0" err="1">
                <a:solidFill>
                  <a:schemeClr val="dk1"/>
                </a:solidFill>
              </a:rPr>
              <a:t>quản</a:t>
            </a:r>
            <a:r>
              <a:rPr lang="en-US" sz="1200" dirty="0">
                <a:solidFill>
                  <a:schemeClr val="dk1"/>
                </a:solidFill>
              </a:rPr>
              <a:t> </a:t>
            </a:r>
            <a:r>
              <a:rPr lang="en-US" sz="1200" dirty="0" err="1">
                <a:solidFill>
                  <a:schemeClr val="dk1"/>
                </a:solidFill>
              </a:rPr>
              <a:t>lý</a:t>
            </a:r>
            <a:r>
              <a:rPr lang="en-US" sz="1200" dirty="0">
                <a:solidFill>
                  <a:schemeClr val="dk1"/>
                </a:solidFill>
              </a:rPr>
              <a:t> </a:t>
            </a:r>
            <a:r>
              <a:rPr lang="en-US" sz="1200" dirty="0" err="1">
                <a:solidFill>
                  <a:schemeClr val="dk1"/>
                </a:solidFill>
              </a:rPr>
              <a:t>nắm</a:t>
            </a:r>
            <a:r>
              <a:rPr lang="en-US" sz="1200" dirty="0">
                <a:solidFill>
                  <a:schemeClr val="dk1"/>
                </a:solidFill>
              </a:rPr>
              <a:t> </a:t>
            </a:r>
            <a:r>
              <a:rPr lang="en-US" sz="1200" dirty="0" err="1">
                <a:solidFill>
                  <a:schemeClr val="dk1"/>
                </a:solidFill>
              </a:rPr>
              <a:t>bắt</a:t>
            </a:r>
            <a:r>
              <a:rPr lang="en-US" sz="1200" dirty="0">
                <a:solidFill>
                  <a:schemeClr val="dk1"/>
                </a:solidFill>
              </a:rPr>
              <a:t> </a:t>
            </a:r>
            <a:r>
              <a:rPr lang="en-US" sz="1200" dirty="0" err="1">
                <a:solidFill>
                  <a:schemeClr val="dk1"/>
                </a:solidFill>
              </a:rPr>
              <a:t>tình</a:t>
            </a:r>
            <a:r>
              <a:rPr lang="en-US" sz="1200" dirty="0">
                <a:solidFill>
                  <a:schemeClr val="dk1"/>
                </a:solidFill>
              </a:rPr>
              <a:t> </a:t>
            </a:r>
            <a:r>
              <a:rPr lang="en-US" sz="1200" dirty="0" err="1">
                <a:solidFill>
                  <a:schemeClr val="dk1"/>
                </a:solidFill>
              </a:rPr>
              <a:t>hình</a:t>
            </a:r>
            <a:r>
              <a:rPr lang="en-US" sz="1200" dirty="0">
                <a:solidFill>
                  <a:schemeClr val="dk1"/>
                </a:solidFill>
              </a:rPr>
              <a:t> </a:t>
            </a:r>
            <a:r>
              <a:rPr lang="en-US" sz="1200" dirty="0" err="1">
                <a:solidFill>
                  <a:schemeClr val="dk1"/>
                </a:solidFill>
              </a:rPr>
              <a:t>và</a:t>
            </a:r>
            <a:r>
              <a:rPr lang="en-US" sz="1200" dirty="0">
                <a:solidFill>
                  <a:schemeClr val="dk1"/>
                </a:solidFill>
              </a:rPr>
              <a:t> </a:t>
            </a:r>
            <a:r>
              <a:rPr lang="en-US" sz="1200" dirty="0" err="1">
                <a:solidFill>
                  <a:schemeClr val="dk1"/>
                </a:solidFill>
              </a:rPr>
              <a:t>có</a:t>
            </a:r>
            <a:r>
              <a:rPr lang="en-US" sz="1200" dirty="0">
                <a:solidFill>
                  <a:schemeClr val="dk1"/>
                </a:solidFill>
              </a:rPr>
              <a:t> </a:t>
            </a:r>
            <a:r>
              <a:rPr lang="en-US" sz="1200" dirty="0" err="1">
                <a:solidFill>
                  <a:schemeClr val="dk1"/>
                </a:solidFill>
              </a:rPr>
              <a:t>cơ</a:t>
            </a:r>
            <a:r>
              <a:rPr lang="en-US" sz="1200" dirty="0">
                <a:solidFill>
                  <a:schemeClr val="dk1"/>
                </a:solidFill>
              </a:rPr>
              <a:t> </a:t>
            </a:r>
            <a:r>
              <a:rPr lang="en-US" sz="1200" dirty="0" err="1">
                <a:solidFill>
                  <a:schemeClr val="dk1"/>
                </a:solidFill>
              </a:rPr>
              <a:t>sở</a:t>
            </a:r>
            <a:r>
              <a:rPr lang="en-US" sz="1200" dirty="0">
                <a:solidFill>
                  <a:schemeClr val="dk1"/>
                </a:solidFill>
              </a:rPr>
              <a:t> </a:t>
            </a:r>
            <a:r>
              <a:rPr lang="en-US" sz="1200" dirty="0" err="1">
                <a:solidFill>
                  <a:schemeClr val="dk1"/>
                </a:solidFill>
              </a:rPr>
              <a:t>đánh</a:t>
            </a:r>
            <a:r>
              <a:rPr lang="en-US" sz="1200" dirty="0">
                <a:solidFill>
                  <a:schemeClr val="dk1"/>
                </a:solidFill>
              </a:rPr>
              <a:t> </a:t>
            </a:r>
            <a:r>
              <a:rPr lang="en-US" sz="1200" dirty="0" err="1">
                <a:solidFill>
                  <a:schemeClr val="dk1"/>
                </a:solidFill>
              </a:rPr>
              <a:t>giá</a:t>
            </a:r>
            <a:r>
              <a:rPr lang="en-US" sz="1200" dirty="0">
                <a:solidFill>
                  <a:schemeClr val="dk1"/>
                </a:solidFill>
              </a:rPr>
              <a:t> </a:t>
            </a:r>
            <a:r>
              <a:rPr lang="en-US" sz="1200" dirty="0" err="1">
                <a:solidFill>
                  <a:schemeClr val="dk1"/>
                </a:solidFill>
              </a:rPr>
              <a:t>theo</a:t>
            </a:r>
            <a:r>
              <a:rPr lang="en-US" sz="1200" dirty="0">
                <a:solidFill>
                  <a:schemeClr val="dk1"/>
                </a:solidFill>
              </a:rPr>
              <a:t> </a:t>
            </a:r>
            <a:r>
              <a:rPr lang="en-US" sz="1200" dirty="0" err="1">
                <a:solidFill>
                  <a:schemeClr val="dk1"/>
                </a:solidFill>
              </a:rPr>
              <a:t>dữ</a:t>
            </a:r>
            <a:r>
              <a:rPr lang="en-US" sz="1200" dirty="0">
                <a:solidFill>
                  <a:schemeClr val="dk1"/>
                </a:solidFill>
              </a:rPr>
              <a:t> </a:t>
            </a:r>
            <a:r>
              <a:rPr lang="en-US" sz="1200" dirty="0" err="1">
                <a:solidFill>
                  <a:schemeClr val="dk1"/>
                </a:solidFill>
              </a:rPr>
              <a:t>liệu</a:t>
            </a:r>
            <a:r>
              <a:rPr lang="en-US" sz="1200" dirty="0">
                <a:solidFill>
                  <a:schemeClr val="dk1"/>
                </a:solidFill>
              </a:rPr>
              <a:t> </a:t>
            </a:r>
            <a:r>
              <a:rPr lang="en-US" sz="1200" dirty="0" err="1">
                <a:solidFill>
                  <a:schemeClr val="dk1"/>
                </a:solidFill>
              </a:rPr>
              <a:t>được</a:t>
            </a:r>
            <a:r>
              <a:rPr lang="en-US" sz="1200" dirty="0">
                <a:solidFill>
                  <a:schemeClr val="dk1"/>
                </a:solidFill>
              </a:rPr>
              <a:t> </a:t>
            </a:r>
            <a:r>
              <a:rPr lang="en-US" sz="1200" dirty="0" err="1">
                <a:solidFill>
                  <a:schemeClr val="dk1"/>
                </a:solidFill>
              </a:rPr>
              <a:t>ghi</a:t>
            </a:r>
            <a:r>
              <a:rPr lang="en-US" sz="1200" dirty="0">
                <a:solidFill>
                  <a:schemeClr val="dk1"/>
                </a:solidFill>
              </a:rPr>
              <a:t> </a:t>
            </a:r>
            <a:r>
              <a:rPr lang="en-US" sz="1200" dirty="0" err="1">
                <a:solidFill>
                  <a:schemeClr val="dk1"/>
                </a:solidFill>
              </a:rPr>
              <a:t>nhận</a:t>
            </a:r>
            <a:r>
              <a:rPr lang="en-US" sz="1200" dirty="0">
                <a:solidFill>
                  <a:schemeClr val="dk1"/>
                </a:solidFill>
              </a:rPr>
              <a:t>.</a:t>
            </a:r>
            <a:endParaRPr sz="1200" dirty="0">
              <a:solidFill>
                <a:schemeClr val="dk1"/>
              </a:solidFill>
            </a:endParaRPr>
          </a:p>
          <a:p>
            <a:pPr marL="0" marR="0" lvl="0" indent="0" algn="l" rtl="0">
              <a:spcBef>
                <a:spcPts val="1200"/>
              </a:spcBef>
              <a:spcAft>
                <a:spcPts val="0"/>
              </a:spcAft>
              <a:buNone/>
            </a:pPr>
            <a:endParaRPr sz="1300" b="1" dirty="0">
              <a:solidFill>
                <a:srgbClr val="1E3A8A"/>
              </a:solidFill>
              <a:latin typeface="Quattrocento Sans"/>
              <a:ea typeface="Quattrocento Sans"/>
              <a:cs typeface="Quattrocento Sans"/>
              <a:sym typeface="Quattrocento Sans"/>
            </a:endParaRPr>
          </a:p>
        </p:txBody>
      </p:sp>
      <p:sp>
        <p:nvSpPr>
          <p:cNvPr id="588" name="Google Shape;588;p16"/>
          <p:cNvSpPr txBox="1"/>
          <p:nvPr/>
        </p:nvSpPr>
        <p:spPr>
          <a:xfrm>
            <a:off x="5923754" y="6018405"/>
            <a:ext cx="6099600" cy="44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6B7280"/>
                </a:solidFill>
                <a:latin typeface="Quattrocento Sans"/>
                <a:ea typeface="Quattrocento Sans"/>
                <a:cs typeface="Quattrocento Sans"/>
                <a:sym typeface="Quattrocento Sans"/>
              </a:rPr>
              <a:t>VD: Thống kê đặc điểm nhận diện</a:t>
            </a:r>
            <a:endParaRPr sz="900">
              <a:solidFill>
                <a:srgbClr val="6B7280"/>
              </a:solidFill>
              <a:latin typeface="Quattrocento Sans"/>
              <a:ea typeface="Quattrocento Sans"/>
              <a:cs typeface="Quattrocento Sans"/>
              <a:sym typeface="Quattrocento Sans"/>
            </a:endParaRPr>
          </a:p>
        </p:txBody>
      </p:sp>
      <p:sp>
        <p:nvSpPr>
          <p:cNvPr id="589" name="Google Shape;589;p16"/>
          <p:cNvSpPr/>
          <p:nvPr/>
        </p:nvSpPr>
        <p:spPr>
          <a:xfrm>
            <a:off x="276026" y="3570778"/>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0" name="Google Shape;590;p16"/>
          <p:cNvSpPr/>
          <p:nvPr/>
        </p:nvSpPr>
        <p:spPr>
          <a:xfrm>
            <a:off x="403026" y="3705589"/>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latin typeface="Quattrocento Sans"/>
                <a:ea typeface="Quattrocento Sans"/>
                <a:cs typeface="Quattrocento Sans"/>
                <a:sym typeface="Quattrocento Sans"/>
              </a:rPr>
              <a:t>1</a:t>
            </a:r>
            <a:endParaRPr/>
          </a:p>
        </p:txBody>
      </p:sp>
      <p:sp>
        <p:nvSpPr>
          <p:cNvPr id="591" name="Google Shape;591;p16"/>
          <p:cNvSpPr txBox="1"/>
          <p:nvPr/>
        </p:nvSpPr>
        <p:spPr>
          <a:xfrm>
            <a:off x="834826" y="3782639"/>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Tiếp nhận dữ liệu </a:t>
            </a:r>
            <a:endParaRPr sz="1200" b="1">
              <a:solidFill>
                <a:srgbClr val="1E3A8A"/>
              </a:solidFill>
            </a:endParaRPr>
          </a:p>
        </p:txBody>
      </p:sp>
      <p:sp>
        <p:nvSpPr>
          <p:cNvPr id="592" name="Google Shape;592;p16"/>
          <p:cNvSpPr txBox="1"/>
          <p:nvPr/>
        </p:nvSpPr>
        <p:spPr>
          <a:xfrm>
            <a:off x="415676" y="4197402"/>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EMS tiếp nhận các sự kiện và thông tin nhận diện do camera gửi lên. </a:t>
            </a:r>
            <a:endParaRPr sz="1050">
              <a:solidFill>
                <a:srgbClr val="1F2937"/>
              </a:solidFill>
            </a:endParaRPr>
          </a:p>
        </p:txBody>
      </p:sp>
      <p:sp>
        <p:nvSpPr>
          <p:cNvPr id="593" name="Google Shape;593;p16"/>
          <p:cNvSpPr/>
          <p:nvPr/>
        </p:nvSpPr>
        <p:spPr>
          <a:xfrm>
            <a:off x="276026" y="4961022"/>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4" name="Google Shape;594;p16"/>
          <p:cNvSpPr/>
          <p:nvPr/>
        </p:nvSpPr>
        <p:spPr>
          <a:xfrm>
            <a:off x="403026" y="5139722"/>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595" name="Google Shape;595;p16"/>
          <p:cNvSpPr txBox="1"/>
          <p:nvPr/>
        </p:nvSpPr>
        <p:spPr>
          <a:xfrm>
            <a:off x="834826" y="5205897"/>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Theo dõi biểu đồ </a:t>
            </a:r>
            <a:endParaRPr/>
          </a:p>
        </p:txBody>
      </p:sp>
      <p:sp>
        <p:nvSpPr>
          <p:cNvPr id="596" name="Google Shape;596;p16"/>
          <p:cNvSpPr txBox="1"/>
          <p:nvPr/>
        </p:nvSpPr>
        <p:spPr>
          <a:xfrm>
            <a:off x="415676" y="557521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Quan sát số liệu tổng hợp và phân bố đặc điểm nhận diện qua dashboard. </a:t>
            </a:r>
            <a:endParaRPr sz="1050">
              <a:solidFill>
                <a:srgbClr val="1F2937"/>
              </a:solidFill>
            </a:endParaRPr>
          </a:p>
        </p:txBody>
      </p:sp>
      <p:sp>
        <p:nvSpPr>
          <p:cNvPr id="597" name="Google Shape;597;p16"/>
          <p:cNvSpPr/>
          <p:nvPr/>
        </p:nvSpPr>
        <p:spPr>
          <a:xfrm>
            <a:off x="3133526" y="3546410"/>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8" name="Google Shape;598;p16"/>
          <p:cNvSpPr/>
          <p:nvPr/>
        </p:nvSpPr>
        <p:spPr>
          <a:xfrm>
            <a:off x="3260526" y="370561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599" name="Google Shape;599;p16"/>
          <p:cNvSpPr txBox="1"/>
          <p:nvPr/>
        </p:nvSpPr>
        <p:spPr>
          <a:xfrm>
            <a:off x="3692326" y="377951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Tổng hợp thống kê </a:t>
            </a:r>
            <a:endParaRPr/>
          </a:p>
        </p:txBody>
      </p:sp>
      <p:sp>
        <p:nvSpPr>
          <p:cNvPr id="600" name="Google Shape;600;p16"/>
          <p:cNvSpPr txBox="1"/>
          <p:nvPr/>
        </p:nvSpPr>
        <p:spPr>
          <a:xfrm>
            <a:off x="3285926" y="411586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Tổng hợp số liệu theo từng nhóm thống kê và điều kiện lọc mà hệ thống hỗ trợ. </a:t>
            </a:r>
            <a:endParaRPr/>
          </a:p>
        </p:txBody>
      </p:sp>
      <p:sp>
        <p:nvSpPr>
          <p:cNvPr id="601" name="Google Shape;601;p16"/>
          <p:cNvSpPr/>
          <p:nvPr/>
        </p:nvSpPr>
        <p:spPr>
          <a:xfrm>
            <a:off x="3133526" y="4954722"/>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2" name="Google Shape;602;p16"/>
          <p:cNvSpPr/>
          <p:nvPr/>
        </p:nvSpPr>
        <p:spPr>
          <a:xfrm>
            <a:off x="3260526" y="5139722"/>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603" name="Google Shape;603;p16"/>
          <p:cNvSpPr txBox="1"/>
          <p:nvPr/>
        </p:nvSpPr>
        <p:spPr>
          <a:xfrm>
            <a:off x="3692326" y="5214397"/>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Khai thác báo cáo </a:t>
            </a:r>
            <a:endParaRPr/>
          </a:p>
        </p:txBody>
      </p:sp>
      <p:sp>
        <p:nvSpPr>
          <p:cNvPr id="604" name="Google Shape;604;p16"/>
          <p:cNvSpPr txBox="1"/>
          <p:nvPr/>
        </p:nvSpPr>
        <p:spPr>
          <a:xfrm>
            <a:off x="3285926" y="5575197"/>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Xem và xuất báo cáo theo các chức năng, bộ lọc và quyền truy cập hiện có. </a:t>
            </a:r>
            <a:endParaRPr sz="1050">
              <a:solidFill>
                <a:srgbClr val="1F2937"/>
              </a:solidFill>
            </a:endParaRPr>
          </a:p>
        </p:txBody>
      </p:sp>
      <p:pic>
        <p:nvPicPr>
          <p:cNvPr id="605" name="Google Shape;605;p16"/>
          <p:cNvPicPr preferRelativeResize="0"/>
          <p:nvPr/>
        </p:nvPicPr>
        <p:blipFill rotWithShape="1">
          <a:blip r:embed="rId3">
            <a:alphaModFix/>
          </a:blip>
          <a:srcRect b="16590"/>
          <a:stretch/>
        </p:blipFill>
        <p:spPr>
          <a:xfrm>
            <a:off x="5876575" y="3588825"/>
            <a:ext cx="6002410" cy="23556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0"/>
        <p:cNvGrpSpPr/>
        <p:nvPr/>
      </p:nvGrpSpPr>
      <p:grpSpPr>
        <a:xfrm>
          <a:off x="0" y="0"/>
          <a:ext cx="0" cy="0"/>
          <a:chOff x="0" y="0"/>
          <a:chExt cx="0" cy="0"/>
        </a:xfrm>
      </p:grpSpPr>
      <p:sp>
        <p:nvSpPr>
          <p:cNvPr id="611" name="Google Shape;611;p17"/>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3 · QUẢN LÝ ĐỊNH DANH</a:t>
            </a:r>
            <a:endParaRPr/>
          </a:p>
        </p:txBody>
      </p:sp>
      <p:sp>
        <p:nvSpPr>
          <p:cNvPr id="612" name="Google Shape;612;p17"/>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Quản lý danh sách định danh</a:t>
            </a:r>
            <a:endParaRPr sz="2600" b="1">
              <a:solidFill>
                <a:srgbClr val="1E3A8A"/>
              </a:solidFill>
            </a:endParaRPr>
          </a:p>
        </p:txBody>
      </p:sp>
      <p:sp>
        <p:nvSpPr>
          <p:cNvPr id="613" name="Google Shape;613;p17"/>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4" name="Google Shape;614;p17"/>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615" name="Google Shape;615;p17"/>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616" name="Google Shape;616;p17"/>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617" name="Google Shape;617;p17"/>
          <p:cNvSpPr/>
          <p:nvPr/>
        </p:nvSpPr>
        <p:spPr>
          <a:xfrm>
            <a:off x="94996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3</a:t>
            </a:r>
            <a:endParaRPr/>
          </a:p>
        </p:txBody>
      </p:sp>
      <p:sp>
        <p:nvSpPr>
          <p:cNvPr id="618" name="Google Shape;618;p17"/>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619" name="Google Shape;619;p17"/>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620" name="Google Shape;620;p17"/>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621" name="Google Shape;621;p17"/>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622" name="Google Shape;622;p17"/>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623" name="Google Shape;623;p17"/>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624" name="Google Shape;624;p17"/>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định danh › Danh sách định danh · Cần xác nhận · Lịch sử nhập dữ liệu</a:t>
            </a:r>
            <a:endParaRPr/>
          </a:p>
        </p:txBody>
      </p:sp>
      <p:sp>
        <p:nvSpPr>
          <p:cNvPr id="625" name="Google Shape;625;p17"/>
          <p:cNvSpPr txBox="1"/>
          <p:nvPr/>
        </p:nvSpPr>
        <p:spPr>
          <a:xfrm>
            <a:off x="609600" y="1533944"/>
            <a:ext cx="10972800" cy="369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500" b="1" dirty="0" err="1">
                <a:solidFill>
                  <a:srgbClr val="1E3A8A"/>
                </a:solidFill>
              </a:rPr>
              <a:t>Ứng</a:t>
            </a:r>
            <a:r>
              <a:rPr lang="en-US" sz="1500" b="1" dirty="0">
                <a:solidFill>
                  <a:srgbClr val="1E3A8A"/>
                </a:solidFill>
              </a:rPr>
              <a:t> </a:t>
            </a:r>
            <a:r>
              <a:rPr lang="en-US" sz="1500" b="1" dirty="0" err="1">
                <a:solidFill>
                  <a:srgbClr val="1E3A8A"/>
                </a:solidFill>
              </a:rPr>
              <a:t>dụng</a:t>
            </a:r>
            <a:r>
              <a:rPr lang="en-US" sz="1500" b="1" dirty="0">
                <a:solidFill>
                  <a:srgbClr val="1E3A8A"/>
                </a:solidFill>
              </a:rPr>
              <a:t> </a:t>
            </a:r>
            <a:r>
              <a:rPr lang="en-US" sz="1500" b="1" dirty="0" err="1">
                <a:solidFill>
                  <a:srgbClr val="1E3A8A"/>
                </a:solidFill>
              </a:rPr>
              <a:t>thực</a:t>
            </a:r>
            <a:r>
              <a:rPr lang="en-US" sz="1500" b="1" dirty="0">
                <a:solidFill>
                  <a:srgbClr val="1E3A8A"/>
                </a:solidFill>
              </a:rPr>
              <a:t> </a:t>
            </a:r>
            <a:r>
              <a:rPr lang="en-US" sz="1500" b="1" dirty="0" err="1">
                <a:solidFill>
                  <a:srgbClr val="1E3A8A"/>
                </a:solidFill>
              </a:rPr>
              <a:t>tế</a:t>
            </a:r>
            <a:endParaRPr sz="1500" b="1" dirty="0">
              <a:solidFill>
                <a:srgbClr val="1E3A8A"/>
              </a:solidFill>
            </a:endParaRPr>
          </a:p>
          <a:p>
            <a:pPr marL="457200" lvl="0" indent="-304800" algn="l" rtl="0">
              <a:lnSpc>
                <a:spcPct val="150000"/>
              </a:lnSpc>
              <a:spcBef>
                <a:spcPts val="1200"/>
              </a:spcBef>
              <a:spcAft>
                <a:spcPts val="0"/>
              </a:spcAft>
              <a:buClr>
                <a:schemeClr val="dk1"/>
              </a:buClr>
              <a:buSzPts val="1200"/>
              <a:buChar char="●"/>
            </a:pPr>
            <a:r>
              <a:rPr lang="en-US" sz="1200" b="1" dirty="0">
                <a:solidFill>
                  <a:schemeClr val="dk1"/>
                </a:solidFill>
              </a:rPr>
              <a:t>Quản </a:t>
            </a:r>
            <a:r>
              <a:rPr lang="en-US" sz="1200" b="1" dirty="0" err="1">
                <a:solidFill>
                  <a:schemeClr val="dk1"/>
                </a:solidFill>
              </a:rPr>
              <a:t>lý</a:t>
            </a:r>
            <a:r>
              <a:rPr lang="en-US" sz="1200" b="1" dirty="0">
                <a:solidFill>
                  <a:schemeClr val="dk1"/>
                </a:solidFill>
              </a:rPr>
              <a:t> </a:t>
            </a:r>
            <a:r>
              <a:rPr lang="en-US" sz="1200" b="1" dirty="0" err="1">
                <a:solidFill>
                  <a:schemeClr val="dk1"/>
                </a:solidFill>
              </a:rPr>
              <a:t>tập</a:t>
            </a:r>
            <a:r>
              <a:rPr lang="en-US" sz="1200" b="1" dirty="0">
                <a:solidFill>
                  <a:schemeClr val="dk1"/>
                </a:solidFill>
              </a:rPr>
              <a:t> </a:t>
            </a:r>
            <a:r>
              <a:rPr lang="en-US" sz="1200" b="1" dirty="0" err="1">
                <a:solidFill>
                  <a:schemeClr val="dk1"/>
                </a:solidFill>
              </a:rPr>
              <a:t>trung</a:t>
            </a:r>
            <a:r>
              <a:rPr lang="en-US" sz="1200" b="1" dirty="0">
                <a:solidFill>
                  <a:schemeClr val="dk1"/>
                </a:solidFill>
              </a:rPr>
              <a:t>:</a:t>
            </a:r>
            <a:r>
              <a:rPr lang="en-US" sz="1200" dirty="0">
                <a:solidFill>
                  <a:schemeClr val="dk1"/>
                </a:solidFill>
              </a:rPr>
              <a:t> Lưu </a:t>
            </a:r>
            <a:r>
              <a:rPr lang="en-US" sz="1200" dirty="0" err="1">
                <a:solidFill>
                  <a:schemeClr val="dk1"/>
                </a:solidFill>
              </a:rPr>
              <a:t>trữ</a:t>
            </a:r>
            <a:r>
              <a:rPr lang="en-US" sz="1200" dirty="0">
                <a:solidFill>
                  <a:schemeClr val="dk1"/>
                </a:solidFill>
              </a:rPr>
              <a:t> </a:t>
            </a:r>
            <a:r>
              <a:rPr lang="en-US" sz="1200" dirty="0" err="1">
                <a:solidFill>
                  <a:schemeClr val="dk1"/>
                </a:solidFill>
              </a:rPr>
              <a:t>thông</a:t>
            </a:r>
            <a:r>
              <a:rPr lang="en-US" sz="1200" dirty="0">
                <a:solidFill>
                  <a:schemeClr val="dk1"/>
                </a:solidFill>
              </a:rPr>
              <a:t> tin, </a:t>
            </a:r>
            <a:r>
              <a:rPr lang="en-US" sz="1200" dirty="0" err="1">
                <a:solidFill>
                  <a:schemeClr val="dk1"/>
                </a:solidFill>
              </a:rPr>
              <a:t>hình</a:t>
            </a:r>
            <a:r>
              <a:rPr lang="en-US" sz="1200" dirty="0">
                <a:solidFill>
                  <a:schemeClr val="dk1"/>
                </a:solidFill>
              </a:rPr>
              <a:t> </a:t>
            </a:r>
            <a:r>
              <a:rPr lang="en-US" sz="1200" dirty="0" err="1">
                <a:solidFill>
                  <a:schemeClr val="dk1"/>
                </a:solidFill>
              </a:rPr>
              <a:t>ảnh</a:t>
            </a:r>
            <a:r>
              <a:rPr lang="en-US" sz="1200" dirty="0">
                <a:solidFill>
                  <a:schemeClr val="dk1"/>
                </a:solidFill>
              </a:rPr>
              <a:t> </a:t>
            </a:r>
            <a:r>
              <a:rPr lang="en-US" sz="1200" dirty="0" err="1">
                <a:solidFill>
                  <a:schemeClr val="dk1"/>
                </a:solidFill>
              </a:rPr>
              <a:t>và</a:t>
            </a:r>
            <a:r>
              <a:rPr lang="en-US" sz="1200" dirty="0">
                <a:solidFill>
                  <a:schemeClr val="dk1"/>
                </a:solidFill>
              </a:rPr>
              <a:t> </a:t>
            </a:r>
            <a:r>
              <a:rPr lang="en-US" sz="1200" dirty="0" err="1">
                <a:solidFill>
                  <a:schemeClr val="dk1"/>
                </a:solidFill>
              </a:rPr>
              <a:t>nhóm</a:t>
            </a:r>
            <a:r>
              <a:rPr lang="en-US" sz="1200" dirty="0">
                <a:solidFill>
                  <a:schemeClr val="dk1"/>
                </a:solidFill>
              </a:rPr>
              <a:t> </a:t>
            </a:r>
            <a:r>
              <a:rPr lang="en-US" sz="1200" dirty="0" err="1">
                <a:solidFill>
                  <a:schemeClr val="dk1"/>
                </a:solidFill>
              </a:rPr>
              <a:t>phân</a:t>
            </a:r>
            <a:r>
              <a:rPr lang="en-US" sz="1200" dirty="0">
                <a:solidFill>
                  <a:schemeClr val="dk1"/>
                </a:solidFill>
              </a:rPr>
              <a:t> </a:t>
            </a:r>
            <a:r>
              <a:rPr lang="en-US" sz="1200" dirty="0" err="1">
                <a:solidFill>
                  <a:schemeClr val="dk1"/>
                </a:solidFill>
              </a:rPr>
              <a:t>loại</a:t>
            </a:r>
            <a:r>
              <a:rPr lang="en-US" sz="1200" dirty="0">
                <a:solidFill>
                  <a:schemeClr val="dk1"/>
                </a:solidFill>
              </a:rPr>
              <a:t> </a:t>
            </a:r>
            <a:r>
              <a:rPr lang="en-US" sz="1200" dirty="0" err="1">
                <a:solidFill>
                  <a:schemeClr val="dk1"/>
                </a:solidFill>
              </a:rPr>
              <a:t>của</a:t>
            </a:r>
            <a:r>
              <a:rPr lang="en-US" sz="1200" dirty="0">
                <a:solidFill>
                  <a:schemeClr val="dk1"/>
                </a:solidFill>
              </a:rPr>
              <a:t> </a:t>
            </a:r>
            <a:r>
              <a:rPr lang="en-US" sz="1200" dirty="0" err="1">
                <a:solidFill>
                  <a:schemeClr val="dk1"/>
                </a:solidFill>
              </a:rPr>
              <a:t>người</a:t>
            </a:r>
            <a:r>
              <a:rPr lang="en-US" sz="1200" dirty="0">
                <a:solidFill>
                  <a:schemeClr val="dk1"/>
                </a:solidFill>
              </a:rPr>
              <a:t>, </a:t>
            </a:r>
            <a:r>
              <a:rPr lang="en-US" sz="1200" dirty="0" err="1">
                <a:solidFill>
                  <a:schemeClr val="dk1"/>
                </a:solidFill>
              </a:rPr>
              <a:t>phương</a:t>
            </a:r>
            <a:r>
              <a:rPr lang="en-US" sz="1200" dirty="0">
                <a:solidFill>
                  <a:schemeClr val="dk1"/>
                </a:solidFill>
              </a:rPr>
              <a:t> </a:t>
            </a:r>
            <a:r>
              <a:rPr lang="en-US" sz="1200" dirty="0" err="1">
                <a:solidFill>
                  <a:schemeClr val="dk1"/>
                </a:solidFill>
              </a:rPr>
              <a:t>tiện</a:t>
            </a:r>
            <a:r>
              <a:rPr lang="en-US" sz="1200" dirty="0">
                <a:solidFill>
                  <a:schemeClr val="dk1"/>
                </a:solidFill>
              </a:rPr>
              <a:t> </a:t>
            </a:r>
            <a:r>
              <a:rPr lang="en-US" sz="1200" dirty="0" err="1">
                <a:solidFill>
                  <a:schemeClr val="dk1"/>
                </a:solidFill>
              </a:rPr>
              <a:t>cần</a:t>
            </a:r>
            <a:r>
              <a:rPr lang="en-US" sz="1200" dirty="0">
                <a:solidFill>
                  <a:schemeClr val="dk1"/>
                </a:solidFill>
              </a:rPr>
              <a:t> </a:t>
            </a:r>
            <a:r>
              <a:rPr lang="en-US" sz="1200" dirty="0" err="1">
                <a:solidFill>
                  <a:schemeClr val="dk1"/>
                </a:solidFill>
              </a:rPr>
              <a:t>quản</a:t>
            </a:r>
            <a:r>
              <a:rPr lang="en-US" sz="1200" dirty="0">
                <a:solidFill>
                  <a:schemeClr val="dk1"/>
                </a:solidFill>
              </a:rPr>
              <a:t> </a:t>
            </a:r>
            <a:r>
              <a:rPr lang="en-US" sz="1200" dirty="0" err="1">
                <a:solidFill>
                  <a:schemeClr val="dk1"/>
                </a:solidFill>
              </a:rPr>
              <a:t>lý</a:t>
            </a:r>
            <a:r>
              <a:rPr lang="en-US" sz="1200" dirty="0">
                <a:solidFill>
                  <a:schemeClr val="dk1"/>
                </a:solidFill>
              </a:rPr>
              <a:t> </a:t>
            </a:r>
            <a:r>
              <a:rPr lang="en-US" sz="1200" dirty="0" err="1">
                <a:solidFill>
                  <a:schemeClr val="dk1"/>
                </a:solidFill>
              </a:rPr>
              <a:t>như</a:t>
            </a:r>
            <a:r>
              <a:rPr lang="en-US" sz="1200" dirty="0">
                <a:solidFill>
                  <a:schemeClr val="dk1"/>
                </a:solidFill>
              </a:rPr>
              <a:t> VIP, blacklist </a:t>
            </a:r>
            <a:r>
              <a:rPr lang="en-US" sz="1200" dirty="0" err="1">
                <a:solidFill>
                  <a:schemeClr val="dk1"/>
                </a:solidFill>
              </a:rPr>
              <a:t>hoặc</a:t>
            </a:r>
            <a:r>
              <a:rPr lang="en-US" sz="1200" dirty="0">
                <a:solidFill>
                  <a:schemeClr val="dk1"/>
                </a:solidFill>
              </a:rPr>
              <a:t> </a:t>
            </a:r>
            <a:r>
              <a:rPr lang="en-US" sz="1200" dirty="0" err="1">
                <a:solidFill>
                  <a:schemeClr val="dk1"/>
                </a:solidFill>
              </a:rPr>
              <a:t>các</a:t>
            </a:r>
            <a:r>
              <a:rPr lang="en-US" sz="1200" dirty="0">
                <a:solidFill>
                  <a:schemeClr val="dk1"/>
                </a:solidFill>
              </a:rPr>
              <a:t> </a:t>
            </a:r>
            <a:r>
              <a:rPr lang="en-US" sz="1200" dirty="0" err="1">
                <a:solidFill>
                  <a:schemeClr val="dk1"/>
                </a:solidFill>
              </a:rPr>
              <a:t>nhóm</a:t>
            </a:r>
            <a:r>
              <a:rPr lang="en-US" sz="1200" dirty="0">
                <a:solidFill>
                  <a:schemeClr val="dk1"/>
                </a:solidFill>
              </a:rPr>
              <a:t> do </a:t>
            </a:r>
            <a:r>
              <a:rPr lang="en-US" sz="1200" dirty="0" err="1">
                <a:solidFill>
                  <a:schemeClr val="dk1"/>
                </a:solidFill>
              </a:rPr>
              <a:t>đơn</a:t>
            </a:r>
            <a:r>
              <a:rPr lang="en-US" sz="1200" dirty="0">
                <a:solidFill>
                  <a:schemeClr val="dk1"/>
                </a:solidFill>
              </a:rPr>
              <a:t> </a:t>
            </a:r>
            <a:r>
              <a:rPr lang="en-US" sz="1200" dirty="0" err="1">
                <a:solidFill>
                  <a:schemeClr val="dk1"/>
                </a:solidFill>
              </a:rPr>
              <a:t>vị</a:t>
            </a:r>
            <a:r>
              <a:rPr lang="en-US" sz="1200" dirty="0">
                <a:solidFill>
                  <a:schemeClr val="dk1"/>
                </a:solidFill>
              </a:rPr>
              <a:t> </a:t>
            </a:r>
            <a:r>
              <a:rPr lang="en-US" sz="1200" dirty="0" err="1">
                <a:solidFill>
                  <a:schemeClr val="dk1"/>
                </a:solidFill>
              </a:rPr>
              <a:t>thiết</a:t>
            </a:r>
            <a:r>
              <a:rPr lang="en-US" sz="1200" dirty="0">
                <a:solidFill>
                  <a:schemeClr val="dk1"/>
                </a:solidFill>
              </a:rPr>
              <a:t> </a:t>
            </a:r>
            <a:r>
              <a:rPr lang="en-US" sz="1200" dirty="0" err="1">
                <a:solidFill>
                  <a:schemeClr val="dk1"/>
                </a:solidFill>
              </a:rPr>
              <a:t>lập</a:t>
            </a:r>
            <a:r>
              <a:rPr lang="en-US" sz="1200" dirty="0">
                <a:solidFill>
                  <a:schemeClr val="dk1"/>
                </a:solidFill>
              </a:rPr>
              <a:t>.</a:t>
            </a:r>
            <a:endParaRPr sz="1200" dirty="0">
              <a:solidFill>
                <a:schemeClr val="dk1"/>
              </a:solidFill>
            </a:endParaRPr>
          </a:p>
          <a:p>
            <a:pPr marL="457200" lvl="0" indent="-304800" algn="l" rtl="0">
              <a:lnSpc>
                <a:spcPct val="150000"/>
              </a:lnSpc>
              <a:spcBef>
                <a:spcPts val="0"/>
              </a:spcBef>
              <a:spcAft>
                <a:spcPts val="0"/>
              </a:spcAft>
              <a:buClr>
                <a:schemeClr val="dk1"/>
              </a:buClr>
              <a:buSzPts val="1200"/>
              <a:buChar char="●"/>
            </a:pPr>
            <a:r>
              <a:rPr lang="en-US" sz="1200" b="1" dirty="0" err="1">
                <a:solidFill>
                  <a:schemeClr val="dk1"/>
                </a:solidFill>
              </a:rPr>
              <a:t>Nhận</a:t>
            </a:r>
            <a:r>
              <a:rPr lang="en-US" sz="1200" b="1" dirty="0">
                <a:solidFill>
                  <a:schemeClr val="dk1"/>
                </a:solidFill>
              </a:rPr>
              <a:t> </a:t>
            </a:r>
            <a:r>
              <a:rPr lang="en-US" sz="1200" b="1" dirty="0" err="1">
                <a:solidFill>
                  <a:schemeClr val="dk1"/>
                </a:solidFill>
              </a:rPr>
              <a:t>diện</a:t>
            </a:r>
            <a:r>
              <a:rPr lang="en-US" sz="1200" b="1" dirty="0">
                <a:solidFill>
                  <a:schemeClr val="dk1"/>
                </a:solidFill>
              </a:rPr>
              <a:t> </a:t>
            </a:r>
            <a:r>
              <a:rPr lang="en-US" sz="1200" b="1" dirty="0" err="1">
                <a:solidFill>
                  <a:schemeClr val="dk1"/>
                </a:solidFill>
              </a:rPr>
              <a:t>định</a:t>
            </a:r>
            <a:r>
              <a:rPr lang="en-US" sz="1200" b="1" dirty="0">
                <a:solidFill>
                  <a:schemeClr val="dk1"/>
                </a:solidFill>
              </a:rPr>
              <a:t> </a:t>
            </a:r>
            <a:r>
              <a:rPr lang="en-US" sz="1200" b="1" dirty="0" err="1">
                <a:solidFill>
                  <a:schemeClr val="dk1"/>
                </a:solidFill>
              </a:rPr>
              <a:t>danh</a:t>
            </a:r>
            <a:r>
              <a:rPr lang="en-US" sz="1200" b="1" dirty="0">
                <a:solidFill>
                  <a:schemeClr val="dk1"/>
                </a:solidFill>
              </a:rPr>
              <a:t>:</a:t>
            </a:r>
            <a:r>
              <a:rPr lang="en-US" sz="1200" dirty="0">
                <a:solidFill>
                  <a:schemeClr val="dk1"/>
                </a:solidFill>
              </a:rPr>
              <a:t> </a:t>
            </a:r>
            <a:r>
              <a:rPr lang="en-US" sz="1200" dirty="0" err="1">
                <a:solidFill>
                  <a:schemeClr val="dk1"/>
                </a:solidFill>
              </a:rPr>
              <a:t>Đối</a:t>
            </a:r>
            <a:r>
              <a:rPr lang="en-US" sz="1200" dirty="0">
                <a:solidFill>
                  <a:schemeClr val="dk1"/>
                </a:solidFill>
              </a:rPr>
              <a:t> </a:t>
            </a:r>
            <a:r>
              <a:rPr lang="en-US" sz="1200" dirty="0" err="1">
                <a:solidFill>
                  <a:schemeClr val="dk1"/>
                </a:solidFill>
              </a:rPr>
              <a:t>chiếu</a:t>
            </a:r>
            <a:r>
              <a:rPr lang="en-US" sz="1200" dirty="0">
                <a:solidFill>
                  <a:schemeClr val="dk1"/>
                </a:solidFill>
              </a:rPr>
              <a:t> </a:t>
            </a:r>
            <a:r>
              <a:rPr lang="en-US" sz="1200" dirty="0" err="1">
                <a:solidFill>
                  <a:schemeClr val="dk1"/>
                </a:solidFill>
              </a:rPr>
              <a:t>khuôn</a:t>
            </a:r>
            <a:r>
              <a:rPr lang="en-US" sz="1200" dirty="0">
                <a:solidFill>
                  <a:schemeClr val="dk1"/>
                </a:solidFill>
              </a:rPr>
              <a:t> </a:t>
            </a:r>
            <a:r>
              <a:rPr lang="en-US" sz="1200" dirty="0" err="1">
                <a:solidFill>
                  <a:schemeClr val="dk1"/>
                </a:solidFill>
              </a:rPr>
              <a:t>mặt</a:t>
            </a:r>
            <a:r>
              <a:rPr lang="en-US" sz="1200" dirty="0">
                <a:solidFill>
                  <a:schemeClr val="dk1"/>
                </a:solidFill>
              </a:rPr>
              <a:t> </a:t>
            </a:r>
            <a:r>
              <a:rPr lang="en-US" sz="1200" dirty="0" err="1">
                <a:solidFill>
                  <a:schemeClr val="dk1"/>
                </a:solidFill>
              </a:rPr>
              <a:t>hoặc</a:t>
            </a:r>
            <a:r>
              <a:rPr lang="en-US" sz="1200" dirty="0">
                <a:solidFill>
                  <a:schemeClr val="dk1"/>
                </a:solidFill>
              </a:rPr>
              <a:t> </a:t>
            </a:r>
            <a:r>
              <a:rPr lang="en-US" sz="1200" dirty="0" err="1">
                <a:solidFill>
                  <a:schemeClr val="dk1"/>
                </a:solidFill>
              </a:rPr>
              <a:t>thông</a:t>
            </a:r>
            <a:r>
              <a:rPr lang="en-US" sz="1200" dirty="0">
                <a:solidFill>
                  <a:schemeClr val="dk1"/>
                </a:solidFill>
              </a:rPr>
              <a:t> tin </a:t>
            </a:r>
            <a:r>
              <a:rPr lang="en-US" sz="1200" dirty="0" err="1">
                <a:solidFill>
                  <a:schemeClr val="dk1"/>
                </a:solidFill>
              </a:rPr>
              <a:t>phương</a:t>
            </a:r>
            <a:r>
              <a:rPr lang="en-US" sz="1200" dirty="0">
                <a:solidFill>
                  <a:schemeClr val="dk1"/>
                </a:solidFill>
              </a:rPr>
              <a:t> </a:t>
            </a:r>
            <a:r>
              <a:rPr lang="en-US" sz="1200" dirty="0" err="1">
                <a:solidFill>
                  <a:schemeClr val="dk1"/>
                </a:solidFill>
              </a:rPr>
              <a:t>tiện</a:t>
            </a:r>
            <a:r>
              <a:rPr lang="en-US" sz="1200" dirty="0">
                <a:solidFill>
                  <a:schemeClr val="dk1"/>
                </a:solidFill>
              </a:rPr>
              <a:t> do camera </a:t>
            </a:r>
            <a:r>
              <a:rPr lang="en-US" sz="1200" dirty="0" err="1">
                <a:solidFill>
                  <a:schemeClr val="dk1"/>
                </a:solidFill>
              </a:rPr>
              <a:t>ghi</a:t>
            </a:r>
            <a:r>
              <a:rPr lang="en-US" sz="1200" dirty="0">
                <a:solidFill>
                  <a:schemeClr val="dk1"/>
                </a:solidFill>
              </a:rPr>
              <a:t> </a:t>
            </a:r>
            <a:r>
              <a:rPr lang="en-US" sz="1200" dirty="0" err="1">
                <a:solidFill>
                  <a:schemeClr val="dk1"/>
                </a:solidFill>
              </a:rPr>
              <a:t>nhận</a:t>
            </a:r>
            <a:r>
              <a:rPr lang="en-US" sz="1200" dirty="0">
                <a:solidFill>
                  <a:schemeClr val="dk1"/>
                </a:solidFill>
              </a:rPr>
              <a:t> </a:t>
            </a:r>
            <a:r>
              <a:rPr lang="en-US" sz="1200" dirty="0" err="1">
                <a:solidFill>
                  <a:schemeClr val="dk1"/>
                </a:solidFill>
              </a:rPr>
              <a:t>với</a:t>
            </a:r>
            <a:r>
              <a:rPr lang="en-US" sz="1200" dirty="0">
                <a:solidFill>
                  <a:schemeClr val="dk1"/>
                </a:solidFill>
              </a:rPr>
              <a:t> </a:t>
            </a:r>
            <a:r>
              <a:rPr lang="en-US" sz="1200" dirty="0" err="1">
                <a:solidFill>
                  <a:schemeClr val="dk1"/>
                </a:solidFill>
              </a:rPr>
              <a:t>danh</a:t>
            </a:r>
            <a:r>
              <a:rPr lang="en-US" sz="1200" dirty="0">
                <a:solidFill>
                  <a:schemeClr val="dk1"/>
                </a:solidFill>
              </a:rPr>
              <a:t> </a:t>
            </a:r>
            <a:r>
              <a:rPr lang="en-US" sz="1200" dirty="0" err="1">
                <a:solidFill>
                  <a:schemeClr val="dk1"/>
                </a:solidFill>
              </a:rPr>
              <a:t>sách</a:t>
            </a:r>
            <a:r>
              <a:rPr lang="en-US" sz="1200" dirty="0">
                <a:solidFill>
                  <a:schemeClr val="dk1"/>
                </a:solidFill>
              </a:rPr>
              <a:t> </a:t>
            </a:r>
            <a:r>
              <a:rPr lang="en-US" sz="1200" dirty="0" err="1">
                <a:solidFill>
                  <a:schemeClr val="dk1"/>
                </a:solidFill>
              </a:rPr>
              <a:t>định</a:t>
            </a:r>
            <a:r>
              <a:rPr lang="en-US" sz="1200" dirty="0">
                <a:solidFill>
                  <a:schemeClr val="dk1"/>
                </a:solidFill>
              </a:rPr>
              <a:t> </a:t>
            </a:r>
            <a:r>
              <a:rPr lang="en-US" sz="1200" dirty="0" err="1">
                <a:solidFill>
                  <a:schemeClr val="dk1"/>
                </a:solidFill>
              </a:rPr>
              <a:t>danh</a:t>
            </a:r>
            <a:r>
              <a:rPr lang="en-US" sz="1200" dirty="0">
                <a:solidFill>
                  <a:schemeClr val="dk1"/>
                </a:solidFill>
              </a:rPr>
              <a:t> </a:t>
            </a:r>
            <a:r>
              <a:rPr lang="en-US" sz="1200" dirty="0" err="1">
                <a:solidFill>
                  <a:schemeClr val="dk1"/>
                </a:solidFill>
              </a:rPr>
              <a:t>để</a:t>
            </a:r>
            <a:r>
              <a:rPr lang="en-US" sz="1200" dirty="0">
                <a:solidFill>
                  <a:schemeClr val="dk1"/>
                </a:solidFill>
              </a:rPr>
              <a:t> </a:t>
            </a:r>
            <a:r>
              <a:rPr lang="en-US" sz="1200" dirty="0" err="1">
                <a:solidFill>
                  <a:schemeClr val="dk1"/>
                </a:solidFill>
              </a:rPr>
              <a:t>xác</a:t>
            </a:r>
            <a:r>
              <a:rPr lang="en-US" sz="1200" dirty="0">
                <a:solidFill>
                  <a:schemeClr val="dk1"/>
                </a:solidFill>
              </a:rPr>
              <a:t> </a:t>
            </a:r>
            <a:r>
              <a:rPr lang="en-US" sz="1200" dirty="0" err="1">
                <a:solidFill>
                  <a:schemeClr val="dk1"/>
                </a:solidFill>
              </a:rPr>
              <a:t>định</a:t>
            </a:r>
            <a:r>
              <a:rPr lang="en-US" sz="1200" dirty="0">
                <a:solidFill>
                  <a:schemeClr val="dk1"/>
                </a:solidFill>
              </a:rPr>
              <a:t> </a:t>
            </a:r>
            <a:r>
              <a:rPr lang="en-US" sz="1200" dirty="0" err="1">
                <a:solidFill>
                  <a:schemeClr val="dk1"/>
                </a:solidFill>
              </a:rPr>
              <a:t>đối</a:t>
            </a:r>
            <a:r>
              <a:rPr lang="en-US" sz="1200" dirty="0">
                <a:solidFill>
                  <a:schemeClr val="dk1"/>
                </a:solidFill>
              </a:rPr>
              <a:t> </a:t>
            </a:r>
            <a:r>
              <a:rPr lang="en-US" sz="1200" dirty="0" err="1">
                <a:solidFill>
                  <a:schemeClr val="dk1"/>
                </a:solidFill>
              </a:rPr>
              <a:t>tượng</a:t>
            </a:r>
            <a:r>
              <a:rPr lang="en-US" sz="1200" dirty="0">
                <a:solidFill>
                  <a:schemeClr val="dk1"/>
                </a:solidFill>
              </a:rPr>
              <a:t> </a:t>
            </a:r>
            <a:r>
              <a:rPr lang="en-US" sz="1200" dirty="0" err="1">
                <a:solidFill>
                  <a:schemeClr val="dk1"/>
                </a:solidFill>
              </a:rPr>
              <a:t>khi</a:t>
            </a:r>
            <a:r>
              <a:rPr lang="en-US" sz="1200" dirty="0">
                <a:solidFill>
                  <a:schemeClr val="dk1"/>
                </a:solidFill>
              </a:rPr>
              <a:t> </a:t>
            </a:r>
            <a:r>
              <a:rPr lang="en-US" sz="1200" dirty="0" err="1">
                <a:solidFill>
                  <a:schemeClr val="dk1"/>
                </a:solidFill>
              </a:rPr>
              <a:t>có</a:t>
            </a:r>
            <a:r>
              <a:rPr lang="en-US" sz="1200" dirty="0">
                <a:solidFill>
                  <a:schemeClr val="dk1"/>
                </a:solidFill>
              </a:rPr>
              <a:t> </a:t>
            </a:r>
            <a:r>
              <a:rPr lang="en-US" sz="1200" dirty="0" err="1">
                <a:solidFill>
                  <a:schemeClr val="dk1"/>
                </a:solidFill>
              </a:rPr>
              <a:t>kết</a:t>
            </a:r>
            <a:r>
              <a:rPr lang="en-US" sz="1200" dirty="0">
                <a:solidFill>
                  <a:schemeClr val="dk1"/>
                </a:solidFill>
              </a:rPr>
              <a:t> </a:t>
            </a:r>
            <a:r>
              <a:rPr lang="en-US" sz="1200" dirty="0" err="1">
                <a:solidFill>
                  <a:schemeClr val="dk1"/>
                </a:solidFill>
              </a:rPr>
              <a:t>quả</a:t>
            </a:r>
            <a:r>
              <a:rPr lang="en-US" sz="1200" dirty="0">
                <a:solidFill>
                  <a:schemeClr val="dk1"/>
                </a:solidFill>
              </a:rPr>
              <a:t> </a:t>
            </a:r>
            <a:r>
              <a:rPr lang="en-US" sz="1200" dirty="0" err="1">
                <a:solidFill>
                  <a:schemeClr val="dk1"/>
                </a:solidFill>
              </a:rPr>
              <a:t>phù</a:t>
            </a:r>
            <a:r>
              <a:rPr lang="en-US" sz="1200" dirty="0">
                <a:solidFill>
                  <a:schemeClr val="dk1"/>
                </a:solidFill>
              </a:rPr>
              <a:t> </a:t>
            </a:r>
            <a:r>
              <a:rPr lang="en-US" sz="1200" dirty="0" err="1">
                <a:solidFill>
                  <a:schemeClr val="dk1"/>
                </a:solidFill>
              </a:rPr>
              <a:t>hợp</a:t>
            </a:r>
            <a:r>
              <a:rPr lang="en-US" sz="1200" dirty="0">
                <a:solidFill>
                  <a:schemeClr val="dk1"/>
                </a:solidFill>
              </a:rPr>
              <a:t>.</a:t>
            </a:r>
            <a:endParaRPr sz="1200" dirty="0">
              <a:solidFill>
                <a:schemeClr val="dk1"/>
              </a:solidFill>
            </a:endParaRPr>
          </a:p>
          <a:p>
            <a:pPr marL="457200" lvl="0" indent="-304800" algn="l" rtl="0">
              <a:lnSpc>
                <a:spcPct val="150000"/>
              </a:lnSpc>
              <a:spcBef>
                <a:spcPts val="0"/>
              </a:spcBef>
              <a:spcAft>
                <a:spcPts val="0"/>
              </a:spcAft>
              <a:buClr>
                <a:schemeClr val="dk1"/>
              </a:buClr>
              <a:buSzPts val="1200"/>
              <a:buChar char="●"/>
            </a:pPr>
            <a:r>
              <a:rPr lang="en-US" sz="1200" b="1" dirty="0" err="1">
                <a:solidFill>
                  <a:schemeClr val="dk1"/>
                </a:solidFill>
              </a:rPr>
              <a:t>Phân</a:t>
            </a:r>
            <a:r>
              <a:rPr lang="en-US" sz="1200" b="1" dirty="0">
                <a:solidFill>
                  <a:schemeClr val="dk1"/>
                </a:solidFill>
              </a:rPr>
              <a:t> </a:t>
            </a:r>
            <a:r>
              <a:rPr lang="en-US" sz="1200" b="1" dirty="0" err="1">
                <a:solidFill>
                  <a:schemeClr val="dk1"/>
                </a:solidFill>
              </a:rPr>
              <a:t>loại</a:t>
            </a:r>
            <a:r>
              <a:rPr lang="en-US" sz="1200" b="1" dirty="0">
                <a:solidFill>
                  <a:schemeClr val="dk1"/>
                </a:solidFill>
              </a:rPr>
              <a:t> </a:t>
            </a:r>
            <a:r>
              <a:rPr lang="en-US" sz="1200" b="1" dirty="0" err="1">
                <a:solidFill>
                  <a:schemeClr val="dk1"/>
                </a:solidFill>
              </a:rPr>
              <a:t>và</a:t>
            </a:r>
            <a:r>
              <a:rPr lang="en-US" sz="1200" b="1" dirty="0">
                <a:solidFill>
                  <a:schemeClr val="dk1"/>
                </a:solidFill>
              </a:rPr>
              <a:t> </a:t>
            </a:r>
            <a:r>
              <a:rPr lang="en-US" sz="1200" b="1" dirty="0" err="1">
                <a:solidFill>
                  <a:schemeClr val="dk1"/>
                </a:solidFill>
              </a:rPr>
              <a:t>giám</a:t>
            </a:r>
            <a:r>
              <a:rPr lang="en-US" sz="1200" b="1" dirty="0">
                <a:solidFill>
                  <a:schemeClr val="dk1"/>
                </a:solidFill>
              </a:rPr>
              <a:t> </a:t>
            </a:r>
            <a:r>
              <a:rPr lang="en-US" sz="1200" b="1" dirty="0" err="1">
                <a:solidFill>
                  <a:schemeClr val="dk1"/>
                </a:solidFill>
              </a:rPr>
              <a:t>sát</a:t>
            </a:r>
            <a:r>
              <a:rPr lang="en-US" sz="1200" b="1" dirty="0">
                <a:solidFill>
                  <a:schemeClr val="dk1"/>
                </a:solidFill>
              </a:rPr>
              <a:t>:</a:t>
            </a:r>
            <a:r>
              <a:rPr lang="en-US" sz="1200" dirty="0">
                <a:solidFill>
                  <a:schemeClr val="dk1"/>
                </a:solidFill>
              </a:rPr>
              <a:t> </a:t>
            </a:r>
            <a:r>
              <a:rPr lang="en-US" sz="1200" dirty="0" err="1">
                <a:solidFill>
                  <a:schemeClr val="dk1"/>
                </a:solidFill>
              </a:rPr>
              <a:t>Xác</a:t>
            </a:r>
            <a:r>
              <a:rPr lang="en-US" sz="1200" dirty="0">
                <a:solidFill>
                  <a:schemeClr val="dk1"/>
                </a:solidFill>
              </a:rPr>
              <a:t> </a:t>
            </a:r>
            <a:r>
              <a:rPr lang="en-US" sz="1200" dirty="0" err="1">
                <a:solidFill>
                  <a:schemeClr val="dk1"/>
                </a:solidFill>
              </a:rPr>
              <a:t>định</a:t>
            </a:r>
            <a:r>
              <a:rPr lang="en-US" sz="1200" dirty="0">
                <a:solidFill>
                  <a:schemeClr val="dk1"/>
                </a:solidFill>
              </a:rPr>
              <a:t> </a:t>
            </a:r>
            <a:r>
              <a:rPr lang="en-US" sz="1200" dirty="0" err="1">
                <a:solidFill>
                  <a:schemeClr val="dk1"/>
                </a:solidFill>
              </a:rPr>
              <a:t>người</a:t>
            </a:r>
            <a:r>
              <a:rPr lang="en-US" sz="1200" dirty="0">
                <a:solidFill>
                  <a:schemeClr val="dk1"/>
                </a:solidFill>
              </a:rPr>
              <a:t> </a:t>
            </a:r>
            <a:r>
              <a:rPr lang="en-US" sz="1200" dirty="0" err="1">
                <a:solidFill>
                  <a:schemeClr val="dk1"/>
                </a:solidFill>
              </a:rPr>
              <a:t>hoặc</a:t>
            </a:r>
            <a:r>
              <a:rPr lang="en-US" sz="1200" dirty="0">
                <a:solidFill>
                  <a:schemeClr val="dk1"/>
                </a:solidFill>
              </a:rPr>
              <a:t> </a:t>
            </a:r>
            <a:r>
              <a:rPr lang="en-US" sz="1200" dirty="0" err="1">
                <a:solidFill>
                  <a:schemeClr val="dk1"/>
                </a:solidFill>
              </a:rPr>
              <a:t>phương</a:t>
            </a:r>
            <a:r>
              <a:rPr lang="en-US" sz="1200" dirty="0">
                <a:solidFill>
                  <a:schemeClr val="dk1"/>
                </a:solidFill>
              </a:rPr>
              <a:t> </a:t>
            </a:r>
            <a:r>
              <a:rPr lang="en-US" sz="1200" dirty="0" err="1">
                <a:solidFill>
                  <a:schemeClr val="dk1"/>
                </a:solidFill>
              </a:rPr>
              <a:t>tiện</a:t>
            </a:r>
            <a:r>
              <a:rPr lang="en-US" sz="1200" dirty="0">
                <a:solidFill>
                  <a:schemeClr val="dk1"/>
                </a:solidFill>
              </a:rPr>
              <a:t> </a:t>
            </a:r>
            <a:r>
              <a:rPr lang="en-US" sz="1200" dirty="0" err="1">
                <a:solidFill>
                  <a:schemeClr val="dk1"/>
                </a:solidFill>
              </a:rPr>
              <a:t>thuộc</a:t>
            </a:r>
            <a:r>
              <a:rPr lang="en-US" sz="1200" dirty="0">
                <a:solidFill>
                  <a:schemeClr val="dk1"/>
                </a:solidFill>
              </a:rPr>
              <a:t> </a:t>
            </a:r>
            <a:r>
              <a:rPr lang="en-US" sz="1200" dirty="0" err="1">
                <a:solidFill>
                  <a:schemeClr val="dk1"/>
                </a:solidFill>
              </a:rPr>
              <a:t>nhóm</a:t>
            </a:r>
            <a:r>
              <a:rPr lang="en-US" sz="1200" dirty="0">
                <a:solidFill>
                  <a:schemeClr val="dk1"/>
                </a:solidFill>
              </a:rPr>
              <a:t> </a:t>
            </a:r>
            <a:r>
              <a:rPr lang="en-US" sz="1200" dirty="0" err="1">
                <a:solidFill>
                  <a:schemeClr val="dk1"/>
                </a:solidFill>
              </a:rPr>
              <a:t>nào</a:t>
            </a:r>
            <a:r>
              <a:rPr lang="en-US" sz="1200" dirty="0">
                <a:solidFill>
                  <a:schemeClr val="dk1"/>
                </a:solidFill>
              </a:rPr>
              <a:t>, </a:t>
            </a:r>
            <a:r>
              <a:rPr lang="en-US" sz="1200" dirty="0" err="1">
                <a:solidFill>
                  <a:schemeClr val="dk1"/>
                </a:solidFill>
              </a:rPr>
              <a:t>hỗ</a:t>
            </a:r>
            <a:r>
              <a:rPr lang="en-US" sz="1200" dirty="0">
                <a:solidFill>
                  <a:schemeClr val="dk1"/>
                </a:solidFill>
              </a:rPr>
              <a:t> </a:t>
            </a:r>
            <a:r>
              <a:rPr lang="en-US" sz="1200" dirty="0" err="1">
                <a:solidFill>
                  <a:schemeClr val="dk1"/>
                </a:solidFill>
              </a:rPr>
              <a:t>trợ</a:t>
            </a:r>
            <a:r>
              <a:rPr lang="en-US" sz="1200" dirty="0">
                <a:solidFill>
                  <a:schemeClr val="dk1"/>
                </a:solidFill>
              </a:rPr>
              <a:t> </a:t>
            </a:r>
            <a:r>
              <a:rPr lang="en-US" sz="1200" dirty="0" err="1">
                <a:solidFill>
                  <a:schemeClr val="dk1"/>
                </a:solidFill>
              </a:rPr>
              <a:t>nhân</a:t>
            </a:r>
            <a:r>
              <a:rPr lang="en-US" sz="1200" dirty="0">
                <a:solidFill>
                  <a:schemeClr val="dk1"/>
                </a:solidFill>
              </a:rPr>
              <a:t> </a:t>
            </a:r>
            <a:r>
              <a:rPr lang="en-US" sz="1200" dirty="0" err="1">
                <a:solidFill>
                  <a:schemeClr val="dk1"/>
                </a:solidFill>
              </a:rPr>
              <a:t>viên</a:t>
            </a:r>
            <a:r>
              <a:rPr lang="en-US" sz="1200" dirty="0">
                <a:solidFill>
                  <a:schemeClr val="dk1"/>
                </a:solidFill>
              </a:rPr>
              <a:t> </a:t>
            </a:r>
            <a:r>
              <a:rPr lang="en-US" sz="1200" dirty="0" err="1">
                <a:solidFill>
                  <a:schemeClr val="dk1"/>
                </a:solidFill>
              </a:rPr>
              <a:t>giám</a:t>
            </a:r>
            <a:r>
              <a:rPr lang="en-US" sz="1200" dirty="0">
                <a:solidFill>
                  <a:schemeClr val="dk1"/>
                </a:solidFill>
              </a:rPr>
              <a:t> </a:t>
            </a:r>
            <a:r>
              <a:rPr lang="en-US" sz="1200" dirty="0" err="1">
                <a:solidFill>
                  <a:schemeClr val="dk1"/>
                </a:solidFill>
              </a:rPr>
              <a:t>sát</a:t>
            </a:r>
            <a:r>
              <a:rPr lang="en-US" sz="1200" dirty="0">
                <a:solidFill>
                  <a:schemeClr val="dk1"/>
                </a:solidFill>
              </a:rPr>
              <a:t> </a:t>
            </a:r>
            <a:r>
              <a:rPr lang="en-US" sz="1200" dirty="0" err="1">
                <a:solidFill>
                  <a:schemeClr val="dk1"/>
                </a:solidFill>
              </a:rPr>
              <a:t>nhận</a:t>
            </a:r>
            <a:r>
              <a:rPr lang="en-US" sz="1200" dirty="0">
                <a:solidFill>
                  <a:schemeClr val="dk1"/>
                </a:solidFill>
              </a:rPr>
              <a:t> </a:t>
            </a:r>
            <a:r>
              <a:rPr lang="en-US" sz="1200" dirty="0" err="1">
                <a:solidFill>
                  <a:schemeClr val="dk1"/>
                </a:solidFill>
              </a:rPr>
              <a:t>biết</a:t>
            </a:r>
            <a:r>
              <a:rPr lang="en-US" sz="1200" dirty="0">
                <a:solidFill>
                  <a:schemeClr val="dk1"/>
                </a:solidFill>
              </a:rPr>
              <a:t> </a:t>
            </a:r>
            <a:r>
              <a:rPr lang="en-US" sz="1200" dirty="0" err="1">
                <a:solidFill>
                  <a:schemeClr val="dk1"/>
                </a:solidFill>
              </a:rPr>
              <a:t>các</a:t>
            </a:r>
            <a:r>
              <a:rPr lang="en-US" sz="1200" dirty="0">
                <a:solidFill>
                  <a:schemeClr val="dk1"/>
                </a:solidFill>
              </a:rPr>
              <a:t> </a:t>
            </a:r>
            <a:r>
              <a:rPr lang="en-US" sz="1200" dirty="0" err="1">
                <a:solidFill>
                  <a:schemeClr val="dk1"/>
                </a:solidFill>
              </a:rPr>
              <a:t>trường</a:t>
            </a:r>
            <a:r>
              <a:rPr lang="en-US" sz="1200" dirty="0">
                <a:solidFill>
                  <a:schemeClr val="dk1"/>
                </a:solidFill>
              </a:rPr>
              <a:t> </a:t>
            </a:r>
            <a:r>
              <a:rPr lang="en-US" sz="1200" dirty="0" err="1">
                <a:solidFill>
                  <a:schemeClr val="dk1"/>
                </a:solidFill>
              </a:rPr>
              <a:t>hợp</a:t>
            </a:r>
            <a:r>
              <a:rPr lang="en-US" sz="1200" dirty="0">
                <a:solidFill>
                  <a:schemeClr val="dk1"/>
                </a:solidFill>
              </a:rPr>
              <a:t> </a:t>
            </a:r>
            <a:r>
              <a:rPr lang="en-US" sz="1200" dirty="0" err="1">
                <a:solidFill>
                  <a:schemeClr val="dk1"/>
                </a:solidFill>
              </a:rPr>
              <a:t>cần</a:t>
            </a:r>
            <a:r>
              <a:rPr lang="en-US" sz="1200" dirty="0">
                <a:solidFill>
                  <a:schemeClr val="dk1"/>
                </a:solidFill>
              </a:rPr>
              <a:t> </a:t>
            </a:r>
            <a:r>
              <a:rPr lang="en-US" sz="1200" dirty="0" err="1">
                <a:solidFill>
                  <a:schemeClr val="dk1"/>
                </a:solidFill>
              </a:rPr>
              <a:t>chú</a:t>
            </a:r>
            <a:r>
              <a:rPr lang="en-US" sz="1200" dirty="0">
                <a:solidFill>
                  <a:schemeClr val="dk1"/>
                </a:solidFill>
              </a:rPr>
              <a:t> ý.</a:t>
            </a:r>
            <a:endParaRPr sz="1200" dirty="0">
              <a:solidFill>
                <a:schemeClr val="dk1"/>
              </a:solidFill>
            </a:endParaRPr>
          </a:p>
          <a:p>
            <a:pPr marL="457200" lvl="0" indent="-304800" algn="l" rtl="0">
              <a:lnSpc>
                <a:spcPct val="150000"/>
              </a:lnSpc>
              <a:spcBef>
                <a:spcPts val="0"/>
              </a:spcBef>
              <a:spcAft>
                <a:spcPts val="0"/>
              </a:spcAft>
              <a:buClr>
                <a:schemeClr val="dk1"/>
              </a:buClr>
              <a:buSzPts val="1200"/>
              <a:buChar char="●"/>
            </a:pPr>
            <a:r>
              <a:rPr lang="en-US" sz="1200" b="1" dirty="0" err="1">
                <a:solidFill>
                  <a:schemeClr val="dk1"/>
                </a:solidFill>
              </a:rPr>
              <a:t>Hỗ</a:t>
            </a:r>
            <a:r>
              <a:rPr lang="en-US" sz="1200" b="1" dirty="0">
                <a:solidFill>
                  <a:schemeClr val="dk1"/>
                </a:solidFill>
              </a:rPr>
              <a:t> </a:t>
            </a:r>
            <a:r>
              <a:rPr lang="en-US" sz="1200" b="1" dirty="0" err="1">
                <a:solidFill>
                  <a:schemeClr val="dk1"/>
                </a:solidFill>
              </a:rPr>
              <a:t>trợ</a:t>
            </a:r>
            <a:r>
              <a:rPr lang="en-US" sz="1200" b="1" dirty="0">
                <a:solidFill>
                  <a:schemeClr val="dk1"/>
                </a:solidFill>
              </a:rPr>
              <a:t> </a:t>
            </a:r>
            <a:r>
              <a:rPr lang="en-US" sz="1200" b="1" dirty="0" err="1">
                <a:solidFill>
                  <a:schemeClr val="dk1"/>
                </a:solidFill>
              </a:rPr>
              <a:t>kiểm</a:t>
            </a:r>
            <a:r>
              <a:rPr lang="en-US" sz="1200" b="1" dirty="0">
                <a:solidFill>
                  <a:schemeClr val="dk1"/>
                </a:solidFill>
              </a:rPr>
              <a:t> </a:t>
            </a:r>
            <a:r>
              <a:rPr lang="en-US" sz="1200" b="1" dirty="0" err="1">
                <a:solidFill>
                  <a:schemeClr val="dk1"/>
                </a:solidFill>
              </a:rPr>
              <a:t>tra</a:t>
            </a:r>
            <a:r>
              <a:rPr lang="en-US" sz="1200" b="1" dirty="0">
                <a:solidFill>
                  <a:schemeClr val="dk1"/>
                </a:solidFill>
              </a:rPr>
              <a:t>, </a:t>
            </a:r>
            <a:r>
              <a:rPr lang="en-US" sz="1200" b="1" dirty="0" err="1">
                <a:solidFill>
                  <a:schemeClr val="dk1"/>
                </a:solidFill>
              </a:rPr>
              <a:t>xác</a:t>
            </a:r>
            <a:r>
              <a:rPr lang="en-US" sz="1200" b="1" dirty="0">
                <a:solidFill>
                  <a:schemeClr val="dk1"/>
                </a:solidFill>
              </a:rPr>
              <a:t> </a:t>
            </a:r>
            <a:r>
              <a:rPr lang="en-US" sz="1200" b="1" dirty="0" err="1">
                <a:solidFill>
                  <a:schemeClr val="dk1"/>
                </a:solidFill>
              </a:rPr>
              <a:t>minh</a:t>
            </a:r>
            <a:r>
              <a:rPr lang="en-US" sz="1200" b="1" dirty="0">
                <a:solidFill>
                  <a:schemeClr val="dk1"/>
                </a:solidFill>
              </a:rPr>
              <a:t>:</a:t>
            </a:r>
            <a:r>
              <a:rPr lang="en-US" sz="1200" dirty="0">
                <a:solidFill>
                  <a:schemeClr val="dk1"/>
                </a:solidFill>
              </a:rPr>
              <a:t> Cung </a:t>
            </a:r>
            <a:r>
              <a:rPr lang="en-US" sz="1200" dirty="0" err="1">
                <a:solidFill>
                  <a:schemeClr val="dk1"/>
                </a:solidFill>
              </a:rPr>
              <a:t>cấp</a:t>
            </a:r>
            <a:r>
              <a:rPr lang="en-US" sz="1200" dirty="0">
                <a:solidFill>
                  <a:schemeClr val="dk1"/>
                </a:solidFill>
              </a:rPr>
              <a:t> </a:t>
            </a:r>
            <a:r>
              <a:rPr lang="en-US" sz="1200" dirty="0" err="1">
                <a:solidFill>
                  <a:schemeClr val="dk1"/>
                </a:solidFill>
              </a:rPr>
              <a:t>thông</a:t>
            </a:r>
            <a:r>
              <a:rPr lang="en-US" sz="1200" dirty="0">
                <a:solidFill>
                  <a:schemeClr val="dk1"/>
                </a:solidFill>
              </a:rPr>
              <a:t> tin </a:t>
            </a:r>
            <a:r>
              <a:rPr lang="en-US" sz="1200" dirty="0" err="1">
                <a:solidFill>
                  <a:schemeClr val="dk1"/>
                </a:solidFill>
              </a:rPr>
              <a:t>định</a:t>
            </a:r>
            <a:r>
              <a:rPr lang="en-US" sz="1200" dirty="0">
                <a:solidFill>
                  <a:schemeClr val="dk1"/>
                </a:solidFill>
              </a:rPr>
              <a:t> </a:t>
            </a:r>
            <a:r>
              <a:rPr lang="en-US" sz="1200" dirty="0" err="1">
                <a:solidFill>
                  <a:schemeClr val="dk1"/>
                </a:solidFill>
              </a:rPr>
              <a:t>danh</a:t>
            </a:r>
            <a:r>
              <a:rPr lang="en-US" sz="1200" dirty="0">
                <a:solidFill>
                  <a:schemeClr val="dk1"/>
                </a:solidFill>
              </a:rPr>
              <a:t> </a:t>
            </a:r>
            <a:r>
              <a:rPr lang="en-US" sz="1200" dirty="0" err="1">
                <a:solidFill>
                  <a:schemeClr val="dk1"/>
                </a:solidFill>
              </a:rPr>
              <a:t>và</a:t>
            </a:r>
            <a:r>
              <a:rPr lang="en-US" sz="1200" dirty="0">
                <a:solidFill>
                  <a:schemeClr val="dk1"/>
                </a:solidFill>
              </a:rPr>
              <a:t> </a:t>
            </a:r>
            <a:r>
              <a:rPr lang="en-US" sz="1200" dirty="0" err="1">
                <a:solidFill>
                  <a:schemeClr val="dk1"/>
                </a:solidFill>
              </a:rPr>
              <a:t>nhóm</a:t>
            </a:r>
            <a:r>
              <a:rPr lang="en-US" sz="1200" dirty="0">
                <a:solidFill>
                  <a:schemeClr val="dk1"/>
                </a:solidFill>
              </a:rPr>
              <a:t> </a:t>
            </a:r>
            <a:r>
              <a:rPr lang="en-US" sz="1200" dirty="0" err="1">
                <a:solidFill>
                  <a:schemeClr val="dk1"/>
                </a:solidFill>
              </a:rPr>
              <a:t>phân</a:t>
            </a:r>
            <a:r>
              <a:rPr lang="en-US" sz="1200" dirty="0">
                <a:solidFill>
                  <a:schemeClr val="dk1"/>
                </a:solidFill>
              </a:rPr>
              <a:t> </a:t>
            </a:r>
            <a:r>
              <a:rPr lang="en-US" sz="1200" dirty="0" err="1">
                <a:solidFill>
                  <a:schemeClr val="dk1"/>
                </a:solidFill>
              </a:rPr>
              <a:t>loại</a:t>
            </a:r>
            <a:r>
              <a:rPr lang="en-US" sz="1200" dirty="0">
                <a:solidFill>
                  <a:schemeClr val="dk1"/>
                </a:solidFill>
              </a:rPr>
              <a:t> </a:t>
            </a:r>
            <a:r>
              <a:rPr lang="en-US" sz="1200" dirty="0" err="1">
                <a:solidFill>
                  <a:schemeClr val="dk1"/>
                </a:solidFill>
              </a:rPr>
              <a:t>phục</a:t>
            </a:r>
            <a:r>
              <a:rPr lang="en-US" sz="1200" dirty="0">
                <a:solidFill>
                  <a:schemeClr val="dk1"/>
                </a:solidFill>
              </a:rPr>
              <a:t> </a:t>
            </a:r>
            <a:r>
              <a:rPr lang="en-US" sz="1200" dirty="0" err="1">
                <a:solidFill>
                  <a:schemeClr val="dk1"/>
                </a:solidFill>
              </a:rPr>
              <a:t>vụ</a:t>
            </a:r>
            <a:r>
              <a:rPr lang="en-US" sz="1200" dirty="0">
                <a:solidFill>
                  <a:schemeClr val="dk1"/>
                </a:solidFill>
              </a:rPr>
              <a:t> </a:t>
            </a:r>
            <a:r>
              <a:rPr lang="en-US" sz="1200" dirty="0" err="1">
                <a:solidFill>
                  <a:schemeClr val="dk1"/>
                </a:solidFill>
              </a:rPr>
              <a:t>nghiệp</a:t>
            </a:r>
            <a:r>
              <a:rPr lang="en-US" sz="1200" dirty="0">
                <a:solidFill>
                  <a:schemeClr val="dk1"/>
                </a:solidFill>
              </a:rPr>
              <a:t> </a:t>
            </a:r>
            <a:r>
              <a:rPr lang="en-US" sz="1200" dirty="0" err="1">
                <a:solidFill>
                  <a:schemeClr val="dk1"/>
                </a:solidFill>
              </a:rPr>
              <a:t>vụ</a:t>
            </a:r>
            <a:r>
              <a:rPr lang="en-US" sz="1200" dirty="0">
                <a:solidFill>
                  <a:schemeClr val="dk1"/>
                </a:solidFill>
              </a:rPr>
              <a:t> </a:t>
            </a:r>
            <a:r>
              <a:rPr lang="en-US" sz="1200" dirty="0" err="1">
                <a:solidFill>
                  <a:schemeClr val="dk1"/>
                </a:solidFill>
              </a:rPr>
              <a:t>giám</a:t>
            </a:r>
            <a:r>
              <a:rPr lang="en-US" sz="1200" dirty="0">
                <a:solidFill>
                  <a:schemeClr val="dk1"/>
                </a:solidFill>
              </a:rPr>
              <a:t> </a:t>
            </a:r>
            <a:r>
              <a:rPr lang="en-US" sz="1200" dirty="0" err="1">
                <a:solidFill>
                  <a:schemeClr val="dk1"/>
                </a:solidFill>
              </a:rPr>
              <a:t>sát</a:t>
            </a:r>
            <a:r>
              <a:rPr lang="en-US" sz="1200" dirty="0">
                <a:solidFill>
                  <a:schemeClr val="dk1"/>
                </a:solidFill>
              </a:rPr>
              <a:t>, </a:t>
            </a:r>
            <a:r>
              <a:rPr lang="en-US" sz="1200" dirty="0" err="1">
                <a:solidFill>
                  <a:schemeClr val="dk1"/>
                </a:solidFill>
              </a:rPr>
              <a:t>xác</a:t>
            </a:r>
            <a:r>
              <a:rPr lang="en-US" sz="1200" dirty="0">
                <a:solidFill>
                  <a:schemeClr val="dk1"/>
                </a:solidFill>
              </a:rPr>
              <a:t> </a:t>
            </a:r>
            <a:r>
              <a:rPr lang="en-US" sz="1200" dirty="0" err="1">
                <a:solidFill>
                  <a:schemeClr val="dk1"/>
                </a:solidFill>
              </a:rPr>
              <a:t>minh</a:t>
            </a:r>
            <a:r>
              <a:rPr lang="en-US" sz="1200" dirty="0">
                <a:solidFill>
                  <a:schemeClr val="dk1"/>
                </a:solidFill>
              </a:rPr>
              <a:t> </a:t>
            </a:r>
            <a:r>
              <a:rPr lang="en-US" sz="1200" dirty="0" err="1">
                <a:solidFill>
                  <a:schemeClr val="dk1"/>
                </a:solidFill>
              </a:rPr>
              <a:t>và</a:t>
            </a:r>
            <a:r>
              <a:rPr lang="en-US" sz="1200" dirty="0">
                <a:solidFill>
                  <a:schemeClr val="dk1"/>
                </a:solidFill>
              </a:rPr>
              <a:t> </a:t>
            </a:r>
            <a:r>
              <a:rPr lang="en-US" sz="1200" dirty="0" err="1">
                <a:solidFill>
                  <a:schemeClr val="dk1"/>
                </a:solidFill>
              </a:rPr>
              <a:t>truy</a:t>
            </a:r>
            <a:r>
              <a:rPr lang="en-US" sz="1200" dirty="0">
                <a:solidFill>
                  <a:schemeClr val="dk1"/>
                </a:solidFill>
              </a:rPr>
              <a:t> </a:t>
            </a:r>
            <a:r>
              <a:rPr lang="en-US" sz="1200" dirty="0" err="1">
                <a:solidFill>
                  <a:schemeClr val="dk1"/>
                </a:solidFill>
              </a:rPr>
              <a:t>vết</a:t>
            </a:r>
            <a:r>
              <a:rPr lang="en-US" sz="1200" dirty="0">
                <a:solidFill>
                  <a:schemeClr val="dk1"/>
                </a:solidFill>
              </a:rPr>
              <a:t>.</a:t>
            </a:r>
            <a:endParaRPr sz="1200" b="1" dirty="0">
              <a:solidFill>
                <a:schemeClr val="dk1"/>
              </a:solidFill>
            </a:endParaRPr>
          </a:p>
          <a:p>
            <a:pPr marL="0" marR="0" lvl="0" indent="0" algn="l" rtl="0">
              <a:lnSpc>
                <a:spcPct val="150000"/>
              </a:lnSpc>
              <a:spcBef>
                <a:spcPts val="1200"/>
              </a:spcBef>
              <a:spcAft>
                <a:spcPts val="0"/>
              </a:spcAft>
              <a:buNone/>
            </a:pPr>
            <a:endParaRPr b="1" dirty="0">
              <a:solidFill>
                <a:srgbClr val="1E3A8A"/>
              </a:solidFill>
              <a:latin typeface="Quattrocento Sans"/>
              <a:ea typeface="Quattrocento Sans"/>
              <a:cs typeface="Quattrocento Sans"/>
              <a:sym typeface="Quattrocento Sans"/>
            </a:endParaRPr>
          </a:p>
        </p:txBody>
      </p:sp>
      <p:pic>
        <p:nvPicPr>
          <p:cNvPr id="626" name="Google Shape;626;p17"/>
          <p:cNvPicPr preferRelativeResize="0"/>
          <p:nvPr/>
        </p:nvPicPr>
        <p:blipFill rotWithShape="1">
          <a:blip r:embed="rId3">
            <a:alphaModFix/>
          </a:blip>
          <a:srcRect l="908" t="3500" r="1407" b="4648"/>
          <a:stretch/>
        </p:blipFill>
        <p:spPr>
          <a:xfrm>
            <a:off x="575124" y="3682338"/>
            <a:ext cx="3440126" cy="1553676"/>
          </a:xfrm>
          <a:prstGeom prst="rect">
            <a:avLst/>
          </a:prstGeom>
          <a:noFill/>
          <a:ln w="9525" cap="flat" cmpd="sng">
            <a:solidFill>
              <a:srgbClr val="E5E7EB"/>
            </a:solidFill>
            <a:prstDash val="solid"/>
            <a:round/>
            <a:headEnd type="none" w="sm" len="sm"/>
            <a:tailEnd type="none" w="sm" len="sm"/>
          </a:ln>
        </p:spPr>
      </p:pic>
      <p:sp>
        <p:nvSpPr>
          <p:cNvPr id="627" name="Google Shape;627;p17"/>
          <p:cNvSpPr/>
          <p:nvPr/>
        </p:nvSpPr>
        <p:spPr>
          <a:xfrm>
            <a:off x="6098350" y="3702850"/>
            <a:ext cx="2628900" cy="12966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8" name="Google Shape;628;p17"/>
          <p:cNvSpPr/>
          <p:nvPr/>
        </p:nvSpPr>
        <p:spPr>
          <a:xfrm>
            <a:off x="6225350" y="38044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629" name="Google Shape;629;p17"/>
          <p:cNvSpPr txBox="1"/>
          <p:nvPr/>
        </p:nvSpPr>
        <p:spPr>
          <a:xfrm>
            <a:off x="6657150" y="38425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Bổ sung dữ liệu định danh </a:t>
            </a:r>
            <a:endParaRPr sz="1200" b="1">
              <a:solidFill>
                <a:srgbClr val="1E3A8A"/>
              </a:solidFill>
            </a:endParaRPr>
          </a:p>
        </p:txBody>
      </p:sp>
      <p:sp>
        <p:nvSpPr>
          <p:cNvPr id="630" name="Google Shape;630;p17"/>
          <p:cNvSpPr txBox="1"/>
          <p:nvPr/>
        </p:nvSpPr>
        <p:spPr>
          <a:xfrm>
            <a:off x="6250750" y="42362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Thêm thông tin, hình ảnh và nhóm phân loại cho người hoặc phương tiện; hỗ trợ nhập từng đối tượng hoặc nhập danh sách. </a:t>
            </a:r>
            <a:endParaRPr/>
          </a:p>
        </p:txBody>
      </p:sp>
      <p:sp>
        <p:nvSpPr>
          <p:cNvPr id="631" name="Google Shape;631;p17"/>
          <p:cNvSpPr/>
          <p:nvPr/>
        </p:nvSpPr>
        <p:spPr>
          <a:xfrm>
            <a:off x="8879650" y="3702850"/>
            <a:ext cx="2692800" cy="12966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2" name="Google Shape;632;p17"/>
          <p:cNvSpPr/>
          <p:nvPr/>
        </p:nvSpPr>
        <p:spPr>
          <a:xfrm>
            <a:off x="9006650" y="38044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633" name="Google Shape;633;p17"/>
          <p:cNvSpPr txBox="1"/>
          <p:nvPr/>
        </p:nvSpPr>
        <p:spPr>
          <a:xfrm>
            <a:off x="9438450" y="38425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Phát hiện đối tượng trùng </a:t>
            </a:r>
            <a:endParaRPr/>
          </a:p>
        </p:txBody>
      </p:sp>
      <p:sp>
        <p:nvSpPr>
          <p:cNvPr id="634" name="Google Shape;634;p17"/>
          <p:cNvSpPr txBox="1"/>
          <p:nvPr/>
        </p:nvSpPr>
        <p:spPr>
          <a:xfrm>
            <a:off x="9032050" y="42362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Cảnh báo khi dữ liệu định danh đã tồn tại trên hệ thống, giúp hạn chế tạo bản ghi trùng lặp. </a:t>
            </a:r>
            <a:r>
              <a:rPr lang="en-US" sz="1050">
                <a:solidFill>
                  <a:srgbClr val="1F2937"/>
                </a:solidFill>
                <a:latin typeface="Quattrocento Sans"/>
                <a:ea typeface="Quattrocento Sans"/>
                <a:cs typeface="Quattrocento Sans"/>
                <a:sym typeface="Quattrocento Sans"/>
              </a:rPr>
              <a:t> </a:t>
            </a:r>
            <a:endParaRPr/>
          </a:p>
        </p:txBody>
      </p:sp>
      <p:sp>
        <p:nvSpPr>
          <p:cNvPr id="635" name="Google Shape;635;p17"/>
          <p:cNvSpPr/>
          <p:nvPr/>
        </p:nvSpPr>
        <p:spPr>
          <a:xfrm>
            <a:off x="6098350" y="5149025"/>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6" name="Google Shape;636;p17"/>
          <p:cNvSpPr/>
          <p:nvPr/>
        </p:nvSpPr>
        <p:spPr>
          <a:xfrm>
            <a:off x="6225350" y="5250625"/>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637" name="Google Shape;637;p17"/>
          <p:cNvSpPr txBox="1"/>
          <p:nvPr/>
        </p:nvSpPr>
        <p:spPr>
          <a:xfrm>
            <a:off x="6657150" y="528872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Đối chiếu khuôn mặt </a:t>
            </a:r>
            <a:endParaRPr sz="1200" b="1">
              <a:solidFill>
                <a:srgbClr val="1E3A8A"/>
              </a:solidFill>
            </a:endParaRPr>
          </a:p>
        </p:txBody>
      </p:sp>
      <p:sp>
        <p:nvSpPr>
          <p:cNvPr id="638" name="Google Shape;638;p17"/>
          <p:cNvSpPr txBox="1"/>
          <p:nvPr/>
        </p:nvSpPr>
        <p:spPr>
          <a:xfrm>
            <a:off x="6250750" y="5624275"/>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Đối chiếu khuôn mặt hoặc thông tin phương tiện do camera ghi nhận với dữ liệu định danh để tìm kết quả phù hợp. . </a:t>
            </a:r>
            <a:endParaRPr/>
          </a:p>
        </p:txBody>
      </p:sp>
      <p:sp>
        <p:nvSpPr>
          <p:cNvPr id="639" name="Google Shape;639;p17"/>
          <p:cNvSpPr/>
          <p:nvPr/>
        </p:nvSpPr>
        <p:spPr>
          <a:xfrm>
            <a:off x="8879650" y="5149025"/>
            <a:ext cx="27381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0" name="Google Shape;640;p17"/>
          <p:cNvSpPr/>
          <p:nvPr/>
        </p:nvSpPr>
        <p:spPr>
          <a:xfrm>
            <a:off x="9006650" y="5250625"/>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641" name="Google Shape;641;p17"/>
          <p:cNvSpPr txBox="1"/>
          <p:nvPr/>
        </p:nvSpPr>
        <p:spPr>
          <a:xfrm>
            <a:off x="9438450" y="528872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Phân loại và hỗ trợ kiểm tra quyền</a:t>
            </a:r>
            <a:r>
              <a:rPr lang="en-US" sz="1200" b="1">
                <a:solidFill>
                  <a:srgbClr val="1E3A8A"/>
                </a:solidFill>
                <a:latin typeface="Quattrocento Sans"/>
                <a:ea typeface="Quattrocento Sans"/>
                <a:cs typeface="Quattrocento Sans"/>
                <a:sym typeface="Quattrocento Sans"/>
              </a:rPr>
              <a:t> </a:t>
            </a:r>
            <a:endParaRPr/>
          </a:p>
        </p:txBody>
      </p:sp>
      <p:sp>
        <p:nvSpPr>
          <p:cNvPr id="642" name="Google Shape;642;p17"/>
          <p:cNvSpPr txBox="1"/>
          <p:nvPr/>
        </p:nvSpPr>
        <p:spPr>
          <a:xfrm>
            <a:off x="9032050" y="5682425"/>
            <a:ext cx="24765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Hiển thị thông tin và nhóm định danh của người, phương tiện để hỗ trợ nhân viên giám sát xác minh và xử lý theo nghiệp vụ.  </a:t>
            </a:r>
            <a:endParaRPr/>
          </a:p>
        </p:txBody>
      </p:sp>
      <p:pic>
        <p:nvPicPr>
          <p:cNvPr id="643" name="Google Shape;643;p17"/>
          <p:cNvPicPr preferRelativeResize="0"/>
          <p:nvPr/>
        </p:nvPicPr>
        <p:blipFill>
          <a:blip r:embed="rId4">
            <a:alphaModFix/>
          </a:blip>
          <a:stretch>
            <a:fillRect/>
          </a:stretch>
        </p:blipFill>
        <p:spPr>
          <a:xfrm>
            <a:off x="2204400" y="4632050"/>
            <a:ext cx="3350449" cy="18703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8"/>
        <p:cNvGrpSpPr/>
        <p:nvPr/>
      </p:nvGrpSpPr>
      <p:grpSpPr>
        <a:xfrm>
          <a:off x="0" y="0"/>
          <a:ext cx="0" cy="0"/>
          <a:chOff x="0" y="0"/>
          <a:chExt cx="0" cy="0"/>
        </a:xfrm>
      </p:grpSpPr>
      <p:sp>
        <p:nvSpPr>
          <p:cNvPr id="649" name="Google Shape;649;p21"/>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6 · QUẢN LÝ ĐƠN VỊ</a:t>
            </a:r>
            <a:endParaRPr sz="1100" b="1">
              <a:solidFill>
                <a:srgbClr val="2563EB"/>
              </a:solidFill>
            </a:endParaRPr>
          </a:p>
        </p:txBody>
      </p:sp>
      <p:sp>
        <p:nvSpPr>
          <p:cNvPr id="650" name="Google Shape;650;p21"/>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Quản lý đơn vị </a:t>
            </a:r>
            <a:endParaRPr sz="2600" b="1">
              <a:solidFill>
                <a:srgbClr val="1E3A8A"/>
              </a:solidFill>
            </a:endParaRPr>
          </a:p>
        </p:txBody>
      </p:sp>
      <p:sp>
        <p:nvSpPr>
          <p:cNvPr id="651" name="Google Shape;651;p21"/>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2" name="Google Shape;652;p21"/>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653" name="Google Shape;653;p21"/>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654" name="Google Shape;654;p21"/>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655" name="Google Shape;655;p21"/>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656" name="Google Shape;656;p21"/>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657" name="Google Shape;657;p21"/>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658" name="Google Shape;658;p21"/>
          <p:cNvSpPr/>
          <p:nvPr/>
        </p:nvSpPr>
        <p:spPr>
          <a:xfrm>
            <a:off x="104140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6</a:t>
            </a:r>
            <a:endParaRPr/>
          </a:p>
        </p:txBody>
      </p:sp>
      <p:sp>
        <p:nvSpPr>
          <p:cNvPr id="659" name="Google Shape;659;p21"/>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660" name="Google Shape;660;p21"/>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661" name="Google Shape;661;p21"/>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662" name="Google Shape;662;p21"/>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đơn vị</a:t>
            </a:r>
            <a:endParaRPr sz="1050">
              <a:solidFill>
                <a:srgbClr val="1E3A8A"/>
              </a:solidFill>
            </a:endParaRPr>
          </a:p>
        </p:txBody>
      </p:sp>
      <p:sp>
        <p:nvSpPr>
          <p:cNvPr id="663" name="Google Shape;663;p21"/>
          <p:cNvSpPr txBox="1"/>
          <p:nvPr/>
        </p:nvSpPr>
        <p:spPr>
          <a:xfrm>
            <a:off x="609600" y="1676400"/>
            <a:ext cx="10972800" cy="99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Ứng dụng thực tế</a:t>
            </a:r>
            <a:endParaRPr b="1">
              <a:solidFill>
                <a:srgbClr val="1E3A8A"/>
              </a:solidFill>
            </a:endParaRPr>
          </a:p>
          <a:p>
            <a:pPr marL="457200" lvl="0" indent="-298450" algn="l" rtl="0">
              <a:lnSpc>
                <a:spcPct val="115000"/>
              </a:lnSpc>
              <a:spcBef>
                <a:spcPts val="1200"/>
              </a:spcBef>
              <a:spcAft>
                <a:spcPts val="0"/>
              </a:spcAft>
              <a:buClr>
                <a:schemeClr val="dk1"/>
              </a:buClr>
              <a:buSzPts val="1100"/>
              <a:buChar char="●"/>
            </a:pPr>
            <a:r>
              <a:rPr lang="en-US" sz="1100" b="1">
                <a:solidFill>
                  <a:schemeClr val="dk1"/>
                </a:solidFill>
              </a:rPr>
              <a:t>Tổ chức cơ cấu đơn vị: </a:t>
            </a:r>
            <a:r>
              <a:rPr lang="en-US" sz="1100">
                <a:solidFill>
                  <a:schemeClr val="dk1"/>
                </a:solidFill>
              </a:rPr>
              <a:t>Tạo, chỉnh sửa, xóa đơn vị và thiết lập quan hệ đơn vị cha–con theo mô hình tổ chức.</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b="1">
                <a:solidFill>
                  <a:schemeClr val="dk1"/>
                </a:solidFill>
              </a:rPr>
              <a:t>Quản lý người dùng theo đơn vị: </a:t>
            </a:r>
            <a:r>
              <a:rPr lang="en-US" sz="1100">
                <a:solidFill>
                  <a:schemeClr val="dk1"/>
                </a:solidFill>
              </a:rPr>
              <a:t>Gán người dùng vào đơn vị tương ứng để xác định đơn vị quản lý.</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b="1">
                <a:solidFill>
                  <a:schemeClr val="dk1"/>
                </a:solidFill>
              </a:rPr>
              <a:t>Xác định phạm vi camera: </a:t>
            </a:r>
            <a:r>
              <a:rPr lang="en-US" sz="1100">
                <a:solidFill>
                  <a:schemeClr val="dk1"/>
                </a:solidFill>
              </a:rPr>
              <a:t>Tra cứu người dùng thuộc đơn vị nào và các camera được phân công quản lý, phục vụ kiểm soát phạm vi truy cập trên EMS.</a:t>
            </a:r>
            <a:endParaRPr sz="1100">
              <a:solidFill>
                <a:schemeClr val="dk1"/>
              </a:solidFill>
            </a:endParaRPr>
          </a:p>
          <a:p>
            <a:pPr marL="0" marR="0" lvl="0" indent="0" algn="l" rtl="0">
              <a:spcBef>
                <a:spcPts val="1200"/>
              </a:spcBef>
              <a:spcAft>
                <a:spcPts val="0"/>
              </a:spcAft>
              <a:buNone/>
            </a:pPr>
            <a:endParaRPr sz="1300">
              <a:solidFill>
                <a:srgbClr val="1F2937"/>
              </a:solidFill>
              <a:latin typeface="Quattrocento Sans"/>
              <a:ea typeface="Quattrocento Sans"/>
              <a:cs typeface="Quattrocento Sans"/>
              <a:sym typeface="Quattrocento Sans"/>
            </a:endParaRPr>
          </a:p>
        </p:txBody>
      </p:sp>
      <p:sp>
        <p:nvSpPr>
          <p:cNvPr id="664" name="Google Shape;664;p21"/>
          <p:cNvSpPr/>
          <p:nvPr/>
        </p:nvSpPr>
        <p:spPr>
          <a:xfrm>
            <a:off x="8756200" y="2772500"/>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5" name="Google Shape;665;p21"/>
          <p:cNvSpPr/>
          <p:nvPr/>
        </p:nvSpPr>
        <p:spPr>
          <a:xfrm>
            <a:off x="8883200" y="287410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666" name="Google Shape;666;p21"/>
          <p:cNvSpPr txBox="1"/>
          <p:nvPr/>
        </p:nvSpPr>
        <p:spPr>
          <a:xfrm>
            <a:off x="9315000" y="291220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Thiết lập đơn vị </a:t>
            </a:r>
            <a:endParaRPr sz="1200" b="1">
              <a:solidFill>
                <a:srgbClr val="1E3A8A"/>
              </a:solidFill>
            </a:endParaRPr>
          </a:p>
        </p:txBody>
      </p:sp>
      <p:sp>
        <p:nvSpPr>
          <p:cNvPr id="667" name="Google Shape;667;p21"/>
          <p:cNvSpPr txBox="1"/>
          <p:nvPr/>
        </p:nvSpPr>
        <p:spPr>
          <a:xfrm>
            <a:off x="8908600" y="330590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Tạo, chỉnh sửa, xóa đơn vị và cấu hình quan hệ cha–con.  </a:t>
            </a:r>
            <a:endParaRPr/>
          </a:p>
        </p:txBody>
      </p:sp>
      <p:sp>
        <p:nvSpPr>
          <p:cNvPr id="668" name="Google Shape;668;p21"/>
          <p:cNvSpPr/>
          <p:nvPr/>
        </p:nvSpPr>
        <p:spPr>
          <a:xfrm>
            <a:off x="8788400" y="4089400"/>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9" name="Google Shape;669;p21"/>
          <p:cNvSpPr/>
          <p:nvPr/>
        </p:nvSpPr>
        <p:spPr>
          <a:xfrm>
            <a:off x="8915400" y="419100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670" name="Google Shape;670;p21"/>
          <p:cNvSpPr txBox="1"/>
          <p:nvPr/>
        </p:nvSpPr>
        <p:spPr>
          <a:xfrm>
            <a:off x="9347200" y="422910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Gán người dùng </a:t>
            </a:r>
            <a:endParaRPr sz="1200" b="1">
              <a:solidFill>
                <a:srgbClr val="1E3A8A"/>
              </a:solidFill>
            </a:endParaRPr>
          </a:p>
        </p:txBody>
      </p:sp>
      <p:sp>
        <p:nvSpPr>
          <p:cNvPr id="671" name="Google Shape;671;p21"/>
          <p:cNvSpPr txBox="1"/>
          <p:nvPr/>
        </p:nvSpPr>
        <p:spPr>
          <a:xfrm>
            <a:off x="8940800" y="462280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Xác định người dùng thuộc đơn vị quản lý tương ứng. </a:t>
            </a:r>
            <a:endParaRPr sz="1050">
              <a:solidFill>
                <a:srgbClr val="1F2937"/>
              </a:solidFill>
            </a:endParaRPr>
          </a:p>
        </p:txBody>
      </p:sp>
      <p:sp>
        <p:nvSpPr>
          <p:cNvPr id="672" name="Google Shape;672;p21"/>
          <p:cNvSpPr/>
          <p:nvPr/>
        </p:nvSpPr>
        <p:spPr>
          <a:xfrm>
            <a:off x="8756200" y="5406300"/>
            <a:ext cx="2628900" cy="12192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3" name="Google Shape;673;p21"/>
          <p:cNvSpPr/>
          <p:nvPr/>
        </p:nvSpPr>
        <p:spPr>
          <a:xfrm>
            <a:off x="8890381" y="550790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674" name="Google Shape;674;p21"/>
          <p:cNvSpPr txBox="1"/>
          <p:nvPr/>
        </p:nvSpPr>
        <p:spPr>
          <a:xfrm>
            <a:off x="9315000" y="554600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Xác định phạm vi camera </a:t>
            </a:r>
            <a:endParaRPr sz="1200" b="1">
              <a:solidFill>
                <a:srgbClr val="1E3A8A"/>
              </a:solidFill>
            </a:endParaRPr>
          </a:p>
        </p:txBody>
      </p:sp>
      <p:sp>
        <p:nvSpPr>
          <p:cNvPr id="675" name="Google Shape;675;p21"/>
          <p:cNvSpPr txBox="1"/>
          <p:nvPr/>
        </p:nvSpPr>
        <p:spPr>
          <a:xfrm>
            <a:off x="8908600" y="593970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Tra cứu các camera người dùng được phân công quản lý hoặc truy cập theo quyền đã cấp. </a:t>
            </a:r>
            <a:endParaRPr/>
          </a:p>
        </p:txBody>
      </p:sp>
      <p:pic>
        <p:nvPicPr>
          <p:cNvPr id="676" name="Google Shape;676;p21" title="Screenshot 2026-10-09 160012.png"/>
          <p:cNvPicPr preferRelativeResize="0"/>
          <p:nvPr/>
        </p:nvPicPr>
        <p:blipFill>
          <a:blip r:embed="rId3">
            <a:alphaModFix/>
          </a:blip>
          <a:stretch>
            <a:fillRect/>
          </a:stretch>
        </p:blipFill>
        <p:spPr>
          <a:xfrm>
            <a:off x="747377" y="2912200"/>
            <a:ext cx="5326849" cy="2521475"/>
          </a:xfrm>
          <a:prstGeom prst="rect">
            <a:avLst/>
          </a:prstGeom>
          <a:noFill/>
          <a:ln>
            <a:noFill/>
          </a:ln>
        </p:spPr>
      </p:pic>
      <p:pic>
        <p:nvPicPr>
          <p:cNvPr id="677" name="Google Shape;677;p21"/>
          <p:cNvPicPr preferRelativeResize="0"/>
          <p:nvPr/>
        </p:nvPicPr>
        <p:blipFill>
          <a:blip r:embed="rId4">
            <a:alphaModFix/>
          </a:blip>
          <a:stretch>
            <a:fillRect/>
          </a:stretch>
        </p:blipFill>
        <p:spPr>
          <a:xfrm>
            <a:off x="3201100" y="3991689"/>
            <a:ext cx="5088774" cy="2409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2"/>
        <p:cNvGrpSpPr/>
        <p:nvPr/>
      </p:nvGrpSpPr>
      <p:grpSpPr>
        <a:xfrm>
          <a:off x="0" y="0"/>
          <a:ext cx="0" cy="0"/>
          <a:chOff x="0" y="0"/>
          <a:chExt cx="0" cy="0"/>
        </a:xfrm>
      </p:grpSpPr>
      <p:sp>
        <p:nvSpPr>
          <p:cNvPr id="683" name="Google Shape;683;p19"/>
          <p:cNvSpPr/>
          <p:nvPr/>
        </p:nvSpPr>
        <p:spPr>
          <a:xfrm>
            <a:off x="9184413" y="4706750"/>
            <a:ext cx="2850000" cy="146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4" name="Google Shape;684;p19"/>
          <p:cNvSpPr/>
          <p:nvPr/>
        </p:nvSpPr>
        <p:spPr>
          <a:xfrm>
            <a:off x="6209813" y="4699025"/>
            <a:ext cx="2850000" cy="146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5" name="Google Shape;685;p19"/>
          <p:cNvSpPr/>
          <p:nvPr/>
        </p:nvSpPr>
        <p:spPr>
          <a:xfrm>
            <a:off x="3202913" y="4702325"/>
            <a:ext cx="2850000" cy="146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6" name="Google Shape;686;p19"/>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4 · QUẢN LÝ NGƯỜI DÙNG</a:t>
            </a:r>
            <a:endParaRPr sz="1100" b="1">
              <a:solidFill>
                <a:srgbClr val="2563EB"/>
              </a:solidFill>
            </a:endParaRPr>
          </a:p>
        </p:txBody>
      </p:sp>
      <p:sp>
        <p:nvSpPr>
          <p:cNvPr id="687" name="Google Shape;687;p19"/>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Quản lý người dùng</a:t>
            </a:r>
            <a:endParaRPr sz="2600" b="1">
              <a:solidFill>
                <a:srgbClr val="1E3A8A"/>
              </a:solidFill>
            </a:endParaRPr>
          </a:p>
        </p:txBody>
      </p:sp>
      <p:sp>
        <p:nvSpPr>
          <p:cNvPr id="688" name="Google Shape;688;p19"/>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9" name="Google Shape;689;p19"/>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690" name="Google Shape;690;p19"/>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691" name="Google Shape;691;p19"/>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692" name="Google Shape;692;p19"/>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693" name="Google Shape;693;p19"/>
          <p:cNvSpPr/>
          <p:nvPr/>
        </p:nvSpPr>
        <p:spPr>
          <a:xfrm>
            <a:off x="98044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4</a:t>
            </a:r>
            <a:endParaRPr/>
          </a:p>
        </p:txBody>
      </p:sp>
      <p:sp>
        <p:nvSpPr>
          <p:cNvPr id="694" name="Google Shape;694;p19"/>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695" name="Google Shape;695;p19"/>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696" name="Google Shape;696;p19"/>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697" name="Google Shape;697;p19"/>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698" name="Google Shape;698;p19"/>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699" name="Google Shape;699;p19"/>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người dùng</a:t>
            </a:r>
            <a:endParaRPr sz="1050">
              <a:solidFill>
                <a:srgbClr val="1E3A8A"/>
              </a:solidFill>
            </a:endParaRPr>
          </a:p>
        </p:txBody>
      </p:sp>
      <p:sp>
        <p:nvSpPr>
          <p:cNvPr id="700" name="Google Shape;700;p19"/>
          <p:cNvSpPr txBox="1"/>
          <p:nvPr/>
        </p:nvSpPr>
        <p:spPr>
          <a:xfrm>
            <a:off x="609600" y="1543932"/>
            <a:ext cx="10972800" cy="369332"/>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dirty="0" err="1">
                <a:solidFill>
                  <a:srgbClr val="1E3A8A"/>
                </a:solidFill>
              </a:rPr>
              <a:t>Ứng</a:t>
            </a:r>
            <a:r>
              <a:rPr lang="en-US" sz="1300" b="1" dirty="0">
                <a:solidFill>
                  <a:srgbClr val="1E3A8A"/>
                </a:solidFill>
              </a:rPr>
              <a:t> </a:t>
            </a:r>
            <a:r>
              <a:rPr lang="en-US" sz="1300" b="1" dirty="0" err="1">
                <a:solidFill>
                  <a:srgbClr val="1E3A8A"/>
                </a:solidFill>
              </a:rPr>
              <a:t>dụng</a:t>
            </a:r>
            <a:r>
              <a:rPr lang="en-US" sz="1300" b="1" dirty="0">
                <a:solidFill>
                  <a:srgbClr val="1E3A8A"/>
                </a:solidFill>
              </a:rPr>
              <a:t> </a:t>
            </a:r>
            <a:r>
              <a:rPr lang="en-US" sz="1300" b="1" dirty="0" err="1">
                <a:solidFill>
                  <a:srgbClr val="1E3A8A"/>
                </a:solidFill>
              </a:rPr>
              <a:t>thực</a:t>
            </a:r>
            <a:r>
              <a:rPr lang="en-US" sz="1300" b="1" dirty="0">
                <a:solidFill>
                  <a:srgbClr val="1E3A8A"/>
                </a:solidFill>
              </a:rPr>
              <a:t> </a:t>
            </a:r>
            <a:r>
              <a:rPr lang="en-US" sz="1300" b="1" dirty="0" err="1">
                <a:solidFill>
                  <a:srgbClr val="1E3A8A"/>
                </a:solidFill>
              </a:rPr>
              <a:t>tế</a:t>
            </a:r>
            <a:r>
              <a:rPr lang="en-US" sz="1300" b="1" dirty="0">
                <a:solidFill>
                  <a:schemeClr val="dk1"/>
                </a:solidFill>
              </a:rPr>
              <a:t>: </a:t>
            </a:r>
            <a:r>
              <a:rPr lang="en-US" sz="1100" dirty="0">
                <a:solidFill>
                  <a:schemeClr val="dk1"/>
                </a:solidFill>
              </a:rPr>
              <a:t>Khi </a:t>
            </a:r>
            <a:r>
              <a:rPr lang="en-US" sz="1100" dirty="0" err="1">
                <a:solidFill>
                  <a:schemeClr val="dk1"/>
                </a:solidFill>
              </a:rPr>
              <a:t>cấp</a:t>
            </a:r>
            <a:r>
              <a:rPr lang="en-US" sz="1100" dirty="0">
                <a:solidFill>
                  <a:schemeClr val="dk1"/>
                </a:solidFill>
              </a:rPr>
              <a:t> </a:t>
            </a:r>
            <a:r>
              <a:rPr lang="en-US" sz="1100" dirty="0" err="1">
                <a:solidFill>
                  <a:schemeClr val="dk1"/>
                </a:solidFill>
              </a:rPr>
              <a:t>tài</a:t>
            </a:r>
            <a:r>
              <a:rPr lang="en-US" sz="1100" dirty="0">
                <a:solidFill>
                  <a:schemeClr val="dk1"/>
                </a:solidFill>
              </a:rPr>
              <a:t> </a:t>
            </a:r>
            <a:r>
              <a:rPr lang="en-US" sz="1100" dirty="0" err="1">
                <a:solidFill>
                  <a:schemeClr val="dk1"/>
                </a:solidFill>
              </a:rPr>
              <a:t>khoản</a:t>
            </a:r>
            <a:r>
              <a:rPr lang="en-US" sz="1100" dirty="0">
                <a:solidFill>
                  <a:schemeClr val="dk1"/>
                </a:solidFill>
              </a:rPr>
              <a:t> </a:t>
            </a:r>
            <a:r>
              <a:rPr lang="en-US" sz="1100" dirty="0" err="1">
                <a:solidFill>
                  <a:schemeClr val="dk1"/>
                </a:solidFill>
              </a:rPr>
              <a:t>cho</a:t>
            </a:r>
            <a:r>
              <a:rPr lang="en-US" sz="1100" dirty="0">
                <a:solidFill>
                  <a:schemeClr val="dk1"/>
                </a:solidFill>
              </a:rPr>
              <a:t> </a:t>
            </a:r>
            <a:r>
              <a:rPr lang="en-US" sz="1100" dirty="0" err="1">
                <a:solidFill>
                  <a:schemeClr val="dk1"/>
                </a:solidFill>
              </a:rPr>
              <a:t>cán</a:t>
            </a:r>
            <a:r>
              <a:rPr lang="en-US" sz="1100" dirty="0">
                <a:solidFill>
                  <a:schemeClr val="dk1"/>
                </a:solidFill>
              </a:rPr>
              <a:t> </a:t>
            </a:r>
            <a:r>
              <a:rPr lang="en-US" sz="1100" dirty="0" err="1">
                <a:solidFill>
                  <a:schemeClr val="dk1"/>
                </a:solidFill>
              </a:rPr>
              <a:t>bộ</a:t>
            </a:r>
            <a:r>
              <a:rPr lang="en-US" sz="1100" dirty="0">
                <a:solidFill>
                  <a:schemeClr val="dk1"/>
                </a:solidFill>
              </a:rPr>
              <a:t>, </a:t>
            </a:r>
            <a:r>
              <a:rPr lang="en-US" sz="1100" dirty="0" err="1">
                <a:solidFill>
                  <a:schemeClr val="dk1"/>
                </a:solidFill>
              </a:rPr>
              <a:t>nhân</a:t>
            </a:r>
            <a:r>
              <a:rPr lang="en-US" sz="1100" dirty="0">
                <a:solidFill>
                  <a:schemeClr val="dk1"/>
                </a:solidFill>
              </a:rPr>
              <a:t> </a:t>
            </a:r>
            <a:r>
              <a:rPr lang="en-US" sz="1100" dirty="0" err="1">
                <a:solidFill>
                  <a:schemeClr val="dk1"/>
                </a:solidFill>
              </a:rPr>
              <a:t>viên</a:t>
            </a:r>
            <a:r>
              <a:rPr lang="en-US" sz="1100" dirty="0">
                <a:solidFill>
                  <a:schemeClr val="dk1"/>
                </a:solidFill>
              </a:rPr>
              <a:t>, </a:t>
            </a:r>
            <a:r>
              <a:rPr lang="en-US" sz="1100" dirty="0" err="1">
                <a:solidFill>
                  <a:schemeClr val="dk1"/>
                </a:solidFill>
              </a:rPr>
              <a:t>quản</a:t>
            </a:r>
            <a:r>
              <a:rPr lang="en-US" sz="1100" dirty="0">
                <a:solidFill>
                  <a:schemeClr val="dk1"/>
                </a:solidFill>
              </a:rPr>
              <a:t> </a:t>
            </a:r>
            <a:r>
              <a:rPr lang="en-US" sz="1100" dirty="0" err="1">
                <a:solidFill>
                  <a:schemeClr val="dk1"/>
                </a:solidFill>
              </a:rPr>
              <a:t>trị</a:t>
            </a:r>
            <a:r>
              <a:rPr lang="en-US" sz="1100" dirty="0">
                <a:solidFill>
                  <a:schemeClr val="dk1"/>
                </a:solidFill>
              </a:rPr>
              <a:t> </a:t>
            </a:r>
            <a:r>
              <a:rPr lang="en-US" sz="1100" dirty="0" err="1">
                <a:solidFill>
                  <a:schemeClr val="dk1"/>
                </a:solidFill>
              </a:rPr>
              <a:t>viên</a:t>
            </a:r>
            <a:r>
              <a:rPr lang="en-US" sz="1100" dirty="0">
                <a:solidFill>
                  <a:schemeClr val="dk1"/>
                </a:solidFill>
              </a:rPr>
              <a:t> </a:t>
            </a:r>
            <a:r>
              <a:rPr lang="en-US" sz="1100" dirty="0" err="1">
                <a:solidFill>
                  <a:schemeClr val="dk1"/>
                </a:solidFill>
              </a:rPr>
              <a:t>cần</a:t>
            </a:r>
            <a:r>
              <a:rPr lang="en-US" sz="1100" dirty="0">
                <a:solidFill>
                  <a:schemeClr val="dk1"/>
                </a:solidFill>
              </a:rPr>
              <a:t> </a:t>
            </a:r>
            <a:r>
              <a:rPr lang="en-US" sz="1100" dirty="0" err="1">
                <a:solidFill>
                  <a:schemeClr val="dk1"/>
                </a:solidFill>
              </a:rPr>
              <a:t>xác</a:t>
            </a:r>
            <a:r>
              <a:rPr lang="en-US" sz="1100" dirty="0">
                <a:solidFill>
                  <a:schemeClr val="dk1"/>
                </a:solidFill>
              </a:rPr>
              <a:t> </a:t>
            </a:r>
            <a:r>
              <a:rPr lang="en-US" sz="1100" dirty="0" err="1">
                <a:solidFill>
                  <a:schemeClr val="dk1"/>
                </a:solidFill>
              </a:rPr>
              <a:t>định</a:t>
            </a:r>
            <a:r>
              <a:rPr lang="en-US" sz="1100" dirty="0">
                <a:solidFill>
                  <a:schemeClr val="dk1"/>
                </a:solidFill>
              </a:rPr>
              <a:t> </a:t>
            </a:r>
            <a:r>
              <a:rPr lang="en-US" sz="1100" dirty="0" err="1">
                <a:solidFill>
                  <a:schemeClr val="dk1"/>
                </a:solidFill>
              </a:rPr>
              <a:t>người</a:t>
            </a:r>
            <a:r>
              <a:rPr lang="en-US" sz="1100" dirty="0">
                <a:solidFill>
                  <a:schemeClr val="dk1"/>
                </a:solidFill>
              </a:rPr>
              <a:t> </a:t>
            </a:r>
            <a:r>
              <a:rPr lang="en-US" sz="1100" dirty="0" err="1">
                <a:solidFill>
                  <a:schemeClr val="dk1"/>
                </a:solidFill>
              </a:rPr>
              <a:t>dùng</a:t>
            </a:r>
            <a:r>
              <a:rPr lang="en-US" sz="1100" dirty="0">
                <a:solidFill>
                  <a:schemeClr val="dk1"/>
                </a:solidFill>
              </a:rPr>
              <a:t> </a:t>
            </a:r>
            <a:r>
              <a:rPr lang="en-US" sz="1100" dirty="0" err="1">
                <a:solidFill>
                  <a:schemeClr val="dk1"/>
                </a:solidFill>
              </a:rPr>
              <a:t>thuộc</a:t>
            </a:r>
            <a:r>
              <a:rPr lang="en-US" sz="1100" dirty="0">
                <a:solidFill>
                  <a:schemeClr val="dk1"/>
                </a:solidFill>
              </a:rPr>
              <a:t> </a:t>
            </a:r>
            <a:r>
              <a:rPr lang="en-US" sz="1100" dirty="0" err="1">
                <a:solidFill>
                  <a:schemeClr val="dk1"/>
                </a:solidFill>
              </a:rPr>
              <a:t>đơn</a:t>
            </a:r>
            <a:r>
              <a:rPr lang="en-US" sz="1100" dirty="0">
                <a:solidFill>
                  <a:schemeClr val="dk1"/>
                </a:solidFill>
              </a:rPr>
              <a:t> </a:t>
            </a:r>
            <a:r>
              <a:rPr lang="en-US" sz="1100" dirty="0" err="1">
                <a:solidFill>
                  <a:schemeClr val="dk1"/>
                </a:solidFill>
              </a:rPr>
              <a:t>vị</a:t>
            </a:r>
            <a:r>
              <a:rPr lang="en-US" sz="1100" dirty="0">
                <a:solidFill>
                  <a:schemeClr val="dk1"/>
                </a:solidFill>
              </a:rPr>
              <a:t> </a:t>
            </a:r>
            <a:r>
              <a:rPr lang="en-US" sz="1100" dirty="0" err="1">
                <a:solidFill>
                  <a:schemeClr val="dk1"/>
                </a:solidFill>
              </a:rPr>
              <a:t>nào</a:t>
            </a:r>
            <a:r>
              <a:rPr lang="en-US" sz="1100" dirty="0">
                <a:solidFill>
                  <a:schemeClr val="dk1"/>
                </a:solidFill>
              </a:rPr>
              <a:t>, </a:t>
            </a:r>
            <a:r>
              <a:rPr lang="en-US" sz="1100" dirty="0" err="1">
                <a:solidFill>
                  <a:schemeClr val="dk1"/>
                </a:solidFill>
              </a:rPr>
              <a:t>được</a:t>
            </a:r>
            <a:r>
              <a:rPr lang="en-US" sz="1100" dirty="0">
                <a:solidFill>
                  <a:schemeClr val="dk1"/>
                </a:solidFill>
              </a:rPr>
              <a:t> </a:t>
            </a:r>
            <a:r>
              <a:rPr lang="en-US" sz="1100" dirty="0" err="1">
                <a:solidFill>
                  <a:schemeClr val="dk1"/>
                </a:solidFill>
              </a:rPr>
              <a:t>sử</a:t>
            </a:r>
            <a:r>
              <a:rPr lang="en-US" sz="1100" dirty="0">
                <a:solidFill>
                  <a:schemeClr val="dk1"/>
                </a:solidFill>
              </a:rPr>
              <a:t> </a:t>
            </a:r>
            <a:r>
              <a:rPr lang="en-US" sz="1100" dirty="0" err="1">
                <a:solidFill>
                  <a:schemeClr val="dk1"/>
                </a:solidFill>
              </a:rPr>
              <a:t>dụng</a:t>
            </a:r>
            <a:r>
              <a:rPr lang="en-US" sz="1100" dirty="0">
                <a:solidFill>
                  <a:schemeClr val="dk1"/>
                </a:solidFill>
              </a:rPr>
              <a:t> </a:t>
            </a:r>
            <a:r>
              <a:rPr lang="en-US" sz="1100" dirty="0" err="1">
                <a:solidFill>
                  <a:schemeClr val="dk1"/>
                </a:solidFill>
              </a:rPr>
              <a:t>chức</a:t>
            </a:r>
            <a:r>
              <a:rPr lang="en-US" sz="1100" dirty="0">
                <a:solidFill>
                  <a:schemeClr val="dk1"/>
                </a:solidFill>
              </a:rPr>
              <a:t> </a:t>
            </a:r>
            <a:r>
              <a:rPr lang="en-US" sz="1100" dirty="0" err="1">
                <a:solidFill>
                  <a:schemeClr val="dk1"/>
                </a:solidFill>
              </a:rPr>
              <a:t>năng</a:t>
            </a:r>
            <a:r>
              <a:rPr lang="en-US" sz="1100" dirty="0">
                <a:solidFill>
                  <a:schemeClr val="dk1"/>
                </a:solidFill>
              </a:rPr>
              <a:t> </a:t>
            </a:r>
            <a:r>
              <a:rPr lang="en-US" sz="1100" dirty="0" err="1">
                <a:solidFill>
                  <a:schemeClr val="dk1"/>
                </a:solidFill>
              </a:rPr>
              <a:t>gì</a:t>
            </a:r>
            <a:r>
              <a:rPr lang="en-US" sz="1100" dirty="0">
                <a:solidFill>
                  <a:schemeClr val="dk1"/>
                </a:solidFill>
              </a:rPr>
              <a:t> </a:t>
            </a:r>
            <a:r>
              <a:rPr lang="en-US" sz="1100" dirty="0" err="1">
                <a:solidFill>
                  <a:schemeClr val="dk1"/>
                </a:solidFill>
              </a:rPr>
              <a:t>và</a:t>
            </a:r>
            <a:r>
              <a:rPr lang="en-US" sz="1100" dirty="0">
                <a:solidFill>
                  <a:schemeClr val="dk1"/>
                </a:solidFill>
              </a:rPr>
              <a:t> </a:t>
            </a:r>
            <a:r>
              <a:rPr lang="en-US" sz="1100" dirty="0" err="1">
                <a:solidFill>
                  <a:schemeClr val="dk1"/>
                </a:solidFill>
              </a:rPr>
              <a:t>được</a:t>
            </a:r>
            <a:r>
              <a:rPr lang="en-US" sz="1100" dirty="0">
                <a:solidFill>
                  <a:schemeClr val="dk1"/>
                </a:solidFill>
              </a:rPr>
              <a:t> </a:t>
            </a:r>
            <a:r>
              <a:rPr lang="en-US" sz="1100" dirty="0" err="1">
                <a:solidFill>
                  <a:schemeClr val="dk1"/>
                </a:solidFill>
              </a:rPr>
              <a:t>truy</a:t>
            </a:r>
            <a:r>
              <a:rPr lang="en-US" sz="1100" dirty="0">
                <a:solidFill>
                  <a:schemeClr val="dk1"/>
                </a:solidFill>
              </a:rPr>
              <a:t> </a:t>
            </a:r>
            <a:r>
              <a:rPr lang="en-US" sz="1100" dirty="0" err="1">
                <a:solidFill>
                  <a:schemeClr val="dk1"/>
                </a:solidFill>
              </a:rPr>
              <a:t>cập</a:t>
            </a:r>
            <a:r>
              <a:rPr lang="en-US" sz="1100" dirty="0">
                <a:solidFill>
                  <a:schemeClr val="dk1"/>
                </a:solidFill>
              </a:rPr>
              <a:t> </a:t>
            </a:r>
            <a:r>
              <a:rPr lang="en-US" sz="1100" dirty="0" err="1">
                <a:solidFill>
                  <a:schemeClr val="dk1"/>
                </a:solidFill>
              </a:rPr>
              <a:t>dữ</a:t>
            </a:r>
            <a:r>
              <a:rPr lang="en-US" sz="1100" dirty="0">
                <a:solidFill>
                  <a:schemeClr val="dk1"/>
                </a:solidFill>
              </a:rPr>
              <a:t> </a:t>
            </a:r>
            <a:r>
              <a:rPr lang="en-US" sz="1100" dirty="0" err="1">
                <a:solidFill>
                  <a:schemeClr val="dk1"/>
                </a:solidFill>
              </a:rPr>
              <a:t>liệu</a:t>
            </a:r>
            <a:r>
              <a:rPr lang="en-US" sz="1100" dirty="0">
                <a:solidFill>
                  <a:schemeClr val="dk1"/>
                </a:solidFill>
              </a:rPr>
              <a:t> </a:t>
            </a:r>
            <a:r>
              <a:rPr lang="en-US" sz="1100" dirty="0" err="1">
                <a:solidFill>
                  <a:schemeClr val="dk1"/>
                </a:solidFill>
              </a:rPr>
              <a:t>từ</a:t>
            </a:r>
            <a:r>
              <a:rPr lang="en-US" sz="1100" dirty="0">
                <a:solidFill>
                  <a:schemeClr val="dk1"/>
                </a:solidFill>
              </a:rPr>
              <a:t> </a:t>
            </a:r>
            <a:r>
              <a:rPr lang="en-US" sz="1100" dirty="0" err="1">
                <a:solidFill>
                  <a:schemeClr val="dk1"/>
                </a:solidFill>
              </a:rPr>
              <a:t>những</a:t>
            </a:r>
            <a:r>
              <a:rPr lang="en-US" sz="1100" dirty="0">
                <a:solidFill>
                  <a:schemeClr val="dk1"/>
                </a:solidFill>
              </a:rPr>
              <a:t> camera </a:t>
            </a:r>
            <a:r>
              <a:rPr lang="en-US" sz="1100" dirty="0" err="1">
                <a:solidFill>
                  <a:schemeClr val="dk1"/>
                </a:solidFill>
              </a:rPr>
              <a:t>nào</a:t>
            </a:r>
            <a:r>
              <a:rPr lang="en-US" sz="1100" dirty="0">
                <a:solidFill>
                  <a:schemeClr val="dk1"/>
                </a:solidFill>
              </a:rPr>
              <a:t>.</a:t>
            </a:r>
            <a:endParaRPr sz="1100" dirty="0">
              <a:solidFill>
                <a:schemeClr val="dk1"/>
              </a:solidFill>
            </a:endParaRPr>
          </a:p>
          <a:p>
            <a:pPr marL="0" marR="0" lvl="0" indent="0" algn="l" rtl="0">
              <a:spcBef>
                <a:spcPts val="400"/>
              </a:spcBef>
              <a:spcAft>
                <a:spcPts val="0"/>
              </a:spcAft>
              <a:buNone/>
            </a:pPr>
            <a:endParaRPr sz="1300" b="1" dirty="0">
              <a:solidFill>
                <a:srgbClr val="1E3A8A"/>
              </a:solidFill>
              <a:latin typeface="Quattrocento Sans"/>
              <a:ea typeface="Quattrocento Sans"/>
              <a:cs typeface="Quattrocento Sans"/>
              <a:sym typeface="Quattrocento Sans"/>
            </a:endParaRPr>
          </a:p>
        </p:txBody>
      </p:sp>
      <p:sp>
        <p:nvSpPr>
          <p:cNvPr id="701" name="Google Shape;701;p19"/>
          <p:cNvSpPr txBox="1"/>
          <p:nvPr/>
        </p:nvSpPr>
        <p:spPr>
          <a:xfrm>
            <a:off x="584202" y="4200173"/>
            <a:ext cx="3240300" cy="339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828">
                <a:solidFill>
                  <a:srgbClr val="6B7280"/>
                </a:solidFill>
                <a:latin typeface="Quattrocento Sans"/>
                <a:ea typeface="Quattrocento Sans"/>
                <a:cs typeface="Quattrocento Sans"/>
                <a:sym typeface="Quattrocento Sans"/>
              </a:rPr>
              <a:t>Danh sách người dùng: cấp quản lý, nhóm quyền, trạng thái</a:t>
            </a:r>
            <a:endParaRPr sz="828">
              <a:solidFill>
                <a:srgbClr val="6B7280"/>
              </a:solidFill>
              <a:latin typeface="Quattrocento Sans"/>
              <a:ea typeface="Quattrocento Sans"/>
              <a:cs typeface="Quattrocento Sans"/>
              <a:sym typeface="Quattrocento Sans"/>
            </a:endParaRPr>
          </a:p>
        </p:txBody>
      </p:sp>
      <p:sp>
        <p:nvSpPr>
          <p:cNvPr id="702" name="Google Shape;702;p19"/>
          <p:cNvSpPr txBox="1"/>
          <p:nvPr/>
        </p:nvSpPr>
        <p:spPr>
          <a:xfrm>
            <a:off x="4310705" y="4215904"/>
            <a:ext cx="3240300" cy="339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828">
                <a:solidFill>
                  <a:srgbClr val="6B7280"/>
                </a:solidFill>
                <a:latin typeface="Quattrocento Sans"/>
                <a:ea typeface="Quattrocento Sans"/>
                <a:cs typeface="Quattrocento Sans"/>
                <a:sym typeface="Quattrocento Sans"/>
              </a:rPr>
              <a:t>Thêm người dùng: đơn vị, nhóm quyền, nhóm camera</a:t>
            </a:r>
            <a:endParaRPr sz="828">
              <a:solidFill>
                <a:srgbClr val="6B7280"/>
              </a:solidFill>
              <a:latin typeface="Quattrocento Sans"/>
              <a:ea typeface="Quattrocento Sans"/>
              <a:cs typeface="Quattrocento Sans"/>
              <a:sym typeface="Quattrocento Sans"/>
            </a:endParaRPr>
          </a:p>
        </p:txBody>
      </p:sp>
      <p:sp>
        <p:nvSpPr>
          <p:cNvPr id="703" name="Google Shape;703;p19"/>
          <p:cNvSpPr txBox="1"/>
          <p:nvPr/>
        </p:nvSpPr>
        <p:spPr>
          <a:xfrm>
            <a:off x="7877466" y="4200162"/>
            <a:ext cx="3240300" cy="339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828">
                <a:solidFill>
                  <a:srgbClr val="6B7280"/>
                </a:solidFill>
                <a:latin typeface="Quattrocento Sans"/>
                <a:ea typeface="Quattrocento Sans"/>
                <a:cs typeface="Quattrocento Sans"/>
                <a:sym typeface="Quattrocento Sans"/>
              </a:rPr>
              <a:t>Chi tiết người dùng</a:t>
            </a:r>
            <a:endParaRPr sz="828">
              <a:solidFill>
                <a:srgbClr val="6B7280"/>
              </a:solidFill>
              <a:latin typeface="Quattrocento Sans"/>
              <a:ea typeface="Quattrocento Sans"/>
              <a:cs typeface="Quattrocento Sans"/>
              <a:sym typeface="Quattrocento Sans"/>
            </a:endParaRPr>
          </a:p>
        </p:txBody>
      </p:sp>
      <p:sp>
        <p:nvSpPr>
          <p:cNvPr id="704" name="Google Shape;704;p19"/>
          <p:cNvSpPr/>
          <p:nvPr/>
        </p:nvSpPr>
        <p:spPr>
          <a:xfrm>
            <a:off x="196025" y="4685225"/>
            <a:ext cx="2850000" cy="146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5" name="Google Shape;705;p19"/>
          <p:cNvSpPr/>
          <p:nvPr/>
        </p:nvSpPr>
        <p:spPr>
          <a:xfrm>
            <a:off x="417225" y="48294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706" name="Google Shape;706;p19"/>
          <p:cNvSpPr txBox="1"/>
          <p:nvPr/>
        </p:nvSpPr>
        <p:spPr>
          <a:xfrm>
            <a:off x="885875" y="48958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Khai báo người dùng</a:t>
            </a:r>
            <a:endParaRPr sz="1200" b="1">
              <a:solidFill>
                <a:srgbClr val="1E3A8A"/>
              </a:solidFill>
            </a:endParaRPr>
          </a:p>
        </p:txBody>
      </p:sp>
      <p:sp>
        <p:nvSpPr>
          <p:cNvPr id="707" name="Google Shape;707;p19"/>
          <p:cNvSpPr txBox="1"/>
          <p:nvPr/>
        </p:nvSpPr>
        <p:spPr>
          <a:xfrm>
            <a:off x="446225" y="5303975"/>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Thiết lập thông tin tài khoản: mã người dùng, họ tên, chức danh, email và các thông tin theo biểu mẫu.</a:t>
            </a:r>
            <a:r>
              <a:rPr lang="en-US" sz="1050">
                <a:solidFill>
                  <a:srgbClr val="1F2937"/>
                </a:solidFill>
                <a:latin typeface="Quattrocento Sans"/>
                <a:ea typeface="Quattrocento Sans"/>
                <a:cs typeface="Quattrocento Sans"/>
                <a:sym typeface="Quattrocento Sans"/>
              </a:rPr>
              <a:t> </a:t>
            </a:r>
            <a:endParaRPr/>
          </a:p>
        </p:txBody>
      </p:sp>
      <p:sp>
        <p:nvSpPr>
          <p:cNvPr id="708" name="Google Shape;708;p19"/>
          <p:cNvSpPr/>
          <p:nvPr/>
        </p:nvSpPr>
        <p:spPr>
          <a:xfrm>
            <a:off x="3352500" y="4855938"/>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709" name="Google Shape;709;p19"/>
          <p:cNvSpPr txBox="1"/>
          <p:nvPr/>
        </p:nvSpPr>
        <p:spPr>
          <a:xfrm>
            <a:off x="3822150" y="49343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Gán cấp đơn vị</a:t>
            </a:r>
            <a:endParaRPr sz="1200" b="1">
              <a:solidFill>
                <a:srgbClr val="1E3A8A"/>
              </a:solidFill>
            </a:endParaRPr>
          </a:p>
        </p:txBody>
      </p:sp>
      <p:sp>
        <p:nvSpPr>
          <p:cNvPr id="710" name="Google Shape;710;p19"/>
          <p:cNvSpPr txBox="1"/>
          <p:nvPr/>
        </p:nvSpPr>
        <p:spPr>
          <a:xfrm>
            <a:off x="3453100" y="5303975"/>
            <a:ext cx="24375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Xác định đơn vị mà người dùng trực thuộc trong cơ cấu tổ chức của EMS. </a:t>
            </a:r>
            <a:endParaRPr sz="1050">
              <a:solidFill>
                <a:srgbClr val="1F2937"/>
              </a:solidFill>
            </a:endParaRPr>
          </a:p>
        </p:txBody>
      </p:sp>
      <p:sp>
        <p:nvSpPr>
          <p:cNvPr id="711" name="Google Shape;711;p19"/>
          <p:cNvSpPr/>
          <p:nvPr/>
        </p:nvSpPr>
        <p:spPr>
          <a:xfrm>
            <a:off x="6401375" y="48940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712" name="Google Shape;712;p19"/>
          <p:cNvSpPr txBox="1"/>
          <p:nvPr/>
        </p:nvSpPr>
        <p:spPr>
          <a:xfrm>
            <a:off x="6826800" y="49262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Gán nhóm quyền</a:t>
            </a:r>
            <a:endParaRPr/>
          </a:p>
        </p:txBody>
      </p:sp>
      <p:sp>
        <p:nvSpPr>
          <p:cNvPr id="713" name="Google Shape;713;p19"/>
          <p:cNvSpPr txBox="1"/>
          <p:nvPr/>
        </p:nvSpPr>
        <p:spPr>
          <a:xfrm>
            <a:off x="6426775" y="5348825"/>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Xác định các chức năng người dùng được phép sử dụng theo nhóm quyền được gán.</a:t>
            </a:r>
            <a:r>
              <a:rPr lang="en-US" sz="1050">
                <a:solidFill>
                  <a:srgbClr val="1F2937"/>
                </a:solidFill>
                <a:latin typeface="Quattrocento Sans"/>
                <a:ea typeface="Quattrocento Sans"/>
                <a:cs typeface="Quattrocento Sans"/>
                <a:sym typeface="Quattrocento Sans"/>
              </a:rPr>
              <a:t> </a:t>
            </a:r>
            <a:endParaRPr sz="1050">
              <a:solidFill>
                <a:srgbClr val="1F2937"/>
              </a:solidFill>
              <a:latin typeface="Quattrocento Sans"/>
              <a:ea typeface="Quattrocento Sans"/>
              <a:cs typeface="Quattrocento Sans"/>
              <a:sym typeface="Quattrocento Sans"/>
            </a:endParaRPr>
          </a:p>
        </p:txBody>
      </p:sp>
      <p:sp>
        <p:nvSpPr>
          <p:cNvPr id="714" name="Google Shape;714;p19"/>
          <p:cNvSpPr/>
          <p:nvPr/>
        </p:nvSpPr>
        <p:spPr>
          <a:xfrm>
            <a:off x="9352225" y="4861625"/>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715" name="Google Shape;715;p19"/>
          <p:cNvSpPr txBox="1"/>
          <p:nvPr/>
        </p:nvSpPr>
        <p:spPr>
          <a:xfrm>
            <a:off x="9819825" y="48958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Gán nhóm camera/ Camera </a:t>
            </a:r>
            <a:endParaRPr/>
          </a:p>
        </p:txBody>
      </p:sp>
      <p:sp>
        <p:nvSpPr>
          <p:cNvPr id="716" name="Google Shape;716;p19"/>
          <p:cNvSpPr txBox="1"/>
          <p:nvPr/>
        </p:nvSpPr>
        <p:spPr>
          <a:xfrm>
            <a:off x="9312550" y="5368325"/>
            <a:ext cx="2634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Xác định nhóm camera người dùng được phép truy cập để xem và khai thác sự kiện trong phạm vi được cấp</a:t>
            </a:r>
            <a:r>
              <a:rPr lang="en-US" sz="1050">
                <a:solidFill>
                  <a:srgbClr val="1F2937"/>
                </a:solidFill>
                <a:latin typeface="Quattrocento Sans"/>
                <a:ea typeface="Quattrocento Sans"/>
                <a:cs typeface="Quattrocento Sans"/>
                <a:sym typeface="Quattrocento Sans"/>
              </a:rPr>
              <a:t>. </a:t>
            </a:r>
            <a:endParaRPr sz="1050">
              <a:solidFill>
                <a:srgbClr val="1F2937"/>
              </a:solidFill>
              <a:latin typeface="Quattrocento Sans"/>
              <a:ea typeface="Quattrocento Sans"/>
              <a:cs typeface="Quattrocento Sans"/>
              <a:sym typeface="Quattrocento Sans"/>
            </a:endParaRPr>
          </a:p>
        </p:txBody>
      </p:sp>
      <p:pic>
        <p:nvPicPr>
          <p:cNvPr id="717" name="Google Shape;717;p19"/>
          <p:cNvPicPr preferRelativeResize="0"/>
          <p:nvPr/>
        </p:nvPicPr>
        <p:blipFill>
          <a:blip r:embed="rId3">
            <a:alphaModFix/>
          </a:blip>
          <a:stretch>
            <a:fillRect/>
          </a:stretch>
        </p:blipFill>
        <p:spPr>
          <a:xfrm>
            <a:off x="656749" y="2369157"/>
            <a:ext cx="3648868" cy="1729919"/>
          </a:xfrm>
          <a:prstGeom prst="rect">
            <a:avLst/>
          </a:prstGeom>
          <a:noFill/>
          <a:ln>
            <a:noFill/>
          </a:ln>
        </p:spPr>
      </p:pic>
      <p:pic>
        <p:nvPicPr>
          <p:cNvPr id="718" name="Google Shape;718;p19"/>
          <p:cNvPicPr preferRelativeResize="0"/>
          <p:nvPr/>
        </p:nvPicPr>
        <p:blipFill>
          <a:blip r:embed="rId4">
            <a:alphaModFix/>
          </a:blip>
          <a:stretch>
            <a:fillRect/>
          </a:stretch>
        </p:blipFill>
        <p:spPr>
          <a:xfrm>
            <a:off x="4330709" y="2349007"/>
            <a:ext cx="3750698" cy="1770231"/>
          </a:xfrm>
          <a:prstGeom prst="rect">
            <a:avLst/>
          </a:prstGeom>
          <a:noFill/>
          <a:ln>
            <a:noFill/>
          </a:ln>
        </p:spPr>
      </p:pic>
      <p:pic>
        <p:nvPicPr>
          <p:cNvPr id="719" name="Google Shape;719;p19"/>
          <p:cNvPicPr preferRelativeResize="0"/>
          <p:nvPr/>
        </p:nvPicPr>
        <p:blipFill>
          <a:blip r:embed="rId5">
            <a:alphaModFix/>
          </a:blip>
          <a:stretch>
            <a:fillRect/>
          </a:stretch>
        </p:blipFill>
        <p:spPr>
          <a:xfrm>
            <a:off x="7831697" y="2345486"/>
            <a:ext cx="3750703" cy="17772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4"/>
        <p:cNvGrpSpPr/>
        <p:nvPr/>
      </p:nvGrpSpPr>
      <p:grpSpPr>
        <a:xfrm>
          <a:off x="0" y="0"/>
          <a:ext cx="0" cy="0"/>
          <a:chOff x="0" y="0"/>
          <a:chExt cx="0" cy="0"/>
        </a:xfrm>
      </p:grpSpPr>
      <p:sp>
        <p:nvSpPr>
          <p:cNvPr id="725" name="Google Shape;725;p20"/>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5 · QUẢN LÝ NHÓM QUYỀN</a:t>
            </a:r>
            <a:endParaRPr/>
          </a:p>
        </p:txBody>
      </p:sp>
      <p:sp>
        <p:nvSpPr>
          <p:cNvPr id="726" name="Google Shape;726;p20"/>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Quản lý nhóm quyền </a:t>
            </a:r>
            <a:endParaRPr/>
          </a:p>
        </p:txBody>
      </p:sp>
      <p:sp>
        <p:nvSpPr>
          <p:cNvPr id="727" name="Google Shape;727;p20"/>
          <p:cNvSpPr/>
          <p:nvPr/>
        </p:nvSpPr>
        <p:spPr>
          <a:xfrm>
            <a:off x="604325" y="1200725"/>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8" name="Google Shape;728;p20"/>
          <p:cNvSpPr txBox="1"/>
          <p:nvPr/>
        </p:nvSpPr>
        <p:spPr>
          <a:xfrm>
            <a:off x="10312400" y="6502400"/>
            <a:ext cx="12700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endParaRPr/>
          </a:p>
        </p:txBody>
      </p:sp>
      <p:sp>
        <p:nvSpPr>
          <p:cNvPr id="729" name="Google Shape;729;p20"/>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730" name="Google Shape;730;p20"/>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731" name="Google Shape;731;p20"/>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732" name="Google Shape;732;p20"/>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733" name="Google Shape;733;p20"/>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734" name="Google Shape;734;p20"/>
          <p:cNvSpPr/>
          <p:nvPr/>
        </p:nvSpPr>
        <p:spPr>
          <a:xfrm>
            <a:off x="101092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5</a:t>
            </a:r>
            <a:endParaRPr/>
          </a:p>
        </p:txBody>
      </p:sp>
      <p:sp>
        <p:nvSpPr>
          <p:cNvPr id="735" name="Google Shape;735;p20"/>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736" name="Google Shape;736;p20"/>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737" name="Google Shape;737;p20"/>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738" name="Google Shape;738;p20"/>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739" name="Google Shape;739;p20"/>
          <p:cNvSpPr/>
          <p:nvPr/>
        </p:nvSpPr>
        <p:spPr>
          <a:xfrm>
            <a:off x="609600" y="1398588"/>
            <a:ext cx="10972800" cy="2793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nhóm quyền</a:t>
            </a:r>
            <a:endParaRPr/>
          </a:p>
        </p:txBody>
      </p:sp>
      <p:sp>
        <p:nvSpPr>
          <p:cNvPr id="740" name="Google Shape;740;p20"/>
          <p:cNvSpPr txBox="1"/>
          <p:nvPr/>
        </p:nvSpPr>
        <p:spPr>
          <a:xfrm>
            <a:off x="609600" y="1641250"/>
            <a:ext cx="10972800" cy="369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dirty="0" err="1">
                <a:solidFill>
                  <a:srgbClr val="1E3A8A"/>
                </a:solidFill>
              </a:rPr>
              <a:t>Ứng</a:t>
            </a:r>
            <a:r>
              <a:rPr lang="en-US" sz="1300" b="1" dirty="0">
                <a:solidFill>
                  <a:srgbClr val="1E3A8A"/>
                </a:solidFill>
              </a:rPr>
              <a:t> </a:t>
            </a:r>
            <a:r>
              <a:rPr lang="en-US" sz="1300" b="1" dirty="0" err="1">
                <a:solidFill>
                  <a:srgbClr val="1E3A8A"/>
                </a:solidFill>
              </a:rPr>
              <a:t>dụng</a:t>
            </a:r>
            <a:r>
              <a:rPr lang="en-US" sz="1300" b="1" dirty="0">
                <a:solidFill>
                  <a:srgbClr val="1E3A8A"/>
                </a:solidFill>
              </a:rPr>
              <a:t> </a:t>
            </a:r>
            <a:r>
              <a:rPr lang="en-US" sz="1300" b="1" dirty="0" err="1">
                <a:solidFill>
                  <a:srgbClr val="1E3A8A"/>
                </a:solidFill>
              </a:rPr>
              <a:t>thực</a:t>
            </a:r>
            <a:r>
              <a:rPr lang="en-US" sz="1300" b="1" dirty="0">
                <a:solidFill>
                  <a:srgbClr val="1E3A8A"/>
                </a:solidFill>
              </a:rPr>
              <a:t> </a:t>
            </a:r>
            <a:r>
              <a:rPr lang="en-US" sz="1300" b="1" dirty="0" err="1">
                <a:solidFill>
                  <a:srgbClr val="1E3A8A"/>
                </a:solidFill>
              </a:rPr>
              <a:t>tế</a:t>
            </a:r>
            <a:r>
              <a:rPr lang="en-US" sz="1300" b="1" dirty="0">
                <a:solidFill>
                  <a:srgbClr val="1E3A8A"/>
                </a:solidFill>
              </a:rPr>
              <a:t>:</a:t>
            </a:r>
            <a:r>
              <a:rPr lang="en-US" sz="1300" b="1" dirty="0">
                <a:solidFill>
                  <a:schemeClr val="dk1"/>
                </a:solidFill>
              </a:rPr>
              <a:t> </a:t>
            </a:r>
            <a:r>
              <a:rPr lang="en-US" sz="1100" dirty="0" err="1">
                <a:solidFill>
                  <a:schemeClr val="dk1"/>
                </a:solidFill>
              </a:rPr>
              <a:t>Thiết</a:t>
            </a:r>
            <a:r>
              <a:rPr lang="en-US" sz="1100" dirty="0">
                <a:solidFill>
                  <a:schemeClr val="dk1"/>
                </a:solidFill>
              </a:rPr>
              <a:t> </a:t>
            </a:r>
            <a:r>
              <a:rPr lang="en-US" sz="1100" dirty="0" err="1">
                <a:solidFill>
                  <a:schemeClr val="dk1"/>
                </a:solidFill>
              </a:rPr>
              <a:t>lập</a:t>
            </a:r>
            <a:r>
              <a:rPr lang="en-US" sz="1100" dirty="0">
                <a:solidFill>
                  <a:schemeClr val="dk1"/>
                </a:solidFill>
              </a:rPr>
              <a:t> </a:t>
            </a:r>
            <a:r>
              <a:rPr lang="en-US" sz="1100" dirty="0" err="1">
                <a:solidFill>
                  <a:schemeClr val="dk1"/>
                </a:solidFill>
              </a:rPr>
              <a:t>quyền</a:t>
            </a:r>
            <a:r>
              <a:rPr lang="en-US" sz="1100" dirty="0">
                <a:solidFill>
                  <a:schemeClr val="dk1"/>
                </a:solidFill>
              </a:rPr>
              <a:t> </a:t>
            </a:r>
            <a:r>
              <a:rPr lang="en-US" sz="1100" dirty="0" err="1">
                <a:solidFill>
                  <a:schemeClr val="dk1"/>
                </a:solidFill>
              </a:rPr>
              <a:t>sử</a:t>
            </a:r>
            <a:r>
              <a:rPr lang="en-US" sz="1100" dirty="0">
                <a:solidFill>
                  <a:schemeClr val="dk1"/>
                </a:solidFill>
              </a:rPr>
              <a:t> </a:t>
            </a:r>
            <a:r>
              <a:rPr lang="en-US" sz="1100" dirty="0" err="1">
                <a:solidFill>
                  <a:schemeClr val="dk1"/>
                </a:solidFill>
              </a:rPr>
              <a:t>dụng</a:t>
            </a:r>
            <a:r>
              <a:rPr lang="en-US" sz="1100" dirty="0">
                <a:solidFill>
                  <a:schemeClr val="dk1"/>
                </a:solidFill>
              </a:rPr>
              <a:t> </a:t>
            </a:r>
            <a:r>
              <a:rPr lang="en-US" sz="1100" dirty="0" err="1">
                <a:solidFill>
                  <a:schemeClr val="dk1"/>
                </a:solidFill>
              </a:rPr>
              <a:t>các</a:t>
            </a:r>
            <a:r>
              <a:rPr lang="en-US" sz="1100" dirty="0">
                <a:solidFill>
                  <a:schemeClr val="dk1"/>
                </a:solidFill>
              </a:rPr>
              <a:t> </a:t>
            </a:r>
            <a:r>
              <a:rPr lang="en-US" sz="1100" dirty="0" err="1">
                <a:solidFill>
                  <a:schemeClr val="dk1"/>
                </a:solidFill>
              </a:rPr>
              <a:t>chức</a:t>
            </a:r>
            <a:r>
              <a:rPr lang="en-US" sz="1100" dirty="0">
                <a:solidFill>
                  <a:schemeClr val="dk1"/>
                </a:solidFill>
              </a:rPr>
              <a:t> </a:t>
            </a:r>
            <a:r>
              <a:rPr lang="en-US" sz="1100" dirty="0" err="1">
                <a:solidFill>
                  <a:schemeClr val="dk1"/>
                </a:solidFill>
              </a:rPr>
              <a:t>năng</a:t>
            </a:r>
            <a:r>
              <a:rPr lang="en-US" sz="1100" dirty="0">
                <a:solidFill>
                  <a:schemeClr val="dk1"/>
                </a:solidFill>
              </a:rPr>
              <a:t> </a:t>
            </a:r>
            <a:r>
              <a:rPr lang="en-US" sz="1100" dirty="0" err="1">
                <a:solidFill>
                  <a:schemeClr val="dk1"/>
                </a:solidFill>
              </a:rPr>
              <a:t>trên</a:t>
            </a:r>
            <a:r>
              <a:rPr lang="en-US" sz="1100" dirty="0">
                <a:solidFill>
                  <a:schemeClr val="dk1"/>
                </a:solidFill>
              </a:rPr>
              <a:t> EMS </a:t>
            </a:r>
            <a:r>
              <a:rPr lang="en-US" sz="1100" dirty="0" err="1">
                <a:solidFill>
                  <a:schemeClr val="dk1"/>
                </a:solidFill>
              </a:rPr>
              <a:t>theo</a:t>
            </a:r>
            <a:r>
              <a:rPr lang="en-US" sz="1100" dirty="0">
                <a:solidFill>
                  <a:schemeClr val="dk1"/>
                </a:solidFill>
              </a:rPr>
              <a:t> </a:t>
            </a:r>
            <a:r>
              <a:rPr lang="en-US" sz="1100" dirty="0" err="1">
                <a:solidFill>
                  <a:schemeClr val="dk1"/>
                </a:solidFill>
              </a:rPr>
              <a:t>từng</a:t>
            </a:r>
            <a:r>
              <a:rPr lang="en-US" sz="1100" dirty="0">
                <a:solidFill>
                  <a:schemeClr val="dk1"/>
                </a:solidFill>
              </a:rPr>
              <a:t> </a:t>
            </a:r>
            <a:r>
              <a:rPr lang="en-US" sz="1100" dirty="0" err="1">
                <a:solidFill>
                  <a:schemeClr val="dk1"/>
                </a:solidFill>
              </a:rPr>
              <a:t>nhóm</a:t>
            </a:r>
            <a:r>
              <a:rPr lang="en-US" sz="1100" dirty="0">
                <a:solidFill>
                  <a:schemeClr val="dk1"/>
                </a:solidFill>
              </a:rPr>
              <a:t> </a:t>
            </a:r>
            <a:r>
              <a:rPr lang="en-US" sz="1100" dirty="0" err="1">
                <a:solidFill>
                  <a:schemeClr val="dk1"/>
                </a:solidFill>
              </a:rPr>
              <a:t>nghiệp</a:t>
            </a:r>
            <a:r>
              <a:rPr lang="en-US" sz="1100" dirty="0">
                <a:solidFill>
                  <a:schemeClr val="dk1"/>
                </a:solidFill>
              </a:rPr>
              <a:t> </a:t>
            </a:r>
            <a:r>
              <a:rPr lang="en-US" sz="1100" dirty="0" err="1">
                <a:solidFill>
                  <a:schemeClr val="dk1"/>
                </a:solidFill>
              </a:rPr>
              <a:t>vụ</a:t>
            </a:r>
            <a:r>
              <a:rPr lang="en-US" sz="1100" dirty="0">
                <a:solidFill>
                  <a:schemeClr val="dk1"/>
                </a:solidFill>
              </a:rPr>
              <a:t> </a:t>
            </a:r>
            <a:r>
              <a:rPr lang="en-US" sz="1100" dirty="0" err="1">
                <a:solidFill>
                  <a:schemeClr val="dk1"/>
                </a:solidFill>
              </a:rPr>
              <a:t>hoặc</a:t>
            </a:r>
            <a:r>
              <a:rPr lang="en-US" sz="1100" dirty="0">
                <a:solidFill>
                  <a:schemeClr val="dk1"/>
                </a:solidFill>
              </a:rPr>
              <a:t> </a:t>
            </a:r>
            <a:r>
              <a:rPr lang="en-US" sz="1100" dirty="0" err="1">
                <a:solidFill>
                  <a:schemeClr val="dk1"/>
                </a:solidFill>
              </a:rPr>
              <a:t>tùy</a:t>
            </a:r>
            <a:r>
              <a:rPr lang="en-US" sz="1100" dirty="0">
                <a:solidFill>
                  <a:schemeClr val="dk1"/>
                </a:solidFill>
              </a:rPr>
              <a:t> </a:t>
            </a:r>
            <a:r>
              <a:rPr lang="en-US" sz="1100" dirty="0" err="1">
                <a:solidFill>
                  <a:schemeClr val="dk1"/>
                </a:solidFill>
              </a:rPr>
              <a:t>chỉnh</a:t>
            </a:r>
            <a:r>
              <a:rPr lang="en-US" sz="1100" dirty="0">
                <a:solidFill>
                  <a:schemeClr val="dk1"/>
                </a:solidFill>
              </a:rPr>
              <a:t> </a:t>
            </a:r>
            <a:r>
              <a:rPr lang="en-US" sz="1100" dirty="0" err="1">
                <a:solidFill>
                  <a:schemeClr val="dk1"/>
                </a:solidFill>
              </a:rPr>
              <a:t>riêng</a:t>
            </a:r>
            <a:r>
              <a:rPr lang="en-US" sz="1100" dirty="0">
                <a:solidFill>
                  <a:schemeClr val="dk1"/>
                </a:solidFill>
              </a:rPr>
              <a:t> </a:t>
            </a:r>
            <a:r>
              <a:rPr lang="en-US" sz="1100" dirty="0" err="1">
                <a:solidFill>
                  <a:schemeClr val="dk1"/>
                </a:solidFill>
              </a:rPr>
              <a:t>cho</a:t>
            </a:r>
            <a:r>
              <a:rPr lang="en-US" sz="1100" dirty="0">
                <a:solidFill>
                  <a:schemeClr val="dk1"/>
                </a:solidFill>
              </a:rPr>
              <a:t> </a:t>
            </a:r>
            <a:r>
              <a:rPr lang="en-US" sz="1100" dirty="0" err="1">
                <a:solidFill>
                  <a:schemeClr val="dk1"/>
                </a:solidFill>
              </a:rPr>
              <a:t>từng</a:t>
            </a:r>
            <a:r>
              <a:rPr lang="en-US" sz="1100" dirty="0">
                <a:solidFill>
                  <a:schemeClr val="dk1"/>
                </a:solidFill>
              </a:rPr>
              <a:t> </a:t>
            </a:r>
            <a:r>
              <a:rPr lang="en-US" sz="1100" dirty="0" err="1">
                <a:solidFill>
                  <a:schemeClr val="dk1"/>
                </a:solidFill>
              </a:rPr>
              <a:t>người</a:t>
            </a:r>
            <a:r>
              <a:rPr lang="en-US" sz="1100" dirty="0">
                <a:solidFill>
                  <a:schemeClr val="dk1"/>
                </a:solidFill>
              </a:rPr>
              <a:t> </a:t>
            </a:r>
            <a:r>
              <a:rPr lang="en-US" sz="1100" dirty="0" err="1">
                <a:solidFill>
                  <a:schemeClr val="dk1"/>
                </a:solidFill>
              </a:rPr>
              <a:t>dùng</a:t>
            </a:r>
            <a:r>
              <a:rPr lang="en-US" sz="1100" dirty="0">
                <a:solidFill>
                  <a:schemeClr val="dk1"/>
                </a:solidFill>
              </a:rPr>
              <a:t>, </a:t>
            </a:r>
            <a:r>
              <a:rPr lang="en-US" sz="1100" dirty="0" err="1">
                <a:solidFill>
                  <a:schemeClr val="dk1"/>
                </a:solidFill>
              </a:rPr>
              <a:t>đáp</a:t>
            </a:r>
            <a:r>
              <a:rPr lang="en-US" sz="1100" dirty="0">
                <a:solidFill>
                  <a:schemeClr val="dk1"/>
                </a:solidFill>
              </a:rPr>
              <a:t> </a:t>
            </a:r>
            <a:r>
              <a:rPr lang="en-US" sz="1100" dirty="0" err="1">
                <a:solidFill>
                  <a:schemeClr val="dk1"/>
                </a:solidFill>
              </a:rPr>
              <a:t>ứng</a:t>
            </a:r>
            <a:r>
              <a:rPr lang="en-US" sz="1100" dirty="0">
                <a:solidFill>
                  <a:schemeClr val="dk1"/>
                </a:solidFill>
              </a:rPr>
              <a:t> </a:t>
            </a:r>
            <a:r>
              <a:rPr lang="en-US" sz="1100" dirty="0" err="1">
                <a:solidFill>
                  <a:schemeClr val="dk1"/>
                </a:solidFill>
              </a:rPr>
              <a:t>yêu</a:t>
            </a:r>
            <a:r>
              <a:rPr lang="en-US" sz="1100" dirty="0">
                <a:solidFill>
                  <a:schemeClr val="dk1"/>
                </a:solidFill>
              </a:rPr>
              <a:t> </a:t>
            </a:r>
            <a:r>
              <a:rPr lang="en-US" sz="1100" dirty="0" err="1">
                <a:solidFill>
                  <a:schemeClr val="dk1"/>
                </a:solidFill>
              </a:rPr>
              <a:t>cầu</a:t>
            </a:r>
            <a:r>
              <a:rPr lang="en-US" sz="1100" dirty="0">
                <a:solidFill>
                  <a:schemeClr val="dk1"/>
                </a:solidFill>
              </a:rPr>
              <a:t> </a:t>
            </a:r>
            <a:r>
              <a:rPr lang="en-US" sz="1100" dirty="0" err="1">
                <a:solidFill>
                  <a:schemeClr val="dk1"/>
                </a:solidFill>
              </a:rPr>
              <a:t>phân</a:t>
            </a:r>
            <a:r>
              <a:rPr lang="en-US" sz="1100" dirty="0">
                <a:solidFill>
                  <a:schemeClr val="dk1"/>
                </a:solidFill>
              </a:rPr>
              <a:t> </a:t>
            </a:r>
            <a:r>
              <a:rPr lang="en-US" sz="1100" dirty="0" err="1">
                <a:solidFill>
                  <a:schemeClr val="dk1"/>
                </a:solidFill>
              </a:rPr>
              <a:t>quyền</a:t>
            </a:r>
            <a:r>
              <a:rPr lang="en-US" sz="1100" dirty="0">
                <a:solidFill>
                  <a:schemeClr val="dk1"/>
                </a:solidFill>
              </a:rPr>
              <a:t> </a:t>
            </a:r>
            <a:r>
              <a:rPr lang="en-US" sz="1100" dirty="0" err="1">
                <a:solidFill>
                  <a:schemeClr val="dk1"/>
                </a:solidFill>
              </a:rPr>
              <a:t>khác</a:t>
            </a:r>
            <a:r>
              <a:rPr lang="en-US" sz="1100" dirty="0">
                <a:solidFill>
                  <a:schemeClr val="dk1"/>
                </a:solidFill>
              </a:rPr>
              <a:t> </a:t>
            </a:r>
            <a:r>
              <a:rPr lang="en-US" sz="1100" dirty="0" err="1">
                <a:solidFill>
                  <a:schemeClr val="dk1"/>
                </a:solidFill>
              </a:rPr>
              <a:t>nhau</a:t>
            </a:r>
            <a:r>
              <a:rPr lang="en-US" sz="1100" dirty="0">
                <a:solidFill>
                  <a:schemeClr val="dk1"/>
                </a:solidFill>
              </a:rPr>
              <a:t> </a:t>
            </a:r>
            <a:r>
              <a:rPr lang="en-US" sz="1100" dirty="0" err="1">
                <a:solidFill>
                  <a:schemeClr val="dk1"/>
                </a:solidFill>
              </a:rPr>
              <a:t>trong</a:t>
            </a:r>
            <a:r>
              <a:rPr lang="en-US" sz="1100" dirty="0">
                <a:solidFill>
                  <a:schemeClr val="dk1"/>
                </a:solidFill>
              </a:rPr>
              <a:t> </a:t>
            </a:r>
            <a:r>
              <a:rPr lang="en-US" sz="1100" dirty="0" err="1">
                <a:solidFill>
                  <a:schemeClr val="dk1"/>
                </a:solidFill>
              </a:rPr>
              <a:t>cùng</a:t>
            </a:r>
            <a:r>
              <a:rPr lang="en-US" sz="1100" dirty="0">
                <a:solidFill>
                  <a:schemeClr val="dk1"/>
                </a:solidFill>
              </a:rPr>
              <a:t> </a:t>
            </a:r>
            <a:r>
              <a:rPr lang="en-US" sz="1100" dirty="0" err="1">
                <a:solidFill>
                  <a:schemeClr val="dk1"/>
                </a:solidFill>
              </a:rPr>
              <a:t>một</a:t>
            </a:r>
            <a:r>
              <a:rPr lang="en-US" sz="1100" dirty="0">
                <a:solidFill>
                  <a:schemeClr val="dk1"/>
                </a:solidFill>
              </a:rPr>
              <a:t> </a:t>
            </a:r>
            <a:r>
              <a:rPr lang="en-US" sz="1100" dirty="0" err="1">
                <a:solidFill>
                  <a:schemeClr val="dk1"/>
                </a:solidFill>
              </a:rPr>
              <a:t>đơn</a:t>
            </a:r>
            <a:r>
              <a:rPr lang="en-US" sz="1100" dirty="0">
                <a:solidFill>
                  <a:schemeClr val="dk1"/>
                </a:solidFill>
              </a:rPr>
              <a:t> </a:t>
            </a:r>
            <a:r>
              <a:rPr lang="en-US" sz="1100" dirty="0" err="1">
                <a:solidFill>
                  <a:schemeClr val="dk1"/>
                </a:solidFill>
              </a:rPr>
              <a:t>vị</a:t>
            </a:r>
            <a:r>
              <a:rPr lang="en-US" sz="1100" dirty="0">
                <a:solidFill>
                  <a:schemeClr val="dk1"/>
                </a:solidFill>
              </a:rPr>
              <a:t>.</a:t>
            </a:r>
            <a:endParaRPr sz="1100" dirty="0">
              <a:solidFill>
                <a:schemeClr val="dk1"/>
              </a:solidFill>
            </a:endParaRPr>
          </a:p>
          <a:p>
            <a:pPr marL="0" marR="0" lvl="0" indent="0" algn="l" rtl="0">
              <a:spcBef>
                <a:spcPts val="400"/>
              </a:spcBef>
              <a:spcAft>
                <a:spcPts val="0"/>
              </a:spcAft>
              <a:buNone/>
            </a:pPr>
            <a:endParaRPr sz="1300" b="1" dirty="0">
              <a:solidFill>
                <a:srgbClr val="1E3A8A"/>
              </a:solidFill>
              <a:latin typeface="Quattrocento Sans"/>
              <a:ea typeface="Quattrocento Sans"/>
              <a:cs typeface="Quattrocento Sans"/>
              <a:sym typeface="Quattrocento Sans"/>
            </a:endParaRPr>
          </a:p>
        </p:txBody>
      </p:sp>
      <p:pic>
        <p:nvPicPr>
          <p:cNvPr id="741" name="Google Shape;741;p20"/>
          <p:cNvPicPr preferRelativeResize="0"/>
          <p:nvPr/>
        </p:nvPicPr>
        <p:blipFill rotWithShape="1">
          <a:blip r:embed="rId3">
            <a:alphaModFix/>
          </a:blip>
          <a:srcRect l="990" t="2378" r="1932" b="1726"/>
          <a:stretch/>
        </p:blipFill>
        <p:spPr>
          <a:xfrm>
            <a:off x="520525" y="2495400"/>
            <a:ext cx="3419300" cy="1922451"/>
          </a:xfrm>
          <a:prstGeom prst="rect">
            <a:avLst/>
          </a:prstGeom>
          <a:noFill/>
          <a:ln w="9525" cap="flat" cmpd="sng">
            <a:solidFill>
              <a:srgbClr val="E5E7EB"/>
            </a:solidFill>
            <a:prstDash val="solid"/>
            <a:round/>
            <a:headEnd type="none" w="sm" len="sm"/>
            <a:tailEnd type="none" w="sm" len="sm"/>
          </a:ln>
        </p:spPr>
      </p:pic>
      <p:sp>
        <p:nvSpPr>
          <p:cNvPr id="742" name="Google Shape;742;p20"/>
          <p:cNvSpPr txBox="1"/>
          <p:nvPr/>
        </p:nvSpPr>
        <p:spPr>
          <a:xfrm>
            <a:off x="667688" y="4521250"/>
            <a:ext cx="3522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6B7280"/>
                </a:solidFill>
              </a:rPr>
              <a:t>Danh sách nhóm quyền và số người trong nhóm</a:t>
            </a:r>
            <a:endParaRPr sz="900">
              <a:solidFill>
                <a:srgbClr val="6B7280"/>
              </a:solidFill>
            </a:endParaRPr>
          </a:p>
        </p:txBody>
      </p:sp>
      <p:pic>
        <p:nvPicPr>
          <p:cNvPr id="743" name="Google Shape;743;p20"/>
          <p:cNvPicPr preferRelativeResize="0"/>
          <p:nvPr/>
        </p:nvPicPr>
        <p:blipFill rotWithShape="1">
          <a:blip r:embed="rId4">
            <a:alphaModFix/>
          </a:blip>
          <a:srcRect l="1815" t="2010" r="1107" b="1334"/>
          <a:stretch/>
        </p:blipFill>
        <p:spPr>
          <a:xfrm>
            <a:off x="4301800" y="2495400"/>
            <a:ext cx="3419301" cy="1922450"/>
          </a:xfrm>
          <a:prstGeom prst="rect">
            <a:avLst/>
          </a:prstGeom>
          <a:noFill/>
          <a:ln w="9525" cap="flat" cmpd="sng">
            <a:solidFill>
              <a:srgbClr val="E5E7EB"/>
            </a:solidFill>
            <a:prstDash val="solid"/>
            <a:round/>
            <a:headEnd type="none" w="sm" len="sm"/>
            <a:tailEnd type="none" w="sm" len="sm"/>
          </a:ln>
        </p:spPr>
      </p:pic>
      <p:sp>
        <p:nvSpPr>
          <p:cNvPr id="744" name="Google Shape;744;p20"/>
          <p:cNvSpPr txBox="1"/>
          <p:nvPr/>
        </p:nvSpPr>
        <p:spPr>
          <a:xfrm>
            <a:off x="4393108" y="4536363"/>
            <a:ext cx="3522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6B7280"/>
                </a:solidFill>
              </a:rPr>
              <a:t>Thêm nhóm quyền: chọn chức năng, hành động</a:t>
            </a:r>
            <a:endParaRPr/>
          </a:p>
        </p:txBody>
      </p:sp>
      <p:pic>
        <p:nvPicPr>
          <p:cNvPr id="745" name="Google Shape;745;p20"/>
          <p:cNvPicPr preferRelativeResize="0"/>
          <p:nvPr/>
        </p:nvPicPr>
        <p:blipFill rotWithShape="1">
          <a:blip r:embed="rId5">
            <a:alphaModFix/>
          </a:blip>
          <a:srcRect l="10" t="2410"/>
          <a:stretch/>
        </p:blipFill>
        <p:spPr>
          <a:xfrm>
            <a:off x="7990350" y="2495400"/>
            <a:ext cx="3522000" cy="1957599"/>
          </a:xfrm>
          <a:prstGeom prst="rect">
            <a:avLst/>
          </a:prstGeom>
          <a:noFill/>
          <a:ln w="9525" cap="flat" cmpd="sng">
            <a:solidFill>
              <a:srgbClr val="E5E7EB"/>
            </a:solidFill>
            <a:prstDash val="solid"/>
            <a:round/>
            <a:headEnd type="none" w="sm" len="sm"/>
            <a:tailEnd type="none" w="sm" len="sm"/>
          </a:ln>
        </p:spPr>
      </p:pic>
      <p:sp>
        <p:nvSpPr>
          <p:cNvPr id="746" name="Google Shape;746;p20"/>
          <p:cNvSpPr txBox="1"/>
          <p:nvPr/>
        </p:nvSpPr>
        <p:spPr>
          <a:xfrm>
            <a:off x="8118505" y="4521588"/>
            <a:ext cx="3522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6B7280"/>
                </a:solidFill>
              </a:rPr>
              <a:t>Chi tiết nhóm quyền</a:t>
            </a:r>
            <a:endParaRPr/>
          </a:p>
        </p:txBody>
      </p:sp>
      <p:sp>
        <p:nvSpPr>
          <p:cNvPr id="747" name="Google Shape;747;p20"/>
          <p:cNvSpPr/>
          <p:nvPr/>
        </p:nvSpPr>
        <p:spPr>
          <a:xfrm>
            <a:off x="667775" y="4854250"/>
            <a:ext cx="2628900" cy="1525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8" name="Google Shape;748;p20"/>
          <p:cNvSpPr/>
          <p:nvPr/>
        </p:nvSpPr>
        <p:spPr>
          <a:xfrm>
            <a:off x="794775" y="4955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749" name="Google Shape;749;p20"/>
          <p:cNvSpPr txBox="1"/>
          <p:nvPr/>
        </p:nvSpPr>
        <p:spPr>
          <a:xfrm>
            <a:off x="1226575" y="4993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Tạo nhóm quyền </a:t>
            </a:r>
            <a:endParaRPr/>
          </a:p>
        </p:txBody>
      </p:sp>
      <p:sp>
        <p:nvSpPr>
          <p:cNvPr id="750" name="Google Shape;750;p20"/>
          <p:cNvSpPr txBox="1"/>
          <p:nvPr/>
        </p:nvSpPr>
        <p:spPr>
          <a:xfrm>
            <a:off x="820175" y="5387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Tạo các nhóm quyền theo nhiệm vụ, chẳng hạn giám sát, truy vết hoặc quản trị. </a:t>
            </a:r>
            <a:endParaRPr/>
          </a:p>
        </p:txBody>
      </p:sp>
      <p:sp>
        <p:nvSpPr>
          <p:cNvPr id="751" name="Google Shape;751;p20"/>
          <p:cNvSpPr/>
          <p:nvPr/>
        </p:nvSpPr>
        <p:spPr>
          <a:xfrm>
            <a:off x="3449075" y="4854250"/>
            <a:ext cx="2628900" cy="1487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2" name="Google Shape;752;p20"/>
          <p:cNvSpPr/>
          <p:nvPr/>
        </p:nvSpPr>
        <p:spPr>
          <a:xfrm>
            <a:off x="3576075" y="4955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753" name="Google Shape;753;p20"/>
          <p:cNvSpPr txBox="1"/>
          <p:nvPr/>
        </p:nvSpPr>
        <p:spPr>
          <a:xfrm>
            <a:off x="4007875" y="4993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Chọn chức năng</a:t>
            </a:r>
            <a:endParaRPr/>
          </a:p>
        </p:txBody>
      </p:sp>
      <p:sp>
        <p:nvSpPr>
          <p:cNvPr id="754" name="Google Shape;754;p20"/>
          <p:cNvSpPr txBox="1"/>
          <p:nvPr/>
        </p:nvSpPr>
        <p:spPr>
          <a:xfrm>
            <a:off x="3601475" y="5387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Lựa chọn các chức năng trên EMS cần cấp quyền truy cập. </a:t>
            </a:r>
            <a:endParaRPr sz="1050">
              <a:solidFill>
                <a:srgbClr val="1F2937"/>
              </a:solidFill>
            </a:endParaRPr>
          </a:p>
        </p:txBody>
      </p:sp>
      <p:sp>
        <p:nvSpPr>
          <p:cNvPr id="755" name="Google Shape;755;p20"/>
          <p:cNvSpPr/>
          <p:nvPr/>
        </p:nvSpPr>
        <p:spPr>
          <a:xfrm>
            <a:off x="6230375" y="4854250"/>
            <a:ext cx="2628900" cy="1487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6" name="Google Shape;756;p20"/>
          <p:cNvSpPr/>
          <p:nvPr/>
        </p:nvSpPr>
        <p:spPr>
          <a:xfrm>
            <a:off x="6357375" y="4955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757" name="Google Shape;757;p20"/>
          <p:cNvSpPr txBox="1"/>
          <p:nvPr/>
        </p:nvSpPr>
        <p:spPr>
          <a:xfrm>
            <a:off x="6789175" y="4993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Thiết lập quyền thao tác </a:t>
            </a:r>
            <a:endParaRPr/>
          </a:p>
        </p:txBody>
      </p:sp>
      <p:sp>
        <p:nvSpPr>
          <p:cNvPr id="758" name="Google Shape;758;p20"/>
          <p:cNvSpPr txBox="1"/>
          <p:nvPr/>
        </p:nvSpPr>
        <p:spPr>
          <a:xfrm>
            <a:off x="6382775" y="5387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Cấu hình các hành động được phép trong từng chức năng theo khả năng hệ thống hỗ trợ. </a:t>
            </a:r>
            <a:endParaRPr/>
          </a:p>
        </p:txBody>
      </p:sp>
      <p:sp>
        <p:nvSpPr>
          <p:cNvPr id="759" name="Google Shape;759;p20"/>
          <p:cNvSpPr/>
          <p:nvPr/>
        </p:nvSpPr>
        <p:spPr>
          <a:xfrm>
            <a:off x="9011675" y="4854250"/>
            <a:ext cx="2628900" cy="1487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0" name="Google Shape;760;p20"/>
          <p:cNvSpPr/>
          <p:nvPr/>
        </p:nvSpPr>
        <p:spPr>
          <a:xfrm>
            <a:off x="9138675" y="4955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761" name="Google Shape;761;p20"/>
          <p:cNvSpPr txBox="1"/>
          <p:nvPr/>
        </p:nvSpPr>
        <p:spPr>
          <a:xfrm>
            <a:off x="9570475" y="4993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Áp dụng quyền </a:t>
            </a:r>
            <a:endParaRPr sz="1200" b="1">
              <a:solidFill>
                <a:srgbClr val="1E3A8A"/>
              </a:solidFill>
            </a:endParaRPr>
          </a:p>
        </p:txBody>
      </p:sp>
      <p:sp>
        <p:nvSpPr>
          <p:cNvPr id="762" name="Google Shape;762;p20"/>
          <p:cNvSpPr txBox="1"/>
          <p:nvPr/>
        </p:nvSpPr>
        <p:spPr>
          <a:xfrm>
            <a:off x="9164075" y="5387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Gán nhóm quyền cho người dùng hoặc thiết lập quyền riêng cho từng tài khoản theo nhu cầu.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7"/>
        <p:cNvGrpSpPr/>
        <p:nvPr/>
      </p:nvGrpSpPr>
      <p:grpSpPr>
        <a:xfrm>
          <a:off x="0" y="0"/>
          <a:ext cx="0" cy="0"/>
          <a:chOff x="0" y="0"/>
          <a:chExt cx="0" cy="0"/>
        </a:xfrm>
      </p:grpSpPr>
      <p:sp>
        <p:nvSpPr>
          <p:cNvPr id="768" name="Google Shape;768;p22"/>
          <p:cNvSpPr/>
          <p:nvPr/>
        </p:nvSpPr>
        <p:spPr>
          <a:xfrm>
            <a:off x="9235050" y="5114850"/>
            <a:ext cx="2678700" cy="1447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9" name="Google Shape;769;p22"/>
          <p:cNvSpPr/>
          <p:nvPr/>
        </p:nvSpPr>
        <p:spPr>
          <a:xfrm>
            <a:off x="6264800" y="5114850"/>
            <a:ext cx="2656800" cy="1447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0" name="Google Shape;770;p22"/>
          <p:cNvSpPr/>
          <p:nvPr/>
        </p:nvSpPr>
        <p:spPr>
          <a:xfrm>
            <a:off x="3272650" y="5114850"/>
            <a:ext cx="2678700" cy="1447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1" name="Google Shape;771;p22"/>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7 · QUẢN LÝ CAMERA</a:t>
            </a:r>
            <a:endParaRPr sz="1100" b="1">
              <a:solidFill>
                <a:srgbClr val="2563EB"/>
              </a:solidFill>
            </a:endParaRPr>
          </a:p>
        </p:txBody>
      </p:sp>
      <p:sp>
        <p:nvSpPr>
          <p:cNvPr id="772" name="Google Shape;772;p22"/>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Quản lý Camera </a:t>
            </a:r>
            <a:endParaRPr/>
          </a:p>
        </p:txBody>
      </p:sp>
      <p:sp>
        <p:nvSpPr>
          <p:cNvPr id="773" name="Google Shape;773;p22"/>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4" name="Google Shape;774;p22"/>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775" name="Google Shape;775;p22"/>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776" name="Google Shape;776;p22"/>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777" name="Google Shape;777;p22"/>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778" name="Google Shape;778;p22"/>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779" name="Google Shape;779;p22"/>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780" name="Google Shape;780;p22"/>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781" name="Google Shape;781;p22"/>
          <p:cNvSpPr/>
          <p:nvPr/>
        </p:nvSpPr>
        <p:spPr>
          <a:xfrm>
            <a:off x="107188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7</a:t>
            </a:r>
            <a:endParaRPr/>
          </a:p>
        </p:txBody>
      </p:sp>
      <p:sp>
        <p:nvSpPr>
          <p:cNvPr id="782" name="Google Shape;782;p22"/>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783" name="Google Shape;783;p22"/>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784" name="Google Shape;784;p22"/>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Quản lý Camera › Bản đồ camera · Quản lý nhóm camera</a:t>
            </a:r>
            <a:endParaRPr/>
          </a:p>
        </p:txBody>
      </p:sp>
      <p:sp>
        <p:nvSpPr>
          <p:cNvPr id="785" name="Google Shape;785;p22"/>
          <p:cNvSpPr txBox="1"/>
          <p:nvPr/>
        </p:nvSpPr>
        <p:spPr>
          <a:xfrm>
            <a:off x="635000" y="1564484"/>
            <a:ext cx="10972800" cy="369332"/>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dirty="0" err="1">
                <a:solidFill>
                  <a:srgbClr val="1E3A8A"/>
                </a:solidFill>
              </a:rPr>
              <a:t>Ứng</a:t>
            </a:r>
            <a:r>
              <a:rPr lang="en-US" sz="1300" b="1" dirty="0">
                <a:solidFill>
                  <a:srgbClr val="1E3A8A"/>
                </a:solidFill>
              </a:rPr>
              <a:t> </a:t>
            </a:r>
            <a:r>
              <a:rPr lang="en-US" sz="1300" b="1" dirty="0" err="1">
                <a:solidFill>
                  <a:srgbClr val="1E3A8A"/>
                </a:solidFill>
              </a:rPr>
              <a:t>dụng</a:t>
            </a:r>
            <a:r>
              <a:rPr lang="en-US" sz="1300" b="1" dirty="0">
                <a:solidFill>
                  <a:srgbClr val="1E3A8A"/>
                </a:solidFill>
              </a:rPr>
              <a:t> </a:t>
            </a:r>
            <a:r>
              <a:rPr lang="en-US" sz="1300" b="1" dirty="0" err="1">
                <a:solidFill>
                  <a:srgbClr val="1E3A8A"/>
                </a:solidFill>
              </a:rPr>
              <a:t>thực</a:t>
            </a:r>
            <a:r>
              <a:rPr lang="en-US" sz="1300" b="1" dirty="0">
                <a:solidFill>
                  <a:srgbClr val="1E3A8A"/>
                </a:solidFill>
              </a:rPr>
              <a:t> </a:t>
            </a:r>
            <a:r>
              <a:rPr lang="en-US" sz="1300" b="1" dirty="0" err="1">
                <a:solidFill>
                  <a:srgbClr val="1E3A8A"/>
                </a:solidFill>
              </a:rPr>
              <a:t>tế</a:t>
            </a:r>
            <a:r>
              <a:rPr lang="en-US" sz="1300" b="1" dirty="0">
                <a:solidFill>
                  <a:srgbClr val="1E3A8A"/>
                </a:solidFill>
              </a:rPr>
              <a:t>:</a:t>
            </a:r>
            <a:r>
              <a:rPr lang="en-US" sz="1300" b="1" dirty="0">
                <a:solidFill>
                  <a:schemeClr val="dk1"/>
                </a:solidFill>
              </a:rPr>
              <a:t> </a:t>
            </a:r>
            <a:r>
              <a:rPr lang="en-US" sz="1100" dirty="0">
                <a:solidFill>
                  <a:schemeClr val="dk1"/>
                </a:solidFill>
              </a:rPr>
              <a:t>Quản </a:t>
            </a:r>
            <a:r>
              <a:rPr lang="en-US" sz="1100" dirty="0" err="1">
                <a:solidFill>
                  <a:schemeClr val="dk1"/>
                </a:solidFill>
              </a:rPr>
              <a:t>lý</a:t>
            </a:r>
            <a:r>
              <a:rPr lang="en-US" sz="1100" dirty="0">
                <a:solidFill>
                  <a:schemeClr val="dk1"/>
                </a:solidFill>
              </a:rPr>
              <a:t> </a:t>
            </a:r>
            <a:r>
              <a:rPr lang="en-US" sz="1100" dirty="0" err="1">
                <a:solidFill>
                  <a:schemeClr val="dk1"/>
                </a:solidFill>
              </a:rPr>
              <a:t>hệ</a:t>
            </a:r>
            <a:r>
              <a:rPr lang="en-US" sz="1100" dirty="0">
                <a:solidFill>
                  <a:schemeClr val="dk1"/>
                </a:solidFill>
              </a:rPr>
              <a:t> </a:t>
            </a:r>
            <a:r>
              <a:rPr lang="en-US" sz="1100" dirty="0" err="1">
                <a:solidFill>
                  <a:schemeClr val="dk1"/>
                </a:solidFill>
              </a:rPr>
              <a:t>thống</a:t>
            </a:r>
            <a:r>
              <a:rPr lang="en-US" sz="1100" dirty="0">
                <a:solidFill>
                  <a:schemeClr val="dk1"/>
                </a:solidFill>
              </a:rPr>
              <a:t> </a:t>
            </a:r>
            <a:r>
              <a:rPr lang="en-US" sz="1100" dirty="0" err="1">
                <a:solidFill>
                  <a:schemeClr val="dk1"/>
                </a:solidFill>
              </a:rPr>
              <a:t>có</a:t>
            </a:r>
            <a:r>
              <a:rPr lang="en-US" sz="1100" dirty="0">
                <a:solidFill>
                  <a:schemeClr val="dk1"/>
                </a:solidFill>
              </a:rPr>
              <a:t> </a:t>
            </a:r>
            <a:r>
              <a:rPr lang="en-US" sz="1100" dirty="0" err="1">
                <a:solidFill>
                  <a:schemeClr val="dk1"/>
                </a:solidFill>
              </a:rPr>
              <a:t>nhiều</a:t>
            </a:r>
            <a:r>
              <a:rPr lang="en-US" sz="1100" dirty="0">
                <a:solidFill>
                  <a:schemeClr val="dk1"/>
                </a:solidFill>
              </a:rPr>
              <a:t> camera </a:t>
            </a:r>
            <a:r>
              <a:rPr lang="en-US" sz="1100" dirty="0" err="1">
                <a:solidFill>
                  <a:schemeClr val="dk1"/>
                </a:solidFill>
              </a:rPr>
              <a:t>tại</a:t>
            </a:r>
            <a:r>
              <a:rPr lang="en-US" sz="1100" dirty="0">
                <a:solidFill>
                  <a:schemeClr val="dk1"/>
                </a:solidFill>
              </a:rPr>
              <a:t> </a:t>
            </a:r>
            <a:r>
              <a:rPr lang="en-US" sz="1100" dirty="0" err="1">
                <a:solidFill>
                  <a:schemeClr val="dk1"/>
                </a:solidFill>
              </a:rPr>
              <a:t>các</a:t>
            </a:r>
            <a:r>
              <a:rPr lang="en-US" sz="1100" dirty="0">
                <a:solidFill>
                  <a:schemeClr val="dk1"/>
                </a:solidFill>
              </a:rPr>
              <a:t> </a:t>
            </a:r>
            <a:r>
              <a:rPr lang="en-US" sz="1100" dirty="0" err="1">
                <a:solidFill>
                  <a:schemeClr val="dk1"/>
                </a:solidFill>
              </a:rPr>
              <a:t>khu</a:t>
            </a:r>
            <a:r>
              <a:rPr lang="en-US" sz="1100" dirty="0">
                <a:solidFill>
                  <a:schemeClr val="dk1"/>
                </a:solidFill>
              </a:rPr>
              <a:t> </a:t>
            </a:r>
            <a:r>
              <a:rPr lang="en-US" sz="1100" dirty="0" err="1">
                <a:solidFill>
                  <a:schemeClr val="dk1"/>
                </a:solidFill>
              </a:rPr>
              <a:t>vực</a:t>
            </a:r>
            <a:r>
              <a:rPr lang="en-US" sz="1100" dirty="0">
                <a:solidFill>
                  <a:schemeClr val="dk1"/>
                </a:solidFill>
              </a:rPr>
              <a:t> </a:t>
            </a:r>
            <a:r>
              <a:rPr lang="en-US" sz="1100" dirty="0" err="1">
                <a:solidFill>
                  <a:schemeClr val="dk1"/>
                </a:solidFill>
              </a:rPr>
              <a:t>khác</a:t>
            </a:r>
            <a:r>
              <a:rPr lang="en-US" sz="1100" dirty="0">
                <a:solidFill>
                  <a:schemeClr val="dk1"/>
                </a:solidFill>
              </a:rPr>
              <a:t> </a:t>
            </a:r>
            <a:r>
              <a:rPr lang="en-US" sz="1100" dirty="0" err="1">
                <a:solidFill>
                  <a:schemeClr val="dk1"/>
                </a:solidFill>
              </a:rPr>
              <a:t>nhau</a:t>
            </a:r>
            <a:r>
              <a:rPr lang="en-US" sz="1100" dirty="0">
                <a:solidFill>
                  <a:schemeClr val="dk1"/>
                </a:solidFill>
              </a:rPr>
              <a:t>, </a:t>
            </a:r>
            <a:r>
              <a:rPr lang="en-US" sz="1100" dirty="0" err="1">
                <a:solidFill>
                  <a:schemeClr val="dk1"/>
                </a:solidFill>
              </a:rPr>
              <a:t>giúp</a:t>
            </a:r>
            <a:r>
              <a:rPr lang="en-US" sz="1100" dirty="0">
                <a:solidFill>
                  <a:schemeClr val="dk1"/>
                </a:solidFill>
              </a:rPr>
              <a:t> </a:t>
            </a:r>
            <a:r>
              <a:rPr lang="en-US" sz="1100" dirty="0" err="1">
                <a:solidFill>
                  <a:schemeClr val="dk1"/>
                </a:solidFill>
              </a:rPr>
              <a:t>xác</a:t>
            </a:r>
            <a:r>
              <a:rPr lang="en-US" sz="1100" dirty="0">
                <a:solidFill>
                  <a:schemeClr val="dk1"/>
                </a:solidFill>
              </a:rPr>
              <a:t> </a:t>
            </a:r>
            <a:r>
              <a:rPr lang="en-US" sz="1100" dirty="0" err="1">
                <a:solidFill>
                  <a:schemeClr val="dk1"/>
                </a:solidFill>
              </a:rPr>
              <a:t>định</a:t>
            </a:r>
            <a:r>
              <a:rPr lang="en-US" sz="1100" dirty="0">
                <a:solidFill>
                  <a:schemeClr val="dk1"/>
                </a:solidFill>
              </a:rPr>
              <a:t> camera ở </a:t>
            </a:r>
            <a:r>
              <a:rPr lang="en-US" sz="1100" dirty="0" err="1">
                <a:solidFill>
                  <a:schemeClr val="dk1"/>
                </a:solidFill>
              </a:rPr>
              <a:t>đâu</a:t>
            </a:r>
            <a:r>
              <a:rPr lang="en-US" sz="1100" dirty="0">
                <a:solidFill>
                  <a:schemeClr val="dk1"/>
                </a:solidFill>
              </a:rPr>
              <a:t>, </a:t>
            </a:r>
            <a:r>
              <a:rPr lang="en-US" sz="1100" dirty="0" err="1">
                <a:solidFill>
                  <a:schemeClr val="dk1"/>
                </a:solidFill>
              </a:rPr>
              <a:t>thuộc</a:t>
            </a:r>
            <a:r>
              <a:rPr lang="en-US" sz="1100" dirty="0">
                <a:solidFill>
                  <a:schemeClr val="dk1"/>
                </a:solidFill>
              </a:rPr>
              <a:t> </a:t>
            </a:r>
            <a:r>
              <a:rPr lang="en-US" sz="1100" dirty="0" err="1">
                <a:solidFill>
                  <a:schemeClr val="dk1"/>
                </a:solidFill>
              </a:rPr>
              <a:t>phạm</a:t>
            </a:r>
            <a:r>
              <a:rPr lang="en-US" sz="1100" dirty="0">
                <a:solidFill>
                  <a:schemeClr val="dk1"/>
                </a:solidFill>
              </a:rPr>
              <a:t> vi </a:t>
            </a:r>
            <a:r>
              <a:rPr lang="en-US" sz="1100" dirty="0" err="1">
                <a:solidFill>
                  <a:schemeClr val="dk1"/>
                </a:solidFill>
              </a:rPr>
              <a:t>quản</a:t>
            </a:r>
            <a:r>
              <a:rPr lang="en-US" sz="1100" dirty="0">
                <a:solidFill>
                  <a:schemeClr val="dk1"/>
                </a:solidFill>
              </a:rPr>
              <a:t> </a:t>
            </a:r>
            <a:r>
              <a:rPr lang="en-US" sz="1100" dirty="0" err="1">
                <a:solidFill>
                  <a:schemeClr val="dk1"/>
                </a:solidFill>
              </a:rPr>
              <a:t>lý</a:t>
            </a:r>
            <a:r>
              <a:rPr lang="en-US" sz="1100" dirty="0">
                <a:solidFill>
                  <a:schemeClr val="dk1"/>
                </a:solidFill>
              </a:rPr>
              <a:t> </a:t>
            </a:r>
            <a:r>
              <a:rPr lang="en-US" sz="1100" dirty="0" err="1">
                <a:solidFill>
                  <a:schemeClr val="dk1"/>
                </a:solidFill>
              </a:rPr>
              <a:t>nào</a:t>
            </a:r>
            <a:r>
              <a:rPr lang="en-US" sz="1100" dirty="0">
                <a:solidFill>
                  <a:schemeClr val="dk1"/>
                </a:solidFill>
              </a:rPr>
              <a:t>, </a:t>
            </a:r>
            <a:r>
              <a:rPr lang="en-US" sz="1100" dirty="0" err="1">
                <a:solidFill>
                  <a:schemeClr val="dk1"/>
                </a:solidFill>
              </a:rPr>
              <a:t>đang</a:t>
            </a:r>
            <a:r>
              <a:rPr lang="en-US" sz="1100" dirty="0">
                <a:solidFill>
                  <a:schemeClr val="dk1"/>
                </a:solidFill>
              </a:rPr>
              <a:t> ở </a:t>
            </a:r>
            <a:r>
              <a:rPr lang="en-US" sz="1100" dirty="0" err="1">
                <a:solidFill>
                  <a:schemeClr val="dk1"/>
                </a:solidFill>
              </a:rPr>
              <a:t>trạng</a:t>
            </a:r>
            <a:r>
              <a:rPr lang="en-US" sz="1100" dirty="0">
                <a:solidFill>
                  <a:schemeClr val="dk1"/>
                </a:solidFill>
              </a:rPr>
              <a:t> </a:t>
            </a:r>
            <a:r>
              <a:rPr lang="en-US" sz="1100" dirty="0" err="1">
                <a:solidFill>
                  <a:schemeClr val="dk1"/>
                </a:solidFill>
              </a:rPr>
              <a:t>thái</a:t>
            </a:r>
            <a:r>
              <a:rPr lang="en-US" sz="1100" dirty="0">
                <a:solidFill>
                  <a:schemeClr val="dk1"/>
                </a:solidFill>
              </a:rPr>
              <a:t> </a:t>
            </a:r>
            <a:r>
              <a:rPr lang="en-US" sz="1100" dirty="0" err="1">
                <a:solidFill>
                  <a:schemeClr val="dk1"/>
                </a:solidFill>
              </a:rPr>
              <a:t>nào</a:t>
            </a:r>
            <a:r>
              <a:rPr lang="en-US" sz="1100" dirty="0">
                <a:solidFill>
                  <a:schemeClr val="dk1"/>
                </a:solidFill>
              </a:rPr>
              <a:t> </a:t>
            </a:r>
            <a:r>
              <a:rPr lang="en-US" sz="1100" dirty="0" err="1">
                <a:solidFill>
                  <a:schemeClr val="dk1"/>
                </a:solidFill>
              </a:rPr>
              <a:t>và</a:t>
            </a:r>
            <a:r>
              <a:rPr lang="en-US" sz="1100" dirty="0">
                <a:solidFill>
                  <a:schemeClr val="dk1"/>
                </a:solidFill>
              </a:rPr>
              <a:t> </a:t>
            </a:r>
            <a:r>
              <a:rPr lang="en-US" sz="1100" dirty="0" err="1">
                <a:solidFill>
                  <a:schemeClr val="dk1"/>
                </a:solidFill>
              </a:rPr>
              <a:t>được</a:t>
            </a:r>
            <a:r>
              <a:rPr lang="en-US" sz="1100" dirty="0">
                <a:solidFill>
                  <a:schemeClr val="dk1"/>
                </a:solidFill>
              </a:rPr>
              <a:t> </a:t>
            </a:r>
            <a:r>
              <a:rPr lang="en-US" sz="1100" dirty="0" err="1">
                <a:solidFill>
                  <a:schemeClr val="dk1"/>
                </a:solidFill>
              </a:rPr>
              <a:t>tổ</a:t>
            </a:r>
            <a:r>
              <a:rPr lang="en-US" sz="1100" dirty="0">
                <a:solidFill>
                  <a:schemeClr val="dk1"/>
                </a:solidFill>
              </a:rPr>
              <a:t> </a:t>
            </a:r>
            <a:r>
              <a:rPr lang="en-US" sz="1100" dirty="0" err="1">
                <a:solidFill>
                  <a:schemeClr val="dk1"/>
                </a:solidFill>
              </a:rPr>
              <a:t>chức</a:t>
            </a:r>
            <a:r>
              <a:rPr lang="en-US" sz="1100" dirty="0">
                <a:solidFill>
                  <a:schemeClr val="dk1"/>
                </a:solidFill>
              </a:rPr>
              <a:t> </a:t>
            </a:r>
            <a:r>
              <a:rPr lang="en-US" sz="1100" dirty="0" err="1">
                <a:solidFill>
                  <a:schemeClr val="dk1"/>
                </a:solidFill>
              </a:rPr>
              <a:t>ra</a:t>
            </a:r>
            <a:r>
              <a:rPr lang="en-US" sz="1100" dirty="0">
                <a:solidFill>
                  <a:schemeClr val="dk1"/>
                </a:solidFill>
              </a:rPr>
              <a:t> </a:t>
            </a:r>
            <a:r>
              <a:rPr lang="en-US" sz="1100" dirty="0" err="1">
                <a:solidFill>
                  <a:schemeClr val="dk1"/>
                </a:solidFill>
              </a:rPr>
              <a:t>sao</a:t>
            </a:r>
            <a:r>
              <a:rPr lang="en-US" sz="1100" dirty="0">
                <a:solidFill>
                  <a:schemeClr val="dk1"/>
                </a:solidFill>
              </a:rPr>
              <a:t> </a:t>
            </a:r>
            <a:r>
              <a:rPr lang="en-US" sz="1100" dirty="0" err="1">
                <a:solidFill>
                  <a:schemeClr val="dk1"/>
                </a:solidFill>
              </a:rPr>
              <a:t>để</a:t>
            </a:r>
            <a:r>
              <a:rPr lang="en-US" sz="1100" dirty="0">
                <a:solidFill>
                  <a:schemeClr val="dk1"/>
                </a:solidFill>
              </a:rPr>
              <a:t> </a:t>
            </a:r>
            <a:r>
              <a:rPr lang="en-US" sz="1100" dirty="0" err="1">
                <a:solidFill>
                  <a:schemeClr val="dk1"/>
                </a:solidFill>
              </a:rPr>
              <a:t>phục</a:t>
            </a:r>
            <a:r>
              <a:rPr lang="en-US" sz="1100" dirty="0">
                <a:solidFill>
                  <a:schemeClr val="dk1"/>
                </a:solidFill>
              </a:rPr>
              <a:t> </a:t>
            </a:r>
            <a:r>
              <a:rPr lang="en-US" sz="1100" dirty="0" err="1">
                <a:solidFill>
                  <a:schemeClr val="dk1"/>
                </a:solidFill>
              </a:rPr>
              <a:t>vụ</a:t>
            </a:r>
            <a:r>
              <a:rPr lang="en-US" sz="1100" dirty="0">
                <a:solidFill>
                  <a:schemeClr val="dk1"/>
                </a:solidFill>
              </a:rPr>
              <a:t> </a:t>
            </a:r>
            <a:r>
              <a:rPr lang="en-US" sz="1100" dirty="0" err="1">
                <a:solidFill>
                  <a:schemeClr val="dk1"/>
                </a:solidFill>
              </a:rPr>
              <a:t>giám</a:t>
            </a:r>
            <a:r>
              <a:rPr lang="en-US" sz="1100" dirty="0">
                <a:solidFill>
                  <a:schemeClr val="dk1"/>
                </a:solidFill>
              </a:rPr>
              <a:t> </a:t>
            </a:r>
            <a:r>
              <a:rPr lang="en-US" sz="1100" dirty="0" err="1">
                <a:solidFill>
                  <a:schemeClr val="dk1"/>
                </a:solidFill>
              </a:rPr>
              <a:t>sát</a:t>
            </a:r>
            <a:r>
              <a:rPr lang="en-US" sz="1100" dirty="0">
                <a:solidFill>
                  <a:schemeClr val="dk1"/>
                </a:solidFill>
              </a:rPr>
              <a:t>, </a:t>
            </a:r>
            <a:r>
              <a:rPr lang="en-US" sz="1100" dirty="0" err="1">
                <a:solidFill>
                  <a:schemeClr val="dk1"/>
                </a:solidFill>
              </a:rPr>
              <a:t>tra</a:t>
            </a:r>
            <a:r>
              <a:rPr lang="en-US" sz="1100" dirty="0">
                <a:solidFill>
                  <a:schemeClr val="dk1"/>
                </a:solidFill>
              </a:rPr>
              <a:t> </a:t>
            </a:r>
            <a:r>
              <a:rPr lang="en-US" sz="1100" dirty="0" err="1">
                <a:solidFill>
                  <a:schemeClr val="dk1"/>
                </a:solidFill>
              </a:rPr>
              <a:t>cứu</a:t>
            </a:r>
            <a:r>
              <a:rPr lang="en-US" sz="1100" dirty="0">
                <a:solidFill>
                  <a:schemeClr val="dk1"/>
                </a:solidFill>
              </a:rPr>
              <a:t> </a:t>
            </a:r>
            <a:r>
              <a:rPr lang="en-US" sz="1100" dirty="0" err="1">
                <a:solidFill>
                  <a:schemeClr val="dk1"/>
                </a:solidFill>
              </a:rPr>
              <a:t>sự</a:t>
            </a:r>
            <a:r>
              <a:rPr lang="en-US" sz="1100" dirty="0">
                <a:solidFill>
                  <a:schemeClr val="dk1"/>
                </a:solidFill>
              </a:rPr>
              <a:t> </a:t>
            </a:r>
            <a:r>
              <a:rPr lang="en-US" sz="1100" dirty="0" err="1">
                <a:solidFill>
                  <a:schemeClr val="dk1"/>
                </a:solidFill>
              </a:rPr>
              <a:t>kiện</a:t>
            </a:r>
            <a:r>
              <a:rPr lang="en-US" sz="1100" dirty="0">
                <a:solidFill>
                  <a:schemeClr val="dk1"/>
                </a:solidFill>
              </a:rPr>
              <a:t>.</a:t>
            </a:r>
            <a:endParaRPr sz="1100" dirty="0">
              <a:solidFill>
                <a:schemeClr val="dk1"/>
              </a:solidFill>
            </a:endParaRPr>
          </a:p>
          <a:p>
            <a:pPr marL="0" marR="0" lvl="0" indent="0" algn="l" rtl="0">
              <a:spcBef>
                <a:spcPts val="400"/>
              </a:spcBef>
              <a:spcAft>
                <a:spcPts val="0"/>
              </a:spcAft>
              <a:buNone/>
            </a:pPr>
            <a:endParaRPr sz="1300" b="1" dirty="0">
              <a:solidFill>
                <a:srgbClr val="1E3A8A"/>
              </a:solidFill>
              <a:latin typeface="Quattrocento Sans"/>
              <a:ea typeface="Quattrocento Sans"/>
              <a:cs typeface="Quattrocento Sans"/>
              <a:sym typeface="Quattrocento Sans"/>
            </a:endParaRPr>
          </a:p>
        </p:txBody>
      </p:sp>
      <p:sp>
        <p:nvSpPr>
          <p:cNvPr id="786" name="Google Shape;786;p22"/>
          <p:cNvSpPr txBox="1"/>
          <p:nvPr/>
        </p:nvSpPr>
        <p:spPr>
          <a:xfrm>
            <a:off x="457200" y="4858325"/>
            <a:ext cx="66039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6B7280"/>
                </a:solidFill>
                <a:latin typeface="Quattrocento Sans"/>
                <a:ea typeface="Quattrocento Sans"/>
                <a:cs typeface="Quattrocento Sans"/>
                <a:sym typeface="Quattrocento Sans"/>
              </a:rPr>
              <a:t>Bản đồ camera: lọc theo khu vực, nhóm camera; trạng thái ON/OFF</a:t>
            </a:r>
            <a:endParaRPr/>
          </a:p>
        </p:txBody>
      </p:sp>
      <p:sp>
        <p:nvSpPr>
          <p:cNvPr id="787" name="Google Shape;787;p22"/>
          <p:cNvSpPr/>
          <p:nvPr/>
        </p:nvSpPr>
        <p:spPr>
          <a:xfrm>
            <a:off x="213000" y="5086925"/>
            <a:ext cx="2746200" cy="14478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8" name="Google Shape;788;p22"/>
          <p:cNvSpPr/>
          <p:nvPr/>
        </p:nvSpPr>
        <p:spPr>
          <a:xfrm>
            <a:off x="345800" y="5304788"/>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789" name="Google Shape;789;p22"/>
          <p:cNvSpPr txBox="1"/>
          <p:nvPr/>
        </p:nvSpPr>
        <p:spPr>
          <a:xfrm>
            <a:off x="777600" y="53429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Quản lý thông tin Camera </a:t>
            </a:r>
            <a:endParaRPr/>
          </a:p>
        </p:txBody>
      </p:sp>
      <p:sp>
        <p:nvSpPr>
          <p:cNvPr id="790" name="Google Shape;790;p22"/>
          <p:cNvSpPr txBox="1"/>
          <p:nvPr/>
        </p:nvSpPr>
        <p:spPr>
          <a:xfrm>
            <a:off x="457200" y="57704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Quản lý thông tin camera, vị trí và các thông tin cấu hình được khai báo trên hệ thống. </a:t>
            </a:r>
            <a:endParaRPr sz="1050">
              <a:solidFill>
                <a:srgbClr val="1F2937"/>
              </a:solidFill>
            </a:endParaRPr>
          </a:p>
        </p:txBody>
      </p:sp>
      <p:sp>
        <p:nvSpPr>
          <p:cNvPr id="791" name="Google Shape;791;p22"/>
          <p:cNvSpPr/>
          <p:nvPr/>
        </p:nvSpPr>
        <p:spPr>
          <a:xfrm>
            <a:off x="3423675" y="5258825"/>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792" name="Google Shape;792;p22"/>
          <p:cNvSpPr txBox="1"/>
          <p:nvPr/>
        </p:nvSpPr>
        <p:spPr>
          <a:xfrm>
            <a:off x="3830500" y="53429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Tổ chức nhóm Camera </a:t>
            </a:r>
            <a:endParaRPr/>
          </a:p>
        </p:txBody>
      </p:sp>
      <p:sp>
        <p:nvSpPr>
          <p:cNvPr id="793" name="Google Shape;793;p22"/>
          <p:cNvSpPr txBox="1"/>
          <p:nvPr/>
        </p:nvSpPr>
        <p:spPr>
          <a:xfrm>
            <a:off x="3421200" y="5712275"/>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Phân nhóm camera theo khu vực hoặc mục đích quản lý để thuận tiện tra cứu và phân quyền. </a:t>
            </a:r>
            <a:endParaRPr/>
          </a:p>
        </p:txBody>
      </p:sp>
      <p:sp>
        <p:nvSpPr>
          <p:cNvPr id="794" name="Google Shape;794;p22"/>
          <p:cNvSpPr/>
          <p:nvPr/>
        </p:nvSpPr>
        <p:spPr>
          <a:xfrm>
            <a:off x="6406913" y="5258813"/>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795" name="Google Shape;795;p22"/>
          <p:cNvSpPr txBox="1"/>
          <p:nvPr/>
        </p:nvSpPr>
        <p:spPr>
          <a:xfrm>
            <a:off x="6848350" y="5342975"/>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Theo dõi trên bản đồ </a:t>
            </a:r>
            <a:endParaRPr/>
          </a:p>
        </p:txBody>
      </p:sp>
      <p:sp>
        <p:nvSpPr>
          <p:cNvPr id="796" name="Google Shape;796;p22"/>
          <p:cNvSpPr txBox="1"/>
          <p:nvPr/>
        </p:nvSpPr>
        <p:spPr>
          <a:xfrm>
            <a:off x="6385200" y="5712275"/>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Quan sát vị trí camera và trạng thái hoạt động được hệ thống ghi nhận trên bản đồ. </a:t>
            </a:r>
            <a:endParaRPr/>
          </a:p>
        </p:txBody>
      </p:sp>
      <p:sp>
        <p:nvSpPr>
          <p:cNvPr id="797" name="Google Shape;797;p22"/>
          <p:cNvSpPr/>
          <p:nvPr/>
        </p:nvSpPr>
        <p:spPr>
          <a:xfrm>
            <a:off x="9341775" y="5258825"/>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798" name="Google Shape;798;p22"/>
          <p:cNvSpPr txBox="1"/>
          <p:nvPr/>
        </p:nvSpPr>
        <p:spPr>
          <a:xfrm>
            <a:off x="9779000" y="5239313"/>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Phân định phạm vi truy cập </a:t>
            </a:r>
            <a:endParaRPr sz="1200" b="1">
              <a:solidFill>
                <a:srgbClr val="1E3A8A"/>
              </a:solidFill>
            </a:endParaRPr>
          </a:p>
        </p:txBody>
      </p:sp>
      <p:sp>
        <p:nvSpPr>
          <p:cNvPr id="799" name="Google Shape;799;p22"/>
          <p:cNvSpPr txBox="1"/>
          <p:nvPr/>
        </p:nvSpPr>
        <p:spPr>
          <a:xfrm>
            <a:off x="9415600" y="5712275"/>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Kết hợp nhóm camera được gán cho người dùng để giới hạn phạm vi camera và dữ liệu sự kiện được phép truy cập. </a:t>
            </a:r>
            <a:endParaRPr sz="1050">
              <a:solidFill>
                <a:srgbClr val="1F2937"/>
              </a:solidFill>
            </a:endParaRPr>
          </a:p>
        </p:txBody>
      </p:sp>
      <p:pic>
        <p:nvPicPr>
          <p:cNvPr id="800" name="Google Shape;800;p22"/>
          <p:cNvPicPr preferRelativeResize="0"/>
          <p:nvPr/>
        </p:nvPicPr>
        <p:blipFill>
          <a:blip r:embed="rId3">
            <a:alphaModFix/>
          </a:blip>
          <a:stretch>
            <a:fillRect/>
          </a:stretch>
        </p:blipFill>
        <p:spPr>
          <a:xfrm>
            <a:off x="676100" y="2363865"/>
            <a:ext cx="5427660" cy="2463259"/>
          </a:xfrm>
          <a:prstGeom prst="rect">
            <a:avLst/>
          </a:prstGeom>
          <a:noFill/>
          <a:ln>
            <a:noFill/>
          </a:ln>
        </p:spPr>
      </p:pic>
      <p:pic>
        <p:nvPicPr>
          <p:cNvPr id="801" name="Google Shape;801;p22"/>
          <p:cNvPicPr preferRelativeResize="0"/>
          <p:nvPr/>
        </p:nvPicPr>
        <p:blipFill>
          <a:blip r:embed="rId4">
            <a:alphaModFix/>
          </a:blip>
          <a:stretch>
            <a:fillRect/>
          </a:stretch>
        </p:blipFill>
        <p:spPr>
          <a:xfrm>
            <a:off x="6177600" y="2418466"/>
            <a:ext cx="5570000" cy="240865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6"/>
        <p:cNvGrpSpPr/>
        <p:nvPr/>
      </p:nvGrpSpPr>
      <p:grpSpPr>
        <a:xfrm>
          <a:off x="0" y="0"/>
          <a:ext cx="0" cy="0"/>
          <a:chOff x="0" y="0"/>
          <a:chExt cx="0" cy="0"/>
        </a:xfrm>
      </p:grpSpPr>
      <p:sp>
        <p:nvSpPr>
          <p:cNvPr id="807" name="Google Shape;807;p23"/>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8 · CẤU HÌNH THÔNG BÁO</a:t>
            </a:r>
            <a:endParaRPr/>
          </a:p>
        </p:txBody>
      </p:sp>
      <p:sp>
        <p:nvSpPr>
          <p:cNvPr id="808" name="Google Shape;808;p23"/>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Cấu hình thông báo </a:t>
            </a:r>
            <a:endParaRPr/>
          </a:p>
        </p:txBody>
      </p:sp>
      <p:sp>
        <p:nvSpPr>
          <p:cNvPr id="809" name="Google Shape;809;p23"/>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0" name="Google Shape;810;p23"/>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rPr>
              <a:t>MENU</a:t>
            </a:r>
            <a:endParaRPr/>
          </a:p>
        </p:txBody>
      </p:sp>
      <p:sp>
        <p:nvSpPr>
          <p:cNvPr id="811" name="Google Shape;811;p23"/>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812" name="Google Shape;812;p23"/>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813" name="Google Shape;813;p23"/>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814" name="Google Shape;814;p23"/>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815" name="Google Shape;815;p23"/>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816" name="Google Shape;816;p23"/>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817" name="Google Shape;817;p23"/>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818" name="Google Shape;818;p23"/>
          <p:cNvSpPr/>
          <p:nvPr/>
        </p:nvSpPr>
        <p:spPr>
          <a:xfrm>
            <a:off x="110236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8</a:t>
            </a:r>
            <a:endParaRPr/>
          </a:p>
        </p:txBody>
      </p:sp>
      <p:sp>
        <p:nvSpPr>
          <p:cNvPr id="819" name="Google Shape;819;p23"/>
          <p:cNvSpPr/>
          <p:nvPr/>
        </p:nvSpPr>
        <p:spPr>
          <a:xfrm>
            <a:off x="11328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9</a:t>
            </a:r>
            <a:endParaRPr/>
          </a:p>
        </p:txBody>
      </p:sp>
      <p:sp>
        <p:nvSpPr>
          <p:cNvPr id="820" name="Google Shape;820;p23"/>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Cấu hình thông báo › Danh sách cấu hình · Lịch sử thông báo</a:t>
            </a:r>
            <a:endParaRPr/>
          </a:p>
        </p:txBody>
      </p:sp>
      <p:sp>
        <p:nvSpPr>
          <p:cNvPr id="821" name="Google Shape;821;p23"/>
          <p:cNvSpPr txBox="1"/>
          <p:nvPr/>
        </p:nvSpPr>
        <p:spPr>
          <a:xfrm>
            <a:off x="635000" y="1529834"/>
            <a:ext cx="10972800" cy="369332"/>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dirty="0" err="1">
                <a:solidFill>
                  <a:srgbClr val="1E3A8A"/>
                </a:solidFill>
              </a:rPr>
              <a:t>Ứng</a:t>
            </a:r>
            <a:r>
              <a:rPr lang="en-US" sz="1300" b="1" dirty="0">
                <a:solidFill>
                  <a:srgbClr val="1E3A8A"/>
                </a:solidFill>
              </a:rPr>
              <a:t> </a:t>
            </a:r>
            <a:r>
              <a:rPr lang="en-US" sz="1300" b="1" dirty="0" err="1">
                <a:solidFill>
                  <a:srgbClr val="1E3A8A"/>
                </a:solidFill>
              </a:rPr>
              <a:t>dụng</a:t>
            </a:r>
            <a:r>
              <a:rPr lang="en-US" sz="1300" b="1" dirty="0">
                <a:solidFill>
                  <a:srgbClr val="1E3A8A"/>
                </a:solidFill>
              </a:rPr>
              <a:t> </a:t>
            </a:r>
            <a:r>
              <a:rPr lang="en-US" sz="1300" b="1" dirty="0" err="1">
                <a:solidFill>
                  <a:srgbClr val="1E3A8A"/>
                </a:solidFill>
              </a:rPr>
              <a:t>thực</a:t>
            </a:r>
            <a:r>
              <a:rPr lang="en-US" sz="1300" b="1" dirty="0">
                <a:solidFill>
                  <a:srgbClr val="1E3A8A"/>
                </a:solidFill>
              </a:rPr>
              <a:t> </a:t>
            </a:r>
            <a:r>
              <a:rPr lang="en-US" sz="1300" b="1" dirty="0" err="1">
                <a:solidFill>
                  <a:srgbClr val="1E3A8A"/>
                </a:solidFill>
              </a:rPr>
              <a:t>tế</a:t>
            </a:r>
            <a:r>
              <a:rPr lang="en-US" sz="1300" b="1" dirty="0">
                <a:solidFill>
                  <a:srgbClr val="1E3A8A"/>
                </a:solidFill>
              </a:rPr>
              <a:t>:</a:t>
            </a:r>
            <a:r>
              <a:rPr lang="en-US" sz="1300" b="1" dirty="0">
                <a:solidFill>
                  <a:schemeClr val="dk1"/>
                </a:solidFill>
              </a:rPr>
              <a:t> </a:t>
            </a:r>
            <a:r>
              <a:rPr lang="en-US" sz="1100" dirty="0" err="1">
                <a:solidFill>
                  <a:schemeClr val="dk1"/>
                </a:solidFill>
              </a:rPr>
              <a:t>Thiết</a:t>
            </a:r>
            <a:r>
              <a:rPr lang="en-US" sz="1100" dirty="0">
                <a:solidFill>
                  <a:schemeClr val="dk1"/>
                </a:solidFill>
              </a:rPr>
              <a:t> </a:t>
            </a:r>
            <a:r>
              <a:rPr lang="en-US" sz="1100" dirty="0" err="1">
                <a:solidFill>
                  <a:schemeClr val="dk1"/>
                </a:solidFill>
              </a:rPr>
              <a:t>lập</a:t>
            </a:r>
            <a:r>
              <a:rPr lang="en-US" sz="1100" dirty="0">
                <a:solidFill>
                  <a:schemeClr val="dk1"/>
                </a:solidFill>
              </a:rPr>
              <a:t> </a:t>
            </a:r>
            <a:r>
              <a:rPr lang="en-US" sz="1100" dirty="0" err="1">
                <a:solidFill>
                  <a:schemeClr val="dk1"/>
                </a:solidFill>
              </a:rPr>
              <a:t>hình</a:t>
            </a:r>
            <a:r>
              <a:rPr lang="en-US" sz="1100" dirty="0">
                <a:solidFill>
                  <a:schemeClr val="dk1"/>
                </a:solidFill>
              </a:rPr>
              <a:t> </a:t>
            </a:r>
            <a:r>
              <a:rPr lang="en-US" sz="1100" dirty="0" err="1">
                <a:solidFill>
                  <a:schemeClr val="dk1"/>
                </a:solidFill>
              </a:rPr>
              <a:t>thức</a:t>
            </a:r>
            <a:r>
              <a:rPr lang="en-US" sz="1100" dirty="0">
                <a:solidFill>
                  <a:schemeClr val="dk1"/>
                </a:solidFill>
              </a:rPr>
              <a:t> </a:t>
            </a:r>
            <a:r>
              <a:rPr lang="en-US" sz="1100" dirty="0" err="1">
                <a:solidFill>
                  <a:schemeClr val="dk1"/>
                </a:solidFill>
              </a:rPr>
              <a:t>cảnh</a:t>
            </a:r>
            <a:r>
              <a:rPr lang="en-US" sz="1100" dirty="0">
                <a:solidFill>
                  <a:schemeClr val="dk1"/>
                </a:solidFill>
              </a:rPr>
              <a:t> </a:t>
            </a:r>
            <a:r>
              <a:rPr lang="en-US" sz="1100" dirty="0" err="1">
                <a:solidFill>
                  <a:schemeClr val="dk1"/>
                </a:solidFill>
              </a:rPr>
              <a:t>báo</a:t>
            </a:r>
            <a:r>
              <a:rPr lang="en-US" sz="1100" dirty="0">
                <a:solidFill>
                  <a:schemeClr val="dk1"/>
                </a:solidFill>
              </a:rPr>
              <a:t> </a:t>
            </a:r>
            <a:r>
              <a:rPr lang="en-US" sz="1100" dirty="0" err="1">
                <a:solidFill>
                  <a:schemeClr val="dk1"/>
                </a:solidFill>
              </a:rPr>
              <a:t>tương</a:t>
            </a:r>
            <a:r>
              <a:rPr lang="en-US" sz="1100" dirty="0">
                <a:solidFill>
                  <a:schemeClr val="dk1"/>
                </a:solidFill>
              </a:rPr>
              <a:t> </a:t>
            </a:r>
            <a:r>
              <a:rPr lang="en-US" sz="1100" dirty="0" err="1">
                <a:solidFill>
                  <a:schemeClr val="dk1"/>
                </a:solidFill>
              </a:rPr>
              <a:t>ứng</a:t>
            </a:r>
            <a:r>
              <a:rPr lang="en-US" sz="1100" dirty="0">
                <a:solidFill>
                  <a:schemeClr val="dk1"/>
                </a:solidFill>
              </a:rPr>
              <a:t> </a:t>
            </a:r>
            <a:r>
              <a:rPr lang="en-US" sz="1100" dirty="0" err="1">
                <a:solidFill>
                  <a:schemeClr val="dk1"/>
                </a:solidFill>
              </a:rPr>
              <a:t>với</a:t>
            </a:r>
            <a:r>
              <a:rPr lang="en-US" sz="1100" dirty="0">
                <a:solidFill>
                  <a:schemeClr val="dk1"/>
                </a:solidFill>
              </a:rPr>
              <a:t> </a:t>
            </a:r>
            <a:r>
              <a:rPr lang="en-US" sz="1100" dirty="0" err="1">
                <a:solidFill>
                  <a:schemeClr val="dk1"/>
                </a:solidFill>
              </a:rPr>
              <a:t>từng</a:t>
            </a:r>
            <a:r>
              <a:rPr lang="en-US" sz="1100" dirty="0">
                <a:solidFill>
                  <a:schemeClr val="dk1"/>
                </a:solidFill>
              </a:rPr>
              <a:t> </a:t>
            </a:r>
            <a:r>
              <a:rPr lang="en-US" sz="1100" dirty="0" err="1">
                <a:solidFill>
                  <a:schemeClr val="dk1"/>
                </a:solidFill>
              </a:rPr>
              <a:t>loại</a:t>
            </a:r>
            <a:r>
              <a:rPr lang="en-US" sz="1100" dirty="0">
                <a:solidFill>
                  <a:schemeClr val="dk1"/>
                </a:solidFill>
              </a:rPr>
              <a:t> </a:t>
            </a:r>
            <a:r>
              <a:rPr lang="en-US" sz="1100" dirty="0" err="1">
                <a:solidFill>
                  <a:schemeClr val="dk1"/>
                </a:solidFill>
              </a:rPr>
              <a:t>sự</a:t>
            </a:r>
            <a:r>
              <a:rPr lang="en-US" sz="1100" dirty="0">
                <a:solidFill>
                  <a:schemeClr val="dk1"/>
                </a:solidFill>
              </a:rPr>
              <a:t> </a:t>
            </a:r>
            <a:r>
              <a:rPr lang="en-US" sz="1100" dirty="0" err="1">
                <a:solidFill>
                  <a:schemeClr val="dk1"/>
                </a:solidFill>
              </a:rPr>
              <a:t>kiện</a:t>
            </a:r>
            <a:r>
              <a:rPr lang="en-US" sz="1100" dirty="0">
                <a:solidFill>
                  <a:schemeClr val="dk1"/>
                </a:solidFill>
              </a:rPr>
              <a:t>, </a:t>
            </a:r>
            <a:r>
              <a:rPr lang="en-US" sz="1100" dirty="0" err="1">
                <a:solidFill>
                  <a:schemeClr val="dk1"/>
                </a:solidFill>
              </a:rPr>
              <a:t>xác</a:t>
            </a:r>
            <a:r>
              <a:rPr lang="en-US" sz="1100" dirty="0">
                <a:solidFill>
                  <a:schemeClr val="dk1"/>
                </a:solidFill>
              </a:rPr>
              <a:t> </a:t>
            </a:r>
            <a:r>
              <a:rPr lang="en-US" sz="1100" dirty="0" err="1">
                <a:solidFill>
                  <a:schemeClr val="dk1"/>
                </a:solidFill>
              </a:rPr>
              <a:t>định</a:t>
            </a:r>
            <a:r>
              <a:rPr lang="en-US" sz="1100" dirty="0">
                <a:solidFill>
                  <a:schemeClr val="dk1"/>
                </a:solidFill>
              </a:rPr>
              <a:t> </a:t>
            </a:r>
            <a:r>
              <a:rPr lang="en-US" sz="1100" dirty="0" err="1">
                <a:solidFill>
                  <a:schemeClr val="dk1"/>
                </a:solidFill>
              </a:rPr>
              <a:t>người</a:t>
            </a:r>
            <a:r>
              <a:rPr lang="en-US" sz="1100" dirty="0">
                <a:solidFill>
                  <a:schemeClr val="dk1"/>
                </a:solidFill>
              </a:rPr>
              <a:t> </a:t>
            </a:r>
            <a:r>
              <a:rPr lang="en-US" sz="1100" dirty="0" err="1">
                <a:solidFill>
                  <a:schemeClr val="dk1"/>
                </a:solidFill>
              </a:rPr>
              <a:t>nhận</a:t>
            </a:r>
            <a:r>
              <a:rPr lang="en-US" sz="1100" dirty="0">
                <a:solidFill>
                  <a:schemeClr val="dk1"/>
                </a:solidFill>
              </a:rPr>
              <a:t> </a:t>
            </a:r>
            <a:r>
              <a:rPr lang="en-US" sz="1100" dirty="0" err="1">
                <a:solidFill>
                  <a:schemeClr val="dk1"/>
                </a:solidFill>
              </a:rPr>
              <a:t>và</a:t>
            </a:r>
            <a:r>
              <a:rPr lang="en-US" sz="1100" dirty="0">
                <a:solidFill>
                  <a:schemeClr val="dk1"/>
                </a:solidFill>
              </a:rPr>
              <a:t> </a:t>
            </a:r>
            <a:r>
              <a:rPr lang="en-US" sz="1100" dirty="0" err="1">
                <a:solidFill>
                  <a:schemeClr val="dk1"/>
                </a:solidFill>
              </a:rPr>
              <a:t>kênh</a:t>
            </a:r>
            <a:r>
              <a:rPr lang="en-US" sz="1100" dirty="0">
                <a:solidFill>
                  <a:schemeClr val="dk1"/>
                </a:solidFill>
              </a:rPr>
              <a:t> </a:t>
            </a:r>
            <a:r>
              <a:rPr lang="en-US" sz="1100" dirty="0" err="1">
                <a:solidFill>
                  <a:schemeClr val="dk1"/>
                </a:solidFill>
              </a:rPr>
              <a:t>thông</a:t>
            </a:r>
            <a:r>
              <a:rPr lang="en-US" sz="1100" dirty="0">
                <a:solidFill>
                  <a:schemeClr val="dk1"/>
                </a:solidFill>
              </a:rPr>
              <a:t> </a:t>
            </a:r>
            <a:r>
              <a:rPr lang="en-US" sz="1100" dirty="0" err="1">
                <a:solidFill>
                  <a:schemeClr val="dk1"/>
                </a:solidFill>
              </a:rPr>
              <a:t>báo</a:t>
            </a:r>
            <a:r>
              <a:rPr lang="en-US" sz="1100" dirty="0">
                <a:solidFill>
                  <a:schemeClr val="dk1"/>
                </a:solidFill>
              </a:rPr>
              <a:t> </a:t>
            </a:r>
            <a:r>
              <a:rPr lang="en-US" sz="1100" dirty="0" err="1">
                <a:solidFill>
                  <a:schemeClr val="dk1"/>
                </a:solidFill>
              </a:rPr>
              <a:t>để</a:t>
            </a:r>
            <a:r>
              <a:rPr lang="en-US" sz="1100" dirty="0">
                <a:solidFill>
                  <a:schemeClr val="dk1"/>
                </a:solidFill>
              </a:rPr>
              <a:t> </a:t>
            </a:r>
            <a:r>
              <a:rPr lang="en-US" sz="1100" dirty="0" err="1">
                <a:solidFill>
                  <a:schemeClr val="dk1"/>
                </a:solidFill>
              </a:rPr>
              <a:t>phù</a:t>
            </a:r>
            <a:r>
              <a:rPr lang="en-US" sz="1100" dirty="0">
                <a:solidFill>
                  <a:schemeClr val="dk1"/>
                </a:solidFill>
              </a:rPr>
              <a:t> </a:t>
            </a:r>
            <a:r>
              <a:rPr lang="en-US" sz="1100" dirty="0" err="1">
                <a:solidFill>
                  <a:schemeClr val="dk1"/>
                </a:solidFill>
              </a:rPr>
              <a:t>hợp</a:t>
            </a:r>
            <a:r>
              <a:rPr lang="en-US" sz="1100" dirty="0">
                <a:solidFill>
                  <a:schemeClr val="dk1"/>
                </a:solidFill>
              </a:rPr>
              <a:t> </a:t>
            </a:r>
            <a:r>
              <a:rPr lang="en-US" sz="1100" dirty="0" err="1">
                <a:solidFill>
                  <a:schemeClr val="dk1"/>
                </a:solidFill>
              </a:rPr>
              <a:t>với</a:t>
            </a:r>
            <a:r>
              <a:rPr lang="en-US" sz="1100" dirty="0">
                <a:solidFill>
                  <a:schemeClr val="dk1"/>
                </a:solidFill>
              </a:rPr>
              <a:t> </a:t>
            </a:r>
            <a:r>
              <a:rPr lang="en-US" sz="1100" dirty="0" err="1">
                <a:solidFill>
                  <a:schemeClr val="dk1"/>
                </a:solidFill>
              </a:rPr>
              <a:t>nhu</a:t>
            </a:r>
            <a:r>
              <a:rPr lang="en-US" sz="1100" dirty="0">
                <a:solidFill>
                  <a:schemeClr val="dk1"/>
                </a:solidFill>
              </a:rPr>
              <a:t> </a:t>
            </a:r>
            <a:r>
              <a:rPr lang="en-US" sz="1100" dirty="0" err="1">
                <a:solidFill>
                  <a:schemeClr val="dk1"/>
                </a:solidFill>
              </a:rPr>
              <a:t>cầu</a:t>
            </a:r>
            <a:r>
              <a:rPr lang="en-US" sz="1100" dirty="0">
                <a:solidFill>
                  <a:schemeClr val="dk1"/>
                </a:solidFill>
              </a:rPr>
              <a:t> </a:t>
            </a:r>
            <a:r>
              <a:rPr lang="en-US" sz="1100" dirty="0" err="1">
                <a:solidFill>
                  <a:schemeClr val="dk1"/>
                </a:solidFill>
              </a:rPr>
              <a:t>giám</a:t>
            </a:r>
            <a:r>
              <a:rPr lang="en-US" sz="1100" dirty="0">
                <a:solidFill>
                  <a:schemeClr val="dk1"/>
                </a:solidFill>
              </a:rPr>
              <a:t> </a:t>
            </a:r>
            <a:r>
              <a:rPr lang="en-US" sz="1100" dirty="0" err="1">
                <a:solidFill>
                  <a:schemeClr val="dk1"/>
                </a:solidFill>
              </a:rPr>
              <a:t>sát</a:t>
            </a:r>
            <a:r>
              <a:rPr lang="en-US" sz="1100" dirty="0">
                <a:solidFill>
                  <a:schemeClr val="dk1"/>
                </a:solidFill>
              </a:rPr>
              <a:t>, </a:t>
            </a:r>
            <a:r>
              <a:rPr lang="en-US" sz="1100" dirty="0" err="1">
                <a:solidFill>
                  <a:schemeClr val="dk1"/>
                </a:solidFill>
              </a:rPr>
              <a:t>xử</a:t>
            </a:r>
            <a:r>
              <a:rPr lang="en-US" sz="1100" dirty="0">
                <a:solidFill>
                  <a:schemeClr val="dk1"/>
                </a:solidFill>
              </a:rPr>
              <a:t> </a:t>
            </a:r>
            <a:r>
              <a:rPr lang="en-US" sz="1100" dirty="0" err="1">
                <a:solidFill>
                  <a:schemeClr val="dk1"/>
                </a:solidFill>
              </a:rPr>
              <a:t>lý</a:t>
            </a:r>
            <a:r>
              <a:rPr lang="en-US" sz="1100" dirty="0">
                <a:solidFill>
                  <a:schemeClr val="dk1"/>
                </a:solidFill>
              </a:rPr>
              <a:t> </a:t>
            </a:r>
            <a:r>
              <a:rPr lang="en-US" sz="1100" dirty="0" err="1">
                <a:solidFill>
                  <a:schemeClr val="dk1"/>
                </a:solidFill>
              </a:rPr>
              <a:t>của</a:t>
            </a:r>
            <a:r>
              <a:rPr lang="en-US" sz="1100" dirty="0">
                <a:solidFill>
                  <a:schemeClr val="dk1"/>
                </a:solidFill>
              </a:rPr>
              <a:t> </a:t>
            </a:r>
            <a:r>
              <a:rPr lang="en-US" sz="1100" dirty="0" err="1">
                <a:solidFill>
                  <a:schemeClr val="dk1"/>
                </a:solidFill>
              </a:rPr>
              <a:t>từng</a:t>
            </a:r>
            <a:r>
              <a:rPr lang="en-US" sz="1100" dirty="0">
                <a:solidFill>
                  <a:schemeClr val="dk1"/>
                </a:solidFill>
              </a:rPr>
              <a:t> </a:t>
            </a:r>
            <a:r>
              <a:rPr lang="en-US" sz="1100" dirty="0" err="1">
                <a:solidFill>
                  <a:schemeClr val="dk1"/>
                </a:solidFill>
              </a:rPr>
              <a:t>đơn</a:t>
            </a:r>
            <a:r>
              <a:rPr lang="en-US" sz="1100" dirty="0">
                <a:solidFill>
                  <a:schemeClr val="dk1"/>
                </a:solidFill>
              </a:rPr>
              <a:t> </a:t>
            </a:r>
            <a:r>
              <a:rPr lang="en-US" sz="1100" dirty="0" err="1">
                <a:solidFill>
                  <a:schemeClr val="dk1"/>
                </a:solidFill>
              </a:rPr>
              <a:t>vị</a:t>
            </a:r>
            <a:r>
              <a:rPr lang="en-US" sz="1100" dirty="0">
                <a:solidFill>
                  <a:schemeClr val="dk1"/>
                </a:solidFill>
              </a:rPr>
              <a:t>, </a:t>
            </a:r>
            <a:r>
              <a:rPr lang="en-US" sz="1100" dirty="0" err="1">
                <a:solidFill>
                  <a:schemeClr val="dk1"/>
                </a:solidFill>
              </a:rPr>
              <a:t>từng</a:t>
            </a:r>
            <a:r>
              <a:rPr lang="en-US" sz="1100" dirty="0">
                <a:solidFill>
                  <a:schemeClr val="dk1"/>
                </a:solidFill>
              </a:rPr>
              <a:t> </a:t>
            </a:r>
            <a:r>
              <a:rPr lang="en-US" sz="1100" dirty="0" err="1">
                <a:solidFill>
                  <a:schemeClr val="dk1"/>
                </a:solidFill>
              </a:rPr>
              <a:t>nhiệm</a:t>
            </a:r>
            <a:r>
              <a:rPr lang="en-US" sz="1100" dirty="0">
                <a:solidFill>
                  <a:schemeClr val="dk1"/>
                </a:solidFill>
              </a:rPr>
              <a:t> </a:t>
            </a:r>
            <a:r>
              <a:rPr lang="en-US" sz="1100" dirty="0" err="1">
                <a:solidFill>
                  <a:schemeClr val="dk1"/>
                </a:solidFill>
              </a:rPr>
              <a:t>vụ</a:t>
            </a:r>
            <a:r>
              <a:rPr lang="en-US" sz="1100" dirty="0">
                <a:solidFill>
                  <a:schemeClr val="dk1"/>
                </a:solidFill>
              </a:rPr>
              <a:t> </a:t>
            </a:r>
            <a:r>
              <a:rPr lang="en-US" sz="1100" dirty="0" err="1">
                <a:solidFill>
                  <a:schemeClr val="dk1"/>
                </a:solidFill>
              </a:rPr>
              <a:t>được</a:t>
            </a:r>
            <a:r>
              <a:rPr lang="en-US" sz="1100" dirty="0">
                <a:solidFill>
                  <a:schemeClr val="dk1"/>
                </a:solidFill>
              </a:rPr>
              <a:t> </a:t>
            </a:r>
            <a:r>
              <a:rPr lang="en-US" sz="1100" dirty="0" err="1">
                <a:solidFill>
                  <a:schemeClr val="dk1"/>
                </a:solidFill>
              </a:rPr>
              <a:t>phân</a:t>
            </a:r>
            <a:r>
              <a:rPr lang="en-US" sz="1100" dirty="0">
                <a:solidFill>
                  <a:schemeClr val="dk1"/>
                </a:solidFill>
              </a:rPr>
              <a:t> </a:t>
            </a:r>
            <a:r>
              <a:rPr lang="en-US" sz="1100" dirty="0" err="1">
                <a:solidFill>
                  <a:schemeClr val="dk1"/>
                </a:solidFill>
              </a:rPr>
              <a:t>công</a:t>
            </a:r>
            <a:endParaRPr sz="1100" dirty="0">
              <a:solidFill>
                <a:schemeClr val="dk1"/>
              </a:solidFill>
            </a:endParaRPr>
          </a:p>
          <a:p>
            <a:pPr marL="0" marR="0" lvl="0" indent="0" algn="l" rtl="0">
              <a:spcBef>
                <a:spcPts val="400"/>
              </a:spcBef>
              <a:spcAft>
                <a:spcPts val="0"/>
              </a:spcAft>
              <a:buNone/>
            </a:pPr>
            <a:endParaRPr sz="1300" b="1" dirty="0">
              <a:solidFill>
                <a:srgbClr val="1E3A8A"/>
              </a:solidFill>
              <a:latin typeface="Quattrocento Sans"/>
              <a:ea typeface="Quattrocento Sans"/>
              <a:cs typeface="Quattrocento Sans"/>
              <a:sym typeface="Quattrocento Sans"/>
            </a:endParaRPr>
          </a:p>
        </p:txBody>
      </p:sp>
      <p:sp>
        <p:nvSpPr>
          <p:cNvPr id="822" name="Google Shape;822;p23"/>
          <p:cNvSpPr/>
          <p:nvPr/>
        </p:nvSpPr>
        <p:spPr>
          <a:xfrm>
            <a:off x="635000" y="4765250"/>
            <a:ext cx="2628900" cy="17634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3" name="Google Shape;823;p23"/>
          <p:cNvSpPr/>
          <p:nvPr/>
        </p:nvSpPr>
        <p:spPr>
          <a:xfrm>
            <a:off x="762000" y="4866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824" name="Google Shape;824;p23"/>
          <p:cNvSpPr txBox="1"/>
          <p:nvPr/>
        </p:nvSpPr>
        <p:spPr>
          <a:xfrm>
            <a:off x="1193800" y="4904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Chọn sự kiện cảnh báo </a:t>
            </a:r>
            <a:endParaRPr/>
          </a:p>
        </p:txBody>
      </p:sp>
      <p:sp>
        <p:nvSpPr>
          <p:cNvPr id="825" name="Google Shape;825;p23"/>
          <p:cNvSpPr txBox="1"/>
          <p:nvPr/>
        </p:nvSpPr>
        <p:spPr>
          <a:xfrm>
            <a:off x="787400" y="5298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Lựa chọn loại sự kiện cần áp dụng cấu hình cảnh báo. </a:t>
            </a:r>
            <a:endParaRPr sz="1050">
              <a:solidFill>
                <a:srgbClr val="1F2937"/>
              </a:solidFill>
            </a:endParaRPr>
          </a:p>
        </p:txBody>
      </p:sp>
      <p:sp>
        <p:nvSpPr>
          <p:cNvPr id="826" name="Google Shape;826;p23"/>
          <p:cNvSpPr/>
          <p:nvPr/>
        </p:nvSpPr>
        <p:spPr>
          <a:xfrm>
            <a:off x="3416300" y="4765250"/>
            <a:ext cx="2628900" cy="17634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7" name="Google Shape;827;p23"/>
          <p:cNvSpPr/>
          <p:nvPr/>
        </p:nvSpPr>
        <p:spPr>
          <a:xfrm>
            <a:off x="3543300" y="4866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828" name="Google Shape;828;p23"/>
          <p:cNvSpPr txBox="1"/>
          <p:nvPr/>
        </p:nvSpPr>
        <p:spPr>
          <a:xfrm>
            <a:off x="3975100" y="4904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Thiết lập người nhận </a:t>
            </a:r>
            <a:endParaRPr/>
          </a:p>
        </p:txBody>
      </p:sp>
      <p:sp>
        <p:nvSpPr>
          <p:cNvPr id="829" name="Google Shape;829;p23"/>
          <p:cNvSpPr txBox="1"/>
          <p:nvPr/>
        </p:nvSpPr>
        <p:spPr>
          <a:xfrm>
            <a:off x="3568700" y="5298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Xác định người dùng hoặc đối tượng nhận cảnh báo theo cấu hình. </a:t>
            </a:r>
            <a:endParaRPr sz="1050">
              <a:solidFill>
                <a:srgbClr val="1F2937"/>
              </a:solidFill>
            </a:endParaRPr>
          </a:p>
        </p:txBody>
      </p:sp>
      <p:sp>
        <p:nvSpPr>
          <p:cNvPr id="830" name="Google Shape;830;p23"/>
          <p:cNvSpPr/>
          <p:nvPr/>
        </p:nvSpPr>
        <p:spPr>
          <a:xfrm>
            <a:off x="6197600" y="4765250"/>
            <a:ext cx="2628900" cy="17634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1" name="Google Shape;831;p23"/>
          <p:cNvSpPr/>
          <p:nvPr/>
        </p:nvSpPr>
        <p:spPr>
          <a:xfrm>
            <a:off x="6324600" y="4866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832" name="Google Shape;832;p23"/>
          <p:cNvSpPr txBox="1"/>
          <p:nvPr/>
        </p:nvSpPr>
        <p:spPr>
          <a:xfrm>
            <a:off x="6756400" y="4904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Cấu hình hình thức cảnh báo </a:t>
            </a:r>
            <a:endParaRPr/>
          </a:p>
        </p:txBody>
      </p:sp>
      <p:sp>
        <p:nvSpPr>
          <p:cNvPr id="833" name="Google Shape;833;p23"/>
          <p:cNvSpPr txBox="1"/>
          <p:nvPr/>
        </p:nvSpPr>
        <p:spPr>
          <a:xfrm>
            <a:off x="6350000" y="5298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Thiết lập một hoặc nhiều kênh cảnh báo cho cùng một loại sự kiện, như Web, Email, SMS hoặc Zalo, theo nhu cầu sử dụng. </a:t>
            </a:r>
            <a:endParaRPr/>
          </a:p>
        </p:txBody>
      </p:sp>
      <p:sp>
        <p:nvSpPr>
          <p:cNvPr id="834" name="Google Shape;834;p23"/>
          <p:cNvSpPr/>
          <p:nvPr/>
        </p:nvSpPr>
        <p:spPr>
          <a:xfrm>
            <a:off x="8978900" y="4765250"/>
            <a:ext cx="2628900" cy="17634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5" name="Google Shape;835;p23"/>
          <p:cNvSpPr/>
          <p:nvPr/>
        </p:nvSpPr>
        <p:spPr>
          <a:xfrm>
            <a:off x="9105900" y="486685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836" name="Google Shape;836;p23"/>
          <p:cNvSpPr txBox="1"/>
          <p:nvPr/>
        </p:nvSpPr>
        <p:spPr>
          <a:xfrm>
            <a:off x="9537700" y="490495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Theo dõi lịch sử thông báo </a:t>
            </a:r>
            <a:endParaRPr/>
          </a:p>
        </p:txBody>
      </p:sp>
      <p:sp>
        <p:nvSpPr>
          <p:cNvPr id="837" name="Google Shape;837;p23"/>
          <p:cNvSpPr txBox="1"/>
          <p:nvPr/>
        </p:nvSpPr>
        <p:spPr>
          <a:xfrm>
            <a:off x="9131300" y="529865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a:solidFill>
                  <a:srgbClr val="1F2937"/>
                </a:solidFill>
              </a:rPr>
              <a:t>Tra cứu trạng thái gửi và thông tin liên quan của các thông báo đã phát sinh. </a:t>
            </a:r>
            <a:endParaRPr/>
          </a:p>
        </p:txBody>
      </p:sp>
      <p:pic>
        <p:nvPicPr>
          <p:cNvPr id="838" name="Google Shape;838;p23"/>
          <p:cNvPicPr preferRelativeResize="0"/>
          <p:nvPr/>
        </p:nvPicPr>
        <p:blipFill>
          <a:blip r:embed="rId3">
            <a:alphaModFix/>
          </a:blip>
          <a:stretch>
            <a:fillRect/>
          </a:stretch>
        </p:blipFill>
        <p:spPr>
          <a:xfrm>
            <a:off x="986317" y="2357628"/>
            <a:ext cx="4589311" cy="2142746"/>
          </a:xfrm>
          <a:prstGeom prst="rect">
            <a:avLst/>
          </a:prstGeom>
          <a:noFill/>
          <a:ln>
            <a:noFill/>
          </a:ln>
        </p:spPr>
      </p:pic>
      <p:pic>
        <p:nvPicPr>
          <p:cNvPr id="839" name="Google Shape;839;p23"/>
          <p:cNvPicPr preferRelativeResize="0"/>
          <p:nvPr/>
        </p:nvPicPr>
        <p:blipFill>
          <a:blip r:embed="rId4">
            <a:alphaModFix/>
          </a:blip>
          <a:stretch>
            <a:fillRect/>
          </a:stretch>
        </p:blipFill>
        <p:spPr>
          <a:xfrm>
            <a:off x="5883988" y="2357627"/>
            <a:ext cx="4834812" cy="214274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4"/>
        <p:cNvGrpSpPr/>
        <p:nvPr/>
      </p:nvGrpSpPr>
      <p:grpSpPr>
        <a:xfrm>
          <a:off x="0" y="0"/>
          <a:ext cx="0" cy="0"/>
          <a:chOff x="0" y="0"/>
          <a:chExt cx="0" cy="0"/>
        </a:xfrm>
      </p:grpSpPr>
      <p:sp>
        <p:nvSpPr>
          <p:cNvPr id="845" name="Google Shape;845;p24"/>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MENU 9 · THÔNG BÁO</a:t>
            </a:r>
            <a:endParaRPr/>
          </a:p>
        </p:txBody>
      </p:sp>
      <p:sp>
        <p:nvSpPr>
          <p:cNvPr id="846" name="Google Shape;846;p24"/>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Thông báo – Tiếp nhận và tra cứu cảnh báo </a:t>
            </a:r>
            <a:endParaRPr sz="2600" b="1">
              <a:solidFill>
                <a:srgbClr val="1E3A8A"/>
              </a:solidFill>
            </a:endParaRPr>
          </a:p>
        </p:txBody>
      </p:sp>
      <p:sp>
        <p:nvSpPr>
          <p:cNvPr id="847" name="Google Shape;847;p24"/>
          <p:cNvSpPr/>
          <p:nvPr/>
        </p:nvSpPr>
        <p:spPr>
          <a:xfrm>
            <a:off x="609600" y="1168400"/>
            <a:ext cx="711200" cy="50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8" name="Google Shape;848;p24"/>
          <p:cNvSpPr txBox="1"/>
          <p:nvPr/>
        </p:nvSpPr>
        <p:spPr>
          <a:xfrm>
            <a:off x="8128000" y="381000"/>
            <a:ext cx="660400" cy="36933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800" b="1">
                <a:solidFill>
                  <a:srgbClr val="6B7280"/>
                </a:solidFill>
                <a:latin typeface="Quattrocento Sans"/>
                <a:ea typeface="Quattrocento Sans"/>
                <a:cs typeface="Quattrocento Sans"/>
                <a:sym typeface="Quattrocento Sans"/>
              </a:rPr>
              <a:t>MENU</a:t>
            </a:r>
            <a:endParaRPr/>
          </a:p>
        </p:txBody>
      </p:sp>
      <p:sp>
        <p:nvSpPr>
          <p:cNvPr id="849" name="Google Shape;849;p24"/>
          <p:cNvSpPr/>
          <p:nvPr/>
        </p:nvSpPr>
        <p:spPr>
          <a:xfrm>
            <a:off x="8890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1</a:t>
            </a:r>
            <a:endParaRPr/>
          </a:p>
        </p:txBody>
      </p:sp>
      <p:sp>
        <p:nvSpPr>
          <p:cNvPr id="850" name="Google Shape;850;p24"/>
          <p:cNvSpPr/>
          <p:nvPr/>
        </p:nvSpPr>
        <p:spPr>
          <a:xfrm>
            <a:off x="9194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2</a:t>
            </a:r>
            <a:endParaRPr/>
          </a:p>
        </p:txBody>
      </p:sp>
      <p:sp>
        <p:nvSpPr>
          <p:cNvPr id="851" name="Google Shape;851;p24"/>
          <p:cNvSpPr/>
          <p:nvPr/>
        </p:nvSpPr>
        <p:spPr>
          <a:xfrm>
            <a:off x="9499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3</a:t>
            </a:r>
            <a:endParaRPr/>
          </a:p>
        </p:txBody>
      </p:sp>
      <p:sp>
        <p:nvSpPr>
          <p:cNvPr id="852" name="Google Shape;852;p24"/>
          <p:cNvSpPr/>
          <p:nvPr/>
        </p:nvSpPr>
        <p:spPr>
          <a:xfrm>
            <a:off x="98044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4</a:t>
            </a:r>
            <a:endParaRPr/>
          </a:p>
        </p:txBody>
      </p:sp>
      <p:sp>
        <p:nvSpPr>
          <p:cNvPr id="853" name="Google Shape;853;p24"/>
          <p:cNvSpPr/>
          <p:nvPr/>
        </p:nvSpPr>
        <p:spPr>
          <a:xfrm>
            <a:off x="101092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5</a:t>
            </a:r>
            <a:endParaRPr/>
          </a:p>
        </p:txBody>
      </p:sp>
      <p:sp>
        <p:nvSpPr>
          <p:cNvPr id="854" name="Google Shape;854;p24"/>
          <p:cNvSpPr/>
          <p:nvPr/>
        </p:nvSpPr>
        <p:spPr>
          <a:xfrm>
            <a:off x="104140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6</a:t>
            </a:r>
            <a:endParaRPr/>
          </a:p>
        </p:txBody>
      </p:sp>
      <p:sp>
        <p:nvSpPr>
          <p:cNvPr id="855" name="Google Shape;855;p24"/>
          <p:cNvSpPr/>
          <p:nvPr/>
        </p:nvSpPr>
        <p:spPr>
          <a:xfrm>
            <a:off x="107188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7</a:t>
            </a:r>
            <a:endParaRPr/>
          </a:p>
        </p:txBody>
      </p:sp>
      <p:sp>
        <p:nvSpPr>
          <p:cNvPr id="856" name="Google Shape;856;p24"/>
          <p:cNvSpPr/>
          <p:nvPr/>
        </p:nvSpPr>
        <p:spPr>
          <a:xfrm>
            <a:off x="11023600" y="330200"/>
            <a:ext cx="279400" cy="254000"/>
          </a:xfrm>
          <a:prstGeom prst="roundRect">
            <a:avLst>
              <a:gd name="adj" fmla="val 6000"/>
            </a:avLst>
          </a:prstGeom>
          <a:solidFill>
            <a:srgbClr val="F3F5F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a:solidFill>
                  <a:srgbClr val="6B7280"/>
                </a:solidFill>
                <a:latin typeface="Quattrocento Sans"/>
                <a:ea typeface="Quattrocento Sans"/>
                <a:cs typeface="Quattrocento Sans"/>
                <a:sym typeface="Quattrocento Sans"/>
              </a:rPr>
              <a:t>8</a:t>
            </a:r>
            <a:endParaRPr/>
          </a:p>
        </p:txBody>
      </p:sp>
      <p:sp>
        <p:nvSpPr>
          <p:cNvPr id="857" name="Google Shape;857;p24"/>
          <p:cNvSpPr/>
          <p:nvPr/>
        </p:nvSpPr>
        <p:spPr>
          <a:xfrm>
            <a:off x="11328400" y="330200"/>
            <a:ext cx="279400" cy="254000"/>
          </a:xfrm>
          <a:prstGeom prst="roundRect">
            <a:avLst>
              <a:gd name="adj" fmla="val 6000"/>
            </a:avLst>
          </a:prstGeom>
          <a:solidFill>
            <a:srgbClr val="1E3A8A"/>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900" b="1">
                <a:solidFill>
                  <a:srgbClr val="FFFFFF"/>
                </a:solidFill>
                <a:latin typeface="Quattrocento Sans"/>
                <a:ea typeface="Quattrocento Sans"/>
                <a:cs typeface="Quattrocento Sans"/>
                <a:sym typeface="Quattrocento Sans"/>
              </a:rPr>
              <a:t>9</a:t>
            </a:r>
            <a:endParaRPr/>
          </a:p>
        </p:txBody>
      </p:sp>
      <p:sp>
        <p:nvSpPr>
          <p:cNvPr id="858" name="Google Shape;858;p24"/>
          <p:cNvSpPr/>
          <p:nvPr/>
        </p:nvSpPr>
        <p:spPr>
          <a:xfrm>
            <a:off x="609600" y="1295400"/>
            <a:ext cx="10972800" cy="279400"/>
          </a:xfrm>
          <a:prstGeom prst="roundRect">
            <a:avLst>
              <a:gd name="adj" fmla="val 6000"/>
            </a:avLst>
          </a:prstGeom>
          <a:solidFill>
            <a:srgbClr val="E8EEFB"/>
          </a:solidFill>
          <a:ln>
            <a:noFill/>
          </a:ln>
        </p:spPr>
        <p:txBody>
          <a:bodyPr spcFirstLastPara="1" wrap="square" lIns="101600" tIns="0" rIns="101600" bIns="0" anchor="ctr" anchorCtr="0">
            <a:noAutofit/>
          </a:bodyPr>
          <a:lstStyle/>
          <a:p>
            <a:pPr marL="0" marR="0" lvl="0" indent="0" algn="l" rtl="0">
              <a:spcBef>
                <a:spcPts val="0"/>
              </a:spcBef>
              <a:spcAft>
                <a:spcPts val="0"/>
              </a:spcAft>
              <a:buNone/>
            </a:pPr>
            <a:r>
              <a:rPr lang="en-US" sz="1050" b="1">
                <a:solidFill>
                  <a:srgbClr val="2563EB"/>
                </a:solidFill>
              </a:rPr>
              <a:t>VỊ TRÍ TRÊN MENU:</a:t>
            </a:r>
            <a:r>
              <a:rPr lang="en-US" sz="1050">
                <a:solidFill>
                  <a:srgbClr val="1E3A8A"/>
                </a:solidFill>
              </a:rPr>
              <a:t>   Thông báo</a:t>
            </a:r>
            <a:endParaRPr/>
          </a:p>
        </p:txBody>
      </p:sp>
      <p:sp>
        <p:nvSpPr>
          <p:cNvPr id="859" name="Google Shape;859;p24"/>
          <p:cNvSpPr txBox="1"/>
          <p:nvPr/>
        </p:nvSpPr>
        <p:spPr>
          <a:xfrm>
            <a:off x="609600" y="1676400"/>
            <a:ext cx="10972800" cy="369332"/>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Ứng dụng thực tế: </a:t>
            </a:r>
            <a:r>
              <a:rPr lang="en-US" sz="1100">
                <a:solidFill>
                  <a:schemeClr val="dk1"/>
                </a:solidFill>
              </a:rPr>
              <a:t>Người dùng tiếp nhận các thông báo liên quan đến sự kiện theo cấu hình được thiết lập, theo dõi thông báo mới và xem chi tiết để nắm bắt tình huống cần xử lý.</a:t>
            </a:r>
            <a:endParaRPr sz="1100">
              <a:solidFill>
                <a:schemeClr val="dk1"/>
              </a:solidFill>
            </a:endParaRPr>
          </a:p>
          <a:p>
            <a:pPr marL="0" marR="0" lvl="0" indent="0" algn="l" rtl="0">
              <a:spcBef>
                <a:spcPts val="400"/>
              </a:spcBef>
              <a:spcAft>
                <a:spcPts val="0"/>
              </a:spcAft>
              <a:buNone/>
            </a:pPr>
            <a:endParaRPr sz="1300" b="1">
              <a:solidFill>
                <a:srgbClr val="1E3A8A"/>
              </a:solidFill>
              <a:latin typeface="Quattrocento Sans"/>
              <a:ea typeface="Quattrocento Sans"/>
              <a:cs typeface="Quattrocento Sans"/>
              <a:sym typeface="Quattrocento Sans"/>
            </a:endParaRPr>
          </a:p>
        </p:txBody>
      </p:sp>
      <p:pic>
        <p:nvPicPr>
          <p:cNvPr id="860" name="Google Shape;860;p24"/>
          <p:cNvPicPr preferRelativeResize="0"/>
          <p:nvPr/>
        </p:nvPicPr>
        <p:blipFill rotWithShape="1">
          <a:blip r:embed="rId3">
            <a:alphaModFix/>
          </a:blip>
          <a:srcRect/>
          <a:stretch/>
        </p:blipFill>
        <p:spPr>
          <a:xfrm>
            <a:off x="1733990" y="2549013"/>
            <a:ext cx="4664408" cy="1793576"/>
          </a:xfrm>
          <a:prstGeom prst="rect">
            <a:avLst/>
          </a:prstGeom>
          <a:noFill/>
          <a:ln w="9525" cap="flat" cmpd="sng">
            <a:solidFill>
              <a:srgbClr val="E5E7EB"/>
            </a:solidFill>
            <a:prstDash val="solid"/>
            <a:round/>
            <a:headEnd type="none" w="sm" len="sm"/>
            <a:tailEnd type="none" w="sm" len="sm"/>
          </a:ln>
        </p:spPr>
      </p:pic>
      <p:sp>
        <p:nvSpPr>
          <p:cNvPr id="861" name="Google Shape;861;p24"/>
          <p:cNvSpPr txBox="1"/>
          <p:nvPr/>
        </p:nvSpPr>
        <p:spPr>
          <a:xfrm>
            <a:off x="1733990" y="4516475"/>
            <a:ext cx="71121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a:solidFill>
                  <a:srgbClr val="6B7280"/>
                </a:solidFill>
                <a:latin typeface="Quattrocento Sans"/>
                <a:ea typeface="Quattrocento Sans"/>
                <a:cs typeface="Quattrocento Sans"/>
                <a:sym typeface="Quattrocento Sans"/>
              </a:rPr>
              <a:t>Danh sách thông báo trên web: mới / đã xem, lọc theo loại sự kiện</a:t>
            </a:r>
            <a:endParaRPr/>
          </a:p>
        </p:txBody>
      </p:sp>
      <p:sp>
        <p:nvSpPr>
          <p:cNvPr id="862" name="Google Shape;862;p24"/>
          <p:cNvSpPr/>
          <p:nvPr/>
        </p:nvSpPr>
        <p:spPr>
          <a:xfrm>
            <a:off x="609600" y="4765400"/>
            <a:ext cx="2628900" cy="1695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3" name="Google Shape;863;p24"/>
          <p:cNvSpPr/>
          <p:nvPr/>
        </p:nvSpPr>
        <p:spPr>
          <a:xfrm>
            <a:off x="736600" y="486700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1</a:t>
            </a:r>
            <a:endParaRPr/>
          </a:p>
        </p:txBody>
      </p:sp>
      <p:sp>
        <p:nvSpPr>
          <p:cNvPr id="864" name="Google Shape;864;p24"/>
          <p:cNvSpPr txBox="1"/>
          <p:nvPr/>
        </p:nvSpPr>
        <p:spPr>
          <a:xfrm>
            <a:off x="1168400" y="490510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Nhận thông báo </a:t>
            </a:r>
            <a:endParaRPr/>
          </a:p>
        </p:txBody>
      </p:sp>
      <p:sp>
        <p:nvSpPr>
          <p:cNvPr id="865" name="Google Shape;865;p24"/>
          <p:cNvSpPr txBox="1"/>
          <p:nvPr/>
        </p:nvSpPr>
        <p:spPr>
          <a:xfrm>
            <a:off x="762000" y="529880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1F2937"/>
                </a:solidFill>
              </a:rPr>
              <a:t>Hiển thị các thông báo được gửi đến người dùng theo cấu hình cảnh báo và phạm vi áp dụng. </a:t>
            </a:r>
            <a:endParaRPr sz="1100">
              <a:solidFill>
                <a:srgbClr val="1F2937"/>
              </a:solidFill>
            </a:endParaRPr>
          </a:p>
        </p:txBody>
      </p:sp>
      <p:sp>
        <p:nvSpPr>
          <p:cNvPr id="866" name="Google Shape;866;p24"/>
          <p:cNvSpPr/>
          <p:nvPr/>
        </p:nvSpPr>
        <p:spPr>
          <a:xfrm>
            <a:off x="3390900" y="4765400"/>
            <a:ext cx="2628900" cy="1695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7" name="Google Shape;867;p24"/>
          <p:cNvSpPr/>
          <p:nvPr/>
        </p:nvSpPr>
        <p:spPr>
          <a:xfrm>
            <a:off x="3517900" y="486700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2</a:t>
            </a:r>
            <a:endParaRPr/>
          </a:p>
        </p:txBody>
      </p:sp>
      <p:sp>
        <p:nvSpPr>
          <p:cNvPr id="868" name="Google Shape;868;p24"/>
          <p:cNvSpPr txBox="1"/>
          <p:nvPr/>
        </p:nvSpPr>
        <p:spPr>
          <a:xfrm>
            <a:off x="3949700" y="490510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Theo dõi thông báo mới </a:t>
            </a:r>
            <a:endParaRPr sz="1200" b="1">
              <a:solidFill>
                <a:srgbClr val="1E3A8A"/>
              </a:solidFill>
            </a:endParaRPr>
          </a:p>
        </p:txBody>
      </p:sp>
      <p:sp>
        <p:nvSpPr>
          <p:cNvPr id="869" name="Google Shape;869;p24"/>
          <p:cNvSpPr txBox="1"/>
          <p:nvPr/>
        </p:nvSpPr>
        <p:spPr>
          <a:xfrm>
            <a:off x="3543300" y="529880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1F2937"/>
                </a:solidFill>
              </a:rPr>
              <a:t>Nhận biết thông báo chưa đọc qua trạng thái hiển thị trên giao diện. </a:t>
            </a:r>
            <a:endParaRPr sz="1100">
              <a:solidFill>
                <a:srgbClr val="1F2937"/>
              </a:solidFill>
            </a:endParaRPr>
          </a:p>
        </p:txBody>
      </p:sp>
      <p:sp>
        <p:nvSpPr>
          <p:cNvPr id="870" name="Google Shape;870;p24"/>
          <p:cNvSpPr/>
          <p:nvPr/>
        </p:nvSpPr>
        <p:spPr>
          <a:xfrm>
            <a:off x="6172200" y="4765400"/>
            <a:ext cx="2628900" cy="1695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1" name="Google Shape;871;p24"/>
          <p:cNvSpPr/>
          <p:nvPr/>
        </p:nvSpPr>
        <p:spPr>
          <a:xfrm>
            <a:off x="6299200" y="486700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3</a:t>
            </a:r>
            <a:endParaRPr/>
          </a:p>
        </p:txBody>
      </p:sp>
      <p:sp>
        <p:nvSpPr>
          <p:cNvPr id="872" name="Google Shape;872;p24"/>
          <p:cNvSpPr txBox="1"/>
          <p:nvPr/>
        </p:nvSpPr>
        <p:spPr>
          <a:xfrm>
            <a:off x="6731000" y="490510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Xem chi tiết sự kiện </a:t>
            </a:r>
            <a:endParaRPr/>
          </a:p>
        </p:txBody>
      </p:sp>
      <p:sp>
        <p:nvSpPr>
          <p:cNvPr id="873" name="Google Shape;873;p24"/>
          <p:cNvSpPr txBox="1"/>
          <p:nvPr/>
        </p:nvSpPr>
        <p:spPr>
          <a:xfrm>
            <a:off x="6324600" y="529880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1F2937"/>
                </a:solidFill>
              </a:rPr>
              <a:t>Mở thông tin sự kiện liên quan để kiểm tra hình ảnh, thời gian, camera và vị trí nếu có dữ liệu. </a:t>
            </a:r>
            <a:endParaRPr sz="1100"/>
          </a:p>
        </p:txBody>
      </p:sp>
      <p:sp>
        <p:nvSpPr>
          <p:cNvPr id="874" name="Google Shape;874;p24"/>
          <p:cNvSpPr/>
          <p:nvPr/>
        </p:nvSpPr>
        <p:spPr>
          <a:xfrm>
            <a:off x="8953500" y="4765400"/>
            <a:ext cx="2628900" cy="16953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5" name="Google Shape;875;p24"/>
          <p:cNvSpPr/>
          <p:nvPr/>
        </p:nvSpPr>
        <p:spPr>
          <a:xfrm>
            <a:off x="9080500" y="4867000"/>
            <a:ext cx="330300" cy="330300"/>
          </a:xfrm>
          <a:prstGeom prst="ellipse">
            <a:avLst/>
          </a:prstGeom>
          <a:solidFill>
            <a:srgbClr val="F2B70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b="1">
                <a:solidFill>
                  <a:srgbClr val="1E3A8A"/>
                </a:solidFill>
              </a:rPr>
              <a:t>4</a:t>
            </a:r>
            <a:endParaRPr/>
          </a:p>
        </p:txBody>
      </p:sp>
      <p:sp>
        <p:nvSpPr>
          <p:cNvPr id="876" name="Google Shape;876;p24"/>
          <p:cNvSpPr txBox="1"/>
          <p:nvPr/>
        </p:nvSpPr>
        <p:spPr>
          <a:xfrm>
            <a:off x="9512300" y="4905100"/>
            <a:ext cx="1968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1E3A8A"/>
                </a:solidFill>
              </a:rPr>
              <a:t>Tra cứu lịch sử </a:t>
            </a:r>
            <a:endParaRPr sz="1200" b="1">
              <a:solidFill>
                <a:srgbClr val="1E3A8A"/>
              </a:solidFill>
            </a:endParaRPr>
          </a:p>
        </p:txBody>
      </p:sp>
      <p:sp>
        <p:nvSpPr>
          <p:cNvPr id="877" name="Google Shape;877;p24"/>
          <p:cNvSpPr txBox="1"/>
          <p:nvPr/>
        </p:nvSpPr>
        <p:spPr>
          <a:xfrm>
            <a:off x="9105900" y="5298800"/>
            <a:ext cx="2349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1F2937"/>
                </a:solidFill>
              </a:rPr>
              <a:t>Lọc thông báo theo loại sự kiện và trạng thái đọc để xem lại thông tin khi cần. </a:t>
            </a:r>
            <a:endParaRPr sz="1100">
              <a:solidFill>
                <a:srgbClr val="1F2937"/>
              </a:solidFill>
            </a:endParaRPr>
          </a:p>
        </p:txBody>
      </p:sp>
      <p:pic>
        <p:nvPicPr>
          <p:cNvPr id="878" name="Google Shape;878;p24"/>
          <p:cNvPicPr preferRelativeResize="0"/>
          <p:nvPr/>
        </p:nvPicPr>
        <p:blipFill>
          <a:blip r:embed="rId4">
            <a:alphaModFix/>
          </a:blip>
          <a:stretch>
            <a:fillRect/>
          </a:stretch>
        </p:blipFill>
        <p:spPr>
          <a:xfrm>
            <a:off x="7143615" y="2143125"/>
            <a:ext cx="2244025" cy="2363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76">
          <a:extLst>
            <a:ext uri="{FF2B5EF4-FFF2-40B4-BE49-F238E27FC236}">
              <a16:creationId xmlns:a16="http://schemas.microsoft.com/office/drawing/2014/main" id="{0878D523-2042-FC96-0448-FD4DB073C614}"/>
            </a:ext>
          </a:extLst>
        </p:cNvPr>
        <p:cNvGrpSpPr/>
        <p:nvPr/>
      </p:nvGrpSpPr>
      <p:grpSpPr>
        <a:xfrm>
          <a:off x="0" y="0"/>
          <a:ext cx="0" cy="0"/>
          <a:chOff x="0" y="0"/>
          <a:chExt cx="0" cy="0"/>
        </a:xfrm>
      </p:grpSpPr>
      <p:sp>
        <p:nvSpPr>
          <p:cNvPr id="977" name="Google Shape;977;p28">
            <a:extLst>
              <a:ext uri="{FF2B5EF4-FFF2-40B4-BE49-F238E27FC236}">
                <a16:creationId xmlns:a16="http://schemas.microsoft.com/office/drawing/2014/main" id="{37BAE7C8-5552-3B38-90CE-127CC620CF7A}"/>
              </a:ext>
            </a:extLst>
          </p:cNvPr>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8" name="Google Shape;978;p28">
            <a:extLst>
              <a:ext uri="{FF2B5EF4-FFF2-40B4-BE49-F238E27FC236}">
                <a16:creationId xmlns:a16="http://schemas.microsoft.com/office/drawing/2014/main" id="{970E5B48-846C-B47C-4D5E-1D35783AF5F2}"/>
              </a:ext>
            </a:extLst>
          </p:cNvPr>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28">
            <a:extLst>
              <a:ext uri="{FF2B5EF4-FFF2-40B4-BE49-F238E27FC236}">
                <a16:creationId xmlns:a16="http://schemas.microsoft.com/office/drawing/2014/main" id="{53F00AA6-638E-8B26-77F8-0079D1F10E72}"/>
              </a:ext>
            </a:extLst>
          </p:cNvPr>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F2B705"/>
                </a:solidFill>
              </a:rPr>
              <a:t>ĐÀO TẠO SẢN PHẨM CHO TEAM SALES</a:t>
            </a:r>
            <a:endParaRPr/>
          </a:p>
        </p:txBody>
      </p:sp>
      <p:sp>
        <p:nvSpPr>
          <p:cNvPr id="980" name="Google Shape;980;p28">
            <a:extLst>
              <a:ext uri="{FF2B5EF4-FFF2-40B4-BE49-F238E27FC236}">
                <a16:creationId xmlns:a16="http://schemas.microsoft.com/office/drawing/2014/main" id="{37BA9E19-5791-8C9F-E001-50A23E2EAD7D}"/>
              </a:ext>
            </a:extLst>
          </p:cNvPr>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dirty="0">
                <a:solidFill>
                  <a:srgbClr val="FFFFFF"/>
                </a:solidFill>
              </a:rPr>
              <a:t>3. </a:t>
            </a:r>
            <a:r>
              <a:rPr lang="en-US" sz="4800" b="1" dirty="0" err="1">
                <a:solidFill>
                  <a:srgbClr val="FFFFFF"/>
                </a:solidFill>
              </a:rPr>
              <a:t>Luồng</a:t>
            </a:r>
            <a:r>
              <a:rPr lang="en-US" sz="4800" b="1" dirty="0">
                <a:solidFill>
                  <a:srgbClr val="FFFFFF"/>
                </a:solidFill>
              </a:rPr>
              <a:t> </a:t>
            </a:r>
            <a:r>
              <a:rPr lang="en-US" sz="4800" b="1" dirty="0" err="1">
                <a:solidFill>
                  <a:srgbClr val="FFFFFF"/>
                </a:solidFill>
              </a:rPr>
              <a:t>xử</a:t>
            </a:r>
            <a:r>
              <a:rPr lang="en-US" sz="4800" b="1" dirty="0">
                <a:solidFill>
                  <a:srgbClr val="FFFFFF"/>
                </a:solidFill>
              </a:rPr>
              <a:t> </a:t>
            </a:r>
            <a:r>
              <a:rPr lang="en-US" sz="4800" b="1" dirty="0" err="1">
                <a:solidFill>
                  <a:srgbClr val="FFFFFF"/>
                </a:solidFill>
              </a:rPr>
              <a:t>lý</a:t>
            </a:r>
            <a:r>
              <a:rPr lang="en-US" sz="4800" b="1" dirty="0">
                <a:solidFill>
                  <a:srgbClr val="FFFFFF"/>
                </a:solidFill>
              </a:rPr>
              <a:t> </a:t>
            </a:r>
            <a:r>
              <a:rPr lang="en-US" sz="4800" b="1" dirty="0" err="1">
                <a:solidFill>
                  <a:srgbClr val="FFFFFF"/>
                </a:solidFill>
              </a:rPr>
              <a:t>dữ</a:t>
            </a:r>
            <a:r>
              <a:rPr lang="en-US" sz="4800" b="1" dirty="0">
                <a:solidFill>
                  <a:srgbClr val="FFFFFF"/>
                </a:solidFill>
              </a:rPr>
              <a:t> </a:t>
            </a:r>
            <a:r>
              <a:rPr lang="en-US" sz="4800" b="1" dirty="0" err="1">
                <a:solidFill>
                  <a:srgbClr val="FFFFFF"/>
                </a:solidFill>
              </a:rPr>
              <a:t>liệu</a:t>
            </a:r>
            <a:endParaRPr dirty="0"/>
          </a:p>
        </p:txBody>
      </p:sp>
      <p:sp>
        <p:nvSpPr>
          <p:cNvPr id="981" name="Google Shape;981;p28">
            <a:extLst>
              <a:ext uri="{FF2B5EF4-FFF2-40B4-BE49-F238E27FC236}">
                <a16:creationId xmlns:a16="http://schemas.microsoft.com/office/drawing/2014/main" id="{C6CD7513-4558-D95C-DBF1-82D97A5F7A61}"/>
              </a:ext>
            </a:extLst>
          </p:cNvPr>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rPr>
              <a:t>MK Vision  |  Tháng 10/2026</a:t>
            </a:r>
            <a:endParaRPr/>
          </a:p>
        </p:txBody>
      </p:sp>
    </p:spTree>
    <p:extLst>
      <p:ext uri="{BB962C8B-B14F-4D97-AF65-F5344CB8AC3E}">
        <p14:creationId xmlns:p14="http://schemas.microsoft.com/office/powerpoint/2010/main" val="1907314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3"/>
        <p:cNvGrpSpPr/>
        <p:nvPr/>
      </p:nvGrpSpPr>
      <p:grpSpPr>
        <a:xfrm>
          <a:off x="0" y="0"/>
          <a:ext cx="0" cy="0"/>
          <a:chOff x="0" y="0"/>
          <a:chExt cx="0" cy="0"/>
        </a:xfrm>
      </p:grpSpPr>
      <p:sp>
        <p:nvSpPr>
          <p:cNvPr id="884" name="Google Shape;884;p26"/>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03 · LUỒNG XỬ LÝ DỮ LIỆU</a:t>
            </a:r>
            <a:endParaRPr/>
          </a:p>
        </p:txBody>
      </p:sp>
      <p:sp>
        <p:nvSpPr>
          <p:cNvPr id="885" name="Google Shape;885;p26"/>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Luồng dữ liệu và xử lý sự kiện trên EMS </a:t>
            </a:r>
            <a:endParaRPr sz="2600" b="1">
              <a:solidFill>
                <a:srgbClr val="1E3A8A"/>
              </a:solidFill>
            </a:endParaRPr>
          </a:p>
        </p:txBody>
      </p:sp>
      <p:sp>
        <p:nvSpPr>
          <p:cNvPr id="886" name="Google Shape;886;p26"/>
          <p:cNvSpPr/>
          <p:nvPr/>
        </p:nvSpPr>
        <p:spPr>
          <a:xfrm>
            <a:off x="609600" y="125890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7" name="Google Shape;887;p26"/>
          <p:cNvSpPr/>
          <p:nvPr/>
        </p:nvSpPr>
        <p:spPr>
          <a:xfrm>
            <a:off x="609600" y="1514475"/>
            <a:ext cx="10972800" cy="660300"/>
          </a:xfrm>
          <a:prstGeom prst="roundRect">
            <a:avLst>
              <a:gd name="adj" fmla="val 6000"/>
            </a:avLst>
          </a:prstGeom>
          <a:solidFill>
            <a:srgbClr val="E8EEFB"/>
          </a:solidFill>
          <a:ln>
            <a:noFill/>
          </a:ln>
        </p:spPr>
        <p:txBody>
          <a:bodyPr spcFirstLastPara="1" wrap="square" lIns="101600" tIns="50800" rIns="101600" bIns="50800" anchor="ctr" anchorCtr="0">
            <a:noAutofit/>
          </a:bodyPr>
          <a:lstStyle/>
          <a:p>
            <a:pPr marL="0" marR="0" lvl="0" indent="0" algn="l" rtl="0">
              <a:spcBef>
                <a:spcPts val="0"/>
              </a:spcBef>
              <a:spcAft>
                <a:spcPts val="0"/>
              </a:spcAft>
              <a:buNone/>
            </a:pPr>
            <a:endParaRPr sz="1250" b="1">
              <a:solidFill>
                <a:srgbClr val="1E3A8A"/>
              </a:solidFill>
            </a:endParaRPr>
          </a:p>
          <a:p>
            <a:pPr marL="0" marR="0" lvl="0" indent="0" algn="l" rtl="0">
              <a:spcBef>
                <a:spcPts val="0"/>
              </a:spcBef>
              <a:spcAft>
                <a:spcPts val="0"/>
              </a:spcAft>
              <a:buNone/>
            </a:pPr>
            <a:r>
              <a:rPr lang="en-US" sz="1250" b="1">
                <a:solidFill>
                  <a:srgbClr val="1E3A8A"/>
                </a:solidFill>
              </a:rPr>
              <a:t>ĐẦU VÀO:  CAMERA AI ghi nhận sự kiện và gửi thông tin liên quan như hình ảnh, thời gian, camera, vị trí và thuộc tính nhận diện về EMS.</a:t>
            </a:r>
            <a:endParaRPr sz="1250" b="1">
              <a:solidFill>
                <a:srgbClr val="1E3A8A"/>
              </a:solidFill>
            </a:endParaRPr>
          </a:p>
          <a:p>
            <a:pPr marL="0" marR="0" lvl="0" indent="0" algn="l" rtl="0">
              <a:spcBef>
                <a:spcPts val="0"/>
              </a:spcBef>
              <a:spcAft>
                <a:spcPts val="0"/>
              </a:spcAft>
              <a:buNone/>
            </a:pPr>
            <a:endParaRPr sz="1250" b="1">
              <a:solidFill>
                <a:srgbClr val="1E3A8A"/>
              </a:solidFill>
              <a:latin typeface="Quattrocento Sans"/>
              <a:ea typeface="Quattrocento Sans"/>
              <a:cs typeface="Quattrocento Sans"/>
              <a:sym typeface="Quattrocento Sans"/>
            </a:endParaRPr>
          </a:p>
        </p:txBody>
      </p:sp>
      <p:sp>
        <p:nvSpPr>
          <p:cNvPr id="888" name="Google Shape;888;p26"/>
          <p:cNvSpPr/>
          <p:nvPr/>
        </p:nvSpPr>
        <p:spPr>
          <a:xfrm>
            <a:off x="8847150" y="2508238"/>
            <a:ext cx="2761800" cy="812700"/>
          </a:xfrm>
          <a:prstGeom prst="chevron">
            <a:avLst>
              <a:gd name="adj" fmla="val 50000"/>
            </a:avLst>
          </a:prstGeom>
          <a:solidFill>
            <a:srgbClr val="1E3A8A"/>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b="1">
                <a:solidFill>
                  <a:srgbClr val="FFFFFF"/>
                </a:solidFill>
              </a:rPr>
              <a:t>Tiếp nhận sự kiện </a:t>
            </a:r>
            <a:endParaRPr/>
          </a:p>
        </p:txBody>
      </p:sp>
      <p:sp>
        <p:nvSpPr>
          <p:cNvPr id="889" name="Google Shape;889;p26"/>
          <p:cNvSpPr txBox="1"/>
          <p:nvPr/>
        </p:nvSpPr>
        <p:spPr>
          <a:xfrm>
            <a:off x="689725" y="3524188"/>
            <a:ext cx="2331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a:solidFill>
                  <a:srgbClr val="1F2937"/>
                </a:solidFill>
              </a:rPr>
              <a:t>Tiếp nhận dữ liệu sự kiện từ camera theo phương thức kết nối được hỗ trợ. </a:t>
            </a:r>
            <a:endParaRPr sz="1200"/>
          </a:p>
        </p:txBody>
      </p:sp>
      <p:sp>
        <p:nvSpPr>
          <p:cNvPr id="890" name="Google Shape;890;p26"/>
          <p:cNvSpPr/>
          <p:nvPr/>
        </p:nvSpPr>
        <p:spPr>
          <a:xfrm>
            <a:off x="6106850" y="2508238"/>
            <a:ext cx="2761800" cy="812700"/>
          </a:xfrm>
          <a:prstGeom prst="chevron">
            <a:avLst>
              <a:gd name="adj" fmla="val 50000"/>
            </a:avLst>
          </a:prstGeom>
          <a:solidFill>
            <a:srgbClr val="1E3A8A"/>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b="1">
                <a:solidFill>
                  <a:srgbClr val="FFFFFF"/>
                </a:solidFill>
              </a:rPr>
              <a:t>Tổ chức dữ liệu </a:t>
            </a:r>
            <a:endParaRPr/>
          </a:p>
        </p:txBody>
      </p:sp>
      <p:sp>
        <p:nvSpPr>
          <p:cNvPr id="891" name="Google Shape;891;p26"/>
          <p:cNvSpPr txBox="1"/>
          <p:nvPr/>
        </p:nvSpPr>
        <p:spPr>
          <a:xfrm>
            <a:off x="3376250" y="3561163"/>
            <a:ext cx="2331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a:solidFill>
                  <a:srgbClr val="1F2937"/>
                </a:solidFill>
              </a:rPr>
              <a:t>Gắn thông tin sự kiện với thời gian, camera, vị trí và các thuộc tính liên quan để thuận tiện quản lý, tra cứu. </a:t>
            </a:r>
            <a:endParaRPr sz="1200">
              <a:solidFill>
                <a:srgbClr val="1F2937"/>
              </a:solidFill>
            </a:endParaRPr>
          </a:p>
        </p:txBody>
      </p:sp>
      <p:sp>
        <p:nvSpPr>
          <p:cNvPr id="892" name="Google Shape;892;p26"/>
          <p:cNvSpPr/>
          <p:nvPr/>
        </p:nvSpPr>
        <p:spPr>
          <a:xfrm>
            <a:off x="3376250" y="2508238"/>
            <a:ext cx="2761800" cy="812700"/>
          </a:xfrm>
          <a:prstGeom prst="chevron">
            <a:avLst>
              <a:gd name="adj" fmla="val 50000"/>
            </a:avLst>
          </a:prstGeom>
          <a:solidFill>
            <a:srgbClr val="1E3A8A"/>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b="1">
                <a:solidFill>
                  <a:srgbClr val="FFFFFF"/>
                </a:solidFill>
              </a:rPr>
              <a:t>Phân loại và đối chiếu </a:t>
            </a:r>
            <a:endParaRPr/>
          </a:p>
        </p:txBody>
      </p:sp>
      <p:sp>
        <p:nvSpPr>
          <p:cNvPr id="893" name="Google Shape;893;p26"/>
          <p:cNvSpPr txBox="1"/>
          <p:nvPr/>
        </p:nvSpPr>
        <p:spPr>
          <a:xfrm>
            <a:off x="6157553" y="3561163"/>
            <a:ext cx="2331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a:solidFill>
                  <a:srgbClr val="1F2937"/>
                </a:solidFill>
              </a:rPr>
              <a:t>Phân loại sự kiện theo nghiệp vụ; đối chiếu thông tin định danh khi có chức năng tương ứng. </a:t>
            </a:r>
            <a:endParaRPr sz="1200"/>
          </a:p>
        </p:txBody>
      </p:sp>
      <p:sp>
        <p:nvSpPr>
          <p:cNvPr id="894" name="Google Shape;894;p26"/>
          <p:cNvSpPr/>
          <p:nvPr/>
        </p:nvSpPr>
        <p:spPr>
          <a:xfrm>
            <a:off x="647675" y="2470138"/>
            <a:ext cx="2761800" cy="812700"/>
          </a:xfrm>
          <a:prstGeom prst="chevron">
            <a:avLst>
              <a:gd name="adj" fmla="val 50000"/>
            </a:avLst>
          </a:prstGeom>
          <a:solidFill>
            <a:srgbClr val="1E3A8A"/>
          </a:solidFill>
          <a:ln>
            <a:noFill/>
          </a:ln>
        </p:spPr>
        <p:txBody>
          <a:bodyPr spcFirstLastPara="1" wrap="square" lIns="101600" tIns="50800" rIns="101600" bIns="50800" anchor="ctr" anchorCtr="0">
            <a:noAutofit/>
          </a:bodyPr>
          <a:lstStyle/>
          <a:p>
            <a:pPr marL="0" marR="0" lvl="0" indent="0" algn="ctr" rtl="0">
              <a:spcBef>
                <a:spcPts val="0"/>
              </a:spcBef>
              <a:spcAft>
                <a:spcPts val="0"/>
              </a:spcAft>
              <a:buNone/>
            </a:pPr>
            <a:r>
              <a:rPr lang="en-US" b="1">
                <a:solidFill>
                  <a:srgbClr val="FFFFFF"/>
                </a:solidFill>
              </a:rPr>
              <a:t>Quản lý và khai thác </a:t>
            </a:r>
            <a:endParaRPr/>
          </a:p>
        </p:txBody>
      </p:sp>
      <p:sp>
        <p:nvSpPr>
          <p:cNvPr id="895" name="Google Shape;895;p26"/>
          <p:cNvSpPr txBox="1"/>
          <p:nvPr/>
        </p:nvSpPr>
        <p:spPr>
          <a:xfrm>
            <a:off x="9091350" y="3524188"/>
            <a:ext cx="21516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a:solidFill>
                  <a:srgbClr val="1F2937"/>
                </a:solidFill>
              </a:rPr>
              <a:t>Cung cấp dữ liệu phục vụ hiển thị sự kiện, tra cứu, cảnh báo và thống kê theo chức năng EMS. </a:t>
            </a:r>
            <a:endParaRPr sz="1200"/>
          </a:p>
        </p:txBody>
      </p:sp>
      <p:sp>
        <p:nvSpPr>
          <p:cNvPr id="896" name="Google Shape;896;p26"/>
          <p:cNvSpPr txBox="1"/>
          <p:nvPr/>
        </p:nvSpPr>
        <p:spPr>
          <a:xfrm>
            <a:off x="641925" y="4583675"/>
            <a:ext cx="109728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2563EB"/>
                </a:solidFill>
              </a:rPr>
              <a:t>GIÁ TRỊ NGƯỜI DÙNG NHẬN ĐƯỢC </a:t>
            </a:r>
            <a:endParaRPr sz="1600"/>
          </a:p>
        </p:txBody>
      </p:sp>
      <p:sp>
        <p:nvSpPr>
          <p:cNvPr id="897" name="Google Shape;897;p26"/>
          <p:cNvSpPr/>
          <p:nvPr/>
        </p:nvSpPr>
        <p:spPr>
          <a:xfrm>
            <a:off x="641925" y="4964475"/>
            <a:ext cx="2628900" cy="15240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8" name="Google Shape;898;p26"/>
          <p:cNvSpPr/>
          <p:nvPr/>
        </p:nvSpPr>
        <p:spPr>
          <a:xfrm>
            <a:off x="641925" y="5091475"/>
            <a:ext cx="50700" cy="12699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9" name="Google Shape;899;p26"/>
          <p:cNvSpPr txBox="1"/>
          <p:nvPr/>
        </p:nvSpPr>
        <p:spPr>
          <a:xfrm>
            <a:off x="845125" y="51168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Giám sát sự kiện </a:t>
            </a:r>
            <a:endParaRPr/>
          </a:p>
        </p:txBody>
      </p:sp>
      <p:sp>
        <p:nvSpPr>
          <p:cNvPr id="900" name="Google Shape;900;p26"/>
          <p:cNvSpPr txBox="1"/>
          <p:nvPr/>
        </p:nvSpPr>
        <p:spPr>
          <a:xfrm>
            <a:off x="845125" y="54470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Xem danh sách và chi tiết sự kiện trong phạm vi được phân quyền. </a:t>
            </a:r>
            <a:endParaRPr/>
          </a:p>
        </p:txBody>
      </p:sp>
      <p:sp>
        <p:nvSpPr>
          <p:cNvPr id="901" name="Google Shape;901;p26"/>
          <p:cNvSpPr/>
          <p:nvPr/>
        </p:nvSpPr>
        <p:spPr>
          <a:xfrm>
            <a:off x="3423225" y="4964475"/>
            <a:ext cx="2628900" cy="15240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2" name="Google Shape;902;p26"/>
          <p:cNvSpPr/>
          <p:nvPr/>
        </p:nvSpPr>
        <p:spPr>
          <a:xfrm>
            <a:off x="3423225" y="5091475"/>
            <a:ext cx="50700" cy="12699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3" name="Google Shape;903;p26"/>
          <p:cNvSpPr txBox="1"/>
          <p:nvPr/>
        </p:nvSpPr>
        <p:spPr>
          <a:xfrm>
            <a:off x="3626425" y="51168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Tra cứu, truy vết </a:t>
            </a:r>
            <a:endParaRPr/>
          </a:p>
        </p:txBody>
      </p:sp>
      <p:sp>
        <p:nvSpPr>
          <p:cNvPr id="904" name="Google Shape;904;p26"/>
          <p:cNvSpPr txBox="1"/>
          <p:nvPr/>
        </p:nvSpPr>
        <p:spPr>
          <a:xfrm>
            <a:off x="3626425" y="54470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Tìm kiếm sự kiện theo thời gian, camera và các thuộc tính được hỗ trợ. </a:t>
            </a:r>
            <a:endParaRPr sz="1150">
              <a:solidFill>
                <a:srgbClr val="1F2937"/>
              </a:solidFill>
            </a:endParaRPr>
          </a:p>
        </p:txBody>
      </p:sp>
      <p:sp>
        <p:nvSpPr>
          <p:cNvPr id="905" name="Google Shape;905;p26"/>
          <p:cNvSpPr/>
          <p:nvPr/>
        </p:nvSpPr>
        <p:spPr>
          <a:xfrm>
            <a:off x="6161425" y="4964475"/>
            <a:ext cx="2628900" cy="15240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6" name="Google Shape;906;p26"/>
          <p:cNvSpPr/>
          <p:nvPr/>
        </p:nvSpPr>
        <p:spPr>
          <a:xfrm>
            <a:off x="6204525" y="5091475"/>
            <a:ext cx="50700" cy="12699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7" name="Google Shape;907;p26"/>
          <p:cNvSpPr txBox="1"/>
          <p:nvPr/>
        </p:nvSpPr>
        <p:spPr>
          <a:xfrm>
            <a:off x="6407725" y="51168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Cảnh báo </a:t>
            </a:r>
            <a:endParaRPr/>
          </a:p>
        </p:txBody>
      </p:sp>
      <p:sp>
        <p:nvSpPr>
          <p:cNvPr id="908" name="Google Shape;908;p26"/>
          <p:cNvSpPr txBox="1"/>
          <p:nvPr/>
        </p:nvSpPr>
        <p:spPr>
          <a:xfrm>
            <a:off x="6407725" y="54470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Gửi cảnh báo theo loại sự kiện, người nhận và kênh đã cấu hình. </a:t>
            </a:r>
            <a:endParaRPr/>
          </a:p>
        </p:txBody>
      </p:sp>
      <p:sp>
        <p:nvSpPr>
          <p:cNvPr id="909" name="Google Shape;909;p26"/>
          <p:cNvSpPr/>
          <p:nvPr/>
        </p:nvSpPr>
        <p:spPr>
          <a:xfrm>
            <a:off x="8985825" y="4964475"/>
            <a:ext cx="2628900" cy="15240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0" name="Google Shape;910;p26"/>
          <p:cNvSpPr/>
          <p:nvPr/>
        </p:nvSpPr>
        <p:spPr>
          <a:xfrm>
            <a:off x="8985825" y="5091475"/>
            <a:ext cx="50700" cy="12699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1" name="Google Shape;911;p26"/>
          <p:cNvSpPr txBox="1"/>
          <p:nvPr/>
        </p:nvSpPr>
        <p:spPr>
          <a:xfrm>
            <a:off x="9189025" y="51168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1E3A8A"/>
                </a:solidFill>
              </a:rPr>
              <a:t>Thống kê, báo cáo </a:t>
            </a:r>
            <a:endParaRPr/>
          </a:p>
        </p:txBody>
      </p:sp>
      <p:sp>
        <p:nvSpPr>
          <p:cNvPr id="912" name="Google Shape;912;p26"/>
          <p:cNvSpPr txBox="1"/>
          <p:nvPr/>
        </p:nvSpPr>
        <p:spPr>
          <a:xfrm>
            <a:off x="9189025" y="5447075"/>
            <a:ext cx="2273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Tổng hợp dữ liệu sự kiện theo các tiêu chí hệ thống hỗ trợ.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7"/>
        <p:cNvGrpSpPr/>
        <p:nvPr/>
      </p:nvGrpSpPr>
      <p:grpSpPr>
        <a:xfrm>
          <a:off x="0" y="0"/>
          <a:ext cx="0" cy="0"/>
          <a:chOff x="0" y="0"/>
          <a:chExt cx="0" cy="0"/>
        </a:xfrm>
      </p:grpSpPr>
      <p:sp>
        <p:nvSpPr>
          <p:cNvPr id="918" name="Google Shape;918;h44e9cd8e7ab16f1f_0_125"/>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1" i="0" u="none" strike="noStrike" cap="none" spc="0">
              <a:solidFill>
                <a:srgbClr val="2563EB"/>
              </a:solidFill>
              <a:latin typeface="Quattrocento Sans"/>
              <a:ea typeface="Quattrocento Sans"/>
              <a:cs typeface="Quattrocento Sans"/>
              <a:sym typeface="Quattrocento Sans"/>
            </a:endParaRPr>
          </a:p>
        </p:txBody>
      </p:sp>
      <p:sp>
        <p:nvSpPr>
          <p:cNvPr id="919" name="Google Shape;919;h44e9cd8e7ab16f1f_0_125"/>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1" i="0" u="none" strike="noStrike" cap="none" spc="0">
                <a:solidFill>
                  <a:srgbClr val="1E3A8A"/>
                </a:solidFill>
                <a:latin typeface="Arial"/>
                <a:ea typeface="Arial"/>
                <a:cs typeface="Arial"/>
                <a:sym typeface="Arial"/>
              </a:rPr>
              <a:t>Kiến trúc hệ thống EMS</a:t>
            </a:r>
            <a:endParaRPr sz="1400" b="0" i="0" u="none" strike="noStrike" cap="none" spc="0">
              <a:solidFill>
                <a:srgbClr val="000000"/>
              </a:solidFill>
              <a:latin typeface="Arial"/>
              <a:ea typeface="Arial"/>
              <a:cs typeface="Arial"/>
              <a:sym typeface="Arial"/>
            </a:endParaRPr>
          </a:p>
        </p:txBody>
      </p:sp>
      <p:sp>
        <p:nvSpPr>
          <p:cNvPr id="920" name="Google Shape;920;h44e9cd8e7ab16f1f_0_125"/>
          <p:cNvSpPr/>
          <p:nvPr/>
        </p:nvSpPr>
        <p:spPr>
          <a:xfrm>
            <a:off x="609600" y="991825"/>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21" name="Google Shape;921;h44e9cd8e7ab16f1f_0_125"/>
          <p:cNvSpPr txBox="1"/>
          <p:nvPr/>
        </p:nvSpPr>
        <p:spPr>
          <a:xfrm>
            <a:off x="609600" y="233043"/>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spc="0">
                <a:solidFill>
                  <a:srgbClr val="2563EB"/>
                </a:solidFill>
                <a:latin typeface="Arial"/>
                <a:ea typeface="Arial"/>
                <a:cs typeface="Arial"/>
                <a:sym typeface="Arial"/>
              </a:rPr>
              <a:t>03 · Kiên trúc</a:t>
            </a:r>
            <a:endParaRPr sz="1600" b="0" i="0" u="none" strike="noStrike" cap="none" spc="0">
              <a:solidFill>
                <a:srgbClr val="000000"/>
              </a:solidFill>
              <a:latin typeface="Arial"/>
              <a:ea typeface="Arial"/>
              <a:cs typeface="Arial"/>
              <a:sym typeface="Arial"/>
            </a:endParaRPr>
          </a:p>
        </p:txBody>
      </p:sp>
      <p:sp>
        <p:nvSpPr>
          <p:cNvPr id="922" name="Google Shape;922;h44e9cd8e7ab16f1f_0_125"/>
          <p:cNvSpPr/>
          <p:nvPr/>
        </p:nvSpPr>
        <p:spPr>
          <a:xfrm>
            <a:off x="156600" y="1573425"/>
            <a:ext cx="2245500" cy="30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23" name="Google Shape;923;h44e9cd8e7ab16f1f_0_125"/>
          <p:cNvSpPr/>
          <p:nvPr/>
        </p:nvSpPr>
        <p:spPr>
          <a:xfrm>
            <a:off x="156600" y="1573425"/>
            <a:ext cx="22455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24" name="Google Shape;924;h44e9cd8e7ab16f1f_0_125"/>
          <p:cNvSpPr/>
          <p:nvPr/>
        </p:nvSpPr>
        <p:spPr>
          <a:xfrm>
            <a:off x="270975" y="1796913"/>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FFFFFF"/>
                </a:solidFill>
                <a:latin typeface="Arial"/>
                <a:ea typeface="Arial"/>
                <a:cs typeface="Arial"/>
                <a:sym typeface="Arial"/>
              </a:rPr>
              <a:t>1</a:t>
            </a:r>
            <a:endParaRPr sz="1400" b="0" i="0" u="none" strike="noStrike" cap="none" spc="0">
              <a:solidFill>
                <a:srgbClr val="000000"/>
              </a:solidFill>
              <a:latin typeface="Arial"/>
              <a:ea typeface="Arial"/>
              <a:cs typeface="Arial"/>
              <a:sym typeface="Arial"/>
            </a:endParaRPr>
          </a:p>
        </p:txBody>
      </p:sp>
      <p:sp>
        <p:nvSpPr>
          <p:cNvPr id="925" name="Google Shape;925;h44e9cd8e7ab16f1f_0_125"/>
          <p:cNvSpPr txBox="1"/>
          <p:nvPr/>
        </p:nvSpPr>
        <p:spPr>
          <a:xfrm>
            <a:off x="757075" y="1873113"/>
            <a:ext cx="1506000" cy="3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INTERNET ZONE </a:t>
            </a:r>
            <a:endParaRPr sz="1400" b="0" i="0" u="none" strike="noStrike" cap="none" spc="0">
              <a:solidFill>
                <a:srgbClr val="000000"/>
              </a:solidFill>
              <a:latin typeface="Arial"/>
              <a:ea typeface="Arial"/>
              <a:cs typeface="Arial"/>
              <a:sym typeface="Arial"/>
            </a:endParaRPr>
          </a:p>
        </p:txBody>
      </p:sp>
      <p:sp>
        <p:nvSpPr>
          <p:cNvPr id="926" name="Google Shape;926;h44e9cd8e7ab16f1f_0_125"/>
          <p:cNvSpPr txBox="1"/>
          <p:nvPr/>
        </p:nvSpPr>
        <p:spPr>
          <a:xfrm>
            <a:off x="328200" y="2375925"/>
            <a:ext cx="1959600" cy="2235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1200"/>
              </a:spcBef>
              <a:spcAft>
                <a:spcPts val="0"/>
              </a:spcAft>
              <a:buClr>
                <a:schemeClr val="dk1"/>
              </a:buClr>
              <a:buSzPts val="1100"/>
              <a:buFont typeface="Arial"/>
              <a:buNone/>
            </a:pPr>
            <a:r>
              <a:rPr lang="en-US" sz="1250" b="1" i="0" u="none" strike="noStrike" cap="none" spc="0">
                <a:solidFill>
                  <a:srgbClr val="1F2937"/>
                </a:solidFill>
                <a:latin typeface="Arial"/>
                <a:ea typeface="Arial"/>
                <a:cs typeface="Arial"/>
                <a:sym typeface="Arial"/>
              </a:rPr>
              <a:t>Camera AI</a:t>
            </a:r>
            <a:endParaRPr sz="1250" b="1" i="0" u="none" strike="noStrike" cap="none" spc="0">
              <a:solidFill>
                <a:srgbClr val="1F2937"/>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100"/>
              <a:buFont typeface="Arial"/>
              <a:buNone/>
            </a:pPr>
            <a:r>
              <a:rPr lang="en-US" sz="1150" b="0" i="0" u="none" strike="noStrike" cap="none" spc="0">
                <a:solidFill>
                  <a:srgbClr val="1F2937"/>
                </a:solidFill>
                <a:latin typeface="Arial"/>
                <a:ea typeface="Arial"/>
                <a:cs typeface="Arial"/>
                <a:sym typeface="Arial"/>
              </a:rPr>
              <a:t>Kết nối </a:t>
            </a:r>
            <a:r>
              <a:rPr lang="en-US" sz="1150">
                <a:solidFill>
                  <a:srgbClr val="1F2937"/>
                </a:solidFill>
              </a:rPr>
              <a:t>an toàn</a:t>
            </a:r>
            <a:r>
              <a:rPr lang="en-US" sz="1150" b="0" i="0" u="none" strike="noStrike" cap="none" spc="0">
                <a:solidFill>
                  <a:srgbClr val="1F2937"/>
                </a:solidFill>
                <a:latin typeface="Arial"/>
                <a:ea typeface="Arial"/>
                <a:cs typeface="Arial"/>
                <a:sym typeface="Arial"/>
              </a:rPr>
              <a:t> theo cấu hình, gửi dữ liệu sự kiện và dữ liệu liên quan đến hệ thống</a:t>
            </a:r>
            <a:endParaRPr sz="1150" b="0" i="0" u="none" strike="noStrike" cap="none" spc="0">
              <a:solidFill>
                <a:srgbClr val="1F2937"/>
              </a:solidFill>
              <a:latin typeface="Arial"/>
              <a:ea typeface="Arial"/>
              <a:cs typeface="Arial"/>
              <a:sym typeface="Arial"/>
            </a:endParaRPr>
          </a:p>
        </p:txBody>
      </p:sp>
      <p:sp>
        <p:nvSpPr>
          <p:cNvPr id="927" name="Google Shape;927;h44e9cd8e7ab16f1f_0_125"/>
          <p:cNvSpPr txBox="1"/>
          <p:nvPr/>
        </p:nvSpPr>
        <p:spPr>
          <a:xfrm>
            <a:off x="175975" y="1190575"/>
            <a:ext cx="26682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1" u="none" strike="noStrike" cap="none" spc="0">
                <a:solidFill>
                  <a:srgbClr val="1E3A8A"/>
                </a:solidFill>
                <a:latin typeface="Arial"/>
                <a:ea typeface="Arial"/>
                <a:cs typeface="Arial"/>
                <a:sym typeface="Arial"/>
              </a:rPr>
              <a:t>Luồng xử lý chính</a:t>
            </a:r>
            <a:endParaRPr sz="1700" b="0" i="1" u="none" strike="noStrike" cap="none" spc="0">
              <a:solidFill>
                <a:srgbClr val="000000"/>
              </a:solidFill>
              <a:latin typeface="Arial"/>
              <a:ea typeface="Arial"/>
              <a:cs typeface="Arial"/>
              <a:sym typeface="Arial"/>
            </a:endParaRPr>
          </a:p>
        </p:txBody>
      </p:sp>
      <p:sp>
        <p:nvSpPr>
          <p:cNvPr id="928" name="Google Shape;928;h44e9cd8e7ab16f1f_0_125"/>
          <p:cNvSpPr/>
          <p:nvPr/>
        </p:nvSpPr>
        <p:spPr>
          <a:xfrm>
            <a:off x="2564925" y="1573425"/>
            <a:ext cx="2245500" cy="30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29" name="Google Shape;929;h44e9cd8e7ab16f1f_0_125"/>
          <p:cNvSpPr/>
          <p:nvPr/>
        </p:nvSpPr>
        <p:spPr>
          <a:xfrm>
            <a:off x="2564925" y="1573425"/>
            <a:ext cx="22455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30" name="Google Shape;930;h44e9cd8e7ab16f1f_0_125"/>
          <p:cNvSpPr/>
          <p:nvPr/>
        </p:nvSpPr>
        <p:spPr>
          <a:xfrm>
            <a:off x="2691625" y="1796913"/>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FFFFFF"/>
                </a:solidFill>
                <a:latin typeface="Arial"/>
                <a:ea typeface="Arial"/>
                <a:cs typeface="Arial"/>
                <a:sym typeface="Arial"/>
              </a:rPr>
              <a:t>2</a:t>
            </a:r>
            <a:endParaRPr sz="1400" b="0" i="0" u="none" strike="noStrike" cap="none" spc="0">
              <a:solidFill>
                <a:srgbClr val="000000"/>
              </a:solidFill>
              <a:latin typeface="Arial"/>
              <a:ea typeface="Arial"/>
              <a:cs typeface="Arial"/>
              <a:sym typeface="Arial"/>
            </a:endParaRPr>
          </a:p>
        </p:txBody>
      </p:sp>
      <p:sp>
        <p:nvSpPr>
          <p:cNvPr id="931" name="Google Shape;931;h44e9cd8e7ab16f1f_0_125"/>
          <p:cNvSpPr txBox="1"/>
          <p:nvPr/>
        </p:nvSpPr>
        <p:spPr>
          <a:xfrm>
            <a:off x="3177725" y="1873113"/>
            <a:ext cx="1506000" cy="3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DMZ ZONE  </a:t>
            </a:r>
            <a:endParaRPr sz="1400" b="0" i="0" u="none" strike="noStrike" cap="none" spc="0">
              <a:solidFill>
                <a:srgbClr val="000000"/>
              </a:solidFill>
              <a:latin typeface="Arial"/>
              <a:ea typeface="Arial"/>
              <a:cs typeface="Arial"/>
              <a:sym typeface="Arial"/>
            </a:endParaRPr>
          </a:p>
        </p:txBody>
      </p:sp>
      <p:sp>
        <p:nvSpPr>
          <p:cNvPr id="932" name="Google Shape;932;h44e9cd8e7ab16f1f_0_125"/>
          <p:cNvSpPr txBox="1"/>
          <p:nvPr/>
        </p:nvSpPr>
        <p:spPr>
          <a:xfrm>
            <a:off x="2707875" y="2375925"/>
            <a:ext cx="1959600" cy="2235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1200"/>
              </a:spcBef>
              <a:spcAft>
                <a:spcPts val="0"/>
              </a:spcAft>
              <a:buClr>
                <a:srgbClr val="000000"/>
              </a:buClr>
              <a:buSzPts val="1100"/>
              <a:buFont typeface="Arial"/>
              <a:buNone/>
            </a:pPr>
            <a:r>
              <a:rPr lang="en-US" sz="1250" b="1" i="0" u="none" strike="noStrike" cap="none" spc="0">
                <a:solidFill>
                  <a:srgbClr val="1F2937"/>
                </a:solidFill>
                <a:latin typeface="Arial"/>
                <a:ea typeface="Arial"/>
                <a:cs typeface="Arial"/>
                <a:sym typeface="Arial"/>
              </a:rPr>
              <a:t>API Gateway và EMS API </a:t>
            </a:r>
            <a:endParaRPr sz="1250" b="1" i="0" u="none" strike="noStrike" cap="none" spc="0">
              <a:solidFill>
                <a:srgbClr val="1F2937"/>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100"/>
              <a:buFont typeface="Arial"/>
              <a:buNone/>
            </a:pPr>
            <a:r>
              <a:rPr lang="en-US" sz="1150" b="0" i="0" u="none" strike="noStrike" cap="none" spc="0">
                <a:solidFill>
                  <a:srgbClr val="1F2937"/>
                </a:solidFill>
                <a:latin typeface="Arial"/>
                <a:ea typeface="Arial"/>
                <a:cs typeface="Arial"/>
                <a:sym typeface="Arial"/>
              </a:rPr>
              <a:t>Xác thực yêu cầu, kiểm tra chứng thư client; tiếp nhận, kiểm tra dữ liệu và chuyển sự kiện đến các thành phần xử lý. </a:t>
            </a:r>
            <a:endParaRPr sz="1150" b="0" i="0" u="none" strike="noStrike" cap="none" spc="0">
              <a:solidFill>
                <a:srgbClr val="1F2937"/>
              </a:solidFill>
              <a:latin typeface="Arial"/>
              <a:ea typeface="Arial"/>
              <a:cs typeface="Arial"/>
              <a:sym typeface="Arial"/>
            </a:endParaRPr>
          </a:p>
        </p:txBody>
      </p:sp>
      <p:sp>
        <p:nvSpPr>
          <p:cNvPr id="933" name="Google Shape;933;h44e9cd8e7ab16f1f_0_125"/>
          <p:cNvSpPr/>
          <p:nvPr/>
        </p:nvSpPr>
        <p:spPr>
          <a:xfrm>
            <a:off x="4973250" y="1587625"/>
            <a:ext cx="2245500" cy="30840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34" name="Google Shape;934;h44e9cd8e7ab16f1f_0_125"/>
          <p:cNvSpPr/>
          <p:nvPr/>
        </p:nvSpPr>
        <p:spPr>
          <a:xfrm>
            <a:off x="4973250" y="1573425"/>
            <a:ext cx="22455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35" name="Google Shape;935;h44e9cd8e7ab16f1f_0_125"/>
          <p:cNvSpPr/>
          <p:nvPr/>
        </p:nvSpPr>
        <p:spPr>
          <a:xfrm>
            <a:off x="5099950" y="1814475"/>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FFFFFF"/>
                </a:solidFill>
                <a:latin typeface="Arial"/>
                <a:ea typeface="Arial"/>
                <a:cs typeface="Arial"/>
                <a:sym typeface="Arial"/>
              </a:rPr>
              <a:t>3</a:t>
            </a:r>
            <a:endParaRPr sz="1400" b="0" i="0" u="none" strike="noStrike" cap="none" spc="0">
              <a:solidFill>
                <a:srgbClr val="000000"/>
              </a:solidFill>
              <a:latin typeface="Arial"/>
              <a:ea typeface="Arial"/>
              <a:cs typeface="Arial"/>
              <a:sym typeface="Arial"/>
            </a:endParaRPr>
          </a:p>
        </p:txBody>
      </p:sp>
      <p:sp>
        <p:nvSpPr>
          <p:cNvPr id="936" name="Google Shape;936;h44e9cd8e7ab16f1f_0_125"/>
          <p:cNvSpPr txBox="1"/>
          <p:nvPr/>
        </p:nvSpPr>
        <p:spPr>
          <a:xfrm>
            <a:off x="5586050" y="1890675"/>
            <a:ext cx="1506000" cy="3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INTERNAL ZONE  </a:t>
            </a:r>
            <a:endParaRPr sz="1400" b="0" i="0" u="none" strike="noStrike" cap="none" spc="0">
              <a:solidFill>
                <a:srgbClr val="000000"/>
              </a:solidFill>
              <a:latin typeface="Arial"/>
              <a:ea typeface="Arial"/>
              <a:cs typeface="Arial"/>
              <a:sym typeface="Arial"/>
            </a:endParaRPr>
          </a:p>
        </p:txBody>
      </p:sp>
      <p:sp>
        <p:nvSpPr>
          <p:cNvPr id="937" name="Google Shape;937;h44e9cd8e7ab16f1f_0_125"/>
          <p:cNvSpPr txBox="1"/>
          <p:nvPr/>
        </p:nvSpPr>
        <p:spPr>
          <a:xfrm>
            <a:off x="5030250" y="2411025"/>
            <a:ext cx="2074200" cy="2235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1200"/>
              </a:spcBef>
              <a:spcAft>
                <a:spcPts val="0"/>
              </a:spcAft>
              <a:buClr>
                <a:srgbClr val="000000"/>
              </a:buClr>
              <a:buSzPts val="1100"/>
              <a:buFont typeface="Arial"/>
              <a:buNone/>
            </a:pPr>
            <a:r>
              <a:rPr lang="en-US" sz="1250" b="1" i="0" u="none" strike="noStrike" cap="none" spc="0">
                <a:solidFill>
                  <a:srgbClr val="1F2937"/>
                </a:solidFill>
                <a:latin typeface="Arial"/>
                <a:ea typeface="Arial"/>
                <a:cs typeface="Arial"/>
                <a:sym typeface="Arial"/>
              </a:rPr>
              <a:t>Điều phối và xử lý nghiệp vụ  </a:t>
            </a:r>
            <a:endParaRPr sz="1250" b="1" i="0" u="none" strike="noStrike" cap="none" spc="0">
              <a:solidFill>
                <a:srgbClr val="1F2937"/>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100"/>
              <a:buFont typeface="Arial"/>
              <a:buNone/>
            </a:pPr>
            <a:r>
              <a:rPr lang="en-US" sz="1150">
                <a:solidFill>
                  <a:srgbClr val="1F2937"/>
                </a:solidFill>
              </a:rPr>
              <a:t>Điều phối luồng truyền tin giữa các thành phần; hỗ trợ bộ nhớ đệm, phiên làm việc và kiểm soát tần suất truy cập; xử lý nghiệp vụ sự kiện; đối sánh khuôn mặt; lưu trữ hình ảnh và video.</a:t>
            </a:r>
            <a:endParaRPr sz="1150" b="0" i="0" u="none" strike="noStrike" cap="none" spc="0">
              <a:solidFill>
                <a:srgbClr val="1F2937"/>
              </a:solidFill>
              <a:latin typeface="Arial"/>
              <a:ea typeface="Arial"/>
              <a:cs typeface="Arial"/>
              <a:sym typeface="Arial"/>
            </a:endParaRPr>
          </a:p>
        </p:txBody>
      </p:sp>
      <p:sp>
        <p:nvSpPr>
          <p:cNvPr id="938" name="Google Shape;938;h44e9cd8e7ab16f1f_0_125"/>
          <p:cNvSpPr/>
          <p:nvPr/>
        </p:nvSpPr>
        <p:spPr>
          <a:xfrm>
            <a:off x="7381575" y="1606425"/>
            <a:ext cx="2245500" cy="30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39" name="Google Shape;939;h44e9cd8e7ab16f1f_0_125"/>
          <p:cNvSpPr/>
          <p:nvPr/>
        </p:nvSpPr>
        <p:spPr>
          <a:xfrm>
            <a:off x="7381575" y="1606425"/>
            <a:ext cx="22455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40" name="Google Shape;940;h44e9cd8e7ab16f1f_0_125"/>
          <p:cNvSpPr/>
          <p:nvPr/>
        </p:nvSpPr>
        <p:spPr>
          <a:xfrm>
            <a:off x="7508275" y="1873125"/>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FFFFFF"/>
                </a:solidFill>
                <a:latin typeface="Arial"/>
                <a:ea typeface="Arial"/>
                <a:cs typeface="Arial"/>
                <a:sym typeface="Arial"/>
              </a:rPr>
              <a:t>4</a:t>
            </a:r>
            <a:endParaRPr sz="1400" b="0" i="0" u="none" strike="noStrike" cap="none" spc="0">
              <a:solidFill>
                <a:srgbClr val="000000"/>
              </a:solidFill>
              <a:latin typeface="Arial"/>
              <a:ea typeface="Arial"/>
              <a:cs typeface="Arial"/>
              <a:sym typeface="Arial"/>
            </a:endParaRPr>
          </a:p>
        </p:txBody>
      </p:sp>
      <p:sp>
        <p:nvSpPr>
          <p:cNvPr id="941" name="Google Shape;941;h44e9cd8e7ab16f1f_0_125"/>
          <p:cNvSpPr txBox="1"/>
          <p:nvPr/>
        </p:nvSpPr>
        <p:spPr>
          <a:xfrm>
            <a:off x="7994375" y="1949325"/>
            <a:ext cx="1506000" cy="3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DB ZONE   </a:t>
            </a:r>
            <a:endParaRPr sz="1400" b="0" i="0" u="none" strike="noStrike" cap="none" spc="0">
              <a:solidFill>
                <a:srgbClr val="000000"/>
              </a:solidFill>
              <a:latin typeface="Arial"/>
              <a:ea typeface="Arial"/>
              <a:cs typeface="Arial"/>
              <a:sym typeface="Arial"/>
            </a:endParaRPr>
          </a:p>
        </p:txBody>
      </p:sp>
      <p:sp>
        <p:nvSpPr>
          <p:cNvPr id="942" name="Google Shape;942;h44e9cd8e7ab16f1f_0_125"/>
          <p:cNvSpPr txBox="1"/>
          <p:nvPr/>
        </p:nvSpPr>
        <p:spPr>
          <a:xfrm>
            <a:off x="7467225" y="2456025"/>
            <a:ext cx="2074200" cy="2235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1200"/>
              </a:spcBef>
              <a:spcAft>
                <a:spcPts val="0"/>
              </a:spcAft>
              <a:buClr>
                <a:srgbClr val="000000"/>
              </a:buClr>
              <a:buSzPts val="1100"/>
              <a:buFont typeface="Arial"/>
              <a:buNone/>
            </a:pPr>
            <a:r>
              <a:rPr lang="en-US" sz="1250" b="1" i="0" u="none" strike="noStrike" cap="none" spc="0">
                <a:solidFill>
                  <a:srgbClr val="1F2937"/>
                </a:solidFill>
                <a:latin typeface="Arial"/>
                <a:ea typeface="Arial"/>
                <a:cs typeface="Arial"/>
                <a:sym typeface="Arial"/>
              </a:rPr>
              <a:t>Lưu trữ, tìm kiếm và phân tích dữ liệu   </a:t>
            </a:r>
            <a:endParaRPr sz="1250" b="1" i="0" u="none" strike="noStrike" cap="none" spc="0">
              <a:solidFill>
                <a:srgbClr val="1F2937"/>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50">
                <a:solidFill>
                  <a:srgbClr val="1F2937"/>
                </a:solidFill>
              </a:rPr>
              <a:t>Quản lý dữ liệu nghiệp vụ và dữ liệu theo thời gian; phân tích, thống kê dữ liệu sự kiện; lập chỉ mục và tìm kiếm nhanh.</a:t>
            </a:r>
            <a:endParaRPr sz="1150">
              <a:solidFill>
                <a:srgbClr val="1F2937"/>
              </a:solidFill>
            </a:endParaRPr>
          </a:p>
          <a:p>
            <a:pPr marL="0" marR="0" lvl="0" indent="0" algn="l" rtl="0">
              <a:lnSpc>
                <a:spcPct val="115000"/>
              </a:lnSpc>
              <a:spcBef>
                <a:spcPts val="1200"/>
              </a:spcBef>
              <a:spcAft>
                <a:spcPts val="1200"/>
              </a:spcAft>
              <a:buClr>
                <a:srgbClr val="000000"/>
              </a:buClr>
              <a:buSzPts val="1100"/>
              <a:buFont typeface="Arial"/>
              <a:buNone/>
            </a:pPr>
            <a:endParaRPr sz="1150">
              <a:solidFill>
                <a:srgbClr val="1F2937"/>
              </a:solidFill>
            </a:endParaRPr>
          </a:p>
        </p:txBody>
      </p:sp>
      <p:sp>
        <p:nvSpPr>
          <p:cNvPr id="943" name="Google Shape;943;h44e9cd8e7ab16f1f_0_125"/>
          <p:cNvSpPr/>
          <p:nvPr/>
        </p:nvSpPr>
        <p:spPr>
          <a:xfrm>
            <a:off x="9789900" y="1606425"/>
            <a:ext cx="2245500" cy="30651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44" name="Google Shape;944;h44e9cd8e7ab16f1f_0_125"/>
          <p:cNvSpPr/>
          <p:nvPr/>
        </p:nvSpPr>
        <p:spPr>
          <a:xfrm>
            <a:off x="9789900" y="1606425"/>
            <a:ext cx="22455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Arial"/>
              <a:ea typeface="Arial"/>
              <a:cs typeface="Arial"/>
              <a:sym typeface="Arial"/>
            </a:endParaRPr>
          </a:p>
        </p:txBody>
      </p:sp>
      <p:sp>
        <p:nvSpPr>
          <p:cNvPr id="945" name="Google Shape;945;h44e9cd8e7ab16f1f_0_125"/>
          <p:cNvSpPr/>
          <p:nvPr/>
        </p:nvSpPr>
        <p:spPr>
          <a:xfrm>
            <a:off x="9916600" y="1873125"/>
            <a:ext cx="431700" cy="431700"/>
          </a:xfrm>
          <a:prstGeom prst="ellipse">
            <a:avLst/>
          </a:prstGeom>
          <a:solidFill>
            <a:srgbClr val="1E3A8A"/>
          </a:solidFill>
          <a:ln>
            <a:noFill/>
          </a:ln>
        </p:spPr>
        <p:txBody>
          <a:bodyPr spcFirstLastPara="1" wrap="square" lIns="0" tIns="50800" rIns="0" bIns="508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FFFFFF"/>
                </a:solidFill>
                <a:latin typeface="Arial"/>
                <a:ea typeface="Arial"/>
                <a:cs typeface="Arial"/>
                <a:sym typeface="Arial"/>
              </a:rPr>
              <a:t>5</a:t>
            </a:r>
            <a:endParaRPr sz="1400" b="0" i="0" u="none" strike="noStrike" cap="none" spc="0">
              <a:solidFill>
                <a:srgbClr val="000000"/>
              </a:solidFill>
              <a:latin typeface="Arial"/>
              <a:ea typeface="Arial"/>
              <a:cs typeface="Arial"/>
              <a:sym typeface="Arial"/>
            </a:endParaRPr>
          </a:p>
        </p:txBody>
      </p:sp>
      <p:sp>
        <p:nvSpPr>
          <p:cNvPr id="946" name="Google Shape;946;h44e9cd8e7ab16f1f_0_125"/>
          <p:cNvSpPr txBox="1"/>
          <p:nvPr/>
        </p:nvSpPr>
        <p:spPr>
          <a:xfrm>
            <a:off x="10402700" y="1949325"/>
            <a:ext cx="1620300" cy="3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OUTBOUND ZONE </a:t>
            </a:r>
            <a:endParaRPr sz="1400" b="0" i="0" u="none" strike="noStrike" cap="none" spc="0">
              <a:solidFill>
                <a:srgbClr val="000000"/>
              </a:solidFill>
              <a:latin typeface="Arial"/>
              <a:ea typeface="Arial"/>
              <a:cs typeface="Arial"/>
              <a:sym typeface="Arial"/>
            </a:endParaRPr>
          </a:p>
        </p:txBody>
      </p:sp>
      <p:sp>
        <p:nvSpPr>
          <p:cNvPr id="947" name="Google Shape;947;h44e9cd8e7ab16f1f_0_125"/>
          <p:cNvSpPr txBox="1"/>
          <p:nvPr/>
        </p:nvSpPr>
        <p:spPr>
          <a:xfrm>
            <a:off x="9846900" y="2495325"/>
            <a:ext cx="2074200" cy="2235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1200"/>
              </a:spcBef>
              <a:spcAft>
                <a:spcPts val="0"/>
              </a:spcAft>
              <a:buClr>
                <a:srgbClr val="000000"/>
              </a:buClr>
              <a:buSzPts val="1100"/>
              <a:buFont typeface="Arial"/>
              <a:buNone/>
            </a:pPr>
            <a:r>
              <a:rPr lang="en-US" sz="1250" b="1" i="0" u="none" strike="noStrike" cap="none" spc="0">
                <a:solidFill>
                  <a:srgbClr val="1F2937"/>
                </a:solidFill>
                <a:latin typeface="Arial"/>
                <a:ea typeface="Arial"/>
                <a:cs typeface="Arial"/>
                <a:sym typeface="Arial"/>
              </a:rPr>
              <a:t>Các dịch vụ gửi thông báo   </a:t>
            </a:r>
            <a:endParaRPr sz="1250" b="1" i="0" u="none" strike="noStrike" cap="none" spc="0">
              <a:solidFill>
                <a:srgbClr val="1F2937"/>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100"/>
              <a:buFont typeface="Arial"/>
              <a:buNone/>
            </a:pPr>
            <a:r>
              <a:rPr lang="en-US" sz="1150" b="0" i="0" u="none" strike="noStrike" cap="none" spc="0">
                <a:solidFill>
                  <a:srgbClr val="1F2937"/>
                </a:solidFill>
                <a:latin typeface="Arial"/>
                <a:ea typeface="Arial"/>
                <a:cs typeface="Arial"/>
                <a:sym typeface="Arial"/>
              </a:rPr>
              <a:t>Email qua SMTP, SMS qua SMS Gateway và dịch vụ Notifications phục vụ thông báo đẩy hoặc cập nhật thời gian thực theo luồng tích hợp. </a:t>
            </a:r>
            <a:endParaRPr sz="1150" b="0" i="0" u="none" strike="noStrike" cap="none" spc="0">
              <a:solidFill>
                <a:srgbClr val="1F2937"/>
              </a:solidFill>
              <a:latin typeface="Arial"/>
              <a:ea typeface="Arial"/>
              <a:cs typeface="Arial"/>
              <a:sym typeface="Arial"/>
            </a:endParaRPr>
          </a:p>
        </p:txBody>
      </p:sp>
      <p:sp>
        <p:nvSpPr>
          <p:cNvPr id="948" name="Google Shape;948;h44e9cd8e7ab16f1f_0_125"/>
          <p:cNvSpPr txBox="1"/>
          <p:nvPr/>
        </p:nvSpPr>
        <p:spPr>
          <a:xfrm>
            <a:off x="156600" y="4744000"/>
            <a:ext cx="56604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1" i="1" u="none" strike="noStrike" cap="none" spc="0">
                <a:solidFill>
                  <a:srgbClr val="1E3A8A"/>
                </a:solidFill>
                <a:latin typeface="Arial"/>
                <a:ea typeface="Arial"/>
                <a:cs typeface="Arial"/>
                <a:sym typeface="Arial"/>
              </a:rPr>
              <a:t>CÁC LỚP BẢO MẬT TRONG KIẾN TRÚC </a:t>
            </a:r>
            <a:endParaRPr sz="1500" b="0" i="1" u="none" strike="noStrike" cap="none" spc="0">
              <a:solidFill>
                <a:srgbClr val="000000"/>
              </a:solidFill>
              <a:latin typeface="Arial"/>
              <a:ea typeface="Arial"/>
              <a:cs typeface="Arial"/>
              <a:sym typeface="Arial"/>
            </a:endParaRPr>
          </a:p>
        </p:txBody>
      </p:sp>
      <p:sp>
        <p:nvSpPr>
          <p:cNvPr id="949" name="Google Shape;949;h44e9cd8e7ab16f1f_0_125"/>
          <p:cNvSpPr/>
          <p:nvPr/>
        </p:nvSpPr>
        <p:spPr>
          <a:xfrm>
            <a:off x="213288" y="5056250"/>
            <a:ext cx="2835300" cy="161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50" name="Google Shape;950;h44e9cd8e7ab16f1f_0_125"/>
          <p:cNvSpPr/>
          <p:nvPr/>
        </p:nvSpPr>
        <p:spPr>
          <a:xfrm>
            <a:off x="213250" y="5318026"/>
            <a:ext cx="54600" cy="1078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51" name="Google Shape;951;h44e9cd8e7ab16f1f_0_125"/>
          <p:cNvSpPr txBox="1"/>
          <p:nvPr/>
        </p:nvSpPr>
        <p:spPr>
          <a:xfrm>
            <a:off x="432436" y="5185702"/>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Xác thực kết nối </a:t>
            </a:r>
            <a:endParaRPr sz="1400" b="0" i="0" u="none" strike="noStrike" cap="none" spc="0">
              <a:solidFill>
                <a:srgbClr val="000000"/>
              </a:solidFill>
              <a:latin typeface="Arial"/>
              <a:ea typeface="Arial"/>
              <a:cs typeface="Arial"/>
              <a:sym typeface="Arial"/>
            </a:endParaRPr>
          </a:p>
        </p:txBody>
      </p:sp>
      <p:sp>
        <p:nvSpPr>
          <p:cNvPr id="952" name="Google Shape;952;h44e9cd8e7ab16f1f_0_125"/>
          <p:cNvSpPr txBox="1"/>
          <p:nvPr/>
        </p:nvSpPr>
        <p:spPr>
          <a:xfrm>
            <a:off x="432436" y="5466197"/>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spc="0">
                <a:solidFill>
                  <a:srgbClr val="1F2937"/>
                </a:solidFill>
                <a:latin typeface="Arial"/>
                <a:ea typeface="Arial"/>
                <a:cs typeface="Arial"/>
                <a:sym typeface="Arial"/>
              </a:rPr>
              <a:t>API Gateway xác thực yêu cầu, kiểm tra token và chứng thư client theo cấu hình. </a:t>
            </a:r>
            <a:endParaRPr sz="1400" b="0" i="0" u="none" strike="noStrike" cap="none" spc="0">
              <a:solidFill>
                <a:srgbClr val="000000"/>
              </a:solidFill>
              <a:latin typeface="Arial"/>
              <a:ea typeface="Arial"/>
              <a:cs typeface="Arial"/>
              <a:sym typeface="Arial"/>
            </a:endParaRPr>
          </a:p>
        </p:txBody>
      </p:sp>
      <p:sp>
        <p:nvSpPr>
          <p:cNvPr id="953" name="Google Shape;953;h44e9cd8e7ab16f1f_0_125"/>
          <p:cNvSpPr/>
          <p:nvPr/>
        </p:nvSpPr>
        <p:spPr>
          <a:xfrm>
            <a:off x="3213063" y="5056250"/>
            <a:ext cx="2835300" cy="161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54" name="Google Shape;954;h44e9cd8e7ab16f1f_0_125"/>
          <p:cNvSpPr/>
          <p:nvPr/>
        </p:nvSpPr>
        <p:spPr>
          <a:xfrm>
            <a:off x="3213093" y="5318026"/>
            <a:ext cx="54600" cy="1078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55" name="Google Shape;955;h44e9cd8e7ab16f1f_0_125"/>
          <p:cNvSpPr txBox="1"/>
          <p:nvPr/>
        </p:nvSpPr>
        <p:spPr>
          <a:xfrm>
            <a:off x="3432204" y="5185702"/>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Phân vùng  </a:t>
            </a:r>
            <a:endParaRPr sz="1400" b="0" i="0" u="none" strike="noStrike" cap="none" spc="0">
              <a:solidFill>
                <a:srgbClr val="000000"/>
              </a:solidFill>
              <a:latin typeface="Arial"/>
              <a:ea typeface="Arial"/>
              <a:cs typeface="Arial"/>
              <a:sym typeface="Arial"/>
            </a:endParaRPr>
          </a:p>
        </p:txBody>
      </p:sp>
      <p:sp>
        <p:nvSpPr>
          <p:cNvPr id="956" name="Google Shape;956;h44e9cd8e7ab16f1f_0_125"/>
          <p:cNvSpPr txBox="1"/>
          <p:nvPr/>
        </p:nvSpPr>
        <p:spPr>
          <a:xfrm>
            <a:off x="3432204" y="5466197"/>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spc="0">
                <a:solidFill>
                  <a:srgbClr val="1F2937"/>
                </a:solidFill>
                <a:latin typeface="Arial"/>
                <a:ea typeface="Arial"/>
                <a:cs typeface="Arial"/>
                <a:sym typeface="Arial"/>
              </a:rPr>
              <a:t>Phân tách các vùng Internet, DMZ, nội bộ, cơ sở dữ liệu và gửi thông báo theo kiến trúc triển khai. </a:t>
            </a:r>
            <a:endParaRPr sz="1150" b="0" i="0" u="none" strike="noStrike" cap="none" spc="0">
              <a:solidFill>
                <a:srgbClr val="1F2937"/>
              </a:solidFill>
              <a:latin typeface="Arial"/>
              <a:ea typeface="Arial"/>
              <a:cs typeface="Arial"/>
              <a:sym typeface="Arial"/>
            </a:endParaRPr>
          </a:p>
        </p:txBody>
      </p:sp>
      <p:sp>
        <p:nvSpPr>
          <p:cNvPr id="957" name="Google Shape;957;h44e9cd8e7ab16f1f_0_125"/>
          <p:cNvSpPr/>
          <p:nvPr/>
        </p:nvSpPr>
        <p:spPr>
          <a:xfrm>
            <a:off x="6166338" y="5056250"/>
            <a:ext cx="2835300" cy="161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58" name="Google Shape;958;h44e9cd8e7ab16f1f_0_125"/>
          <p:cNvSpPr/>
          <p:nvPr/>
        </p:nvSpPr>
        <p:spPr>
          <a:xfrm>
            <a:off x="6212860" y="5323101"/>
            <a:ext cx="54600" cy="1078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59" name="Google Shape;959;h44e9cd8e7ab16f1f_0_125"/>
          <p:cNvSpPr txBox="1"/>
          <p:nvPr/>
        </p:nvSpPr>
        <p:spPr>
          <a:xfrm>
            <a:off x="6431972" y="5185702"/>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Phân quyền </a:t>
            </a:r>
            <a:endParaRPr sz="1400" b="0" i="0" u="none" strike="noStrike" cap="none" spc="0">
              <a:solidFill>
                <a:srgbClr val="000000"/>
              </a:solidFill>
              <a:latin typeface="Arial"/>
              <a:ea typeface="Arial"/>
              <a:cs typeface="Arial"/>
              <a:sym typeface="Arial"/>
            </a:endParaRPr>
          </a:p>
        </p:txBody>
      </p:sp>
      <p:sp>
        <p:nvSpPr>
          <p:cNvPr id="960" name="Google Shape;960;h44e9cd8e7ab16f1f_0_125"/>
          <p:cNvSpPr txBox="1"/>
          <p:nvPr/>
        </p:nvSpPr>
        <p:spPr>
          <a:xfrm>
            <a:off x="6431972" y="5466197"/>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US" sz="1150">
                <a:solidFill>
                  <a:srgbClr val="1F2937"/>
                </a:solidFill>
              </a:rPr>
              <a:t>Mỗi người dùng chỉ truy cập đúng chức năng và dữ liệu được cấp, theo vai trò đã thiết lập trên EMS.</a:t>
            </a:r>
            <a:endParaRPr sz="1400" b="0" i="0" u="none" strike="noStrike" cap="none" spc="0">
              <a:solidFill>
                <a:srgbClr val="000000"/>
              </a:solidFill>
              <a:latin typeface="Arial"/>
              <a:ea typeface="Arial"/>
              <a:cs typeface="Arial"/>
              <a:sym typeface="Arial"/>
            </a:endParaRPr>
          </a:p>
        </p:txBody>
      </p:sp>
      <p:sp>
        <p:nvSpPr>
          <p:cNvPr id="961" name="Google Shape;961;h44e9cd8e7ab16f1f_0_125"/>
          <p:cNvSpPr/>
          <p:nvPr/>
        </p:nvSpPr>
        <p:spPr>
          <a:xfrm>
            <a:off x="9212588" y="5056250"/>
            <a:ext cx="2835300" cy="1612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62" name="Google Shape;962;h44e9cd8e7ab16f1f_0_125"/>
          <p:cNvSpPr/>
          <p:nvPr/>
        </p:nvSpPr>
        <p:spPr>
          <a:xfrm>
            <a:off x="9189366" y="5318026"/>
            <a:ext cx="54600" cy="10788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963" name="Google Shape;963;h44e9cd8e7ab16f1f_0_125"/>
          <p:cNvSpPr txBox="1"/>
          <p:nvPr/>
        </p:nvSpPr>
        <p:spPr>
          <a:xfrm>
            <a:off x="9431739" y="5185702"/>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Phân tách thành phần dữ liệu  </a:t>
            </a:r>
            <a:endParaRPr sz="1400" b="0" i="0" u="none" strike="noStrike" cap="none" spc="0">
              <a:solidFill>
                <a:srgbClr val="000000"/>
              </a:solidFill>
              <a:latin typeface="Arial"/>
              <a:ea typeface="Arial"/>
              <a:cs typeface="Arial"/>
              <a:sym typeface="Arial"/>
            </a:endParaRPr>
          </a:p>
        </p:txBody>
      </p:sp>
      <p:sp>
        <p:nvSpPr>
          <p:cNvPr id="964" name="Google Shape;964;h44e9cd8e7ab16f1f_0_125"/>
          <p:cNvSpPr txBox="1"/>
          <p:nvPr/>
        </p:nvSpPr>
        <p:spPr>
          <a:xfrm>
            <a:off x="9431714" y="5705347"/>
            <a:ext cx="2451900" cy="31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US" sz="1150">
                <a:solidFill>
                  <a:srgbClr val="1F2937"/>
                </a:solidFill>
              </a:rPr>
              <a:t>Hệ thống sử dụng các thành phần chuyên biệt cho từng vai trò: quản lý dữ liệu, phân tích, tìm kiếm và lưu trữ đối tượn</a:t>
            </a:r>
            <a:endParaRPr sz="1400" b="0" i="0" u="none" strike="noStrike" cap="none" spc="0">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9"/>
        <p:cNvGrpSpPr/>
        <p:nvPr/>
      </p:nvGrpSpPr>
      <p:grpSpPr>
        <a:xfrm>
          <a:off x="0" y="0"/>
          <a:ext cx="0" cy="0"/>
          <a:chOff x="0" y="0"/>
          <a:chExt cx="0" cy="0"/>
        </a:xfrm>
      </p:grpSpPr>
      <p:sp>
        <p:nvSpPr>
          <p:cNvPr id="970" name="Google Shape;970;h1e75b8713011cdf_2_334"/>
          <p:cNvSpPr txBox="1"/>
          <p:nvPr/>
        </p:nvSpPr>
        <p:spPr>
          <a:xfrm>
            <a:off x="675650" y="2327325"/>
            <a:ext cx="1984500" cy="69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800" b="1">
                <a:solidFill>
                  <a:srgbClr val="1E3A8A"/>
                </a:solidFill>
              </a:rPr>
              <a:t>Sơ đồ </a:t>
            </a:r>
            <a:endParaRPr sz="2800" b="1">
              <a:solidFill>
                <a:srgbClr val="1E3A8A"/>
              </a:solidFill>
            </a:endParaRPr>
          </a:p>
          <a:p>
            <a:pPr marL="0" lvl="0" indent="0" algn="l" rtl="0">
              <a:lnSpc>
                <a:spcPct val="115000"/>
              </a:lnSpc>
              <a:spcBef>
                <a:spcPts val="0"/>
              </a:spcBef>
              <a:spcAft>
                <a:spcPts val="0"/>
              </a:spcAft>
              <a:buNone/>
            </a:pPr>
            <a:r>
              <a:rPr lang="en-US" sz="2800" b="1">
                <a:solidFill>
                  <a:srgbClr val="1E3A8A"/>
                </a:solidFill>
              </a:rPr>
              <a:t>Kiến trúc</a:t>
            </a:r>
            <a:endParaRPr sz="2800" b="1">
              <a:solidFill>
                <a:srgbClr val="1E3A8A"/>
              </a:solidFill>
            </a:endParaRPr>
          </a:p>
          <a:p>
            <a:pPr marL="0" lvl="0" indent="0" algn="l" rtl="0">
              <a:lnSpc>
                <a:spcPct val="115000"/>
              </a:lnSpc>
              <a:spcBef>
                <a:spcPts val="0"/>
              </a:spcBef>
              <a:spcAft>
                <a:spcPts val="0"/>
              </a:spcAft>
              <a:buNone/>
            </a:pPr>
            <a:r>
              <a:rPr lang="en-US" sz="2800" b="1">
                <a:solidFill>
                  <a:srgbClr val="1E3A8A"/>
                </a:solidFill>
              </a:rPr>
              <a:t>hệ thống</a:t>
            </a:r>
            <a:endParaRPr sz="2800" b="1">
              <a:solidFill>
                <a:srgbClr val="1E3A8A"/>
              </a:solidFill>
            </a:endParaRPr>
          </a:p>
          <a:p>
            <a:pPr marL="0" lvl="0" indent="0" algn="l" rtl="0">
              <a:lnSpc>
                <a:spcPct val="115000"/>
              </a:lnSpc>
              <a:spcBef>
                <a:spcPts val="0"/>
              </a:spcBef>
              <a:spcAft>
                <a:spcPts val="0"/>
              </a:spcAft>
              <a:buNone/>
            </a:pPr>
            <a:r>
              <a:rPr lang="en-US" sz="2800" b="1">
                <a:solidFill>
                  <a:srgbClr val="1E3A8A"/>
                </a:solidFill>
              </a:rPr>
              <a:t>EMS</a:t>
            </a:r>
            <a:endParaRPr sz="2800" b="1">
              <a:solidFill>
                <a:srgbClr val="1E3A8A"/>
              </a:solidFill>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pic>
        <p:nvPicPr>
          <p:cNvPr id="971" name="Google Shape;971;h1e75b8713011cdf_2_334"/>
          <p:cNvPicPr preferRelativeResize="0"/>
          <p:nvPr/>
        </p:nvPicPr>
        <p:blipFill>
          <a:blip r:embed="rId3">
            <a:alphaModFix/>
          </a:blip>
          <a:stretch>
            <a:fillRect/>
          </a:stretch>
        </p:blipFill>
        <p:spPr>
          <a:xfrm>
            <a:off x="4245450" y="0"/>
            <a:ext cx="6417938" cy="685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28"/>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8" name="Google Shape;978;p28"/>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28"/>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F2B705"/>
                </a:solidFill>
              </a:rPr>
              <a:t>ĐÀO TẠO SẢN PHẨM CHO TEAM SALES</a:t>
            </a:r>
            <a:endParaRPr/>
          </a:p>
        </p:txBody>
      </p:sp>
      <p:sp>
        <p:nvSpPr>
          <p:cNvPr id="980" name="Google Shape;980;p28"/>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a:solidFill>
                  <a:srgbClr val="FFFFFF"/>
                </a:solidFill>
              </a:rPr>
              <a:t>4. Selling point &amp; một số lưu ý</a:t>
            </a:r>
            <a:endParaRPr/>
          </a:p>
        </p:txBody>
      </p:sp>
      <p:sp>
        <p:nvSpPr>
          <p:cNvPr id="981" name="Google Shape;981;p28"/>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rPr>
              <a:t>MK Vision  |  Tháng 10/2026</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6"/>
        <p:cNvGrpSpPr/>
        <p:nvPr/>
      </p:nvGrpSpPr>
      <p:grpSpPr>
        <a:xfrm>
          <a:off x="0" y="0"/>
          <a:ext cx="0" cy="0"/>
          <a:chOff x="0" y="0"/>
          <a:chExt cx="0" cy="0"/>
        </a:xfrm>
      </p:grpSpPr>
      <p:sp>
        <p:nvSpPr>
          <p:cNvPr id="987" name="Google Shape;987;p29"/>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04 · SELLING POINT VÀ MỘT SỐ LƯU Ý</a:t>
            </a:r>
            <a:endParaRPr/>
          </a:p>
        </p:txBody>
      </p:sp>
      <p:sp>
        <p:nvSpPr>
          <p:cNvPr id="988" name="Google Shape;988;p29"/>
          <p:cNvSpPr txBox="1"/>
          <p:nvPr/>
        </p:nvSpPr>
        <p:spPr>
          <a:xfrm>
            <a:off x="609600" y="740650"/>
            <a:ext cx="10972800" cy="369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600" b="1">
                <a:solidFill>
                  <a:srgbClr val="1E3A8A"/>
                </a:solidFill>
              </a:rPr>
              <a:t>Giá trị nổi bật của EMS </a:t>
            </a:r>
            <a:endParaRPr>
              <a:solidFill>
                <a:schemeClr val="dk1"/>
              </a:solidFill>
            </a:endParaRPr>
          </a:p>
          <a:p>
            <a:pPr marL="0" marR="0" lvl="0" indent="0" algn="l" rtl="0">
              <a:spcBef>
                <a:spcPts val="0"/>
              </a:spcBef>
              <a:spcAft>
                <a:spcPts val="0"/>
              </a:spcAft>
              <a:buNone/>
            </a:pPr>
            <a:endParaRPr sz="2600" b="1">
              <a:solidFill>
                <a:srgbClr val="1E3A8A"/>
              </a:solidFill>
              <a:latin typeface="Quattrocento Sans"/>
              <a:ea typeface="Quattrocento Sans"/>
              <a:cs typeface="Quattrocento Sans"/>
              <a:sym typeface="Quattrocento Sans"/>
            </a:endParaRPr>
          </a:p>
        </p:txBody>
      </p:sp>
      <p:sp>
        <p:nvSpPr>
          <p:cNvPr id="989" name="Google Shape;989;p29"/>
          <p:cNvSpPr/>
          <p:nvPr/>
        </p:nvSpPr>
        <p:spPr>
          <a:xfrm>
            <a:off x="609600" y="132485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0" name="Google Shape;990;p29"/>
          <p:cNvSpPr/>
          <p:nvPr/>
        </p:nvSpPr>
        <p:spPr>
          <a:xfrm>
            <a:off x="609600" y="1644925"/>
            <a:ext cx="3505200" cy="226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1" name="Google Shape;991;p29"/>
          <p:cNvSpPr/>
          <p:nvPr/>
        </p:nvSpPr>
        <p:spPr>
          <a:xfrm>
            <a:off x="609600" y="1644925"/>
            <a:ext cx="35052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2" name="Google Shape;992;p29"/>
          <p:cNvSpPr txBox="1"/>
          <p:nvPr/>
        </p:nvSpPr>
        <p:spPr>
          <a:xfrm>
            <a:off x="838200" y="189892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1E3A8A"/>
                </a:solidFill>
              </a:rPr>
              <a:t>Đa dạng sự kiện </a:t>
            </a:r>
            <a:endParaRPr sz="2400" b="1">
              <a:solidFill>
                <a:srgbClr val="1E3A8A"/>
              </a:solidFill>
            </a:endParaRPr>
          </a:p>
        </p:txBody>
      </p:sp>
      <p:sp>
        <p:nvSpPr>
          <p:cNvPr id="993" name="Google Shape;993;p29"/>
          <p:cNvSpPr txBox="1"/>
          <p:nvPr/>
        </p:nvSpPr>
        <p:spPr>
          <a:xfrm>
            <a:off x="838200" y="243232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50" b="1">
                <a:solidFill>
                  <a:srgbClr val="2563EB"/>
                </a:solidFill>
              </a:rPr>
              <a:t>Một hệ thống – nhiều bài toán giám sát </a:t>
            </a:r>
            <a:endParaRPr sz="1300"/>
          </a:p>
        </p:txBody>
      </p:sp>
      <p:sp>
        <p:nvSpPr>
          <p:cNvPr id="994" name="Google Shape;994;p29"/>
          <p:cNvSpPr txBox="1"/>
          <p:nvPr/>
        </p:nvSpPr>
        <p:spPr>
          <a:xfrm>
            <a:off x="838200" y="276252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Quản lý các sự kiện khuôn mặt, phương tiện, đặc điểm đối tượng, lảng vảng, cháy khói và các loại sự kiện được tích hợp.  </a:t>
            </a:r>
            <a:endParaRPr sz="1150"/>
          </a:p>
        </p:txBody>
      </p:sp>
      <p:sp>
        <p:nvSpPr>
          <p:cNvPr id="995" name="Google Shape;995;p29"/>
          <p:cNvSpPr/>
          <p:nvPr/>
        </p:nvSpPr>
        <p:spPr>
          <a:xfrm>
            <a:off x="609600" y="4180675"/>
            <a:ext cx="3505200" cy="226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6" name="Google Shape;996;p29"/>
          <p:cNvSpPr/>
          <p:nvPr/>
        </p:nvSpPr>
        <p:spPr>
          <a:xfrm>
            <a:off x="609600" y="4180675"/>
            <a:ext cx="35052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7" name="Google Shape;997;p29"/>
          <p:cNvSpPr txBox="1"/>
          <p:nvPr/>
        </p:nvSpPr>
        <p:spPr>
          <a:xfrm>
            <a:off x="838200" y="443467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1E3A8A"/>
                </a:solidFill>
              </a:rPr>
              <a:t>Khai thác dữ liệu </a:t>
            </a:r>
            <a:endParaRPr sz="2400"/>
          </a:p>
        </p:txBody>
      </p:sp>
      <p:sp>
        <p:nvSpPr>
          <p:cNvPr id="998" name="Google Shape;998;p29"/>
          <p:cNvSpPr txBox="1"/>
          <p:nvPr/>
        </p:nvSpPr>
        <p:spPr>
          <a:xfrm>
            <a:off x="838200" y="4981800"/>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50" b="1">
                <a:solidFill>
                  <a:srgbClr val="2563EB"/>
                </a:solidFill>
              </a:rPr>
              <a:t>Từ hàng nghìn sự kiện đến thông tin tổng hợp </a:t>
            </a:r>
            <a:endParaRPr sz="1250"/>
          </a:p>
        </p:txBody>
      </p:sp>
      <p:sp>
        <p:nvSpPr>
          <p:cNvPr id="999" name="Google Shape;999;p29"/>
          <p:cNvSpPr txBox="1"/>
          <p:nvPr/>
        </p:nvSpPr>
        <p:spPr>
          <a:xfrm>
            <a:off x="838200" y="5472800"/>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Thống kê số lượng sự kiện và phân bố thuộc tính nhận diện qua biểu đồ, giúp người quản lý nắm bắt tình hình mà không phải xem từng sự kiện. </a:t>
            </a:r>
            <a:endParaRPr sz="1150">
              <a:solidFill>
                <a:srgbClr val="1F2937"/>
              </a:solidFill>
            </a:endParaRPr>
          </a:p>
        </p:txBody>
      </p:sp>
      <p:sp>
        <p:nvSpPr>
          <p:cNvPr id="1000" name="Google Shape;1000;p29"/>
          <p:cNvSpPr/>
          <p:nvPr/>
        </p:nvSpPr>
        <p:spPr>
          <a:xfrm>
            <a:off x="8026400" y="4180675"/>
            <a:ext cx="3505200" cy="226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1" name="Google Shape;1001;p29"/>
          <p:cNvSpPr/>
          <p:nvPr/>
        </p:nvSpPr>
        <p:spPr>
          <a:xfrm>
            <a:off x="8026400" y="4180675"/>
            <a:ext cx="35052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2" name="Google Shape;1002;p29"/>
          <p:cNvSpPr txBox="1"/>
          <p:nvPr/>
        </p:nvSpPr>
        <p:spPr>
          <a:xfrm>
            <a:off x="8133250" y="4434675"/>
            <a:ext cx="3340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1E3A8A"/>
                </a:solidFill>
              </a:rPr>
              <a:t>Phân quyền nhiều cấp  </a:t>
            </a:r>
            <a:endParaRPr sz="2400" b="1">
              <a:solidFill>
                <a:srgbClr val="1E3A8A"/>
              </a:solidFill>
            </a:endParaRPr>
          </a:p>
        </p:txBody>
      </p:sp>
      <p:sp>
        <p:nvSpPr>
          <p:cNvPr id="1003" name="Google Shape;1003;p29"/>
          <p:cNvSpPr txBox="1"/>
          <p:nvPr/>
        </p:nvSpPr>
        <p:spPr>
          <a:xfrm>
            <a:off x="8255000" y="496807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50" b="1">
                <a:solidFill>
                  <a:srgbClr val="2563EB"/>
                </a:solidFill>
              </a:rPr>
              <a:t>Quản lý theo cơ cấu tổ chức thực tế </a:t>
            </a:r>
            <a:endParaRPr sz="1250" b="1">
              <a:solidFill>
                <a:srgbClr val="2563EB"/>
              </a:solidFill>
            </a:endParaRPr>
          </a:p>
        </p:txBody>
      </p:sp>
      <p:sp>
        <p:nvSpPr>
          <p:cNvPr id="1004" name="Google Shape;1004;p29"/>
          <p:cNvSpPr txBox="1"/>
          <p:nvPr/>
        </p:nvSpPr>
        <p:spPr>
          <a:xfrm>
            <a:off x="8255000" y="529827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Kết hợp cây đơn vị, nhóm camera, nhóm quyền và quyền riêng người dùng để kiểm soát phạm vi dữ liệu và chức năng được phép sử dụng. </a:t>
            </a:r>
            <a:endParaRPr sz="1150">
              <a:solidFill>
                <a:srgbClr val="1F2937"/>
              </a:solidFill>
            </a:endParaRPr>
          </a:p>
        </p:txBody>
      </p:sp>
      <p:sp>
        <p:nvSpPr>
          <p:cNvPr id="1005" name="Google Shape;1005;p29"/>
          <p:cNvSpPr/>
          <p:nvPr/>
        </p:nvSpPr>
        <p:spPr>
          <a:xfrm>
            <a:off x="4318000" y="4180675"/>
            <a:ext cx="3505200" cy="226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29"/>
          <p:cNvSpPr/>
          <p:nvPr/>
        </p:nvSpPr>
        <p:spPr>
          <a:xfrm>
            <a:off x="4318000" y="4180675"/>
            <a:ext cx="35052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7" name="Google Shape;1007;p29"/>
          <p:cNvSpPr txBox="1"/>
          <p:nvPr/>
        </p:nvSpPr>
        <p:spPr>
          <a:xfrm>
            <a:off x="4546600" y="443467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1E3A8A"/>
                </a:solidFill>
              </a:rPr>
              <a:t>Cảnh báo linh hoạt </a:t>
            </a:r>
            <a:endParaRPr sz="2400"/>
          </a:p>
        </p:txBody>
      </p:sp>
      <p:sp>
        <p:nvSpPr>
          <p:cNvPr id="1008" name="Google Shape;1008;p29"/>
          <p:cNvSpPr txBox="1"/>
          <p:nvPr/>
        </p:nvSpPr>
        <p:spPr>
          <a:xfrm>
            <a:off x="4546600" y="496807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50" b="1">
                <a:solidFill>
                  <a:srgbClr val="2563EB"/>
                </a:solidFill>
              </a:rPr>
              <a:t>Tùy chỉnh theo nhu cầu nghiệp vụ </a:t>
            </a:r>
            <a:endParaRPr sz="1250" b="1">
              <a:solidFill>
                <a:srgbClr val="2563EB"/>
              </a:solidFill>
            </a:endParaRPr>
          </a:p>
        </p:txBody>
      </p:sp>
      <p:sp>
        <p:nvSpPr>
          <p:cNvPr id="1009" name="Google Shape;1009;p29"/>
          <p:cNvSpPr txBox="1"/>
          <p:nvPr/>
        </p:nvSpPr>
        <p:spPr>
          <a:xfrm>
            <a:off x="4546600" y="529827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Cấu hình loại sự kiện, người nhận và một hoặc nhiều kênh thông báo, phù hợp với cách vận hành của từng đơn vị. </a:t>
            </a:r>
            <a:endParaRPr sz="1150">
              <a:solidFill>
                <a:srgbClr val="1F2937"/>
              </a:solidFill>
            </a:endParaRPr>
          </a:p>
        </p:txBody>
      </p:sp>
      <p:sp>
        <p:nvSpPr>
          <p:cNvPr id="1010" name="Google Shape;1010;p29"/>
          <p:cNvSpPr/>
          <p:nvPr/>
        </p:nvSpPr>
        <p:spPr>
          <a:xfrm>
            <a:off x="7997750" y="1644925"/>
            <a:ext cx="3505200" cy="226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1" name="Google Shape;1011;p29"/>
          <p:cNvSpPr/>
          <p:nvPr/>
        </p:nvSpPr>
        <p:spPr>
          <a:xfrm>
            <a:off x="8026400" y="1644925"/>
            <a:ext cx="35052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2" name="Google Shape;1012;p29"/>
          <p:cNvSpPr txBox="1"/>
          <p:nvPr/>
        </p:nvSpPr>
        <p:spPr>
          <a:xfrm>
            <a:off x="8255000" y="189892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1E3A8A"/>
                </a:solidFill>
              </a:rPr>
              <a:t>Truy vết đa camera </a:t>
            </a:r>
            <a:endParaRPr sz="2400"/>
          </a:p>
        </p:txBody>
      </p:sp>
      <p:sp>
        <p:nvSpPr>
          <p:cNvPr id="1013" name="Google Shape;1013;p29"/>
          <p:cNvSpPr txBox="1"/>
          <p:nvPr/>
        </p:nvSpPr>
        <p:spPr>
          <a:xfrm>
            <a:off x="8255000" y="243232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50" b="1">
                <a:solidFill>
                  <a:srgbClr val="2563EB"/>
                </a:solidFill>
              </a:rPr>
              <a:t>Từ một dấu hiệu, tìm lịch sử xuất hiện </a:t>
            </a:r>
            <a:endParaRPr sz="1250"/>
          </a:p>
        </p:txBody>
      </p:sp>
      <p:sp>
        <p:nvSpPr>
          <p:cNvPr id="1014" name="Google Shape;1014;p29"/>
          <p:cNvSpPr txBox="1"/>
          <p:nvPr/>
        </p:nvSpPr>
        <p:spPr>
          <a:xfrm>
            <a:off x="8255000" y="276252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Hỗ trợ tìm kiếm đối tượng theo hình ảnh, biển số hoặc thuộc tính nhận diện, kết hợp thời gian, camera và vị trí để xác minh hành trình.  </a:t>
            </a:r>
            <a:endParaRPr sz="1150"/>
          </a:p>
        </p:txBody>
      </p:sp>
      <p:sp>
        <p:nvSpPr>
          <p:cNvPr id="1015" name="Google Shape;1015;p29"/>
          <p:cNvSpPr/>
          <p:nvPr/>
        </p:nvSpPr>
        <p:spPr>
          <a:xfrm>
            <a:off x="4343400" y="1644925"/>
            <a:ext cx="3505200" cy="2260500"/>
          </a:xfrm>
          <a:prstGeom prst="roundRect">
            <a:avLst>
              <a:gd name="adj" fmla="val 6000"/>
            </a:avLst>
          </a:prstGeom>
          <a:solidFill>
            <a:srgbClr val="F3F5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6" name="Google Shape;1016;p29"/>
          <p:cNvSpPr/>
          <p:nvPr/>
        </p:nvSpPr>
        <p:spPr>
          <a:xfrm>
            <a:off x="4343400" y="1644925"/>
            <a:ext cx="35052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7" name="Google Shape;1017;p29"/>
          <p:cNvSpPr txBox="1"/>
          <p:nvPr/>
        </p:nvSpPr>
        <p:spPr>
          <a:xfrm>
            <a:off x="4483100" y="1898925"/>
            <a:ext cx="32562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1E3A8A"/>
                </a:solidFill>
              </a:rPr>
              <a:t>Định danh thông minh </a:t>
            </a:r>
            <a:endParaRPr sz="1200"/>
          </a:p>
        </p:txBody>
      </p:sp>
      <p:sp>
        <p:nvSpPr>
          <p:cNvPr id="1018" name="Google Shape;1018;p29"/>
          <p:cNvSpPr txBox="1"/>
          <p:nvPr/>
        </p:nvSpPr>
        <p:spPr>
          <a:xfrm>
            <a:off x="4572000" y="2419650"/>
            <a:ext cx="31104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50" b="1">
                <a:solidFill>
                  <a:srgbClr val="2563EB"/>
                </a:solidFill>
              </a:rPr>
              <a:t>Nhận biết người và phương tiện cần theo dõi </a:t>
            </a:r>
            <a:endParaRPr sz="1250" b="1">
              <a:solidFill>
                <a:srgbClr val="2563EB"/>
              </a:solidFill>
            </a:endParaRPr>
          </a:p>
        </p:txBody>
      </p:sp>
      <p:sp>
        <p:nvSpPr>
          <p:cNvPr id="1019" name="Google Shape;1019;p29"/>
          <p:cNvSpPr txBox="1"/>
          <p:nvPr/>
        </p:nvSpPr>
        <p:spPr>
          <a:xfrm>
            <a:off x="4603200" y="2903825"/>
            <a:ext cx="3048000" cy="36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50">
                <a:solidFill>
                  <a:srgbClr val="1F2937"/>
                </a:solidFill>
              </a:rPr>
              <a:t>Quản lý danh sách định danh, đối chiếu khuôn mặt và nhận diện phương tiện theo biển số, đặc điểm được hỗ trợ. Khi đối tượng xuất hiện trong sự kiện, EMS hỗ trợ xác định thông tin liên quan và phát cảnh báo theo cấu hình. </a:t>
            </a:r>
            <a:endParaRPr sz="1150">
              <a:solidFill>
                <a:srgbClr val="1F2937"/>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4"/>
        <p:cNvGrpSpPr/>
        <p:nvPr/>
      </p:nvGrpSpPr>
      <p:grpSpPr>
        <a:xfrm>
          <a:off x="0" y="0"/>
          <a:ext cx="0" cy="0"/>
          <a:chOff x="0" y="0"/>
          <a:chExt cx="0" cy="0"/>
        </a:xfrm>
      </p:grpSpPr>
      <p:sp>
        <p:nvSpPr>
          <p:cNvPr id="1025" name="Google Shape;1025;hc73717ff22a4ad1_0_3"/>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spc="0">
                <a:solidFill>
                  <a:srgbClr val="2563EB"/>
                </a:solidFill>
                <a:latin typeface="Arial"/>
                <a:ea typeface="Arial"/>
                <a:cs typeface="Arial"/>
                <a:sym typeface="Arial"/>
              </a:rPr>
              <a:t>04 · </a:t>
            </a:r>
            <a:r>
              <a:rPr lang="en-US" sz="1100" b="1">
                <a:solidFill>
                  <a:srgbClr val="2563EB"/>
                </a:solidFill>
              </a:rPr>
              <a:t>CÁC THÔNG SỐ</a:t>
            </a:r>
            <a:r>
              <a:rPr lang="en-US" sz="1100" b="1" i="0" u="none" strike="noStrike" cap="none" spc="0">
                <a:solidFill>
                  <a:srgbClr val="2563EB"/>
                </a:solidFill>
                <a:latin typeface="Arial"/>
                <a:ea typeface="Arial"/>
                <a:cs typeface="Arial"/>
                <a:sym typeface="Arial"/>
              </a:rPr>
              <a:t> VÀ MỘT SỐ LƯU Ý</a:t>
            </a:r>
            <a:endParaRPr sz="1400" b="0" i="0" u="none" strike="noStrike" cap="none" spc="0">
              <a:solidFill>
                <a:srgbClr val="000000"/>
              </a:solidFill>
              <a:latin typeface="Arial"/>
              <a:ea typeface="Arial"/>
              <a:cs typeface="Arial"/>
              <a:sym typeface="Arial"/>
            </a:endParaRPr>
          </a:p>
        </p:txBody>
      </p:sp>
      <p:sp>
        <p:nvSpPr>
          <p:cNvPr id="1026" name="Google Shape;1026;hc73717ff22a4ad1_0_3"/>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1" i="0" u="none" strike="noStrike" cap="none" spc="0">
                <a:solidFill>
                  <a:srgbClr val="1E3A8A"/>
                </a:solidFill>
                <a:latin typeface="Arial"/>
                <a:ea typeface="Arial"/>
                <a:cs typeface="Arial"/>
                <a:sym typeface="Arial"/>
              </a:rPr>
              <a:t>Thông số &amp; năng lực </a:t>
            </a:r>
            <a:endParaRPr sz="2600" b="1" i="0" u="none" strike="noStrike" cap="none" spc="0">
              <a:solidFill>
                <a:srgbClr val="1E3A8A"/>
              </a:solidFill>
              <a:latin typeface="Arial"/>
              <a:ea typeface="Arial"/>
              <a:cs typeface="Arial"/>
              <a:sym typeface="Arial"/>
            </a:endParaRPr>
          </a:p>
        </p:txBody>
      </p:sp>
      <p:sp>
        <p:nvSpPr>
          <p:cNvPr id="1027" name="Google Shape;1027;hc73717ff22a4ad1_0_3"/>
          <p:cNvSpPr/>
          <p:nvPr/>
        </p:nvSpPr>
        <p:spPr>
          <a:xfrm>
            <a:off x="609600" y="109785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1028" name="Google Shape;1028;hc73717ff22a4ad1_0_3"/>
          <p:cNvSpPr/>
          <p:nvPr/>
        </p:nvSpPr>
        <p:spPr>
          <a:xfrm>
            <a:off x="169335" y="4547875"/>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29" name="Google Shape;1029;hc73717ff22a4ad1_0_3"/>
          <p:cNvSpPr/>
          <p:nvPr/>
        </p:nvSpPr>
        <p:spPr>
          <a:xfrm>
            <a:off x="169335" y="4547875"/>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30" name="Google Shape;1030;hc73717ff22a4ad1_0_3"/>
          <p:cNvSpPr txBox="1"/>
          <p:nvPr/>
        </p:nvSpPr>
        <p:spPr>
          <a:xfrm>
            <a:off x="176225" y="4763150"/>
            <a:ext cx="2701800" cy="283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Tiếp nhận sự kiện từ camera  </a:t>
            </a:r>
            <a:endParaRPr sz="1400" b="1" i="0" u="none" strike="noStrike" cap="none" spc="0">
              <a:solidFill>
                <a:srgbClr val="1E3A8A"/>
              </a:solidFill>
              <a:latin typeface="Arial"/>
              <a:ea typeface="Arial"/>
              <a:cs typeface="Arial"/>
              <a:sym typeface="Arial"/>
            </a:endParaRPr>
          </a:p>
        </p:txBody>
      </p:sp>
      <p:sp>
        <p:nvSpPr>
          <p:cNvPr id="1031" name="Google Shape;1031;hc73717ff22a4ad1_0_3"/>
          <p:cNvSpPr txBox="1"/>
          <p:nvPr/>
        </p:nvSpPr>
        <p:spPr>
          <a:xfrm>
            <a:off x="323421" y="5202849"/>
            <a:ext cx="2349000" cy="41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spc="0">
                <a:solidFill>
                  <a:srgbClr val="1F2937"/>
                </a:solidFill>
                <a:latin typeface="Arial"/>
                <a:ea typeface="Arial"/>
                <a:cs typeface="Arial"/>
                <a:sym typeface="Arial"/>
              </a:rPr>
              <a:t>Tiếp nhận và tập trung dữ liệu sự kiện từ các camera tương thích để quản lý, tra cứu và khai thác trên EMS. </a:t>
            </a:r>
            <a:endParaRPr sz="1100" b="0" i="0" u="none" strike="noStrike" cap="none" spc="0">
              <a:solidFill>
                <a:srgbClr val="000000"/>
              </a:solidFill>
              <a:latin typeface="Arial"/>
              <a:ea typeface="Arial"/>
              <a:cs typeface="Arial"/>
              <a:sym typeface="Arial"/>
            </a:endParaRPr>
          </a:p>
        </p:txBody>
      </p:sp>
      <p:sp>
        <p:nvSpPr>
          <p:cNvPr id="1032" name="Google Shape;1032;hc73717ff22a4ad1_0_3"/>
          <p:cNvSpPr/>
          <p:nvPr/>
        </p:nvSpPr>
        <p:spPr>
          <a:xfrm>
            <a:off x="3185528" y="4547875"/>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33" name="Google Shape;1033;hc73717ff22a4ad1_0_3"/>
          <p:cNvSpPr/>
          <p:nvPr/>
        </p:nvSpPr>
        <p:spPr>
          <a:xfrm>
            <a:off x="3207609" y="4547875"/>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34" name="Google Shape;1034;hc73717ff22a4ad1_0_3"/>
          <p:cNvSpPr txBox="1"/>
          <p:nvPr/>
        </p:nvSpPr>
        <p:spPr>
          <a:xfrm>
            <a:off x="3207600" y="4781450"/>
            <a:ext cx="2658600" cy="283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a:solidFill>
                  <a:srgbClr val="1E3A8A"/>
                </a:solidFill>
              </a:rPr>
              <a:t>Ghi nhận dữ liệu</a:t>
            </a:r>
            <a:r>
              <a:rPr lang="en-US" sz="1400" b="1" i="0" u="none" strike="noStrike" cap="none" spc="0">
                <a:solidFill>
                  <a:srgbClr val="1E3A8A"/>
                </a:solidFill>
                <a:latin typeface="Arial"/>
                <a:ea typeface="Arial"/>
                <a:cs typeface="Arial"/>
                <a:sym typeface="Arial"/>
              </a:rPr>
              <a:t> người và phương tiện  </a:t>
            </a:r>
            <a:endParaRPr sz="1400" b="0" i="0" u="none" strike="noStrike" cap="none" spc="0">
              <a:solidFill>
                <a:srgbClr val="000000"/>
              </a:solidFill>
              <a:latin typeface="Arial"/>
              <a:ea typeface="Arial"/>
              <a:cs typeface="Arial"/>
              <a:sym typeface="Arial"/>
            </a:endParaRPr>
          </a:p>
        </p:txBody>
      </p:sp>
      <p:sp>
        <p:nvSpPr>
          <p:cNvPr id="1035" name="Google Shape;1035;hc73717ff22a4ad1_0_3"/>
          <p:cNvSpPr txBox="1"/>
          <p:nvPr/>
        </p:nvSpPr>
        <p:spPr>
          <a:xfrm>
            <a:off x="3383792" y="5404885"/>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spc="0">
                <a:solidFill>
                  <a:srgbClr val="1F2937"/>
                </a:solidFill>
                <a:latin typeface="Arial"/>
                <a:ea typeface="Arial"/>
                <a:cs typeface="Arial"/>
                <a:sym typeface="Arial"/>
              </a:rPr>
              <a:t>Khai thác dữ liệu khuôn mặt, biển số và các thuộc tính nhận diện được hỗ trợ. </a:t>
            </a:r>
            <a:endParaRPr sz="1100" b="0" i="0" u="none" strike="noStrike" cap="none" spc="0">
              <a:solidFill>
                <a:srgbClr val="000000"/>
              </a:solidFill>
              <a:latin typeface="Arial"/>
              <a:ea typeface="Arial"/>
              <a:cs typeface="Arial"/>
              <a:sym typeface="Arial"/>
            </a:endParaRPr>
          </a:p>
        </p:txBody>
      </p:sp>
      <p:sp>
        <p:nvSpPr>
          <p:cNvPr id="1036" name="Google Shape;1036;hc73717ff22a4ad1_0_3"/>
          <p:cNvSpPr/>
          <p:nvPr/>
        </p:nvSpPr>
        <p:spPr>
          <a:xfrm>
            <a:off x="6194835" y="458030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37" name="Google Shape;1037;hc73717ff22a4ad1_0_3"/>
          <p:cNvSpPr/>
          <p:nvPr/>
        </p:nvSpPr>
        <p:spPr>
          <a:xfrm>
            <a:off x="6194835" y="458030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38" name="Google Shape;1038;hc73717ff22a4ad1_0_3"/>
          <p:cNvSpPr txBox="1"/>
          <p:nvPr/>
        </p:nvSpPr>
        <p:spPr>
          <a:xfrm>
            <a:off x="6194825" y="4813875"/>
            <a:ext cx="2701800" cy="264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Đối sánh khuôn mặt 1:N </a:t>
            </a:r>
            <a:endParaRPr sz="1400" b="0" i="0" u="none" strike="noStrike" cap="none" spc="0">
              <a:solidFill>
                <a:srgbClr val="000000"/>
              </a:solidFill>
              <a:latin typeface="Arial"/>
              <a:ea typeface="Arial"/>
              <a:cs typeface="Arial"/>
              <a:sym typeface="Arial"/>
            </a:endParaRPr>
          </a:p>
        </p:txBody>
      </p:sp>
      <p:sp>
        <p:nvSpPr>
          <p:cNvPr id="1039" name="Google Shape;1039;hc73717ff22a4ad1_0_3"/>
          <p:cNvSpPr txBox="1"/>
          <p:nvPr/>
        </p:nvSpPr>
        <p:spPr>
          <a:xfrm>
            <a:off x="6392793" y="5235285"/>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30"/>
              <a:buFont typeface="Arial"/>
              <a:buNone/>
            </a:pPr>
            <a:r>
              <a:rPr lang="en-US" sz="1130" b="0" i="0" u="none" strike="noStrike" cap="none" spc="0">
                <a:solidFill>
                  <a:srgbClr val="1F2937"/>
                </a:solidFill>
                <a:latin typeface="Arial"/>
                <a:ea typeface="Arial"/>
                <a:cs typeface="Arial"/>
                <a:sym typeface="Arial"/>
              </a:rPr>
              <a:t>Sử dụng một ảnh khuôn mặt để tìm các kết quả tương đồng trong dữ liệu đã ghi nhận, hỗ trợ xác minh đối tượng. </a:t>
            </a:r>
            <a:endParaRPr sz="1130" b="0" i="0" u="none" strike="noStrike" cap="none" spc="0">
              <a:solidFill>
                <a:srgbClr val="1F2937"/>
              </a:solidFill>
              <a:latin typeface="Arial"/>
              <a:ea typeface="Arial"/>
              <a:cs typeface="Arial"/>
              <a:sym typeface="Arial"/>
            </a:endParaRPr>
          </a:p>
        </p:txBody>
      </p:sp>
      <p:sp>
        <p:nvSpPr>
          <p:cNvPr id="1040" name="Google Shape;1040;hc73717ff22a4ad1_0_3"/>
          <p:cNvSpPr/>
          <p:nvPr/>
        </p:nvSpPr>
        <p:spPr>
          <a:xfrm>
            <a:off x="9193084" y="458030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41" name="Google Shape;1041;hc73717ff22a4ad1_0_3"/>
          <p:cNvSpPr/>
          <p:nvPr/>
        </p:nvSpPr>
        <p:spPr>
          <a:xfrm>
            <a:off x="9215165" y="458030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42" name="Google Shape;1042;hc73717ff22a4ad1_0_3"/>
          <p:cNvSpPr txBox="1"/>
          <p:nvPr/>
        </p:nvSpPr>
        <p:spPr>
          <a:xfrm>
            <a:off x="9215175" y="4813875"/>
            <a:ext cx="2701800" cy="283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Tra cứu theo nhiều tiêu chí </a:t>
            </a:r>
            <a:endParaRPr sz="1400" b="0" i="0" u="none" strike="noStrike" cap="none" spc="0">
              <a:solidFill>
                <a:srgbClr val="000000"/>
              </a:solidFill>
              <a:latin typeface="Arial"/>
              <a:ea typeface="Arial"/>
              <a:cs typeface="Arial"/>
              <a:sym typeface="Arial"/>
            </a:endParaRPr>
          </a:p>
        </p:txBody>
      </p:sp>
      <p:sp>
        <p:nvSpPr>
          <p:cNvPr id="1043" name="Google Shape;1043;hc73717ff22a4ad1_0_3"/>
          <p:cNvSpPr txBox="1"/>
          <p:nvPr/>
        </p:nvSpPr>
        <p:spPr>
          <a:xfrm>
            <a:off x="9391348" y="5437310"/>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spc="0">
                <a:solidFill>
                  <a:srgbClr val="1F2937"/>
                </a:solidFill>
                <a:latin typeface="Arial"/>
                <a:ea typeface="Arial"/>
                <a:cs typeface="Arial"/>
                <a:sym typeface="Arial"/>
              </a:rPr>
              <a:t>Kết hợp thời gian, camera và thông tin nhận diện để thu hẹp kết quả tìm kiếm. </a:t>
            </a:r>
            <a:endParaRPr sz="1100" b="0" i="0" u="none" strike="noStrike" cap="none" spc="0">
              <a:solidFill>
                <a:srgbClr val="000000"/>
              </a:solidFill>
              <a:latin typeface="Arial"/>
              <a:ea typeface="Arial"/>
              <a:cs typeface="Arial"/>
              <a:sym typeface="Arial"/>
            </a:endParaRPr>
          </a:p>
        </p:txBody>
      </p:sp>
      <p:pic>
        <p:nvPicPr>
          <p:cNvPr id="1044" name="Google Shape;1044;hc73717ff22a4ad1_0_3"/>
          <p:cNvPicPr preferRelativeResize="0"/>
          <p:nvPr/>
        </p:nvPicPr>
        <p:blipFill rotWithShape="1">
          <a:blip r:embed="rId3">
            <a:alphaModFix/>
          </a:blip>
          <a:srcRect l="14529" t="8637" r="18298" b="51226"/>
          <a:stretch/>
        </p:blipFill>
        <p:spPr>
          <a:xfrm>
            <a:off x="401027" y="1904900"/>
            <a:ext cx="2406372" cy="1985825"/>
          </a:xfrm>
          <a:prstGeom prst="rect">
            <a:avLst/>
          </a:prstGeom>
          <a:noFill/>
          <a:ln>
            <a:noFill/>
          </a:ln>
        </p:spPr>
      </p:pic>
      <p:pic>
        <p:nvPicPr>
          <p:cNvPr id="1045" name="Google Shape;1045;hc73717ff22a4ad1_0_3"/>
          <p:cNvPicPr preferRelativeResize="0"/>
          <p:nvPr/>
        </p:nvPicPr>
        <p:blipFill>
          <a:blip r:embed="rId4">
            <a:alphaModFix/>
          </a:blip>
          <a:stretch>
            <a:fillRect/>
          </a:stretch>
        </p:blipFill>
        <p:spPr>
          <a:xfrm>
            <a:off x="6216400" y="1840675"/>
            <a:ext cx="2701800" cy="2145822"/>
          </a:xfrm>
          <a:prstGeom prst="rect">
            <a:avLst/>
          </a:prstGeom>
          <a:noFill/>
          <a:ln>
            <a:noFill/>
          </a:ln>
        </p:spPr>
      </p:pic>
      <p:pic>
        <p:nvPicPr>
          <p:cNvPr id="1046" name="Google Shape;1046;hc73717ff22a4ad1_0_3"/>
          <p:cNvPicPr preferRelativeResize="0"/>
          <p:nvPr/>
        </p:nvPicPr>
        <p:blipFill>
          <a:blip r:embed="rId5">
            <a:alphaModFix/>
          </a:blip>
          <a:stretch>
            <a:fillRect/>
          </a:stretch>
        </p:blipFill>
        <p:spPr>
          <a:xfrm>
            <a:off x="3383800" y="1942575"/>
            <a:ext cx="2500325" cy="1985825"/>
          </a:xfrm>
          <a:prstGeom prst="rect">
            <a:avLst/>
          </a:prstGeom>
          <a:noFill/>
          <a:ln>
            <a:noFill/>
          </a:ln>
        </p:spPr>
      </p:pic>
      <p:pic>
        <p:nvPicPr>
          <p:cNvPr id="1047" name="Google Shape;1047;hc73717ff22a4ad1_0_3"/>
          <p:cNvPicPr preferRelativeResize="0"/>
          <p:nvPr/>
        </p:nvPicPr>
        <p:blipFill>
          <a:blip r:embed="rId6">
            <a:alphaModFix/>
          </a:blip>
          <a:stretch>
            <a:fillRect/>
          </a:stretch>
        </p:blipFill>
        <p:spPr>
          <a:xfrm>
            <a:off x="9193075" y="1840675"/>
            <a:ext cx="2628652" cy="20877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2"/>
        <p:cNvGrpSpPr/>
        <p:nvPr/>
      </p:nvGrpSpPr>
      <p:grpSpPr>
        <a:xfrm>
          <a:off x="0" y="0"/>
          <a:ext cx="0" cy="0"/>
          <a:chOff x="0" y="0"/>
          <a:chExt cx="0" cy="0"/>
        </a:xfrm>
      </p:grpSpPr>
      <p:sp>
        <p:nvSpPr>
          <p:cNvPr id="1053" name="Google Shape;1053;hc73717ff22a4ad1_0_30"/>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spc="0">
                <a:solidFill>
                  <a:srgbClr val="2563EB"/>
                </a:solidFill>
                <a:latin typeface="Arial"/>
                <a:ea typeface="Arial"/>
                <a:cs typeface="Arial"/>
                <a:sym typeface="Arial"/>
              </a:rPr>
              <a:t>04 · </a:t>
            </a:r>
            <a:r>
              <a:rPr lang="en-US" sz="1100" b="1">
                <a:solidFill>
                  <a:srgbClr val="2563EB"/>
                </a:solidFill>
              </a:rPr>
              <a:t>CÁC THÔNG SỐ</a:t>
            </a:r>
            <a:r>
              <a:rPr lang="en-US" sz="1100" b="1" i="0" u="none" strike="noStrike" cap="none" spc="0">
                <a:solidFill>
                  <a:srgbClr val="2563EB"/>
                </a:solidFill>
                <a:latin typeface="Arial"/>
                <a:ea typeface="Arial"/>
                <a:cs typeface="Arial"/>
                <a:sym typeface="Arial"/>
              </a:rPr>
              <a:t> VÀ MỘT SỐ LƯU Ý</a:t>
            </a:r>
            <a:endParaRPr sz="1400" b="0" i="0" u="none" strike="noStrike" cap="none" spc="0">
              <a:solidFill>
                <a:srgbClr val="000000"/>
              </a:solidFill>
              <a:latin typeface="Arial"/>
              <a:ea typeface="Arial"/>
              <a:cs typeface="Arial"/>
              <a:sym typeface="Arial"/>
            </a:endParaRPr>
          </a:p>
        </p:txBody>
      </p:sp>
      <p:sp>
        <p:nvSpPr>
          <p:cNvPr id="1054" name="Google Shape;1054;hc73717ff22a4ad1_0_30"/>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1" i="0" u="none" strike="noStrike" cap="none" spc="0">
                <a:solidFill>
                  <a:srgbClr val="1E3A8A"/>
                </a:solidFill>
                <a:latin typeface="Arial"/>
                <a:ea typeface="Arial"/>
                <a:cs typeface="Arial"/>
                <a:sym typeface="Arial"/>
              </a:rPr>
              <a:t>Thông số &amp; năng lực </a:t>
            </a:r>
            <a:endParaRPr sz="2600" b="1" i="0" u="none" strike="noStrike" cap="none" spc="0">
              <a:solidFill>
                <a:srgbClr val="1E3A8A"/>
              </a:solidFill>
              <a:latin typeface="Arial"/>
              <a:ea typeface="Arial"/>
              <a:cs typeface="Arial"/>
              <a:sym typeface="Arial"/>
            </a:endParaRPr>
          </a:p>
        </p:txBody>
      </p:sp>
      <p:sp>
        <p:nvSpPr>
          <p:cNvPr id="1055" name="Google Shape;1055;hc73717ff22a4ad1_0_30"/>
          <p:cNvSpPr/>
          <p:nvPr/>
        </p:nvSpPr>
        <p:spPr>
          <a:xfrm>
            <a:off x="609600" y="109785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1056" name="Google Shape;1056;hc73717ff22a4ad1_0_30"/>
          <p:cNvSpPr/>
          <p:nvPr/>
        </p:nvSpPr>
        <p:spPr>
          <a:xfrm>
            <a:off x="436697" y="467049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57" name="Google Shape;1057;hc73717ff22a4ad1_0_30"/>
          <p:cNvSpPr/>
          <p:nvPr/>
        </p:nvSpPr>
        <p:spPr>
          <a:xfrm>
            <a:off x="436697" y="467049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58" name="Google Shape;1058;hc73717ff22a4ad1_0_30"/>
          <p:cNvSpPr txBox="1"/>
          <p:nvPr/>
        </p:nvSpPr>
        <p:spPr>
          <a:xfrm>
            <a:off x="436688" y="4889025"/>
            <a:ext cx="2701800" cy="283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Lịch sử xuất hiện đa camera </a:t>
            </a:r>
            <a:endParaRPr sz="1400" b="0" i="0" u="none" strike="noStrike" cap="none" spc="0">
              <a:solidFill>
                <a:srgbClr val="000000"/>
              </a:solidFill>
              <a:latin typeface="Arial"/>
              <a:ea typeface="Arial"/>
              <a:cs typeface="Arial"/>
              <a:sym typeface="Arial"/>
            </a:endParaRPr>
          </a:p>
        </p:txBody>
      </p:sp>
      <p:sp>
        <p:nvSpPr>
          <p:cNvPr id="1059" name="Google Shape;1059;hc73717ff22a4ad1_0_30"/>
          <p:cNvSpPr txBox="1"/>
          <p:nvPr/>
        </p:nvSpPr>
        <p:spPr>
          <a:xfrm>
            <a:off x="613279" y="5365900"/>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30"/>
              <a:buFont typeface="Arial"/>
              <a:buNone/>
            </a:pPr>
            <a:r>
              <a:rPr lang="en-US" sz="1130" b="0" i="0" u="none" strike="noStrike" cap="none" spc="0">
                <a:solidFill>
                  <a:srgbClr val="1F2937"/>
                </a:solidFill>
                <a:latin typeface="Arial"/>
                <a:ea typeface="Arial"/>
                <a:cs typeface="Arial"/>
                <a:sym typeface="Arial"/>
              </a:rPr>
              <a:t>Tổng hợp các lần xuất hiện đã ghi nhận để hỗ trợ xác minh người hoặc phương tiện. </a:t>
            </a:r>
            <a:endParaRPr sz="1130" b="0" i="0" u="none" strike="noStrike" cap="none" spc="0">
              <a:solidFill>
                <a:srgbClr val="1F2937"/>
              </a:solidFill>
              <a:latin typeface="Arial"/>
              <a:ea typeface="Arial"/>
              <a:cs typeface="Arial"/>
              <a:sym typeface="Arial"/>
            </a:endParaRPr>
          </a:p>
        </p:txBody>
      </p:sp>
      <p:sp>
        <p:nvSpPr>
          <p:cNvPr id="1060" name="Google Shape;1060;hc73717ff22a4ad1_0_30"/>
          <p:cNvSpPr/>
          <p:nvPr/>
        </p:nvSpPr>
        <p:spPr>
          <a:xfrm>
            <a:off x="6152847" y="467049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61" name="Google Shape;1061;hc73717ff22a4ad1_0_30"/>
          <p:cNvSpPr/>
          <p:nvPr/>
        </p:nvSpPr>
        <p:spPr>
          <a:xfrm>
            <a:off x="6152847" y="467049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62" name="Google Shape;1062;hc73717ff22a4ad1_0_30"/>
          <p:cNvSpPr txBox="1"/>
          <p:nvPr/>
        </p:nvSpPr>
        <p:spPr>
          <a:xfrm>
            <a:off x="6191938" y="4866050"/>
            <a:ext cx="2658600" cy="283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Thống kê dữ liệu sự kiện    </a:t>
            </a:r>
            <a:endParaRPr sz="1400" b="1" i="0" u="none" strike="noStrike" cap="none" spc="0">
              <a:solidFill>
                <a:srgbClr val="1E3A8A"/>
              </a:solidFill>
              <a:latin typeface="Arial"/>
              <a:ea typeface="Arial"/>
              <a:cs typeface="Arial"/>
              <a:sym typeface="Arial"/>
            </a:endParaRPr>
          </a:p>
        </p:txBody>
      </p:sp>
      <p:sp>
        <p:nvSpPr>
          <p:cNvPr id="1063" name="Google Shape;1063;hc73717ff22a4ad1_0_30"/>
          <p:cNvSpPr txBox="1"/>
          <p:nvPr/>
        </p:nvSpPr>
        <p:spPr>
          <a:xfrm>
            <a:off x="6350530" y="5430550"/>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30"/>
              <a:buFont typeface="Arial"/>
              <a:buNone/>
            </a:pPr>
            <a:r>
              <a:rPr lang="en-US" sz="1130" b="0" i="0" u="none" strike="noStrike" cap="none" spc="0">
                <a:solidFill>
                  <a:srgbClr val="1F2937"/>
                </a:solidFill>
                <a:latin typeface="Arial"/>
                <a:ea typeface="Arial"/>
                <a:cs typeface="Arial"/>
                <a:sym typeface="Arial"/>
              </a:rPr>
              <a:t>Tổng hợp số liệu theo thời gian và các tiêu chí thống kê có trên hệ thống. </a:t>
            </a:r>
            <a:endParaRPr sz="1130" b="0" i="0" u="none" strike="noStrike" cap="none" spc="0">
              <a:solidFill>
                <a:srgbClr val="1F2937"/>
              </a:solidFill>
              <a:latin typeface="Arial"/>
              <a:ea typeface="Arial"/>
              <a:cs typeface="Arial"/>
              <a:sym typeface="Arial"/>
            </a:endParaRPr>
          </a:p>
        </p:txBody>
      </p:sp>
      <p:sp>
        <p:nvSpPr>
          <p:cNvPr id="1064" name="Google Shape;1064;hc73717ff22a4ad1_0_30"/>
          <p:cNvSpPr/>
          <p:nvPr/>
        </p:nvSpPr>
        <p:spPr>
          <a:xfrm>
            <a:off x="3314321" y="467049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65" name="Google Shape;1065;hc73717ff22a4ad1_0_30"/>
          <p:cNvSpPr/>
          <p:nvPr/>
        </p:nvSpPr>
        <p:spPr>
          <a:xfrm>
            <a:off x="3294771" y="467049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66" name="Google Shape;1066;hc73717ff22a4ad1_0_30"/>
          <p:cNvSpPr txBox="1"/>
          <p:nvPr/>
        </p:nvSpPr>
        <p:spPr>
          <a:xfrm>
            <a:off x="3314313" y="4860101"/>
            <a:ext cx="2701800" cy="228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Cấu hình cảnh báo đa kênh </a:t>
            </a:r>
            <a:endParaRPr sz="1400" b="0" i="0" u="none" strike="noStrike" cap="none" spc="0">
              <a:solidFill>
                <a:srgbClr val="000000"/>
              </a:solidFill>
              <a:latin typeface="Arial"/>
              <a:ea typeface="Arial"/>
              <a:cs typeface="Arial"/>
              <a:sym typeface="Arial"/>
            </a:endParaRPr>
          </a:p>
        </p:txBody>
      </p:sp>
      <p:sp>
        <p:nvSpPr>
          <p:cNvPr id="1067" name="Google Shape;1067;hc73717ff22a4ad1_0_30"/>
          <p:cNvSpPr txBox="1"/>
          <p:nvPr/>
        </p:nvSpPr>
        <p:spPr>
          <a:xfrm>
            <a:off x="3471155" y="5395438"/>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30"/>
              <a:buFont typeface="Arial"/>
              <a:buNone/>
            </a:pPr>
            <a:r>
              <a:rPr lang="en-US" sz="1130" b="0" i="0" u="none" strike="noStrike" cap="none" spc="0">
                <a:solidFill>
                  <a:srgbClr val="1F2937"/>
                </a:solidFill>
                <a:latin typeface="Arial"/>
                <a:ea typeface="Arial"/>
                <a:cs typeface="Arial"/>
                <a:sym typeface="Arial"/>
              </a:rPr>
              <a:t>Thiết lập kênh thông báo theo loại sự kiện và nhu cầu vận hành được hỗ trợ. </a:t>
            </a:r>
            <a:endParaRPr sz="1130" b="0" i="0" u="none" strike="noStrike" cap="none" spc="0">
              <a:solidFill>
                <a:srgbClr val="1F2937"/>
              </a:solidFill>
              <a:latin typeface="Arial"/>
              <a:ea typeface="Arial"/>
              <a:cs typeface="Arial"/>
              <a:sym typeface="Arial"/>
            </a:endParaRPr>
          </a:p>
        </p:txBody>
      </p:sp>
      <p:sp>
        <p:nvSpPr>
          <p:cNvPr id="1068" name="Google Shape;1068;hc73717ff22a4ad1_0_30"/>
          <p:cNvSpPr/>
          <p:nvPr/>
        </p:nvSpPr>
        <p:spPr>
          <a:xfrm>
            <a:off x="9053503" y="467049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69" name="Google Shape;1069;hc73717ff22a4ad1_0_30"/>
          <p:cNvSpPr/>
          <p:nvPr/>
        </p:nvSpPr>
        <p:spPr>
          <a:xfrm>
            <a:off x="9053503" y="467049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70" name="Google Shape;1070;hc73717ff22a4ad1_0_30"/>
          <p:cNvSpPr txBox="1"/>
          <p:nvPr/>
        </p:nvSpPr>
        <p:spPr>
          <a:xfrm>
            <a:off x="9080163" y="4865275"/>
            <a:ext cx="2658600" cy="284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Quản lý danh sách định danh     </a:t>
            </a:r>
            <a:endParaRPr sz="1400" b="1" i="0" u="none" strike="noStrike" cap="none" spc="0">
              <a:solidFill>
                <a:srgbClr val="1E3A8A"/>
              </a:solidFill>
              <a:latin typeface="Arial"/>
              <a:ea typeface="Arial"/>
              <a:cs typeface="Arial"/>
              <a:sym typeface="Arial"/>
            </a:endParaRPr>
          </a:p>
        </p:txBody>
      </p:sp>
      <p:sp>
        <p:nvSpPr>
          <p:cNvPr id="1071" name="Google Shape;1071;hc73717ff22a4ad1_0_30"/>
          <p:cNvSpPr txBox="1"/>
          <p:nvPr/>
        </p:nvSpPr>
        <p:spPr>
          <a:xfrm>
            <a:off x="9229686" y="5527500"/>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30"/>
              <a:buFont typeface="Arial"/>
              <a:buNone/>
            </a:pPr>
            <a:r>
              <a:rPr lang="en-US" sz="1130" b="0" i="0" u="none" strike="noStrike" cap="none" spc="0">
                <a:solidFill>
                  <a:srgbClr val="1F2937"/>
                </a:solidFill>
                <a:latin typeface="Arial"/>
                <a:ea typeface="Arial"/>
                <a:cs typeface="Arial"/>
                <a:sym typeface="Arial"/>
              </a:rPr>
              <a:t>Quản lý thông tin, hình ảnh và nhóm phân loại của người, phương tiện cần theo dõi. </a:t>
            </a:r>
            <a:endParaRPr sz="1130" b="0" i="0" u="none" strike="noStrike" cap="none" spc="0">
              <a:solidFill>
                <a:srgbClr val="1F2937"/>
              </a:solidFill>
              <a:latin typeface="Arial"/>
              <a:ea typeface="Arial"/>
              <a:cs typeface="Arial"/>
              <a:sym typeface="Arial"/>
            </a:endParaRPr>
          </a:p>
        </p:txBody>
      </p:sp>
      <p:pic>
        <p:nvPicPr>
          <p:cNvPr id="1072" name="Google Shape;1072;hc73717ff22a4ad1_0_30"/>
          <p:cNvPicPr preferRelativeResize="0"/>
          <p:nvPr/>
        </p:nvPicPr>
        <p:blipFill>
          <a:blip r:embed="rId3">
            <a:alphaModFix/>
          </a:blip>
          <a:stretch>
            <a:fillRect/>
          </a:stretch>
        </p:blipFill>
        <p:spPr>
          <a:xfrm>
            <a:off x="641750" y="1981964"/>
            <a:ext cx="2474976" cy="1965700"/>
          </a:xfrm>
          <a:prstGeom prst="rect">
            <a:avLst/>
          </a:prstGeom>
          <a:noFill/>
          <a:ln>
            <a:noFill/>
          </a:ln>
        </p:spPr>
      </p:pic>
      <p:pic>
        <p:nvPicPr>
          <p:cNvPr id="1073" name="Google Shape;1073;hc73717ff22a4ad1_0_30"/>
          <p:cNvPicPr preferRelativeResize="0"/>
          <p:nvPr/>
        </p:nvPicPr>
        <p:blipFill>
          <a:blip r:embed="rId4">
            <a:alphaModFix/>
          </a:blip>
          <a:stretch>
            <a:fillRect/>
          </a:stretch>
        </p:blipFill>
        <p:spPr>
          <a:xfrm>
            <a:off x="3314325" y="2014675"/>
            <a:ext cx="2505825" cy="1990185"/>
          </a:xfrm>
          <a:prstGeom prst="rect">
            <a:avLst/>
          </a:prstGeom>
          <a:noFill/>
          <a:ln>
            <a:noFill/>
          </a:ln>
        </p:spPr>
      </p:pic>
      <p:pic>
        <p:nvPicPr>
          <p:cNvPr id="1074" name="Google Shape;1074;hc73717ff22a4ad1_0_30"/>
          <p:cNvPicPr preferRelativeResize="0"/>
          <p:nvPr/>
        </p:nvPicPr>
        <p:blipFill>
          <a:blip r:embed="rId5">
            <a:alphaModFix/>
          </a:blip>
          <a:stretch>
            <a:fillRect/>
          </a:stretch>
        </p:blipFill>
        <p:spPr>
          <a:xfrm>
            <a:off x="6191950" y="2026925"/>
            <a:ext cx="2474976" cy="1965674"/>
          </a:xfrm>
          <a:prstGeom prst="rect">
            <a:avLst/>
          </a:prstGeom>
          <a:noFill/>
          <a:ln>
            <a:noFill/>
          </a:ln>
        </p:spPr>
      </p:pic>
      <p:pic>
        <p:nvPicPr>
          <p:cNvPr id="1075" name="Google Shape;1075;hc73717ff22a4ad1_0_30"/>
          <p:cNvPicPr preferRelativeResize="0"/>
          <p:nvPr/>
        </p:nvPicPr>
        <p:blipFill>
          <a:blip r:embed="rId6">
            <a:alphaModFix/>
          </a:blip>
          <a:stretch>
            <a:fillRect/>
          </a:stretch>
        </p:blipFill>
        <p:spPr>
          <a:xfrm>
            <a:off x="9002925" y="1998325"/>
            <a:ext cx="2546983" cy="2022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0"/>
        <p:cNvGrpSpPr/>
        <p:nvPr/>
      </p:nvGrpSpPr>
      <p:grpSpPr>
        <a:xfrm>
          <a:off x="0" y="0"/>
          <a:ext cx="0" cy="0"/>
          <a:chOff x="0" y="0"/>
          <a:chExt cx="0" cy="0"/>
        </a:xfrm>
      </p:grpSpPr>
      <p:sp>
        <p:nvSpPr>
          <p:cNvPr id="1081" name="Google Shape;1081;hc73717ff22a4ad1_0_57"/>
          <p:cNvSpPr txBox="1"/>
          <p:nvPr/>
        </p:nvSpPr>
        <p:spPr>
          <a:xfrm>
            <a:off x="609600" y="3556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spc="0">
                <a:solidFill>
                  <a:srgbClr val="2563EB"/>
                </a:solidFill>
                <a:latin typeface="Arial"/>
                <a:ea typeface="Arial"/>
                <a:cs typeface="Arial"/>
                <a:sym typeface="Arial"/>
              </a:rPr>
              <a:t>04 · </a:t>
            </a:r>
            <a:r>
              <a:rPr lang="en-US" sz="1100" b="1">
                <a:solidFill>
                  <a:srgbClr val="2563EB"/>
                </a:solidFill>
              </a:rPr>
              <a:t>CÁC THÔNG SỐ</a:t>
            </a:r>
            <a:r>
              <a:rPr lang="en-US" sz="1100" b="1" i="0" u="none" strike="noStrike" cap="none" spc="0">
                <a:solidFill>
                  <a:srgbClr val="2563EB"/>
                </a:solidFill>
                <a:latin typeface="Arial"/>
                <a:ea typeface="Arial"/>
                <a:cs typeface="Arial"/>
                <a:sym typeface="Arial"/>
              </a:rPr>
              <a:t> VÀ MỘT SỐ LƯU Ý</a:t>
            </a:r>
            <a:endParaRPr sz="1400" b="0" i="0" u="none" strike="noStrike" cap="none" spc="0">
              <a:solidFill>
                <a:srgbClr val="000000"/>
              </a:solidFill>
              <a:latin typeface="Arial"/>
              <a:ea typeface="Arial"/>
              <a:cs typeface="Arial"/>
              <a:sym typeface="Arial"/>
            </a:endParaRPr>
          </a:p>
        </p:txBody>
      </p:sp>
      <p:sp>
        <p:nvSpPr>
          <p:cNvPr id="1082" name="Google Shape;1082;hc73717ff22a4ad1_0_57"/>
          <p:cNvSpPr txBox="1"/>
          <p:nvPr/>
        </p:nvSpPr>
        <p:spPr>
          <a:xfrm>
            <a:off x="609600" y="584200"/>
            <a:ext cx="10972800" cy="369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1" i="0" u="none" strike="noStrike" cap="none" spc="0">
                <a:solidFill>
                  <a:srgbClr val="1E3A8A"/>
                </a:solidFill>
                <a:latin typeface="Arial"/>
                <a:ea typeface="Arial"/>
                <a:cs typeface="Arial"/>
                <a:sym typeface="Arial"/>
              </a:rPr>
              <a:t>Thông số &amp; năng lực </a:t>
            </a:r>
            <a:endParaRPr sz="2600" b="1" i="0" u="none" strike="noStrike" cap="none" spc="0">
              <a:solidFill>
                <a:srgbClr val="1E3A8A"/>
              </a:solidFill>
              <a:latin typeface="Arial"/>
              <a:ea typeface="Arial"/>
              <a:cs typeface="Arial"/>
              <a:sym typeface="Arial"/>
            </a:endParaRPr>
          </a:p>
        </p:txBody>
      </p:sp>
      <p:sp>
        <p:nvSpPr>
          <p:cNvPr id="1083" name="Google Shape;1083;hc73717ff22a4ad1_0_57"/>
          <p:cNvSpPr/>
          <p:nvPr/>
        </p:nvSpPr>
        <p:spPr>
          <a:xfrm>
            <a:off x="609600" y="109785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spc="0">
              <a:solidFill>
                <a:schemeClr val="lt1"/>
              </a:solidFill>
              <a:latin typeface="Calibri"/>
              <a:ea typeface="Calibri"/>
              <a:cs typeface="Calibri"/>
              <a:sym typeface="Calibri"/>
            </a:endParaRPr>
          </a:p>
        </p:txBody>
      </p:sp>
      <p:sp>
        <p:nvSpPr>
          <p:cNvPr id="1084" name="Google Shape;1084;hc73717ff22a4ad1_0_57"/>
          <p:cNvSpPr txBox="1"/>
          <p:nvPr/>
        </p:nvSpPr>
        <p:spPr>
          <a:xfrm>
            <a:off x="10279868" y="4741646"/>
            <a:ext cx="1241400" cy="2847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94"/>
              <a:buFont typeface="Arial"/>
              <a:buNone/>
            </a:pPr>
            <a:r>
              <a:rPr lang="en-US" sz="694" b="0" i="0" u="none" strike="noStrike" cap="none" spc="0">
                <a:solidFill>
                  <a:srgbClr val="6B7280"/>
                </a:solidFill>
                <a:latin typeface="Arial"/>
                <a:ea typeface="Arial"/>
                <a:cs typeface="Arial"/>
                <a:sym typeface="Arial"/>
              </a:rPr>
              <a:t>30</a:t>
            </a:r>
            <a:endParaRPr sz="1079" b="0" i="0" u="none" strike="noStrike" cap="none" spc="0">
              <a:solidFill>
                <a:srgbClr val="000000"/>
              </a:solidFill>
              <a:latin typeface="Arial"/>
              <a:ea typeface="Arial"/>
              <a:cs typeface="Arial"/>
              <a:sym typeface="Arial"/>
            </a:endParaRPr>
          </a:p>
        </p:txBody>
      </p:sp>
      <p:sp>
        <p:nvSpPr>
          <p:cNvPr id="1085" name="Google Shape;1085;hc73717ff22a4ad1_0_57"/>
          <p:cNvSpPr/>
          <p:nvPr/>
        </p:nvSpPr>
        <p:spPr>
          <a:xfrm>
            <a:off x="339948" y="454070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86" name="Google Shape;1086;hc73717ff22a4ad1_0_57"/>
          <p:cNvSpPr/>
          <p:nvPr/>
        </p:nvSpPr>
        <p:spPr>
          <a:xfrm>
            <a:off x="339948" y="454070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87" name="Google Shape;1087;hc73717ff22a4ad1_0_57"/>
          <p:cNvSpPr txBox="1"/>
          <p:nvPr/>
        </p:nvSpPr>
        <p:spPr>
          <a:xfrm>
            <a:off x="359723" y="4735473"/>
            <a:ext cx="2658600" cy="264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Phân quyền theo phạm vi </a:t>
            </a:r>
            <a:endParaRPr sz="1400" b="0" i="0" u="none" strike="noStrike" cap="none" spc="0">
              <a:solidFill>
                <a:srgbClr val="000000"/>
              </a:solidFill>
              <a:latin typeface="Arial"/>
              <a:ea typeface="Arial"/>
              <a:cs typeface="Arial"/>
              <a:sym typeface="Arial"/>
            </a:endParaRPr>
          </a:p>
        </p:txBody>
      </p:sp>
      <p:sp>
        <p:nvSpPr>
          <p:cNvPr id="1088" name="Google Shape;1088;hc73717ff22a4ad1_0_57"/>
          <p:cNvSpPr txBox="1"/>
          <p:nvPr/>
        </p:nvSpPr>
        <p:spPr>
          <a:xfrm>
            <a:off x="516581" y="5203636"/>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30"/>
              <a:buFont typeface="Arial"/>
              <a:buNone/>
            </a:pPr>
            <a:r>
              <a:rPr lang="en-US" sz="1130" b="0" i="0" u="none" strike="noStrike" cap="none" spc="0">
                <a:solidFill>
                  <a:srgbClr val="1F2937"/>
                </a:solidFill>
                <a:latin typeface="Arial"/>
                <a:ea typeface="Arial"/>
                <a:cs typeface="Arial"/>
                <a:sym typeface="Arial"/>
              </a:rPr>
              <a:t>Kiểm soát dữ liệu và camera người dùng được phép truy cập theo quyền được cấp. </a:t>
            </a:r>
            <a:endParaRPr sz="1130" b="0" i="0" u="none" strike="noStrike" cap="none" spc="0">
              <a:solidFill>
                <a:srgbClr val="1F2937"/>
              </a:solidFill>
              <a:latin typeface="Arial"/>
              <a:ea typeface="Arial"/>
              <a:cs typeface="Arial"/>
              <a:sym typeface="Arial"/>
            </a:endParaRPr>
          </a:p>
        </p:txBody>
      </p:sp>
      <p:sp>
        <p:nvSpPr>
          <p:cNvPr id="1089" name="Google Shape;1089;hc73717ff22a4ad1_0_57"/>
          <p:cNvSpPr/>
          <p:nvPr/>
        </p:nvSpPr>
        <p:spPr>
          <a:xfrm>
            <a:off x="6140698" y="454070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90" name="Google Shape;1090;hc73717ff22a4ad1_0_57"/>
          <p:cNvSpPr/>
          <p:nvPr/>
        </p:nvSpPr>
        <p:spPr>
          <a:xfrm>
            <a:off x="6140698" y="454070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91" name="Google Shape;1091;hc73717ff22a4ad1_0_57"/>
          <p:cNvSpPr txBox="1"/>
          <p:nvPr/>
        </p:nvSpPr>
        <p:spPr>
          <a:xfrm>
            <a:off x="6118623" y="4735473"/>
            <a:ext cx="2701800" cy="29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Đáp ứng nhu cầu xử lý sự kiện </a:t>
            </a:r>
            <a:endParaRPr sz="1400" b="1" i="0" u="none" strike="noStrike" cap="none" spc="0">
              <a:solidFill>
                <a:srgbClr val="1E3A8A"/>
              </a:solidFill>
              <a:latin typeface="Arial"/>
              <a:ea typeface="Arial"/>
              <a:cs typeface="Arial"/>
              <a:sym typeface="Arial"/>
            </a:endParaRPr>
          </a:p>
        </p:txBody>
      </p:sp>
      <p:sp>
        <p:nvSpPr>
          <p:cNvPr id="1092" name="Google Shape;1092;hc73717ff22a4ad1_0_57"/>
          <p:cNvSpPr txBox="1"/>
          <p:nvPr/>
        </p:nvSpPr>
        <p:spPr>
          <a:xfrm>
            <a:off x="6291023" y="5236123"/>
            <a:ext cx="2463300" cy="283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30"/>
              <a:buFont typeface="Arial"/>
              <a:buNone/>
            </a:pPr>
            <a:r>
              <a:rPr lang="vi-VN" sz="1130" b="0" i="0" u="none" strike="noStrike" cap="none" spc="0">
                <a:solidFill>
                  <a:srgbClr val="1F2937"/>
                </a:solidFill>
                <a:latin typeface="Arial"/>
                <a:ea typeface="Arial"/>
                <a:cs typeface="Arial"/>
                <a:sym typeface="Arial"/>
              </a:rPr>
              <a:t>Đánh giá và tối ưu tài nguyên hệ thống theo lưu lượng sự kiện và mức độ sử dụng hệ thống, làm cơ sở xác định cấu hình đáp ứng nhu cầu thực tế.</a:t>
            </a:r>
            <a:endParaRPr sz="1130" b="0" i="0" u="none" strike="noStrike" cap="none" spc="0" dirty="0">
              <a:solidFill>
                <a:srgbClr val="1F2937"/>
              </a:solidFill>
              <a:latin typeface="Arial"/>
              <a:ea typeface="Arial"/>
              <a:cs typeface="Arial"/>
              <a:sym typeface="Arial"/>
            </a:endParaRPr>
          </a:p>
        </p:txBody>
      </p:sp>
      <p:sp>
        <p:nvSpPr>
          <p:cNvPr id="1093" name="Google Shape;1093;hc73717ff22a4ad1_0_57"/>
          <p:cNvSpPr/>
          <p:nvPr/>
        </p:nvSpPr>
        <p:spPr>
          <a:xfrm>
            <a:off x="3198023" y="454070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94" name="Google Shape;1094;hc73717ff22a4ad1_0_57"/>
          <p:cNvSpPr/>
          <p:nvPr/>
        </p:nvSpPr>
        <p:spPr>
          <a:xfrm>
            <a:off x="3198023" y="454070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95" name="Google Shape;1095;hc73717ff22a4ad1_0_57"/>
          <p:cNvSpPr txBox="1"/>
          <p:nvPr/>
        </p:nvSpPr>
        <p:spPr>
          <a:xfrm>
            <a:off x="3217573" y="4730324"/>
            <a:ext cx="2701800" cy="29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Quy mô triển khai linh hoạt </a:t>
            </a:r>
            <a:endParaRPr sz="1400" b="0" i="0" u="none" strike="noStrike" cap="none" spc="0">
              <a:solidFill>
                <a:srgbClr val="000000"/>
              </a:solidFill>
              <a:latin typeface="Arial"/>
              <a:ea typeface="Arial"/>
              <a:cs typeface="Arial"/>
              <a:sym typeface="Arial"/>
            </a:endParaRPr>
          </a:p>
        </p:txBody>
      </p:sp>
      <p:sp>
        <p:nvSpPr>
          <p:cNvPr id="1096" name="Google Shape;1096;hc73717ff22a4ad1_0_57"/>
          <p:cNvSpPr txBox="1"/>
          <p:nvPr/>
        </p:nvSpPr>
        <p:spPr>
          <a:xfrm>
            <a:off x="3374206" y="5236111"/>
            <a:ext cx="2349000" cy="28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130" b="0" i="0" u="none" strike="noStrike" cap="none" spc="0">
                <a:solidFill>
                  <a:srgbClr val="1F2937"/>
                </a:solidFill>
                <a:latin typeface="Arial"/>
                <a:ea typeface="Arial"/>
                <a:cs typeface="Arial"/>
                <a:sym typeface="Arial"/>
              </a:rPr>
              <a:t>Định hướng cấu hình hệ thống theo số lượng camera, loại sự kiện và nhu cầu giám sát, phù hợp với quy mô vận hành của từng đơn vị.</a:t>
            </a:r>
            <a:endParaRPr sz="1130" b="0" i="0" u="none" strike="noStrike" cap="none" spc="0">
              <a:solidFill>
                <a:srgbClr val="1F2937"/>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30"/>
              <a:buFont typeface="Arial"/>
              <a:buNone/>
            </a:pPr>
            <a:endParaRPr sz="730" b="0" i="0" u="none" strike="noStrike" cap="none" spc="0">
              <a:solidFill>
                <a:srgbClr val="1F2937"/>
              </a:solidFill>
              <a:latin typeface="Arial"/>
              <a:ea typeface="Arial"/>
              <a:cs typeface="Arial"/>
              <a:sym typeface="Arial"/>
            </a:endParaRPr>
          </a:p>
        </p:txBody>
      </p:sp>
      <p:sp>
        <p:nvSpPr>
          <p:cNvPr id="1097" name="Google Shape;1097;hc73717ff22a4ad1_0_57"/>
          <p:cNvSpPr/>
          <p:nvPr/>
        </p:nvSpPr>
        <p:spPr>
          <a:xfrm>
            <a:off x="9041354" y="4540700"/>
            <a:ext cx="2701800" cy="1733100"/>
          </a:xfrm>
          <a:prstGeom prst="roundRect">
            <a:avLst>
              <a:gd name="adj" fmla="val 6000"/>
            </a:avLst>
          </a:prstGeom>
          <a:solidFill>
            <a:srgbClr val="F3F5FA"/>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98" name="Google Shape;1098;hc73717ff22a4ad1_0_57"/>
          <p:cNvSpPr/>
          <p:nvPr/>
        </p:nvSpPr>
        <p:spPr>
          <a:xfrm>
            <a:off x="9041354" y="4540700"/>
            <a:ext cx="2701800" cy="58800"/>
          </a:xfrm>
          <a:prstGeom prst="rect">
            <a:avLst/>
          </a:prstGeom>
          <a:solidFill>
            <a:srgbClr val="F2B705"/>
          </a:solidFill>
          <a:ln>
            <a:noFill/>
          </a:ln>
        </p:spPr>
        <p:txBody>
          <a:bodyPr spcFirstLastPara="1" wrap="square" lIns="55575" tIns="27775" rIns="55575" bIns="27775" anchor="ctr" anchorCtr="0">
            <a:noAutofit/>
          </a:bodyPr>
          <a:lstStyle/>
          <a:p>
            <a:pPr marL="0" marR="0" lvl="0" indent="0" algn="ctr" rtl="0">
              <a:lnSpc>
                <a:spcPct val="100000"/>
              </a:lnSpc>
              <a:spcBef>
                <a:spcPts val="0"/>
              </a:spcBef>
              <a:spcAft>
                <a:spcPts val="0"/>
              </a:spcAft>
              <a:buClr>
                <a:srgbClr val="000000"/>
              </a:buClr>
              <a:buSzPts val="1094"/>
              <a:buFont typeface="Arial"/>
              <a:buNone/>
            </a:pPr>
            <a:endParaRPr sz="1094" b="0" i="0" u="none" strike="noStrike" cap="none" spc="0">
              <a:solidFill>
                <a:schemeClr val="lt1"/>
              </a:solidFill>
              <a:latin typeface="Arial"/>
              <a:ea typeface="Arial"/>
              <a:cs typeface="Arial"/>
              <a:sym typeface="Arial"/>
            </a:endParaRPr>
          </a:p>
        </p:txBody>
      </p:sp>
      <p:sp>
        <p:nvSpPr>
          <p:cNvPr id="1099" name="Google Shape;1099;hc73717ff22a4ad1_0_57"/>
          <p:cNvSpPr txBox="1"/>
          <p:nvPr/>
        </p:nvSpPr>
        <p:spPr>
          <a:xfrm>
            <a:off x="9041348" y="4735473"/>
            <a:ext cx="2724000" cy="296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spc="0">
                <a:solidFill>
                  <a:srgbClr val="1E3A8A"/>
                </a:solidFill>
                <a:latin typeface="Arial"/>
                <a:ea typeface="Arial"/>
                <a:cs typeface="Arial"/>
                <a:sym typeface="Arial"/>
              </a:rPr>
              <a:t>Chủ động phương án lưu trữ và bảo vệ dữ liệu </a:t>
            </a:r>
            <a:endParaRPr sz="1400" b="1" i="0" u="none" strike="noStrike" cap="none" spc="0">
              <a:solidFill>
                <a:srgbClr val="1E3A8A"/>
              </a:solidFill>
              <a:latin typeface="Arial"/>
              <a:ea typeface="Arial"/>
              <a:cs typeface="Arial"/>
              <a:sym typeface="Arial"/>
            </a:endParaRPr>
          </a:p>
        </p:txBody>
      </p:sp>
      <p:sp>
        <p:nvSpPr>
          <p:cNvPr id="1100" name="Google Shape;1100;hc73717ff22a4ad1_0_57"/>
          <p:cNvSpPr txBox="1"/>
          <p:nvPr/>
        </p:nvSpPr>
        <p:spPr>
          <a:xfrm>
            <a:off x="9229161" y="5236111"/>
            <a:ext cx="2349000" cy="283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130"/>
              <a:buFont typeface="Arial"/>
              <a:buNone/>
            </a:pPr>
            <a:r>
              <a:rPr lang="en-US" sz="1130" b="0" i="0" u="none" strike="noStrike" cap="none" spc="0">
                <a:solidFill>
                  <a:srgbClr val="1F2937"/>
                </a:solidFill>
                <a:latin typeface="Arial"/>
                <a:ea typeface="Arial"/>
                <a:cs typeface="Arial"/>
                <a:sym typeface="Arial"/>
              </a:rPr>
              <a:t>Xác định dung lượng, thời gian lưu dữ liệu sự kiện và phương án lưu video theo nhu cầu sử dụng, đồng thời đáp ứng các yêu cầu bảo mật đã thống nhất khi triển khai. </a:t>
            </a:r>
            <a:endParaRPr sz="1130" b="0" i="0" u="none" strike="noStrike" cap="none" spc="0">
              <a:solidFill>
                <a:srgbClr val="1F2937"/>
              </a:solidFill>
              <a:latin typeface="Arial"/>
              <a:ea typeface="Arial"/>
              <a:cs typeface="Arial"/>
              <a:sym typeface="Arial"/>
            </a:endParaRPr>
          </a:p>
        </p:txBody>
      </p:sp>
      <p:pic>
        <p:nvPicPr>
          <p:cNvPr id="1101" name="Google Shape;1101;hc73717ff22a4ad1_0_57"/>
          <p:cNvPicPr preferRelativeResize="0"/>
          <p:nvPr/>
        </p:nvPicPr>
        <p:blipFill>
          <a:blip r:embed="rId3">
            <a:alphaModFix/>
          </a:blip>
          <a:stretch>
            <a:fillRect/>
          </a:stretch>
        </p:blipFill>
        <p:spPr>
          <a:xfrm>
            <a:off x="315975" y="1795651"/>
            <a:ext cx="2724000" cy="2163444"/>
          </a:xfrm>
          <a:prstGeom prst="rect">
            <a:avLst/>
          </a:prstGeom>
          <a:noFill/>
          <a:ln>
            <a:noFill/>
          </a:ln>
        </p:spPr>
      </p:pic>
      <p:pic>
        <p:nvPicPr>
          <p:cNvPr id="1102" name="Google Shape;1102;hc73717ff22a4ad1_0_57"/>
          <p:cNvPicPr preferRelativeResize="0"/>
          <p:nvPr/>
        </p:nvPicPr>
        <p:blipFill>
          <a:blip r:embed="rId4">
            <a:alphaModFix/>
          </a:blip>
          <a:stretch>
            <a:fillRect/>
          </a:stretch>
        </p:blipFill>
        <p:spPr>
          <a:xfrm>
            <a:off x="3263150" y="1840700"/>
            <a:ext cx="2658600" cy="2111538"/>
          </a:xfrm>
          <a:prstGeom prst="rect">
            <a:avLst/>
          </a:prstGeom>
          <a:noFill/>
          <a:ln>
            <a:noFill/>
          </a:ln>
        </p:spPr>
      </p:pic>
      <p:pic>
        <p:nvPicPr>
          <p:cNvPr id="1103" name="Google Shape;1103;hc73717ff22a4ad1_0_57"/>
          <p:cNvPicPr preferRelativeResize="0"/>
          <p:nvPr/>
        </p:nvPicPr>
        <p:blipFill>
          <a:blip r:embed="rId5">
            <a:alphaModFix/>
          </a:blip>
          <a:stretch>
            <a:fillRect/>
          </a:stretch>
        </p:blipFill>
        <p:spPr>
          <a:xfrm>
            <a:off x="6080950" y="1840700"/>
            <a:ext cx="2658600" cy="2111532"/>
          </a:xfrm>
          <a:prstGeom prst="rect">
            <a:avLst/>
          </a:prstGeom>
          <a:noFill/>
          <a:ln>
            <a:noFill/>
          </a:ln>
        </p:spPr>
      </p:pic>
      <p:pic>
        <p:nvPicPr>
          <p:cNvPr id="1104" name="Google Shape;1104;hc73717ff22a4ad1_0_57"/>
          <p:cNvPicPr preferRelativeResize="0"/>
          <p:nvPr/>
        </p:nvPicPr>
        <p:blipFill>
          <a:blip r:embed="rId6">
            <a:alphaModFix/>
          </a:blip>
          <a:stretch>
            <a:fillRect/>
          </a:stretch>
        </p:blipFill>
        <p:spPr>
          <a:xfrm>
            <a:off x="8898750" y="1849663"/>
            <a:ext cx="2625774" cy="208546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9"/>
        <p:cNvGrpSpPr/>
        <p:nvPr/>
      </p:nvGrpSpPr>
      <p:grpSpPr>
        <a:xfrm>
          <a:off x="0" y="0"/>
          <a:ext cx="0" cy="0"/>
          <a:chOff x="0" y="0"/>
          <a:chExt cx="0" cy="0"/>
        </a:xfrm>
      </p:grpSpPr>
      <p:sp>
        <p:nvSpPr>
          <p:cNvPr id="1110" name="Google Shape;1110;p31"/>
          <p:cNvSpPr txBox="1"/>
          <p:nvPr/>
        </p:nvSpPr>
        <p:spPr>
          <a:xfrm>
            <a:off x="609600" y="3556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1">
                <a:solidFill>
                  <a:srgbClr val="2563EB"/>
                </a:solidFill>
              </a:rPr>
              <a:t>04 · SELLING POINT VÀ MỘT SỐ LƯU Ý</a:t>
            </a:r>
            <a:endParaRPr/>
          </a:p>
        </p:txBody>
      </p:sp>
      <p:sp>
        <p:nvSpPr>
          <p:cNvPr id="1111" name="Google Shape;1111;p31"/>
          <p:cNvSpPr txBox="1"/>
          <p:nvPr/>
        </p:nvSpPr>
        <p:spPr>
          <a:xfrm>
            <a:off x="609600" y="584200"/>
            <a:ext cx="109728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a:solidFill>
                  <a:srgbClr val="1E3A8A"/>
                </a:solidFill>
              </a:rPr>
              <a:t>Một số lưu ý khi tư vấn </a:t>
            </a:r>
            <a:endParaRPr/>
          </a:p>
        </p:txBody>
      </p:sp>
      <p:sp>
        <p:nvSpPr>
          <p:cNvPr id="1112" name="Google Shape;1112;p31"/>
          <p:cNvSpPr/>
          <p:nvPr/>
        </p:nvSpPr>
        <p:spPr>
          <a:xfrm>
            <a:off x="660850" y="1032400"/>
            <a:ext cx="711300" cy="507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3" name="Google Shape;1113;p31"/>
          <p:cNvSpPr txBox="1"/>
          <p:nvPr/>
        </p:nvSpPr>
        <p:spPr>
          <a:xfrm>
            <a:off x="10420371" y="5053361"/>
            <a:ext cx="1284000" cy="3063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746">
                <a:solidFill>
                  <a:srgbClr val="6B7280"/>
                </a:solidFill>
                <a:latin typeface="Quattrocento Sans"/>
                <a:ea typeface="Quattrocento Sans"/>
                <a:cs typeface="Quattrocento Sans"/>
                <a:sym typeface="Quattrocento Sans"/>
              </a:rPr>
              <a:t>31</a:t>
            </a:r>
            <a:endParaRPr sz="1160"/>
          </a:p>
        </p:txBody>
      </p:sp>
      <p:sp>
        <p:nvSpPr>
          <p:cNvPr id="1114" name="Google Shape;1114;p31"/>
          <p:cNvSpPr/>
          <p:nvPr/>
        </p:nvSpPr>
        <p:spPr>
          <a:xfrm>
            <a:off x="660860" y="1161989"/>
            <a:ext cx="3544200" cy="2778600"/>
          </a:xfrm>
          <a:prstGeom prst="roundRect">
            <a:avLst>
              <a:gd name="adj" fmla="val 6000"/>
            </a:avLst>
          </a:prstGeom>
          <a:solidFill>
            <a:srgbClr val="F3F5F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15" name="Google Shape;1115;p31"/>
          <p:cNvSpPr/>
          <p:nvPr/>
        </p:nvSpPr>
        <p:spPr>
          <a:xfrm>
            <a:off x="660850" y="1161975"/>
            <a:ext cx="3544200" cy="52200"/>
          </a:xfrm>
          <a:prstGeom prst="rect">
            <a:avLst/>
          </a:prstGeom>
          <a:solidFill>
            <a:srgbClr val="16A34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16" name="Google Shape;1116;p31"/>
          <p:cNvSpPr txBox="1"/>
          <p:nvPr/>
        </p:nvSpPr>
        <p:spPr>
          <a:xfrm>
            <a:off x="866311" y="1301848"/>
            <a:ext cx="3133500" cy="2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60" b="1">
                <a:solidFill>
                  <a:srgbClr val="1E3A8A"/>
                </a:solidFill>
              </a:rPr>
              <a:t>1. Điều kiện tích hợp camera </a:t>
            </a:r>
            <a:endParaRPr sz="1360"/>
          </a:p>
        </p:txBody>
      </p:sp>
      <p:sp>
        <p:nvSpPr>
          <p:cNvPr id="1117" name="Google Shape;1117;p31"/>
          <p:cNvSpPr txBox="1"/>
          <p:nvPr/>
        </p:nvSpPr>
        <p:spPr>
          <a:xfrm>
            <a:off x="866086" y="1643550"/>
            <a:ext cx="3133500" cy="254100"/>
          </a:xfrm>
          <a:prstGeom prst="rect">
            <a:avLst/>
          </a:prstGeom>
          <a:noFill/>
          <a:ln>
            <a:noFill/>
          </a:ln>
        </p:spPr>
        <p:txBody>
          <a:bodyPr spcFirstLastPara="1" wrap="square" lIns="0" tIns="0" rIns="0" bIns="0" anchor="t" anchorCtr="0">
            <a:noAutofit/>
          </a:bodyPr>
          <a:lstStyle/>
          <a:p>
            <a:pPr marL="378936" lvl="0" indent="-262693" algn="l" rtl="0">
              <a:spcBef>
                <a:spcPts val="497"/>
              </a:spcBef>
              <a:spcAft>
                <a:spcPts val="0"/>
              </a:spcAft>
              <a:buClr>
                <a:srgbClr val="1E3A8A"/>
              </a:buClr>
              <a:buSzPts val="1153"/>
              <a:buChar char="•"/>
            </a:pPr>
            <a:r>
              <a:rPr lang="en-US" sz="1153">
                <a:solidFill>
                  <a:srgbClr val="1F2937"/>
                </a:solidFill>
              </a:rPr>
              <a:t>Camera cần gửi event theo chuẩn ONVIF và loại sự kiện EMS hỗ trợ.</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Kiểm tra model, firmware và khả năng tương thích trước khi triển khai.</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Đảm bảo kết nối mạng giữa camera và máy chủ theo phương án triển khai.</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Khai báo đúng vị trí, khu vực và thông tin quản lý camera.</a:t>
            </a:r>
            <a:endParaRPr sz="1153">
              <a:solidFill>
                <a:srgbClr val="1F2937"/>
              </a:solidFill>
            </a:endParaRPr>
          </a:p>
          <a:p>
            <a:pPr marL="378936" lvl="0" indent="-262693" algn="l" rtl="0">
              <a:spcBef>
                <a:spcPts val="497"/>
              </a:spcBef>
              <a:spcAft>
                <a:spcPts val="0"/>
              </a:spcAft>
              <a:buClr>
                <a:srgbClr val="1F2937"/>
              </a:buClr>
              <a:buSzPts val="1153"/>
              <a:buChar char="•"/>
            </a:pPr>
            <a:r>
              <a:rPr lang="en-US" sz="1153">
                <a:solidFill>
                  <a:srgbClr val="1F2937"/>
                </a:solidFill>
              </a:rPr>
              <a:t>Cần kiểm tra test thử trước khi tích hợp </a:t>
            </a:r>
            <a:endParaRPr sz="1153">
              <a:solidFill>
                <a:srgbClr val="1F2937"/>
              </a:solidFill>
            </a:endParaRPr>
          </a:p>
        </p:txBody>
      </p:sp>
      <p:sp>
        <p:nvSpPr>
          <p:cNvPr id="1118" name="Google Shape;1118;p31"/>
          <p:cNvSpPr/>
          <p:nvPr/>
        </p:nvSpPr>
        <p:spPr>
          <a:xfrm>
            <a:off x="4410506" y="1161988"/>
            <a:ext cx="3544200" cy="2778600"/>
          </a:xfrm>
          <a:prstGeom prst="roundRect">
            <a:avLst>
              <a:gd name="adj" fmla="val 6000"/>
            </a:avLst>
          </a:prstGeom>
          <a:solidFill>
            <a:srgbClr val="F3F5F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19" name="Google Shape;1119;p31"/>
          <p:cNvSpPr/>
          <p:nvPr/>
        </p:nvSpPr>
        <p:spPr>
          <a:xfrm>
            <a:off x="4410513" y="1161975"/>
            <a:ext cx="3544200" cy="52200"/>
          </a:xfrm>
          <a:prstGeom prst="rect">
            <a:avLst/>
          </a:prstGeom>
          <a:solidFill>
            <a:srgbClr val="2563EB"/>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20" name="Google Shape;1120;p31"/>
          <p:cNvSpPr txBox="1"/>
          <p:nvPr/>
        </p:nvSpPr>
        <p:spPr>
          <a:xfrm>
            <a:off x="4615974" y="1301848"/>
            <a:ext cx="3133500" cy="2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60" b="1">
                <a:solidFill>
                  <a:srgbClr val="1E3A8A"/>
                </a:solidFill>
              </a:rPr>
              <a:t>Chất lượng dữ liệu đầu vào </a:t>
            </a:r>
            <a:endParaRPr sz="1360"/>
          </a:p>
        </p:txBody>
      </p:sp>
      <p:sp>
        <p:nvSpPr>
          <p:cNvPr id="1121" name="Google Shape;1121;p31"/>
          <p:cNvSpPr txBox="1"/>
          <p:nvPr/>
        </p:nvSpPr>
        <p:spPr>
          <a:xfrm>
            <a:off x="4615862" y="1643550"/>
            <a:ext cx="3133500" cy="254100"/>
          </a:xfrm>
          <a:prstGeom prst="rect">
            <a:avLst/>
          </a:prstGeom>
          <a:noFill/>
          <a:ln>
            <a:noFill/>
          </a:ln>
        </p:spPr>
        <p:txBody>
          <a:bodyPr spcFirstLastPara="1" wrap="square" lIns="0" tIns="0" rIns="0" bIns="0" anchor="t" anchorCtr="0">
            <a:noAutofit/>
          </a:bodyPr>
          <a:lstStyle/>
          <a:p>
            <a:pPr marL="378936" lvl="0" indent="-262693" algn="l" rtl="0">
              <a:spcBef>
                <a:spcPts val="497"/>
              </a:spcBef>
              <a:spcAft>
                <a:spcPts val="0"/>
              </a:spcAft>
              <a:buClr>
                <a:srgbClr val="1E3A8A"/>
              </a:buClr>
              <a:buSzPts val="1153"/>
              <a:buChar char="•"/>
            </a:pPr>
            <a:r>
              <a:rPr lang="en-US" sz="1153">
                <a:solidFill>
                  <a:srgbClr val="1F2937"/>
                </a:solidFill>
              </a:rPr>
              <a:t>Kết quả nhận diện phụ thuộc chất lượng hình ảnh, góc chụp và điều kiện ánh sáng.</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Ảnh tra cứu cần đáp ứng định dạng và dung lượng quy định của chức năng.</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Dữ liệu định danh cần đầy đủ thông tin theo yêu cầu nhập liệu.</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Cần rà soát dữ liệu trùng và xử lý các trường hợp cần xác nhận.</a:t>
            </a:r>
            <a:endParaRPr sz="1153">
              <a:solidFill>
                <a:srgbClr val="1F2937"/>
              </a:solidFill>
            </a:endParaRPr>
          </a:p>
          <a:p>
            <a:pPr marL="378936" marR="0" lvl="0" indent="0" algn="l" rtl="0">
              <a:spcBef>
                <a:spcPts val="497"/>
              </a:spcBef>
              <a:spcAft>
                <a:spcPts val="0"/>
              </a:spcAft>
              <a:buNone/>
            </a:pPr>
            <a:endParaRPr sz="953">
              <a:solidFill>
                <a:srgbClr val="1F2937"/>
              </a:solidFill>
              <a:latin typeface="Quattrocento Sans"/>
              <a:ea typeface="Quattrocento Sans"/>
              <a:cs typeface="Quattrocento Sans"/>
              <a:sym typeface="Quattrocento Sans"/>
            </a:endParaRPr>
          </a:p>
        </p:txBody>
      </p:sp>
      <p:sp>
        <p:nvSpPr>
          <p:cNvPr id="1122" name="Google Shape;1122;p31"/>
          <p:cNvSpPr/>
          <p:nvPr/>
        </p:nvSpPr>
        <p:spPr>
          <a:xfrm>
            <a:off x="8160178" y="1161989"/>
            <a:ext cx="3544200" cy="2778600"/>
          </a:xfrm>
          <a:prstGeom prst="roundRect">
            <a:avLst>
              <a:gd name="adj" fmla="val 6000"/>
            </a:avLst>
          </a:prstGeom>
          <a:solidFill>
            <a:srgbClr val="F3F5F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23" name="Google Shape;1123;p31"/>
          <p:cNvSpPr/>
          <p:nvPr/>
        </p:nvSpPr>
        <p:spPr>
          <a:xfrm>
            <a:off x="8160176" y="1161975"/>
            <a:ext cx="3544200" cy="52200"/>
          </a:xfrm>
          <a:prstGeom prst="rect">
            <a:avLst/>
          </a:prstGeom>
          <a:solidFill>
            <a:srgbClr val="DC2626"/>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24" name="Google Shape;1124;p31"/>
          <p:cNvSpPr txBox="1"/>
          <p:nvPr/>
        </p:nvSpPr>
        <p:spPr>
          <a:xfrm>
            <a:off x="8365637" y="1301848"/>
            <a:ext cx="3133500" cy="2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60" b="1">
                <a:solidFill>
                  <a:srgbClr val="1E3A8A"/>
                </a:solidFill>
              </a:rPr>
              <a:t>Độ chính xác và kết quả AI </a:t>
            </a:r>
            <a:endParaRPr sz="1360"/>
          </a:p>
        </p:txBody>
      </p:sp>
      <p:sp>
        <p:nvSpPr>
          <p:cNvPr id="1125" name="Google Shape;1125;p31"/>
          <p:cNvSpPr txBox="1"/>
          <p:nvPr/>
        </p:nvSpPr>
        <p:spPr>
          <a:xfrm>
            <a:off x="8365637" y="1564111"/>
            <a:ext cx="3133500" cy="254100"/>
          </a:xfrm>
          <a:prstGeom prst="rect">
            <a:avLst/>
          </a:prstGeom>
          <a:noFill/>
          <a:ln>
            <a:noFill/>
          </a:ln>
        </p:spPr>
        <p:txBody>
          <a:bodyPr spcFirstLastPara="1" wrap="square" lIns="0" tIns="0" rIns="0" bIns="0" anchor="t" anchorCtr="0">
            <a:noAutofit/>
          </a:bodyPr>
          <a:lstStyle/>
          <a:p>
            <a:pPr marL="378936" lvl="0" indent="-262693" algn="l" rtl="0">
              <a:spcBef>
                <a:spcPts val="497"/>
              </a:spcBef>
              <a:spcAft>
                <a:spcPts val="0"/>
              </a:spcAft>
              <a:buClr>
                <a:srgbClr val="1E3A8A"/>
              </a:buClr>
              <a:buSzPts val="1153"/>
              <a:buChar char="•"/>
            </a:pPr>
            <a:r>
              <a:rPr lang="en-US" sz="1153">
                <a:solidFill>
                  <a:srgbClr val="1F2937"/>
                </a:solidFill>
              </a:rPr>
              <a:t>Kết quả nhận diện có thể sai lệch, không đồng nghĩa với kết luận danh tính chắc chắn.</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Kết quả đối sánh phụ thuộc dữ liệu đầu vào và ngưỡng tương đồng được thiết lập.</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Truy vết dựa trên các sự kiện đã được camera ghi nhận và EMS tiếp nhận hình ảnh phải đủ chất lượng.</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Nên đối chiếu hình ảnh và thông tin liên quan trước khi đưa ra quyết định nghiệp vụ.</a:t>
            </a:r>
            <a:endParaRPr sz="1153">
              <a:solidFill>
                <a:srgbClr val="1F2937"/>
              </a:solidFill>
              <a:latin typeface="Quattrocento Sans"/>
              <a:ea typeface="Quattrocento Sans"/>
              <a:cs typeface="Quattrocento Sans"/>
              <a:sym typeface="Quattrocento Sans"/>
            </a:endParaRPr>
          </a:p>
        </p:txBody>
      </p:sp>
      <p:sp>
        <p:nvSpPr>
          <p:cNvPr id="1126" name="Google Shape;1126;p31"/>
          <p:cNvSpPr/>
          <p:nvPr/>
        </p:nvSpPr>
        <p:spPr>
          <a:xfrm>
            <a:off x="706450" y="4047775"/>
            <a:ext cx="3544200" cy="2631300"/>
          </a:xfrm>
          <a:prstGeom prst="roundRect">
            <a:avLst>
              <a:gd name="adj" fmla="val 6000"/>
            </a:avLst>
          </a:prstGeom>
          <a:solidFill>
            <a:srgbClr val="F3F5F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27" name="Google Shape;1127;p31"/>
          <p:cNvSpPr/>
          <p:nvPr/>
        </p:nvSpPr>
        <p:spPr>
          <a:xfrm>
            <a:off x="706441" y="4047770"/>
            <a:ext cx="3544200" cy="51300"/>
          </a:xfrm>
          <a:prstGeom prst="rect">
            <a:avLst/>
          </a:prstGeom>
          <a:solidFill>
            <a:srgbClr val="16A34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28" name="Google Shape;1128;p31"/>
          <p:cNvSpPr txBox="1"/>
          <p:nvPr/>
        </p:nvSpPr>
        <p:spPr>
          <a:xfrm>
            <a:off x="911902" y="4184978"/>
            <a:ext cx="3133500" cy="24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60" b="1">
                <a:solidFill>
                  <a:srgbClr val="1E3A8A"/>
                </a:solidFill>
              </a:rPr>
              <a:t>Phân quyền và dữ liệu </a:t>
            </a:r>
            <a:endParaRPr sz="1360"/>
          </a:p>
        </p:txBody>
      </p:sp>
      <p:sp>
        <p:nvSpPr>
          <p:cNvPr id="1129" name="Google Shape;1129;p31"/>
          <p:cNvSpPr txBox="1"/>
          <p:nvPr/>
        </p:nvSpPr>
        <p:spPr>
          <a:xfrm>
            <a:off x="911677" y="4558593"/>
            <a:ext cx="3133500" cy="249300"/>
          </a:xfrm>
          <a:prstGeom prst="rect">
            <a:avLst/>
          </a:prstGeom>
          <a:noFill/>
          <a:ln>
            <a:noFill/>
          </a:ln>
        </p:spPr>
        <p:txBody>
          <a:bodyPr spcFirstLastPara="1" wrap="square" lIns="0" tIns="0" rIns="0" bIns="0" anchor="t" anchorCtr="0">
            <a:noAutofit/>
          </a:bodyPr>
          <a:lstStyle/>
          <a:p>
            <a:pPr marL="378936" lvl="0" indent="-262693" algn="l" rtl="0">
              <a:spcBef>
                <a:spcPts val="497"/>
              </a:spcBef>
              <a:spcAft>
                <a:spcPts val="0"/>
              </a:spcAft>
              <a:buClr>
                <a:srgbClr val="1E3A8A"/>
              </a:buClr>
              <a:buSzPts val="1153"/>
              <a:buChar char="•"/>
            </a:pPr>
            <a:r>
              <a:rPr lang="en-US" sz="1153">
                <a:solidFill>
                  <a:srgbClr val="1F2937"/>
                </a:solidFill>
              </a:rPr>
              <a:t>Phạm vi dữ liệu người dùng được xem phụ thuộc quyền được cấp.</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Cần khai báo đúng đơn vị, nhóm quyền và nhóm camera theo tổ chức khách hàng.</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Dữ liệu định danh đồng bộ cần tuân theo cơ chế quản lý của nguồn dữ liệu.</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Cần xác định rõ người được nhận cảnh báo và các kênh thông báo sử dụng.</a:t>
            </a:r>
            <a:endParaRPr sz="1153">
              <a:solidFill>
                <a:srgbClr val="1F2937"/>
              </a:solidFill>
              <a:latin typeface="Quattrocento Sans"/>
              <a:ea typeface="Quattrocento Sans"/>
              <a:cs typeface="Quattrocento Sans"/>
              <a:sym typeface="Quattrocento Sans"/>
            </a:endParaRPr>
          </a:p>
        </p:txBody>
      </p:sp>
      <p:sp>
        <p:nvSpPr>
          <p:cNvPr id="1130" name="Google Shape;1130;p31"/>
          <p:cNvSpPr/>
          <p:nvPr/>
        </p:nvSpPr>
        <p:spPr>
          <a:xfrm>
            <a:off x="4456100" y="4047775"/>
            <a:ext cx="3544200" cy="2631300"/>
          </a:xfrm>
          <a:prstGeom prst="roundRect">
            <a:avLst>
              <a:gd name="adj" fmla="val 6000"/>
            </a:avLst>
          </a:prstGeom>
          <a:solidFill>
            <a:srgbClr val="F3F5F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31" name="Google Shape;1131;p31"/>
          <p:cNvSpPr/>
          <p:nvPr/>
        </p:nvSpPr>
        <p:spPr>
          <a:xfrm>
            <a:off x="4456107" y="4047770"/>
            <a:ext cx="3544200" cy="51300"/>
          </a:xfrm>
          <a:prstGeom prst="rect">
            <a:avLst/>
          </a:prstGeom>
          <a:solidFill>
            <a:srgbClr val="2563EB"/>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32" name="Google Shape;1132;p31"/>
          <p:cNvSpPr txBox="1"/>
          <p:nvPr/>
        </p:nvSpPr>
        <p:spPr>
          <a:xfrm>
            <a:off x="4661568" y="4184978"/>
            <a:ext cx="3133500" cy="24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60" b="1">
                <a:solidFill>
                  <a:srgbClr val="1E3A8A"/>
                </a:solidFill>
              </a:rPr>
              <a:t>Lưu trữ và tra cứu </a:t>
            </a:r>
            <a:endParaRPr sz="1360"/>
          </a:p>
        </p:txBody>
      </p:sp>
      <p:sp>
        <p:nvSpPr>
          <p:cNvPr id="1133" name="Google Shape;1133;p31"/>
          <p:cNvSpPr txBox="1"/>
          <p:nvPr/>
        </p:nvSpPr>
        <p:spPr>
          <a:xfrm>
            <a:off x="4661456" y="4520168"/>
            <a:ext cx="3133500" cy="249300"/>
          </a:xfrm>
          <a:prstGeom prst="rect">
            <a:avLst/>
          </a:prstGeom>
          <a:noFill/>
          <a:ln>
            <a:noFill/>
          </a:ln>
        </p:spPr>
        <p:txBody>
          <a:bodyPr spcFirstLastPara="1" wrap="square" lIns="0" tIns="0" rIns="0" bIns="0" anchor="t" anchorCtr="0">
            <a:noAutofit/>
          </a:bodyPr>
          <a:lstStyle/>
          <a:p>
            <a:pPr marL="378936" lvl="0" indent="-262693" algn="l" rtl="0">
              <a:spcBef>
                <a:spcPts val="497"/>
              </a:spcBef>
              <a:spcAft>
                <a:spcPts val="0"/>
              </a:spcAft>
              <a:buClr>
                <a:srgbClr val="1E3A8A"/>
              </a:buClr>
              <a:buSzPts val="1153"/>
              <a:buChar char="•"/>
            </a:pPr>
            <a:r>
              <a:rPr lang="en-US" sz="1153">
                <a:solidFill>
                  <a:srgbClr val="1F2937"/>
                </a:solidFill>
              </a:rPr>
              <a:t>Thời gian tra cứu phụ thuộc dữ liệu còn lưu và cấu hình của khách hàng.</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Phân biệt dữ liệu sự kiện, ảnh sự kiện và video ghi hình liên tục.</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Khả năng xem lại video phụ thuộc phương án ghi hình, lưu trữ và tích hợp thực tế.</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Cần xác định thời gian lưu và dung lượng mong muốn trước khi thiết kế hạ tầng.</a:t>
            </a:r>
            <a:endParaRPr sz="1153">
              <a:solidFill>
                <a:srgbClr val="1F2937"/>
              </a:solidFill>
            </a:endParaRPr>
          </a:p>
        </p:txBody>
      </p:sp>
      <p:sp>
        <p:nvSpPr>
          <p:cNvPr id="1134" name="Google Shape;1134;p31"/>
          <p:cNvSpPr/>
          <p:nvPr/>
        </p:nvSpPr>
        <p:spPr>
          <a:xfrm>
            <a:off x="8205775" y="4047775"/>
            <a:ext cx="3544200" cy="2631300"/>
          </a:xfrm>
          <a:prstGeom prst="roundRect">
            <a:avLst>
              <a:gd name="adj" fmla="val 6000"/>
            </a:avLst>
          </a:prstGeom>
          <a:solidFill>
            <a:srgbClr val="F3F5FA"/>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35" name="Google Shape;1135;p31"/>
          <p:cNvSpPr/>
          <p:nvPr/>
        </p:nvSpPr>
        <p:spPr>
          <a:xfrm>
            <a:off x="8205773" y="4047770"/>
            <a:ext cx="3544200" cy="51300"/>
          </a:xfrm>
          <a:prstGeom prst="rect">
            <a:avLst/>
          </a:prstGeom>
          <a:solidFill>
            <a:srgbClr val="DC2626"/>
          </a:solidFill>
          <a:ln>
            <a:noFill/>
          </a:ln>
        </p:spPr>
        <p:txBody>
          <a:bodyPr spcFirstLastPara="1" wrap="square" lIns="75775" tIns="37875" rIns="75775" bIns="37875" anchor="ctr" anchorCtr="0">
            <a:noAutofit/>
          </a:bodyPr>
          <a:lstStyle/>
          <a:p>
            <a:pPr marL="0" marR="0" lvl="0" indent="0" algn="ctr" rtl="0">
              <a:spcBef>
                <a:spcPts val="0"/>
              </a:spcBef>
              <a:spcAft>
                <a:spcPts val="0"/>
              </a:spcAft>
              <a:buNone/>
            </a:pPr>
            <a:endParaRPr sz="1492">
              <a:solidFill>
                <a:schemeClr val="lt1"/>
              </a:solidFill>
              <a:latin typeface="Calibri"/>
              <a:ea typeface="Calibri"/>
              <a:cs typeface="Calibri"/>
              <a:sym typeface="Calibri"/>
            </a:endParaRPr>
          </a:p>
        </p:txBody>
      </p:sp>
      <p:sp>
        <p:nvSpPr>
          <p:cNvPr id="1136" name="Google Shape;1136;p31"/>
          <p:cNvSpPr txBox="1"/>
          <p:nvPr/>
        </p:nvSpPr>
        <p:spPr>
          <a:xfrm>
            <a:off x="8411235" y="4184978"/>
            <a:ext cx="3133500" cy="24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60" b="1">
                <a:solidFill>
                  <a:srgbClr val="1E3A8A"/>
                </a:solidFill>
              </a:rPr>
              <a:t>Hiệu năng và phạm vi cam kết </a:t>
            </a:r>
            <a:endParaRPr sz="1360"/>
          </a:p>
        </p:txBody>
      </p:sp>
      <p:sp>
        <p:nvSpPr>
          <p:cNvPr id="1137" name="Google Shape;1137;p31"/>
          <p:cNvSpPr txBox="1"/>
          <p:nvPr/>
        </p:nvSpPr>
        <p:spPr>
          <a:xfrm>
            <a:off x="8411235" y="4520168"/>
            <a:ext cx="3133500" cy="249300"/>
          </a:xfrm>
          <a:prstGeom prst="rect">
            <a:avLst/>
          </a:prstGeom>
          <a:noFill/>
          <a:ln>
            <a:noFill/>
          </a:ln>
        </p:spPr>
        <p:txBody>
          <a:bodyPr spcFirstLastPara="1" wrap="square" lIns="0" tIns="0" rIns="0" bIns="0" anchor="t" anchorCtr="0">
            <a:noAutofit/>
          </a:bodyPr>
          <a:lstStyle/>
          <a:p>
            <a:pPr marL="378936" lvl="0" indent="-262693" algn="l" rtl="0">
              <a:spcBef>
                <a:spcPts val="497"/>
              </a:spcBef>
              <a:spcAft>
                <a:spcPts val="0"/>
              </a:spcAft>
              <a:buClr>
                <a:srgbClr val="1E3A8A"/>
              </a:buClr>
              <a:buSzPts val="1153"/>
              <a:buChar char="•"/>
            </a:pPr>
            <a:r>
              <a:rPr lang="en-US" sz="1153">
                <a:solidFill>
                  <a:srgbClr val="1F2937"/>
                </a:solidFill>
              </a:rPr>
              <a:t>Khả năng đáp ứng phụ thuộc số lượng camera, tải event, máy chủ và đường truyền.</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Cần khảo sát quy mô dự kiến và kiểm thử phù hợp trước khi cam kết hiệu năng.</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Không tự cam kết số camera tối đa, số event xử lý đồng thời hoặc độ trễ khi chưa có số liệu xác nhận.</a:t>
            </a:r>
            <a:endParaRPr sz="1153">
              <a:solidFill>
                <a:srgbClr val="1F2937"/>
              </a:solidFill>
            </a:endParaRPr>
          </a:p>
          <a:p>
            <a:pPr marL="378936" lvl="0" indent="-262693" algn="l" rtl="0">
              <a:spcBef>
                <a:spcPts val="497"/>
              </a:spcBef>
              <a:spcAft>
                <a:spcPts val="0"/>
              </a:spcAft>
              <a:buClr>
                <a:srgbClr val="1E3A8A"/>
              </a:buClr>
              <a:buSzPts val="1153"/>
              <a:buChar char="•"/>
            </a:pPr>
            <a:r>
              <a:rPr lang="en-US" sz="1153">
                <a:solidFill>
                  <a:srgbClr val="1F2937"/>
                </a:solidFill>
              </a:rPr>
              <a:t>Yêu cầu ngoài phạm vi hiện có cần được xác nhận với đội kỹ thuật trước khi báo khách hàng.</a:t>
            </a:r>
            <a:endParaRPr sz="953">
              <a:solidFill>
                <a:srgbClr val="1F2937"/>
              </a:solidFill>
              <a:latin typeface="Quattrocento Sans"/>
              <a:ea typeface="Quattrocento Sans"/>
              <a:cs typeface="Quattrocento Sans"/>
              <a:sym typeface="Quattrocento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32"/>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4" name="Google Shape;1144;p32"/>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endParaRPr>
          </a:p>
        </p:txBody>
      </p:sp>
      <p:sp>
        <p:nvSpPr>
          <p:cNvPr id="1145" name="Google Shape;1145;p32"/>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F2B705"/>
                </a:solidFill>
              </a:rPr>
              <a:t>ĐÀO TẠO SẢN PHẨM CHO TEAM SALES</a:t>
            </a:r>
            <a:endParaRPr sz="1500"/>
          </a:p>
        </p:txBody>
      </p:sp>
      <p:sp>
        <p:nvSpPr>
          <p:cNvPr id="1146" name="Google Shape;1146;p32"/>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a:solidFill>
                  <a:srgbClr val="FFFFFF"/>
                </a:solidFill>
              </a:rPr>
              <a:t>5. Demo EMS</a:t>
            </a:r>
            <a:endParaRPr/>
          </a:p>
        </p:txBody>
      </p:sp>
      <p:sp>
        <p:nvSpPr>
          <p:cNvPr id="1147" name="Google Shape;1147;p32"/>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latin typeface="Quattrocento Sans"/>
                <a:ea typeface="Quattrocento Sans"/>
                <a:cs typeface="Quattrocento Sans"/>
                <a:sym typeface="Quattrocento Sans"/>
              </a:rPr>
              <a:t>MK Vision  |  Tháng 10/2026</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33"/>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4" name="Google Shape;1154;p33"/>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5" name="Google Shape;1155;p33"/>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b="1">
                <a:solidFill>
                  <a:srgbClr val="F2B705"/>
                </a:solidFill>
              </a:rPr>
              <a:t>ĐÀO TẠO SẢN PHẨM CHO TEAM SALES</a:t>
            </a:r>
            <a:endParaRPr sz="1500"/>
          </a:p>
        </p:txBody>
      </p:sp>
      <p:sp>
        <p:nvSpPr>
          <p:cNvPr id="1156" name="Google Shape;1156;p33"/>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a:solidFill>
                  <a:srgbClr val="FFFFFF"/>
                </a:solidFill>
              </a:rPr>
              <a:t>6. Q&amp;A</a:t>
            </a:r>
            <a:endParaRPr/>
          </a:p>
        </p:txBody>
      </p:sp>
      <p:sp>
        <p:nvSpPr>
          <p:cNvPr id="1157" name="Google Shape;1157;p33"/>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latin typeface="Quattrocento Sans"/>
                <a:ea typeface="Quattrocento Sans"/>
                <a:cs typeface="Quattrocento Sans"/>
                <a:sym typeface="Quattrocento Sans"/>
              </a:rPr>
              <a:t>MK Vision  |  Tháng 10/2026</a:t>
            </a:r>
            <a:endParaRPr/>
          </a:p>
        </p:txBody>
      </p:sp>
      <p:pic>
        <p:nvPicPr>
          <p:cNvPr id="1158" name="Google Shape;1158;p33"/>
          <p:cNvPicPr preferRelativeResize="0"/>
          <p:nvPr/>
        </p:nvPicPr>
        <p:blipFill rotWithShape="1">
          <a:blip r:embed="rId3">
            <a:alphaModFix/>
          </a:blip>
          <a:srcRect/>
          <a:stretch/>
        </p:blipFill>
        <p:spPr>
          <a:xfrm>
            <a:off x="4460480" y="1170985"/>
            <a:ext cx="7283519" cy="485568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34"/>
          <p:cNvSpPr/>
          <p:nvPr/>
        </p:nvSpPr>
        <p:spPr>
          <a:xfrm>
            <a:off x="0" y="0"/>
            <a:ext cx="12192000" cy="68580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endParaRPr>
          </a:p>
        </p:txBody>
      </p:sp>
      <p:sp>
        <p:nvSpPr>
          <p:cNvPr id="1165" name="Google Shape;1165;p34"/>
          <p:cNvSpPr/>
          <p:nvPr/>
        </p:nvSpPr>
        <p:spPr>
          <a:xfrm>
            <a:off x="812800" y="1905000"/>
            <a:ext cx="914400" cy="76200"/>
          </a:xfrm>
          <a:prstGeom prst="rect">
            <a:avLst/>
          </a:prstGeom>
          <a:solidFill>
            <a:srgbClr val="F2B7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6" name="Google Shape;1166;p34"/>
          <p:cNvSpPr txBox="1"/>
          <p:nvPr/>
        </p:nvSpPr>
        <p:spPr>
          <a:xfrm>
            <a:off x="812800" y="1422400"/>
            <a:ext cx="889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00" b="1">
                <a:solidFill>
                  <a:srgbClr val="F2B705"/>
                </a:solidFill>
              </a:rPr>
              <a:t>ĐÀO TẠO SẢN PHẨM CHO TEAM SALES</a:t>
            </a:r>
            <a:endParaRPr/>
          </a:p>
        </p:txBody>
      </p:sp>
      <p:sp>
        <p:nvSpPr>
          <p:cNvPr id="1167" name="Google Shape;1167;p34"/>
          <p:cNvSpPr txBox="1"/>
          <p:nvPr/>
        </p:nvSpPr>
        <p:spPr>
          <a:xfrm>
            <a:off x="812800" y="2159000"/>
            <a:ext cx="10414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a:solidFill>
                  <a:srgbClr val="FFFFFF"/>
                </a:solidFill>
              </a:rPr>
              <a:t>THANKS FOR LISTENING</a:t>
            </a:r>
            <a:endParaRPr/>
          </a:p>
        </p:txBody>
      </p:sp>
      <p:sp>
        <p:nvSpPr>
          <p:cNvPr id="1168" name="Google Shape;1168;p34"/>
          <p:cNvSpPr txBox="1"/>
          <p:nvPr/>
        </p:nvSpPr>
        <p:spPr>
          <a:xfrm>
            <a:off x="812800" y="5842000"/>
            <a:ext cx="762000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a:solidFill>
                  <a:srgbClr val="C7D2FE"/>
                </a:solidFill>
              </a:rPr>
              <a:t>MK Vision  |  Tháng 10/2026</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8964</Words>
  <Application>Microsoft Office PowerPoint</Application>
  <PresentationFormat>Widescreen</PresentationFormat>
  <Paragraphs>843</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Calibri</vt:lpstr>
      <vt:lpstr>Arial</vt:lpstr>
      <vt:lpstr>Quattrocento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MKV</dc:creator>
  <cp:lastModifiedBy>MKV</cp:lastModifiedBy>
  <cp:revision>3</cp:revision>
  <dcterms:created xsi:type="dcterms:W3CDTF">2026-10-07T02:00:26Z</dcterms:created>
  <dcterms:modified xsi:type="dcterms:W3CDTF">2026-10-14T04:40:13Z</dcterms:modified>
</cp:coreProperties>
</file>