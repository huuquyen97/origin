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1089326" r:id="rId2"/>
    <p:sldId id="11089320" r:id="rId3"/>
    <p:sldId id="11089271" r:id="rId4"/>
    <p:sldId id="11089322" r:id="rId5"/>
    <p:sldId id="11089323" r:id="rId6"/>
    <p:sldId id="11089324" r:id="rId7"/>
    <p:sldId id="11089332" r:id="rId8"/>
    <p:sldId id="11089331" r:id="rId9"/>
    <p:sldId id="11089330" r:id="rId10"/>
    <p:sldId id="9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2448000"/>
          </a:xfrm>
          <a:prstGeom prst="rect">
            <a:avLst/>
          </a:prstGeom>
          <a:gradFill>
            <a:gsLst>
              <a:gs pos="25000">
                <a:srgbClr val="089CA3"/>
              </a:gs>
              <a:gs pos="73000">
                <a:srgbClr val="0076A3"/>
              </a:gs>
              <a:gs pos="100000">
                <a:srgbClr val="004E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 userDrawn="1"/>
        </p:nvSpPr>
        <p:spPr>
          <a:xfrm>
            <a:off x="9844405" y="-1233951"/>
            <a:ext cx="3013075" cy="3013075"/>
          </a:xfrm>
          <a:prstGeom prst="ellipse">
            <a:avLst/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/>
          <p:cNvSpPr txBox="1"/>
          <p:nvPr userDrawn="1"/>
        </p:nvSpPr>
        <p:spPr>
          <a:xfrm>
            <a:off x="493308" y="1186639"/>
            <a:ext cx="1920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</a:p>
        </p:txBody>
      </p:sp>
      <p:sp>
        <p:nvSpPr>
          <p:cNvPr id="71" name="文本框 70"/>
          <p:cNvSpPr txBox="1"/>
          <p:nvPr userDrawn="1"/>
        </p:nvSpPr>
        <p:spPr>
          <a:xfrm>
            <a:off x="2413548" y="1618737"/>
            <a:ext cx="2418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94" name="椭圆 93"/>
          <p:cNvSpPr/>
          <p:nvPr userDrawn="1"/>
        </p:nvSpPr>
        <p:spPr>
          <a:xfrm>
            <a:off x="11102975" y="1459230"/>
            <a:ext cx="1915160" cy="1915160"/>
          </a:xfrm>
          <a:prstGeom prst="ellipse">
            <a:avLst/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 descr="图灵logo 反白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619739" y="138429"/>
            <a:ext cx="1548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8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反白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87655"/>
            <a:ext cx="1715770" cy="55753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-1"/>
            <a:ext cx="2847104" cy="6858001"/>
          </a:xfrm>
          <a:prstGeom prst="rect">
            <a:avLst/>
          </a:prstGeom>
          <a:solidFill>
            <a:srgbClr val="0179A3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040" y="130102"/>
            <a:ext cx="1548000" cy="502214"/>
          </a:xfrm>
          <a:prstGeom prst="rect">
            <a:avLst/>
          </a:prstGeom>
        </p:spPr>
      </p:pic>
      <p:sp>
        <p:nvSpPr>
          <p:cNvPr id="92" name="椭圆 91"/>
          <p:cNvSpPr/>
          <p:nvPr userDrawn="1"/>
        </p:nvSpPr>
        <p:spPr>
          <a:xfrm>
            <a:off x="-1191260" y="0"/>
            <a:ext cx="3568700" cy="3568700"/>
          </a:xfrm>
          <a:prstGeom prst="ellipse">
            <a:avLst/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174625" y="3724910"/>
            <a:ext cx="1377315" cy="1377315"/>
          </a:xfrm>
          <a:prstGeom prst="ellipse">
            <a:avLst/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995680" y="2005330"/>
            <a:ext cx="2847340" cy="2847340"/>
          </a:xfrm>
          <a:prstGeom prst="ellipse">
            <a:avLst/>
          </a:prstGeom>
          <a:gradFill>
            <a:gsLst>
              <a:gs pos="0">
                <a:srgbClr val="089CA3"/>
              </a:gs>
              <a:gs pos="100000">
                <a:srgbClr val="0076A3"/>
              </a:gs>
            </a:gsLst>
            <a:lin ang="0" scaled="0"/>
          </a:gra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896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小目录_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C:\Users\Administrator\Desktop\ccc.pngccc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-3175" y="0"/>
            <a:ext cx="1219835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 userDrawn="1"/>
        </p:nvSpPr>
        <p:spPr>
          <a:xfrm>
            <a:off x="8309610" y="266001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7" name="图片 6" descr="图灵logo 反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19740" y="138430"/>
            <a:ext cx="1388745" cy="451485"/>
          </a:xfrm>
          <a:prstGeom prst="rect">
            <a:avLst/>
          </a:prstGeom>
        </p:spPr>
      </p:pic>
      <p:pic>
        <p:nvPicPr>
          <p:cNvPr id="2" name="图片 1" descr="图灵logo 反白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61955" y="138430"/>
            <a:ext cx="1388745" cy="4514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040" y="130102"/>
            <a:ext cx="1557206" cy="5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0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小目录_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C:\Users\Administrator\Desktop\ccc.pngccc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-3175" y="0"/>
            <a:ext cx="1219835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 userDrawn="1"/>
        </p:nvSpPr>
        <p:spPr>
          <a:xfrm>
            <a:off x="8309610" y="266001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7" name="图片 6" descr="图灵logo 反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19740" y="138430"/>
            <a:ext cx="1388745" cy="451485"/>
          </a:xfrm>
          <a:prstGeom prst="rect">
            <a:avLst/>
          </a:prstGeom>
        </p:spPr>
      </p:pic>
      <p:pic>
        <p:nvPicPr>
          <p:cNvPr id="2" name="图片 1" descr="图灵logo 反白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61955" y="138430"/>
            <a:ext cx="1388745" cy="4514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040" y="130102"/>
            <a:ext cx="1557206" cy="505201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298468"/>
            <a:ext cx="3455719" cy="415637"/>
          </a:xfrm>
          <a:prstGeom prst="rect">
            <a:avLst/>
          </a:prstGeom>
          <a:gradFill flip="none" rotWithShape="1">
            <a:gsLst>
              <a:gs pos="96000">
                <a:srgbClr val="0588A5"/>
              </a:gs>
              <a:gs pos="0">
                <a:srgbClr val="0DBD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图形 5" descr="v 形箭头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019" y="235871"/>
            <a:ext cx="540829" cy="54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2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目录_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C:\Users\Administrator\Desktop\ccc.pngccc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-3175" y="0"/>
            <a:ext cx="1219835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 userDrawn="1"/>
        </p:nvSpPr>
        <p:spPr>
          <a:xfrm>
            <a:off x="8309610" y="266001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7" name="图片 6" descr="图灵logo 反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19740" y="138430"/>
            <a:ext cx="1388745" cy="451485"/>
          </a:xfrm>
          <a:prstGeom prst="rect">
            <a:avLst/>
          </a:prstGeom>
        </p:spPr>
      </p:pic>
      <p:pic>
        <p:nvPicPr>
          <p:cNvPr id="2" name="图片 1" descr="图灵logo 反白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61955" y="138430"/>
            <a:ext cx="1388745" cy="4514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040" y="130102"/>
            <a:ext cx="1557206" cy="50520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1200" y="21345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dirty="0">
                <a:ln>
                  <a:noFill/>
                </a:ln>
                <a:solidFill>
                  <a:srgbClr val="089CA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5705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目录_左">
    <p:bg>
      <p:bgPr>
        <a:gradFill>
          <a:gsLst>
            <a:gs pos="25000">
              <a:srgbClr val="089CA3"/>
            </a:gs>
            <a:gs pos="73000">
              <a:srgbClr val="0076A3"/>
            </a:gs>
            <a:gs pos="100000">
              <a:srgbClr val="004E6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8309610" y="266001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6" name="图片 5" descr="f34329032f43bdc4bc6c89927f46b130af50f8e018d62-jDlVc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8005" y="-1168400"/>
            <a:ext cx="9608185" cy="9443085"/>
          </a:xfrm>
          <a:prstGeom prst="rect">
            <a:avLst/>
          </a:prstGeom>
        </p:spPr>
      </p:pic>
      <p:pic>
        <p:nvPicPr>
          <p:cNvPr id="2" name="图片 1" descr="图灵logo 反白"/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0549401" y="138429"/>
            <a:ext cx="1548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3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小目录_左">
    <p:bg>
      <p:bgPr>
        <a:gradFill>
          <a:gsLst>
            <a:gs pos="25000">
              <a:srgbClr val="089CA3"/>
            </a:gs>
            <a:gs pos="73000">
              <a:srgbClr val="0076A3"/>
            </a:gs>
            <a:gs pos="100000">
              <a:srgbClr val="004E6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8309610" y="266001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4" name="图片 3" descr="图灵logo 反白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49401" y="138429"/>
            <a:ext cx="1548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4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4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微信图片_202008112051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-1270"/>
            <a:ext cx="12191365" cy="6861175"/>
          </a:xfrm>
          <a:prstGeom prst="rect">
            <a:avLst/>
          </a:prstGeom>
        </p:spPr>
      </p:pic>
      <p:cxnSp>
        <p:nvCxnSpPr>
          <p:cNvPr id="4" name="直线连接符 3"/>
          <p:cNvCxnSpPr/>
          <p:nvPr userDrawn="1"/>
        </p:nvCxnSpPr>
        <p:spPr>
          <a:xfrm flipV="1">
            <a:off x="32385" y="836295"/>
            <a:ext cx="4767580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-5080" y="800735"/>
            <a:ext cx="281940" cy="108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890" y="127637"/>
            <a:ext cx="7703185" cy="594993"/>
          </a:xfrm>
        </p:spPr>
        <p:txBody>
          <a:bodyPr anchor="b">
            <a:normAutofit/>
          </a:bodyPr>
          <a:lstStyle>
            <a:lvl1pPr marL="0" algn="l" defTabSz="2286000" rtl="0" eaLnBrk="1" latinLnBrk="0" hangingPunct="0">
              <a:lnSpc>
                <a:spcPts val="3600"/>
              </a:lnSpc>
              <a:defRPr lang="zh-CN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Bold" panose="020B0502040204020203" charset="-122"/>
                <a:ea typeface="Microsoft YaHei Bold" panose="020B0502040204020203" charset="-122"/>
                <a:cs typeface="Microsoft YaHei Bold" panose="020B0502040204020203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033" y="297691"/>
            <a:ext cx="1560293" cy="50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9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微信图片_202008112051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-1270"/>
            <a:ext cx="12191365" cy="6861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033" y="297691"/>
            <a:ext cx="1560293" cy="50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7BDD-60D3-4CBC-82B0-838BCDF1FD0E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A887-CAE1-4357-8359-41EEFA1BAC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20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97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pn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11" Type="http://schemas.openxmlformats.org/officeDocument/2006/relationships/image" Target="../media/image16.png"/><Relationship Id="rId5" Type="http://schemas.openxmlformats.org/officeDocument/2006/relationships/image" Target="../media/image14.tiff"/><Relationship Id="rId10" Type="http://schemas.microsoft.com/office/2007/relationships/hdphoto" Target="../media/hdphoto4.wdp"/><Relationship Id="rId4" Type="http://schemas.openxmlformats.org/officeDocument/2006/relationships/image" Target="../media/image13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13" Type="http://schemas.openxmlformats.org/officeDocument/2006/relationships/image" Target="../media/image21.png"/><Relationship Id="rId3" Type="http://schemas.microsoft.com/office/2007/relationships/hdphoto" Target="../media/hdphoto5.wdp"/><Relationship Id="rId7" Type="http://schemas.microsoft.com/office/2007/relationships/hdphoto" Target="../media/hdphoto8.wdp"/><Relationship Id="rId12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11" Type="http://schemas.openxmlformats.org/officeDocument/2006/relationships/image" Target="../media/image19.tiff"/><Relationship Id="rId5" Type="http://schemas.microsoft.com/office/2007/relationships/hdphoto" Target="../media/hdphoto6.wdp"/><Relationship Id="rId10" Type="http://schemas.microsoft.com/office/2007/relationships/hdphoto" Target="../media/hdphoto11.wdp"/><Relationship Id="rId4" Type="http://schemas.openxmlformats.org/officeDocument/2006/relationships/image" Target="../media/image15.png"/><Relationship Id="rId9" Type="http://schemas.microsoft.com/office/2007/relationships/hdphoto" Target="../media/hdphoto10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26.png"/><Relationship Id="rId5" Type="http://schemas.openxmlformats.org/officeDocument/2006/relationships/tags" Target="../tags/tag17.xml"/><Relationship Id="rId10" Type="http://schemas.openxmlformats.org/officeDocument/2006/relationships/image" Target="../media/image25.png"/><Relationship Id="rId4" Type="http://schemas.openxmlformats.org/officeDocument/2006/relationships/tags" Target="../tags/tag16.xm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31.png"/><Relationship Id="rId5" Type="http://schemas.openxmlformats.org/officeDocument/2006/relationships/tags" Target="../tags/tag24.xml"/><Relationship Id="rId10" Type="http://schemas.openxmlformats.org/officeDocument/2006/relationships/image" Target="../media/image30.png"/><Relationship Id="rId4" Type="http://schemas.openxmlformats.org/officeDocument/2006/relationships/tags" Target="../tags/tag23.xml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image" Target="../media/image34.png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33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2.png"/><Relationship Id="rId5" Type="http://schemas.openxmlformats.org/officeDocument/2006/relationships/tags" Target="../tags/tag30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9" b="4353"/>
          <a:stretch>
            <a:fillRect/>
          </a:stretch>
        </p:blipFill>
        <p:spPr>
          <a:xfrm>
            <a:off x="0" y="0"/>
            <a:ext cx="12191999" cy="2594360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1" y="1"/>
            <a:ext cx="12191998" cy="2594359"/>
          </a:xfrm>
          <a:prstGeom prst="rect">
            <a:avLst/>
          </a:prstGeom>
          <a:gradFill>
            <a:gsLst>
              <a:gs pos="0">
                <a:srgbClr val="0798A3"/>
              </a:gs>
              <a:gs pos="100000">
                <a:srgbClr val="0798A3">
                  <a:alpha val="34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4798150" y="3115908"/>
            <a:ext cx="0" cy="2230792"/>
          </a:xfrm>
          <a:prstGeom prst="line">
            <a:avLst/>
          </a:prstGeom>
          <a:ln w="12700">
            <a:gradFill>
              <a:gsLst>
                <a:gs pos="50000">
                  <a:srgbClr val="008AA6"/>
                </a:gs>
                <a:gs pos="0">
                  <a:srgbClr val="99D8DB">
                    <a:alpha val="0"/>
                  </a:srgbClr>
                </a:gs>
                <a:gs pos="100000">
                  <a:srgbClr val="99D8DB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 userDrawn="1">
            <p:custDataLst>
              <p:tags r:id="rId1"/>
            </p:custDataLst>
          </p:nvPr>
        </p:nvSpPr>
        <p:spPr>
          <a:xfrm>
            <a:off x="493308" y="1186639"/>
            <a:ext cx="1920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</a:p>
        </p:txBody>
      </p:sp>
      <p:sp>
        <p:nvSpPr>
          <p:cNvPr id="71" name="文本框 70"/>
          <p:cNvSpPr txBox="1"/>
          <p:nvPr userDrawn="1">
            <p:custDataLst>
              <p:tags r:id="rId2"/>
            </p:custDataLst>
          </p:nvPr>
        </p:nvSpPr>
        <p:spPr>
          <a:xfrm>
            <a:off x="2413548" y="1618737"/>
            <a:ext cx="2418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</a:p>
        </p:txBody>
      </p:sp>
      <p:pic>
        <p:nvPicPr>
          <p:cNvPr id="2" name="图片 1" descr="图灵logo 反白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19740" y="138430"/>
            <a:ext cx="1388745" cy="451485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2112374" y="4629150"/>
            <a:ext cx="2218995" cy="431165"/>
          </a:xfrm>
          <a:prstGeom prst="rect">
            <a:avLst/>
          </a:prstGeom>
          <a:solidFill>
            <a:srgbClr val="079CA3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2183026" y="4589155"/>
            <a:ext cx="2070704" cy="523220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Face Database Platform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282071" y="3538855"/>
            <a:ext cx="15405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79CA3"/>
                    </a:gs>
                    <a:gs pos="75000">
                      <a:srgbClr val="0C779D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</a:p>
        </p:txBody>
      </p:sp>
      <p:sp>
        <p:nvSpPr>
          <p:cNvPr id="11" name="矩形 10"/>
          <p:cNvSpPr/>
          <p:nvPr/>
        </p:nvSpPr>
        <p:spPr>
          <a:xfrm>
            <a:off x="4893147" y="4629150"/>
            <a:ext cx="2218995" cy="431165"/>
          </a:xfrm>
          <a:prstGeom prst="rect">
            <a:avLst/>
          </a:prstGeom>
          <a:solidFill>
            <a:srgbClr val="079CA3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4965069" y="4695923"/>
            <a:ext cx="2070704" cy="307777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Capability Center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5062844" y="3538855"/>
            <a:ext cx="15405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79CA3"/>
                    </a:gs>
                    <a:gs pos="75000">
                      <a:srgbClr val="0C779D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</a:p>
        </p:txBody>
      </p:sp>
      <p:sp>
        <p:nvSpPr>
          <p:cNvPr id="22" name="矩形 21"/>
          <p:cNvSpPr/>
          <p:nvPr/>
        </p:nvSpPr>
        <p:spPr>
          <a:xfrm>
            <a:off x="7685873" y="4629150"/>
            <a:ext cx="2218995" cy="431165"/>
          </a:xfrm>
          <a:prstGeom prst="rect">
            <a:avLst/>
          </a:prstGeom>
          <a:solidFill>
            <a:srgbClr val="079CA3"/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TextBox 5"/>
          <p:cNvSpPr txBox="1"/>
          <p:nvPr/>
        </p:nvSpPr>
        <p:spPr>
          <a:xfrm>
            <a:off x="7757795" y="4587885"/>
            <a:ext cx="2070704" cy="523220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prstMaterial="powder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Discussion on Cooperation Models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7855570" y="3538855"/>
            <a:ext cx="15405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79CA3"/>
                    </a:gs>
                    <a:gs pos="75000">
                      <a:srgbClr val="0C779D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7590876" y="3115908"/>
            <a:ext cx="0" cy="2230792"/>
          </a:xfrm>
          <a:prstGeom prst="line">
            <a:avLst/>
          </a:prstGeom>
          <a:ln w="12700">
            <a:gradFill>
              <a:gsLst>
                <a:gs pos="50000">
                  <a:srgbClr val="008AA6"/>
                </a:gs>
                <a:gs pos="0">
                  <a:srgbClr val="99D8DB">
                    <a:alpha val="0"/>
                  </a:srgbClr>
                </a:gs>
                <a:gs pos="100000">
                  <a:srgbClr val="99D8DB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58315" y="4216161"/>
            <a:ext cx="1334709" cy="9691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1894487" y="4202667"/>
            <a:ext cx="1334709" cy="9691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4371755" y="4158647"/>
            <a:ext cx="1334709" cy="9691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50" y="2454720"/>
            <a:ext cx="565537" cy="351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959" y="2477989"/>
            <a:ext cx="565537" cy="351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798" y="2475410"/>
            <a:ext cx="565537" cy="351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16" y="2454720"/>
            <a:ext cx="565537" cy="351760"/>
          </a:xfrm>
          <a:prstGeom prst="rect">
            <a:avLst/>
          </a:prstGeom>
        </p:spPr>
      </p:pic>
      <p:cxnSp>
        <p:nvCxnSpPr>
          <p:cNvPr id="9" name="直线连接符 17"/>
          <p:cNvCxnSpPr/>
          <p:nvPr/>
        </p:nvCxnSpPr>
        <p:spPr>
          <a:xfrm flipH="1">
            <a:off x="1460999" y="1992000"/>
            <a:ext cx="18121" cy="2299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8"/>
          <p:cNvCxnSpPr>
            <a:stCxn id="14" idx="2"/>
          </p:cNvCxnSpPr>
          <p:nvPr/>
        </p:nvCxnSpPr>
        <p:spPr>
          <a:xfrm>
            <a:off x="2513107" y="1995854"/>
            <a:ext cx="0" cy="2487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9"/>
          <p:cNvCxnSpPr>
            <a:stCxn id="15" idx="2"/>
          </p:cNvCxnSpPr>
          <p:nvPr/>
        </p:nvCxnSpPr>
        <p:spPr>
          <a:xfrm>
            <a:off x="3710006" y="1992000"/>
            <a:ext cx="13231" cy="2274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0"/>
          <p:cNvCxnSpPr/>
          <p:nvPr/>
        </p:nvCxnSpPr>
        <p:spPr>
          <a:xfrm>
            <a:off x="4907721" y="1971310"/>
            <a:ext cx="0" cy="2244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667" y="1412745"/>
            <a:ext cx="603375" cy="58229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604" y="1412745"/>
            <a:ext cx="603375" cy="5822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319" y="1409707"/>
            <a:ext cx="603375" cy="58229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033" y="1389017"/>
            <a:ext cx="603375" cy="58229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/>
          <a:srcRect l="59850"/>
          <a:stretch>
            <a:fillRect/>
          </a:stretch>
        </p:blipFill>
        <p:spPr>
          <a:xfrm>
            <a:off x="1060500" y="2842374"/>
            <a:ext cx="703090" cy="6968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l="59850"/>
          <a:stretch>
            <a:fillRect/>
          </a:stretch>
        </p:blipFill>
        <p:spPr>
          <a:xfrm>
            <a:off x="2127064" y="2865644"/>
            <a:ext cx="703090" cy="69687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/>
          <a:srcRect l="59850"/>
          <a:stretch>
            <a:fillRect/>
          </a:stretch>
        </p:blipFill>
        <p:spPr>
          <a:xfrm>
            <a:off x="3346034" y="2863064"/>
            <a:ext cx="703090" cy="6968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5"/>
          <a:srcRect l="59850"/>
          <a:stretch>
            <a:fillRect/>
          </a:stretch>
        </p:blipFill>
        <p:spPr>
          <a:xfrm>
            <a:off x="4550395" y="2842374"/>
            <a:ext cx="703090" cy="69687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58315" y="3894666"/>
            <a:ext cx="1334709" cy="9691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1894487" y="3881172"/>
            <a:ext cx="1334709" cy="96914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4371755" y="3837152"/>
            <a:ext cx="1334709" cy="9691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112158" y="4202926"/>
            <a:ext cx="1334709" cy="96914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112158" y="3881431"/>
            <a:ext cx="1334709" cy="969148"/>
          </a:xfrm>
          <a:prstGeom prst="rect">
            <a:avLst/>
          </a:prstGeom>
        </p:spPr>
      </p:pic>
      <p:cxnSp>
        <p:nvCxnSpPr>
          <p:cNvPr id="28" name="直线连接符 89"/>
          <p:cNvCxnSpPr>
            <a:stCxn id="29" idx="0"/>
          </p:cNvCxnSpPr>
          <p:nvPr/>
        </p:nvCxnSpPr>
        <p:spPr>
          <a:xfrm flipV="1">
            <a:off x="1211565" y="4858077"/>
            <a:ext cx="16136" cy="41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635" y="5269605"/>
            <a:ext cx="705859" cy="746359"/>
          </a:xfrm>
          <a:prstGeom prst="rect">
            <a:avLst/>
          </a:prstGeom>
          <a:solidFill>
            <a:srgbClr val="089CA3"/>
          </a:solidFill>
          <a:ln>
            <a:solidFill>
              <a:srgbClr val="089CA3"/>
            </a:solidFill>
          </a:ln>
        </p:spPr>
      </p:pic>
      <p:cxnSp>
        <p:nvCxnSpPr>
          <p:cNvPr id="30" name="直线连接符 91"/>
          <p:cNvCxnSpPr>
            <a:stCxn id="31" idx="0"/>
          </p:cNvCxnSpPr>
          <p:nvPr/>
        </p:nvCxnSpPr>
        <p:spPr>
          <a:xfrm flipV="1">
            <a:off x="2514684" y="4834558"/>
            <a:ext cx="16136" cy="41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1754" y="5246086"/>
            <a:ext cx="705859" cy="746359"/>
          </a:xfrm>
          <a:prstGeom prst="rect">
            <a:avLst/>
          </a:prstGeom>
          <a:solidFill>
            <a:srgbClr val="089CA3"/>
          </a:solidFill>
          <a:ln>
            <a:solidFill>
              <a:srgbClr val="089CA3"/>
            </a:solidFill>
          </a:ln>
        </p:spPr>
      </p:pic>
      <p:cxnSp>
        <p:nvCxnSpPr>
          <p:cNvPr id="32" name="直线连接符 93"/>
          <p:cNvCxnSpPr>
            <a:stCxn id="33" idx="0"/>
          </p:cNvCxnSpPr>
          <p:nvPr/>
        </p:nvCxnSpPr>
        <p:spPr>
          <a:xfrm flipV="1">
            <a:off x="3836130" y="4866974"/>
            <a:ext cx="16136" cy="41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2384" y="5278501"/>
            <a:ext cx="705859" cy="746359"/>
          </a:xfrm>
          <a:prstGeom prst="rect">
            <a:avLst/>
          </a:prstGeom>
          <a:solidFill>
            <a:srgbClr val="089CA3"/>
          </a:solidFill>
          <a:ln>
            <a:solidFill>
              <a:srgbClr val="089CA3"/>
            </a:solidFill>
          </a:ln>
        </p:spPr>
      </p:pic>
      <p:cxnSp>
        <p:nvCxnSpPr>
          <p:cNvPr id="34" name="直线连接符 95"/>
          <p:cNvCxnSpPr/>
          <p:nvPr/>
        </p:nvCxnSpPr>
        <p:spPr>
          <a:xfrm flipV="1">
            <a:off x="5018157" y="4925905"/>
            <a:ext cx="16136" cy="41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7322" y="5275106"/>
            <a:ext cx="705859" cy="746359"/>
          </a:xfrm>
          <a:prstGeom prst="rect">
            <a:avLst/>
          </a:prstGeom>
          <a:solidFill>
            <a:srgbClr val="089CA3"/>
          </a:solidFill>
          <a:ln>
            <a:solidFill>
              <a:srgbClr val="089CA3"/>
            </a:solidFill>
          </a:ln>
        </p:spPr>
      </p:pic>
      <p:sp>
        <p:nvSpPr>
          <p:cNvPr id="38" name="文本框 144"/>
          <p:cNvSpPr txBox="1"/>
          <p:nvPr/>
        </p:nvSpPr>
        <p:spPr>
          <a:xfrm>
            <a:off x="841706" y="2103186"/>
            <a:ext cx="4673739" cy="314892"/>
          </a:xfrm>
          <a:prstGeom prst="rect">
            <a:avLst/>
          </a:prstGeom>
          <a:solidFill>
            <a:srgbClr val="089CA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pycharm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              </a:t>
            </a: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jupyter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                </a:t>
            </a: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VSCode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              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sublime</a:t>
            </a:r>
          </a:p>
        </p:txBody>
      </p:sp>
      <p:sp>
        <p:nvSpPr>
          <p:cNvPr id="48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1650" y="377702"/>
            <a:ext cx="1190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Center– AI algorithm training and development pain points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146" name="Picture 2" descr="图片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98" y="1207045"/>
            <a:ext cx="5110735" cy="53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 10"/>
          <p:cNvSpPr/>
          <p:nvPr/>
        </p:nvSpPr>
        <p:spPr>
          <a:xfrm>
            <a:off x="3587115" y="920115"/>
            <a:ext cx="5018405" cy="5018405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6858000 w 6858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6858000" y="3429000"/>
                </a:moveTo>
                <a:cubicBezTo>
                  <a:pt x="6858000" y="5322785"/>
                  <a:pt x="5322785" y="6858000"/>
                  <a:pt x="3429000" y="6858000"/>
                </a:cubicBezTo>
                <a:cubicBezTo>
                  <a:pt x="1535216" y="6858000"/>
                  <a:pt x="0" y="5322785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ubicBezTo>
                  <a:pt x="5322785" y="0"/>
                  <a:pt x="6858000" y="1535216"/>
                  <a:pt x="6858000" y="34290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9000"/>
                </a:schemeClr>
              </a:gs>
              <a:gs pos="100000">
                <a:schemeClr val="bg1">
                  <a:alpha val="9000"/>
                </a:schemeClr>
              </a:gs>
              <a:gs pos="51000">
                <a:schemeClr val="bg1">
                  <a:alpha val="56000"/>
                </a:schemeClr>
              </a:gs>
            </a:gsLst>
            <a:lin ang="5400000" scaled="1"/>
          </a:gradFill>
          <a:ln w="86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379" y="837536"/>
            <a:ext cx="11681001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With the goal of efficient AI production and standardized application integration, we will achieve end-to-end one-stop implementation of algorithm engineering to industry applications, comprehensively improve AI development efficiency, and reduce R&amp;D management costs.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35" y="6012661"/>
            <a:ext cx="12191365" cy="684530"/>
          </a:xfrm>
          <a:prstGeom prst="rect">
            <a:avLst/>
          </a:prstGeom>
          <a:gradFill>
            <a:gsLst>
              <a:gs pos="90000">
                <a:srgbClr val="269EB6"/>
              </a:gs>
              <a:gs pos="10000">
                <a:srgbClr val="269EB6"/>
              </a:gs>
              <a:gs pos="98000">
                <a:srgbClr val="269EB6">
                  <a:alpha val="17000"/>
                </a:srgbClr>
              </a:gs>
              <a:gs pos="0">
                <a:srgbClr val="009EA5">
                  <a:alpha val="0"/>
                </a:srgbClr>
              </a:gs>
              <a:gs pos="50000">
                <a:srgbClr val="007DA7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Comprehensively improve AI R&amp;D landing efficiency by 40%, and reduce R&amp;D management costs by more than 30%.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01650" y="377702"/>
            <a:ext cx="7769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Center– AI productivity platform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170" name="Picture 2" descr="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92691"/>
            <a:ext cx="11963805" cy="413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>
            <a:spLocks noChangeArrowheads="1"/>
          </p:cNvSpPr>
          <p:nvPr/>
        </p:nvSpPr>
        <p:spPr bwMode="auto">
          <a:xfrm>
            <a:off x="4623733" y="3831448"/>
            <a:ext cx="2591335" cy="2085683"/>
          </a:xfrm>
          <a:prstGeom prst="roundRect">
            <a:avLst>
              <a:gd name="adj" fmla="val 11124"/>
            </a:avLst>
          </a:prstGeom>
          <a:gradFill flip="none" rotWithShape="1">
            <a:gsLst>
              <a:gs pos="0">
                <a:srgbClr val="0878F4">
                  <a:alpha val="40000"/>
                </a:srgbClr>
              </a:gs>
              <a:gs pos="66000">
                <a:srgbClr val="0878F4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gradFill flip="none" rotWithShape="1">
              <a:gsLst>
                <a:gs pos="1000">
                  <a:srgbClr val="2762E6"/>
                </a:gs>
                <a:gs pos="100000">
                  <a:srgbClr val="59F9F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313" tIns="48159" rIns="96313" bIns="48159" numCol="1" spcCol="0" rtlCol="0" fromWordArt="0" anchor="t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45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 frame algorithm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圆角矩形 2"/>
          <p:cNvSpPr>
            <a:spLocks noChangeArrowheads="1"/>
          </p:cNvSpPr>
          <p:nvPr/>
        </p:nvSpPr>
        <p:spPr bwMode="auto">
          <a:xfrm>
            <a:off x="1206656" y="3833228"/>
            <a:ext cx="2537907" cy="2084537"/>
          </a:xfrm>
          <a:prstGeom prst="roundRect">
            <a:avLst>
              <a:gd name="adj" fmla="val 8355"/>
            </a:avLst>
          </a:prstGeom>
          <a:gradFill flip="none" rotWithShape="1">
            <a:gsLst>
              <a:gs pos="0">
                <a:srgbClr val="0878F4">
                  <a:alpha val="40000"/>
                </a:srgbClr>
              </a:gs>
              <a:gs pos="66000">
                <a:srgbClr val="0878F4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gradFill flip="none" rotWithShape="1">
              <a:gsLst>
                <a:gs pos="1000">
                  <a:srgbClr val="2762E6"/>
                </a:gs>
                <a:gs pos="100000">
                  <a:srgbClr val="59F9F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313" tIns="48159" rIns="96313" bIns="48159" numCol="1" spcCol="0" rtlCol="0" fromWordArt="0" anchor="t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45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Multimodal data management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" name="PA-组合 103"/>
          <p:cNvGrpSpPr/>
          <p:nvPr/>
        </p:nvGrpSpPr>
        <p:grpSpPr>
          <a:xfrm rot="16200000">
            <a:off x="5662065" y="3575207"/>
            <a:ext cx="104939" cy="217883"/>
            <a:chOff x="7481863" y="2931576"/>
            <a:chExt cx="431751" cy="234764"/>
          </a:xfrm>
          <a:solidFill>
            <a:srgbClr val="00B0F0"/>
          </a:solidFill>
        </p:grpSpPr>
        <p:sp>
          <p:nvSpPr>
            <p:cNvPr id="41" name="PA-任意多边形 11"/>
            <p:cNvSpPr/>
            <p:nvPr/>
          </p:nvSpPr>
          <p:spPr bwMode="auto">
            <a:xfrm rot="10800000" flipH="1">
              <a:off x="7756184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42" name="PA-任意多边形 11"/>
            <p:cNvSpPr/>
            <p:nvPr/>
          </p:nvSpPr>
          <p:spPr bwMode="auto">
            <a:xfrm rot="10800000" flipH="1">
              <a:off x="7481863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</p:grpSp>
      <p:grpSp>
        <p:nvGrpSpPr>
          <p:cNvPr id="6" name="PA-组合 103"/>
          <p:cNvGrpSpPr/>
          <p:nvPr/>
        </p:nvGrpSpPr>
        <p:grpSpPr>
          <a:xfrm rot="16200000">
            <a:off x="2320225" y="3556468"/>
            <a:ext cx="104939" cy="217883"/>
            <a:chOff x="7481863" y="2931576"/>
            <a:chExt cx="431751" cy="234764"/>
          </a:xfrm>
          <a:solidFill>
            <a:srgbClr val="00B0F0"/>
          </a:solidFill>
        </p:grpSpPr>
        <p:sp>
          <p:nvSpPr>
            <p:cNvPr id="39" name="PA-任意多边形 11"/>
            <p:cNvSpPr/>
            <p:nvPr/>
          </p:nvSpPr>
          <p:spPr bwMode="auto">
            <a:xfrm rot="10800000" flipH="1">
              <a:off x="7756184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40" name="PA-任意多边形 11"/>
            <p:cNvSpPr/>
            <p:nvPr/>
          </p:nvSpPr>
          <p:spPr bwMode="auto">
            <a:xfrm rot="10800000" flipH="1">
              <a:off x="7481863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</p:grpSp>
      <p:grpSp>
        <p:nvGrpSpPr>
          <p:cNvPr id="7" name="PA-组合 103"/>
          <p:cNvGrpSpPr/>
          <p:nvPr/>
        </p:nvGrpSpPr>
        <p:grpSpPr>
          <a:xfrm rot="16200000">
            <a:off x="9150430" y="3556568"/>
            <a:ext cx="104939" cy="217883"/>
            <a:chOff x="7481863" y="2931576"/>
            <a:chExt cx="431751" cy="234764"/>
          </a:xfrm>
          <a:solidFill>
            <a:srgbClr val="00B0F0"/>
          </a:solidFill>
        </p:grpSpPr>
        <p:sp>
          <p:nvSpPr>
            <p:cNvPr id="37" name="PA-任意多边形 11"/>
            <p:cNvSpPr/>
            <p:nvPr/>
          </p:nvSpPr>
          <p:spPr bwMode="auto">
            <a:xfrm rot="10800000" flipH="1">
              <a:off x="7756184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38" name="PA-任意多边形 11"/>
            <p:cNvSpPr/>
            <p:nvPr/>
          </p:nvSpPr>
          <p:spPr bwMode="auto">
            <a:xfrm rot="10800000" flipH="1">
              <a:off x="7481863" y="2931576"/>
              <a:ext cx="157430" cy="234764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0"/>
                </a:cxn>
                <a:cxn ang="0">
                  <a:pos x="158" y="78"/>
                </a:cxn>
                <a:cxn ang="0">
                  <a:pos x="158" y="111"/>
                </a:cxn>
                <a:cxn ang="0">
                  <a:pos x="0" y="189"/>
                </a:cxn>
                <a:cxn ang="0">
                  <a:pos x="0" y="152"/>
                </a:cxn>
                <a:cxn ang="0">
                  <a:pos x="114" y="95"/>
                </a:cxn>
                <a:cxn ang="0">
                  <a:pos x="0" y="38"/>
                </a:cxn>
              </a:cxnLst>
              <a:rect l="0" t="0" r="r" b="b"/>
              <a:pathLst>
                <a:path w="158" h="189">
                  <a:moveTo>
                    <a:pt x="0" y="38"/>
                  </a:moveTo>
                  <a:lnTo>
                    <a:pt x="0" y="0"/>
                  </a:lnTo>
                  <a:lnTo>
                    <a:pt x="158" y="78"/>
                  </a:lnTo>
                  <a:lnTo>
                    <a:pt x="158" y="111"/>
                  </a:lnTo>
                  <a:lnTo>
                    <a:pt x="0" y="189"/>
                  </a:lnTo>
                  <a:lnTo>
                    <a:pt x="0" y="152"/>
                  </a:lnTo>
                  <a:lnTo>
                    <a:pt x="114" y="95"/>
                  </a:lnTo>
                  <a:lnTo>
                    <a:pt x="0" y="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FF"/>
                </a:gs>
                <a:gs pos="100000">
                  <a:srgbClr val="1EF4F4"/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101567" tIns="50786" rIns="101567" bIns="5078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marR="0" lvl="4" indent="0" algn="l" defTabSz="101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8" name="PA-圆角矩形 86"/>
          <p:cNvSpPr/>
          <p:nvPr/>
        </p:nvSpPr>
        <p:spPr bwMode="auto">
          <a:xfrm>
            <a:off x="980037" y="3073995"/>
            <a:ext cx="9774725" cy="481731"/>
          </a:xfrm>
          <a:prstGeom prst="roundRect">
            <a:avLst/>
          </a:prstGeom>
          <a:solidFill>
            <a:srgbClr val="008BA6"/>
          </a:solidFill>
          <a:ln w="9525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0237" tIns="15119" rIns="30237" bIns="15119" anchor="ctr" anchorCtr="1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95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一体化开发平台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540742" y="1344286"/>
            <a:ext cx="1663700" cy="160591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30237" tIns="15119" rIns="30237" bIns="15119" anchor="ctr" anchorCtr="1"/>
          <a:lstStyle>
            <a:defPPr>
              <a:defRPr lang="zh-CN">
                <a:solidFill>
                  <a:schemeClr val="accen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95"/>
              </a:spcAft>
              <a:buClrTx/>
              <a:buSzPct val="6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线连接符 47"/>
          <p:cNvCxnSpPr/>
          <p:nvPr/>
        </p:nvCxnSpPr>
        <p:spPr>
          <a:xfrm>
            <a:off x="1551638" y="1962008"/>
            <a:ext cx="1663533" cy="0"/>
          </a:xfrm>
          <a:prstGeom prst="line">
            <a:avLst/>
          </a:prstGeom>
          <a:gradFill flip="none" rotWithShape="1">
            <a:gsLst>
              <a:gs pos="68000">
                <a:srgbClr val="00ADED">
                  <a:alpha val="0"/>
                </a:srgbClr>
              </a:gs>
              <a:gs pos="100000">
                <a:srgbClr val="00B0F0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 w="9525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1" name="文本框 76"/>
          <p:cNvSpPr txBox="1"/>
          <p:nvPr/>
        </p:nvSpPr>
        <p:spPr>
          <a:xfrm>
            <a:off x="1551631" y="1478363"/>
            <a:ext cx="1663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data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management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86"/>
          <p:cNvSpPr txBox="1"/>
          <p:nvPr/>
        </p:nvSpPr>
        <p:spPr>
          <a:xfrm>
            <a:off x="1534968" y="2008750"/>
            <a:ext cx="16635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Raw data management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Data preprocessing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Data Annotations 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401917" y="1360796"/>
            <a:ext cx="1681480" cy="158940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30237" tIns="15119" rIns="30237" bIns="15119" anchor="ctr" anchorCtr="1"/>
          <a:lstStyle>
            <a:defPPr>
              <a:defRPr lang="zh-CN">
                <a:solidFill>
                  <a:schemeClr val="accen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95"/>
              </a:spcAft>
              <a:buClrTx/>
              <a:buSzPct val="6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4" name="直线连接符 51"/>
          <p:cNvCxnSpPr/>
          <p:nvPr/>
        </p:nvCxnSpPr>
        <p:spPr>
          <a:xfrm>
            <a:off x="8402037" y="1931489"/>
            <a:ext cx="1681227" cy="0"/>
          </a:xfrm>
          <a:prstGeom prst="line">
            <a:avLst/>
          </a:prstGeom>
          <a:gradFill flip="none" rotWithShape="1">
            <a:gsLst>
              <a:gs pos="68000">
                <a:srgbClr val="00ADED">
                  <a:alpha val="0"/>
                </a:srgbClr>
              </a:gs>
              <a:gs pos="100000">
                <a:srgbClr val="00B0F0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 w="9525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5" name="文本框 92"/>
          <p:cNvSpPr txBox="1"/>
          <p:nvPr/>
        </p:nvSpPr>
        <p:spPr>
          <a:xfrm>
            <a:off x="8455761" y="1444899"/>
            <a:ext cx="1627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Engine adaptation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88792" y="1376671"/>
            <a:ext cx="1696720" cy="157416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lIns="30237" tIns="15119" rIns="30237" bIns="15119" anchor="ctr" anchorCtr="1"/>
          <a:lstStyle>
            <a:defPPr>
              <a:defRPr lang="zh-CN">
                <a:solidFill>
                  <a:schemeClr val="accen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95"/>
              </a:spcAft>
              <a:buClrTx/>
              <a:buSzPct val="6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8" name="直线连接符 55"/>
          <p:cNvCxnSpPr/>
          <p:nvPr/>
        </p:nvCxnSpPr>
        <p:spPr>
          <a:xfrm>
            <a:off x="4989063" y="1947554"/>
            <a:ext cx="1696875" cy="0"/>
          </a:xfrm>
          <a:prstGeom prst="line">
            <a:avLst/>
          </a:prstGeom>
          <a:gradFill flip="none" rotWithShape="1">
            <a:gsLst>
              <a:gs pos="68000">
                <a:srgbClr val="00ADED">
                  <a:alpha val="0"/>
                </a:srgbClr>
              </a:gs>
              <a:gs pos="100000">
                <a:srgbClr val="00B0F0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 w="9525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9" name="文本框 96"/>
          <p:cNvSpPr txBox="1"/>
          <p:nvPr/>
        </p:nvSpPr>
        <p:spPr>
          <a:xfrm>
            <a:off x="5004807" y="1451541"/>
            <a:ext cx="1681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 development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57" b="99419" l="3689" r="95492"/>
                    </a14:imgEffect>
                    <a14:imgEffect>
                      <a14:saturation sat="0"/>
                    </a14:imgEffect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9388" y="4445870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9635" y="4445870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8825" y="4445870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9388" y="5114971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9635" y="5114971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8825" y="5114971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0011" y="4445870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357" b="99419" l="3689" r="9549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0011" y="5114971"/>
            <a:ext cx="549437" cy="5809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29" name="文本框 116"/>
          <p:cNvSpPr txBox="1"/>
          <p:nvPr/>
        </p:nvSpPr>
        <p:spPr>
          <a:xfrm>
            <a:off x="4133850" y="6061066"/>
            <a:ext cx="3495675" cy="600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a multi framework online training visualization platform to accelerate model iteration, optimization, development and training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文本框 118"/>
          <p:cNvSpPr txBox="1"/>
          <p:nvPr/>
        </p:nvSpPr>
        <p:spPr>
          <a:xfrm>
            <a:off x="1206732" y="6061701"/>
            <a:ext cx="253809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Raw data, safe storage of data, fast call and docking.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1" name="文本框 119"/>
          <p:cNvSpPr txBox="1"/>
          <p:nvPr/>
        </p:nvSpPr>
        <p:spPr>
          <a:xfrm>
            <a:off x="7612966" y="6061701"/>
            <a:ext cx="3197628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 variety of device engines are encapsulated, managed and used to produce AI algorithms in different ecosystems.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Freeform 146"/>
          <p:cNvSpPr/>
          <p:nvPr/>
        </p:nvSpPr>
        <p:spPr bwMode="auto">
          <a:xfrm rot="5400000">
            <a:off x="3789940" y="1588951"/>
            <a:ext cx="609809" cy="1057146"/>
          </a:xfrm>
          <a:custGeom>
            <a:avLst/>
            <a:gdLst>
              <a:gd name="connsiteX0" fmla="*/ 5061 w 10000"/>
              <a:gd name="connsiteY0" fmla="*/ 0 h 10833"/>
              <a:gd name="connsiteX1" fmla="*/ 2910 w 10000"/>
              <a:gd name="connsiteY1" fmla="*/ 2840 h 10833"/>
              <a:gd name="connsiteX2" fmla="*/ 3542 w 10000"/>
              <a:gd name="connsiteY2" fmla="*/ 2840 h 10833"/>
              <a:gd name="connsiteX3" fmla="*/ 0 w 10000"/>
              <a:gd name="connsiteY3" fmla="*/ 10833 h 10833"/>
              <a:gd name="connsiteX4" fmla="*/ 10000 w 10000"/>
              <a:gd name="connsiteY4" fmla="*/ 10833 h 10833"/>
              <a:gd name="connsiteX5" fmla="*/ 6414 w 10000"/>
              <a:gd name="connsiteY5" fmla="*/ 2840 h 10833"/>
              <a:gd name="connsiteX6" fmla="*/ 7177 w 10000"/>
              <a:gd name="connsiteY6" fmla="*/ 2903 h 10833"/>
              <a:gd name="connsiteX7" fmla="*/ 5061 w 10000"/>
              <a:gd name="connsiteY7" fmla="*/ 0 h 10833"/>
              <a:gd name="connsiteX0-1" fmla="*/ 5144 w 10000"/>
              <a:gd name="connsiteY0-2" fmla="*/ 0 h 12071"/>
              <a:gd name="connsiteX1-3" fmla="*/ 2910 w 10000"/>
              <a:gd name="connsiteY1-4" fmla="*/ 4078 h 12071"/>
              <a:gd name="connsiteX2-5" fmla="*/ 3542 w 10000"/>
              <a:gd name="connsiteY2-6" fmla="*/ 4078 h 12071"/>
              <a:gd name="connsiteX3-7" fmla="*/ 0 w 10000"/>
              <a:gd name="connsiteY3-8" fmla="*/ 12071 h 12071"/>
              <a:gd name="connsiteX4-9" fmla="*/ 10000 w 10000"/>
              <a:gd name="connsiteY4-10" fmla="*/ 12071 h 12071"/>
              <a:gd name="connsiteX5-11" fmla="*/ 6414 w 10000"/>
              <a:gd name="connsiteY5-12" fmla="*/ 4078 h 12071"/>
              <a:gd name="connsiteX6-13" fmla="*/ 7177 w 10000"/>
              <a:gd name="connsiteY6-14" fmla="*/ 4141 h 12071"/>
              <a:gd name="connsiteX7-15" fmla="*/ 5144 w 10000"/>
              <a:gd name="connsiteY7-16" fmla="*/ 0 h 12071"/>
              <a:gd name="connsiteX0-17" fmla="*/ 5144 w 10000"/>
              <a:gd name="connsiteY0-18" fmla="*/ 0 h 12071"/>
              <a:gd name="connsiteX1-19" fmla="*/ 2910 w 10000"/>
              <a:gd name="connsiteY1-20" fmla="*/ 4078 h 12071"/>
              <a:gd name="connsiteX2-21" fmla="*/ 3542 w 10000"/>
              <a:gd name="connsiteY2-22" fmla="*/ 4078 h 12071"/>
              <a:gd name="connsiteX3-23" fmla="*/ 0 w 10000"/>
              <a:gd name="connsiteY3-24" fmla="*/ 12071 h 12071"/>
              <a:gd name="connsiteX4-25" fmla="*/ 10000 w 10000"/>
              <a:gd name="connsiteY4-26" fmla="*/ 12071 h 12071"/>
              <a:gd name="connsiteX5-27" fmla="*/ 6414 w 10000"/>
              <a:gd name="connsiteY5-28" fmla="*/ 4078 h 12071"/>
              <a:gd name="connsiteX6-29" fmla="*/ 7177 w 10000"/>
              <a:gd name="connsiteY6-30" fmla="*/ 4141 h 12071"/>
              <a:gd name="connsiteX7-31" fmla="*/ 5144 w 10000"/>
              <a:gd name="connsiteY7-32" fmla="*/ 0 h 12071"/>
              <a:gd name="connsiteX0-33" fmla="*/ 5144 w 10000"/>
              <a:gd name="connsiteY0-34" fmla="*/ 0 h 12071"/>
              <a:gd name="connsiteX1-35" fmla="*/ 2313 w 10000"/>
              <a:gd name="connsiteY1-36" fmla="*/ 4095 h 12071"/>
              <a:gd name="connsiteX2-37" fmla="*/ 3542 w 10000"/>
              <a:gd name="connsiteY2-38" fmla="*/ 4078 h 12071"/>
              <a:gd name="connsiteX3-39" fmla="*/ 0 w 10000"/>
              <a:gd name="connsiteY3-40" fmla="*/ 12071 h 12071"/>
              <a:gd name="connsiteX4-41" fmla="*/ 10000 w 10000"/>
              <a:gd name="connsiteY4-42" fmla="*/ 12071 h 12071"/>
              <a:gd name="connsiteX5-43" fmla="*/ 6414 w 10000"/>
              <a:gd name="connsiteY5-44" fmla="*/ 4078 h 12071"/>
              <a:gd name="connsiteX6-45" fmla="*/ 7177 w 10000"/>
              <a:gd name="connsiteY6-46" fmla="*/ 4141 h 12071"/>
              <a:gd name="connsiteX7-47" fmla="*/ 5144 w 10000"/>
              <a:gd name="connsiteY7-48" fmla="*/ 0 h 12071"/>
              <a:gd name="connsiteX0-49" fmla="*/ 5144 w 10000"/>
              <a:gd name="connsiteY0-50" fmla="*/ 0 h 12071"/>
              <a:gd name="connsiteX1-51" fmla="*/ 2313 w 10000"/>
              <a:gd name="connsiteY1-52" fmla="*/ 4095 h 12071"/>
              <a:gd name="connsiteX2-53" fmla="*/ 3542 w 10000"/>
              <a:gd name="connsiteY2-54" fmla="*/ 4078 h 12071"/>
              <a:gd name="connsiteX3-55" fmla="*/ 0 w 10000"/>
              <a:gd name="connsiteY3-56" fmla="*/ 12071 h 12071"/>
              <a:gd name="connsiteX4-57" fmla="*/ 10000 w 10000"/>
              <a:gd name="connsiteY4-58" fmla="*/ 12071 h 12071"/>
              <a:gd name="connsiteX5-59" fmla="*/ 6414 w 10000"/>
              <a:gd name="connsiteY5-60" fmla="*/ 4078 h 12071"/>
              <a:gd name="connsiteX6-61" fmla="*/ 7792 w 10000"/>
              <a:gd name="connsiteY6-62" fmla="*/ 4250 h 12071"/>
              <a:gd name="connsiteX7-63" fmla="*/ 5144 w 10000"/>
              <a:gd name="connsiteY7-64" fmla="*/ 0 h 12071"/>
              <a:gd name="connsiteX0-65" fmla="*/ 5144 w 10000"/>
              <a:gd name="connsiteY0-66" fmla="*/ 0 h 12071"/>
              <a:gd name="connsiteX1-67" fmla="*/ 2313 w 10000"/>
              <a:gd name="connsiteY1-68" fmla="*/ 4095 h 12071"/>
              <a:gd name="connsiteX2-69" fmla="*/ 3542 w 10000"/>
              <a:gd name="connsiteY2-70" fmla="*/ 4078 h 12071"/>
              <a:gd name="connsiteX3-71" fmla="*/ 0 w 10000"/>
              <a:gd name="connsiteY3-72" fmla="*/ 12071 h 12071"/>
              <a:gd name="connsiteX4-73" fmla="*/ 10000 w 10000"/>
              <a:gd name="connsiteY4-74" fmla="*/ 12071 h 12071"/>
              <a:gd name="connsiteX5-75" fmla="*/ 6414 w 10000"/>
              <a:gd name="connsiteY5-76" fmla="*/ 4078 h 12071"/>
              <a:gd name="connsiteX6-77" fmla="*/ 7781 w 10000"/>
              <a:gd name="connsiteY6-78" fmla="*/ 4204 h 12071"/>
              <a:gd name="connsiteX7-79" fmla="*/ 5144 w 10000"/>
              <a:gd name="connsiteY7-80" fmla="*/ 0 h 12071"/>
              <a:gd name="connsiteX0-81" fmla="*/ 5144 w 10000"/>
              <a:gd name="connsiteY0-82" fmla="*/ 0 h 12071"/>
              <a:gd name="connsiteX1-83" fmla="*/ 2313 w 10000"/>
              <a:gd name="connsiteY1-84" fmla="*/ 4095 h 12071"/>
              <a:gd name="connsiteX2-85" fmla="*/ 3542 w 10000"/>
              <a:gd name="connsiteY2-86" fmla="*/ 4078 h 12071"/>
              <a:gd name="connsiteX3-87" fmla="*/ 0 w 10000"/>
              <a:gd name="connsiteY3-88" fmla="*/ 12071 h 12071"/>
              <a:gd name="connsiteX4-89" fmla="*/ 10000 w 10000"/>
              <a:gd name="connsiteY4-90" fmla="*/ 12071 h 12071"/>
              <a:gd name="connsiteX5-91" fmla="*/ 6414 w 10000"/>
              <a:gd name="connsiteY5-92" fmla="*/ 4078 h 12071"/>
              <a:gd name="connsiteX6-93" fmla="*/ 7781 w 10000"/>
              <a:gd name="connsiteY6-94" fmla="*/ 4204 h 12071"/>
              <a:gd name="connsiteX7-95" fmla="*/ 5144 w 10000"/>
              <a:gd name="connsiteY7-96" fmla="*/ 0 h 12071"/>
              <a:gd name="connsiteX0-97" fmla="*/ 5144 w 10000"/>
              <a:gd name="connsiteY0-98" fmla="*/ 0 h 12071"/>
              <a:gd name="connsiteX1-99" fmla="*/ 2313 w 10000"/>
              <a:gd name="connsiteY1-100" fmla="*/ 4095 h 12071"/>
              <a:gd name="connsiteX2-101" fmla="*/ 3542 w 10000"/>
              <a:gd name="connsiteY2-102" fmla="*/ 4078 h 12071"/>
              <a:gd name="connsiteX3-103" fmla="*/ 0 w 10000"/>
              <a:gd name="connsiteY3-104" fmla="*/ 12071 h 12071"/>
              <a:gd name="connsiteX4-105" fmla="*/ 10000 w 10000"/>
              <a:gd name="connsiteY4-106" fmla="*/ 12071 h 12071"/>
              <a:gd name="connsiteX5-107" fmla="*/ 6414 w 10000"/>
              <a:gd name="connsiteY5-108" fmla="*/ 4078 h 12071"/>
              <a:gd name="connsiteX6-109" fmla="*/ 7781 w 10000"/>
              <a:gd name="connsiteY6-110" fmla="*/ 4204 h 12071"/>
              <a:gd name="connsiteX7-111" fmla="*/ 5144 w 10000"/>
              <a:gd name="connsiteY7-112" fmla="*/ 0 h 12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2071">
                <a:moveTo>
                  <a:pt x="5144" y="0"/>
                </a:moveTo>
                <a:lnTo>
                  <a:pt x="2313" y="4095"/>
                </a:lnTo>
                <a:lnTo>
                  <a:pt x="3542" y="4078"/>
                </a:lnTo>
                <a:cubicBezTo>
                  <a:pt x="2608" y="6843"/>
                  <a:pt x="1181" y="9407"/>
                  <a:pt x="0" y="12071"/>
                </a:cubicBezTo>
                <a:lnTo>
                  <a:pt x="10000" y="12071"/>
                </a:lnTo>
                <a:cubicBezTo>
                  <a:pt x="8805" y="9407"/>
                  <a:pt x="7373" y="6801"/>
                  <a:pt x="6414" y="4078"/>
                </a:cubicBezTo>
                <a:lnTo>
                  <a:pt x="7781" y="4204"/>
                </a:lnTo>
                <a:lnTo>
                  <a:pt x="5144" y="0"/>
                </a:lnTo>
                <a:close/>
              </a:path>
            </a:pathLst>
          </a:custGeom>
          <a:gradFill flip="none" rotWithShape="1">
            <a:gsLst>
              <a:gs pos="0">
                <a:srgbClr val="050D37"/>
              </a:gs>
              <a:gs pos="85000">
                <a:srgbClr val="050D37">
                  <a:alpha val="0"/>
                </a:srgbClr>
              </a:gs>
            </a:gsLst>
            <a:lin ang="5400000" scaled="1"/>
            <a:tileRect/>
          </a:gradFill>
          <a:ln w="28575" cap="flat" cmpd="sng">
            <a:gradFill>
              <a:gsLst>
                <a:gs pos="0">
                  <a:srgbClr val="2CDEED"/>
                </a:gs>
                <a:gs pos="95000">
                  <a:srgbClr val="2CDEED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none" lIns="5571" tIns="2785" rIns="5571" bIns="2785" anchor="ctr"/>
          <a:lstStyle>
            <a:defPPr>
              <a:defRPr lang="zh-CN"/>
            </a:defPPr>
            <a:lvl1pPr marL="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861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723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521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382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244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105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967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765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9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Freeform 146"/>
          <p:cNvSpPr/>
          <p:nvPr/>
        </p:nvSpPr>
        <p:spPr bwMode="auto">
          <a:xfrm rot="5400000">
            <a:off x="7239260" y="1635306"/>
            <a:ext cx="609809" cy="1057146"/>
          </a:xfrm>
          <a:custGeom>
            <a:avLst/>
            <a:gdLst>
              <a:gd name="connsiteX0" fmla="*/ 5061 w 10000"/>
              <a:gd name="connsiteY0" fmla="*/ 0 h 10833"/>
              <a:gd name="connsiteX1" fmla="*/ 2910 w 10000"/>
              <a:gd name="connsiteY1" fmla="*/ 2840 h 10833"/>
              <a:gd name="connsiteX2" fmla="*/ 3542 w 10000"/>
              <a:gd name="connsiteY2" fmla="*/ 2840 h 10833"/>
              <a:gd name="connsiteX3" fmla="*/ 0 w 10000"/>
              <a:gd name="connsiteY3" fmla="*/ 10833 h 10833"/>
              <a:gd name="connsiteX4" fmla="*/ 10000 w 10000"/>
              <a:gd name="connsiteY4" fmla="*/ 10833 h 10833"/>
              <a:gd name="connsiteX5" fmla="*/ 6414 w 10000"/>
              <a:gd name="connsiteY5" fmla="*/ 2840 h 10833"/>
              <a:gd name="connsiteX6" fmla="*/ 7177 w 10000"/>
              <a:gd name="connsiteY6" fmla="*/ 2903 h 10833"/>
              <a:gd name="connsiteX7" fmla="*/ 5061 w 10000"/>
              <a:gd name="connsiteY7" fmla="*/ 0 h 10833"/>
              <a:gd name="connsiteX0-1" fmla="*/ 5144 w 10000"/>
              <a:gd name="connsiteY0-2" fmla="*/ 0 h 12071"/>
              <a:gd name="connsiteX1-3" fmla="*/ 2910 w 10000"/>
              <a:gd name="connsiteY1-4" fmla="*/ 4078 h 12071"/>
              <a:gd name="connsiteX2-5" fmla="*/ 3542 w 10000"/>
              <a:gd name="connsiteY2-6" fmla="*/ 4078 h 12071"/>
              <a:gd name="connsiteX3-7" fmla="*/ 0 w 10000"/>
              <a:gd name="connsiteY3-8" fmla="*/ 12071 h 12071"/>
              <a:gd name="connsiteX4-9" fmla="*/ 10000 w 10000"/>
              <a:gd name="connsiteY4-10" fmla="*/ 12071 h 12071"/>
              <a:gd name="connsiteX5-11" fmla="*/ 6414 w 10000"/>
              <a:gd name="connsiteY5-12" fmla="*/ 4078 h 12071"/>
              <a:gd name="connsiteX6-13" fmla="*/ 7177 w 10000"/>
              <a:gd name="connsiteY6-14" fmla="*/ 4141 h 12071"/>
              <a:gd name="connsiteX7-15" fmla="*/ 5144 w 10000"/>
              <a:gd name="connsiteY7-16" fmla="*/ 0 h 12071"/>
              <a:gd name="connsiteX0-17" fmla="*/ 5144 w 10000"/>
              <a:gd name="connsiteY0-18" fmla="*/ 0 h 12071"/>
              <a:gd name="connsiteX1-19" fmla="*/ 2910 w 10000"/>
              <a:gd name="connsiteY1-20" fmla="*/ 4078 h 12071"/>
              <a:gd name="connsiteX2-21" fmla="*/ 3542 w 10000"/>
              <a:gd name="connsiteY2-22" fmla="*/ 4078 h 12071"/>
              <a:gd name="connsiteX3-23" fmla="*/ 0 w 10000"/>
              <a:gd name="connsiteY3-24" fmla="*/ 12071 h 12071"/>
              <a:gd name="connsiteX4-25" fmla="*/ 10000 w 10000"/>
              <a:gd name="connsiteY4-26" fmla="*/ 12071 h 12071"/>
              <a:gd name="connsiteX5-27" fmla="*/ 6414 w 10000"/>
              <a:gd name="connsiteY5-28" fmla="*/ 4078 h 12071"/>
              <a:gd name="connsiteX6-29" fmla="*/ 7177 w 10000"/>
              <a:gd name="connsiteY6-30" fmla="*/ 4141 h 12071"/>
              <a:gd name="connsiteX7-31" fmla="*/ 5144 w 10000"/>
              <a:gd name="connsiteY7-32" fmla="*/ 0 h 12071"/>
              <a:gd name="connsiteX0-33" fmla="*/ 5144 w 10000"/>
              <a:gd name="connsiteY0-34" fmla="*/ 0 h 12071"/>
              <a:gd name="connsiteX1-35" fmla="*/ 2313 w 10000"/>
              <a:gd name="connsiteY1-36" fmla="*/ 4095 h 12071"/>
              <a:gd name="connsiteX2-37" fmla="*/ 3542 w 10000"/>
              <a:gd name="connsiteY2-38" fmla="*/ 4078 h 12071"/>
              <a:gd name="connsiteX3-39" fmla="*/ 0 w 10000"/>
              <a:gd name="connsiteY3-40" fmla="*/ 12071 h 12071"/>
              <a:gd name="connsiteX4-41" fmla="*/ 10000 w 10000"/>
              <a:gd name="connsiteY4-42" fmla="*/ 12071 h 12071"/>
              <a:gd name="connsiteX5-43" fmla="*/ 6414 w 10000"/>
              <a:gd name="connsiteY5-44" fmla="*/ 4078 h 12071"/>
              <a:gd name="connsiteX6-45" fmla="*/ 7177 w 10000"/>
              <a:gd name="connsiteY6-46" fmla="*/ 4141 h 12071"/>
              <a:gd name="connsiteX7-47" fmla="*/ 5144 w 10000"/>
              <a:gd name="connsiteY7-48" fmla="*/ 0 h 12071"/>
              <a:gd name="connsiteX0-49" fmla="*/ 5144 w 10000"/>
              <a:gd name="connsiteY0-50" fmla="*/ 0 h 12071"/>
              <a:gd name="connsiteX1-51" fmla="*/ 2313 w 10000"/>
              <a:gd name="connsiteY1-52" fmla="*/ 4095 h 12071"/>
              <a:gd name="connsiteX2-53" fmla="*/ 3542 w 10000"/>
              <a:gd name="connsiteY2-54" fmla="*/ 4078 h 12071"/>
              <a:gd name="connsiteX3-55" fmla="*/ 0 w 10000"/>
              <a:gd name="connsiteY3-56" fmla="*/ 12071 h 12071"/>
              <a:gd name="connsiteX4-57" fmla="*/ 10000 w 10000"/>
              <a:gd name="connsiteY4-58" fmla="*/ 12071 h 12071"/>
              <a:gd name="connsiteX5-59" fmla="*/ 6414 w 10000"/>
              <a:gd name="connsiteY5-60" fmla="*/ 4078 h 12071"/>
              <a:gd name="connsiteX6-61" fmla="*/ 7792 w 10000"/>
              <a:gd name="connsiteY6-62" fmla="*/ 4250 h 12071"/>
              <a:gd name="connsiteX7-63" fmla="*/ 5144 w 10000"/>
              <a:gd name="connsiteY7-64" fmla="*/ 0 h 12071"/>
              <a:gd name="connsiteX0-65" fmla="*/ 5144 w 10000"/>
              <a:gd name="connsiteY0-66" fmla="*/ 0 h 12071"/>
              <a:gd name="connsiteX1-67" fmla="*/ 2313 w 10000"/>
              <a:gd name="connsiteY1-68" fmla="*/ 4095 h 12071"/>
              <a:gd name="connsiteX2-69" fmla="*/ 3542 w 10000"/>
              <a:gd name="connsiteY2-70" fmla="*/ 4078 h 12071"/>
              <a:gd name="connsiteX3-71" fmla="*/ 0 w 10000"/>
              <a:gd name="connsiteY3-72" fmla="*/ 12071 h 12071"/>
              <a:gd name="connsiteX4-73" fmla="*/ 10000 w 10000"/>
              <a:gd name="connsiteY4-74" fmla="*/ 12071 h 12071"/>
              <a:gd name="connsiteX5-75" fmla="*/ 6414 w 10000"/>
              <a:gd name="connsiteY5-76" fmla="*/ 4078 h 12071"/>
              <a:gd name="connsiteX6-77" fmla="*/ 7781 w 10000"/>
              <a:gd name="connsiteY6-78" fmla="*/ 4204 h 12071"/>
              <a:gd name="connsiteX7-79" fmla="*/ 5144 w 10000"/>
              <a:gd name="connsiteY7-80" fmla="*/ 0 h 12071"/>
              <a:gd name="connsiteX0-81" fmla="*/ 5144 w 10000"/>
              <a:gd name="connsiteY0-82" fmla="*/ 0 h 12071"/>
              <a:gd name="connsiteX1-83" fmla="*/ 2313 w 10000"/>
              <a:gd name="connsiteY1-84" fmla="*/ 4095 h 12071"/>
              <a:gd name="connsiteX2-85" fmla="*/ 3542 w 10000"/>
              <a:gd name="connsiteY2-86" fmla="*/ 4078 h 12071"/>
              <a:gd name="connsiteX3-87" fmla="*/ 0 w 10000"/>
              <a:gd name="connsiteY3-88" fmla="*/ 12071 h 12071"/>
              <a:gd name="connsiteX4-89" fmla="*/ 10000 w 10000"/>
              <a:gd name="connsiteY4-90" fmla="*/ 12071 h 12071"/>
              <a:gd name="connsiteX5-91" fmla="*/ 6414 w 10000"/>
              <a:gd name="connsiteY5-92" fmla="*/ 4078 h 12071"/>
              <a:gd name="connsiteX6-93" fmla="*/ 7781 w 10000"/>
              <a:gd name="connsiteY6-94" fmla="*/ 4204 h 12071"/>
              <a:gd name="connsiteX7-95" fmla="*/ 5144 w 10000"/>
              <a:gd name="connsiteY7-96" fmla="*/ 0 h 12071"/>
              <a:gd name="connsiteX0-97" fmla="*/ 5144 w 10000"/>
              <a:gd name="connsiteY0-98" fmla="*/ 0 h 12071"/>
              <a:gd name="connsiteX1-99" fmla="*/ 2313 w 10000"/>
              <a:gd name="connsiteY1-100" fmla="*/ 4095 h 12071"/>
              <a:gd name="connsiteX2-101" fmla="*/ 3542 w 10000"/>
              <a:gd name="connsiteY2-102" fmla="*/ 4078 h 12071"/>
              <a:gd name="connsiteX3-103" fmla="*/ 0 w 10000"/>
              <a:gd name="connsiteY3-104" fmla="*/ 12071 h 12071"/>
              <a:gd name="connsiteX4-105" fmla="*/ 10000 w 10000"/>
              <a:gd name="connsiteY4-106" fmla="*/ 12071 h 12071"/>
              <a:gd name="connsiteX5-107" fmla="*/ 6414 w 10000"/>
              <a:gd name="connsiteY5-108" fmla="*/ 4078 h 12071"/>
              <a:gd name="connsiteX6-109" fmla="*/ 7781 w 10000"/>
              <a:gd name="connsiteY6-110" fmla="*/ 4204 h 12071"/>
              <a:gd name="connsiteX7-111" fmla="*/ 5144 w 10000"/>
              <a:gd name="connsiteY7-112" fmla="*/ 0 h 12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00" h="12071">
                <a:moveTo>
                  <a:pt x="5144" y="0"/>
                </a:moveTo>
                <a:lnTo>
                  <a:pt x="2313" y="4095"/>
                </a:lnTo>
                <a:lnTo>
                  <a:pt x="3542" y="4078"/>
                </a:lnTo>
                <a:cubicBezTo>
                  <a:pt x="2608" y="6843"/>
                  <a:pt x="1181" y="9407"/>
                  <a:pt x="0" y="12071"/>
                </a:cubicBezTo>
                <a:lnTo>
                  <a:pt x="10000" y="12071"/>
                </a:lnTo>
                <a:cubicBezTo>
                  <a:pt x="8805" y="9407"/>
                  <a:pt x="7373" y="6801"/>
                  <a:pt x="6414" y="4078"/>
                </a:cubicBezTo>
                <a:lnTo>
                  <a:pt x="7781" y="4204"/>
                </a:lnTo>
                <a:lnTo>
                  <a:pt x="5144" y="0"/>
                </a:lnTo>
                <a:close/>
              </a:path>
            </a:pathLst>
          </a:custGeom>
          <a:gradFill flip="none" rotWithShape="1">
            <a:gsLst>
              <a:gs pos="0">
                <a:srgbClr val="050D37"/>
              </a:gs>
              <a:gs pos="85000">
                <a:srgbClr val="050D37">
                  <a:alpha val="0"/>
                </a:srgbClr>
              </a:gs>
            </a:gsLst>
            <a:lin ang="5400000" scaled="1"/>
            <a:tileRect/>
          </a:gradFill>
          <a:ln w="28575" cap="flat" cmpd="sng">
            <a:gradFill>
              <a:gsLst>
                <a:gs pos="0">
                  <a:srgbClr val="2CDEED"/>
                </a:gs>
                <a:gs pos="95000">
                  <a:srgbClr val="2CDEED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none" lIns="5571" tIns="2785" rIns="5571" bIns="2785" anchor="ctr"/>
          <a:lstStyle>
            <a:defPPr>
              <a:defRPr lang="zh-CN"/>
            </a:defPPr>
            <a:lvl1pPr marL="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861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723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521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382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244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91055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967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7650" algn="l" defTabSz="348615" rtl="0" eaLnBrk="1" latinLnBrk="0" hangingPunct="1"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98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0921" y="4473380"/>
            <a:ext cx="1295792" cy="222893"/>
          </a:xfrm>
          <a:prstGeom prst="rect">
            <a:avLst/>
          </a:prstGeom>
        </p:spPr>
      </p:pic>
      <p:sp>
        <p:nvSpPr>
          <p:cNvPr id="35" name="文本框 128"/>
          <p:cNvSpPr txBox="1"/>
          <p:nvPr/>
        </p:nvSpPr>
        <p:spPr>
          <a:xfrm>
            <a:off x="5391403" y="4767352"/>
            <a:ext cx="104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lt"/>
              </a:rPr>
              <a:t>MXNet</a:t>
            </a:r>
          </a:p>
        </p:txBody>
      </p:sp>
      <p:sp>
        <p:nvSpPr>
          <p:cNvPr id="36" name="文本框 129"/>
          <p:cNvSpPr txBox="1"/>
          <p:nvPr/>
        </p:nvSpPr>
        <p:spPr>
          <a:xfrm>
            <a:off x="5351636" y="5148072"/>
            <a:ext cx="123521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 err="1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srgbClr val="FF8021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lt"/>
              </a:rPr>
              <a:t>PyTorch</a:t>
            </a:r>
          </a:p>
        </p:txBody>
      </p:sp>
      <p:sp>
        <p:nvSpPr>
          <p:cNvPr id="43" name="圆角矩形 42"/>
          <p:cNvSpPr>
            <a:spLocks noChangeArrowheads="1"/>
          </p:cNvSpPr>
          <p:nvPr/>
        </p:nvSpPr>
        <p:spPr bwMode="auto">
          <a:xfrm>
            <a:off x="7982738" y="3831448"/>
            <a:ext cx="2458085" cy="2110105"/>
          </a:xfrm>
          <a:prstGeom prst="roundRect">
            <a:avLst>
              <a:gd name="adj" fmla="val 12153"/>
            </a:avLst>
          </a:prstGeom>
          <a:gradFill flip="none" rotWithShape="1">
            <a:gsLst>
              <a:gs pos="0">
                <a:srgbClr val="0878F4">
                  <a:alpha val="40000"/>
                </a:srgbClr>
              </a:gs>
              <a:gs pos="66000">
                <a:srgbClr val="0878F4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gradFill flip="none" rotWithShape="1">
              <a:gsLst>
                <a:gs pos="1000">
                  <a:srgbClr val="2762E6"/>
                </a:gs>
                <a:gs pos="100000">
                  <a:srgbClr val="59F9FE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313" tIns="48159" rIns="96313" bIns="48159" numCol="1" spcCol="0" rtlCol="0" fromWordArt="0" anchor="t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45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Support multiple inference devices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文本框 132"/>
          <p:cNvSpPr txBox="1"/>
          <p:nvPr/>
        </p:nvSpPr>
        <p:spPr>
          <a:xfrm>
            <a:off x="8299013" y="4868657"/>
            <a:ext cx="270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寒武纪思元270-S4板卡</a:t>
            </a:r>
          </a:p>
        </p:txBody>
      </p:sp>
      <p:sp>
        <p:nvSpPr>
          <p:cNvPr id="45" name="文本框 136"/>
          <p:cNvSpPr txBox="1"/>
          <p:nvPr/>
        </p:nvSpPr>
        <p:spPr>
          <a:xfrm>
            <a:off x="8257319" y="4590217"/>
            <a:ext cx="2477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NVIDIA Tesla T4板卡</a:t>
            </a:r>
          </a:p>
        </p:txBody>
      </p:sp>
      <p:sp>
        <p:nvSpPr>
          <p:cNvPr id="46" name="文本框 137"/>
          <p:cNvSpPr txBox="1"/>
          <p:nvPr/>
        </p:nvSpPr>
        <p:spPr>
          <a:xfrm>
            <a:off x="8377100" y="5147097"/>
            <a:ext cx="2331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算能SC5分析板卡</a:t>
            </a:r>
          </a:p>
        </p:txBody>
      </p:sp>
      <p:sp>
        <p:nvSpPr>
          <p:cNvPr id="47" name="文本框 138"/>
          <p:cNvSpPr txBox="1"/>
          <p:nvPr/>
        </p:nvSpPr>
        <p:spPr>
          <a:xfrm>
            <a:off x="8338139" y="5425538"/>
            <a:ext cx="2694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华为昇腾710分析板卡</a:t>
            </a:r>
          </a:p>
        </p:txBody>
      </p:sp>
      <p:sp>
        <p:nvSpPr>
          <p:cNvPr id="48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1650" y="377702"/>
            <a:ext cx="7769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Center– AI productivity platform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0476" y="2010281"/>
            <a:ext cx="1168920" cy="895591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3309" y="1986388"/>
            <a:ext cx="1336942" cy="84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01650" y="377702"/>
            <a:ext cx="8943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Center– Functional architecture diagram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194" name="Picture 2" descr="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281112"/>
            <a:ext cx="11836048" cy="48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01650" y="377702"/>
            <a:ext cx="8943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Center– Functional architecture diagram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218" name="Picture 2" descr="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48" y="1074737"/>
            <a:ext cx="11252200" cy="564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 10"/>
          <p:cNvSpPr/>
          <p:nvPr/>
        </p:nvSpPr>
        <p:spPr>
          <a:xfrm>
            <a:off x="3587115" y="920115"/>
            <a:ext cx="5018405" cy="5018405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6858000 w 6858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6858000" y="3429000"/>
                </a:moveTo>
                <a:cubicBezTo>
                  <a:pt x="6858000" y="5322785"/>
                  <a:pt x="5322785" y="6858000"/>
                  <a:pt x="3429000" y="6858000"/>
                </a:cubicBezTo>
                <a:cubicBezTo>
                  <a:pt x="1535216" y="6858000"/>
                  <a:pt x="0" y="5322785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ubicBezTo>
                  <a:pt x="5322785" y="0"/>
                  <a:pt x="6858000" y="1535216"/>
                  <a:pt x="6858000" y="34290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9000"/>
                </a:schemeClr>
              </a:gs>
              <a:gs pos="100000">
                <a:schemeClr val="bg1">
                  <a:alpha val="9000"/>
                </a:schemeClr>
              </a:gs>
              <a:gs pos="51000">
                <a:schemeClr val="bg1">
                  <a:alpha val="56000"/>
                </a:schemeClr>
              </a:gs>
            </a:gsLst>
            <a:lin ang="5400000" scaled="1"/>
          </a:gradFill>
          <a:ln w="86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379" y="837536"/>
            <a:ext cx="1168100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Efficient Data Pipeline – Secure asset management with high-quality, diverse training 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</a:t>
            </a:r>
          </a:p>
        </p:txBody>
      </p:sp>
      <p:sp>
        <p:nvSpPr>
          <p:cNvPr id="124" name="矩形 123"/>
          <p:cNvSpPr/>
          <p:nvPr/>
        </p:nvSpPr>
        <p:spPr>
          <a:xfrm>
            <a:off x="4535805" y="4703445"/>
            <a:ext cx="3282315" cy="1552575"/>
          </a:xfrm>
          <a:prstGeom prst="rect">
            <a:avLst/>
          </a:prstGeom>
          <a:solidFill>
            <a:srgbClr val="269EB6">
              <a:alpha val="21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72440" y="4709160"/>
            <a:ext cx="3282315" cy="1552575"/>
          </a:xfrm>
          <a:prstGeom prst="rect">
            <a:avLst/>
          </a:prstGeom>
          <a:solidFill>
            <a:srgbClr val="269EB6">
              <a:alpha val="21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01040" y="1479550"/>
            <a:ext cx="5213985" cy="2905125"/>
          </a:xfrm>
          <a:prstGeom prst="rect">
            <a:avLst/>
          </a:prstGeom>
        </p:spPr>
      </p:pic>
      <p:sp>
        <p:nvSpPr>
          <p:cNvPr id="10" name="对角圆角矩形 9"/>
          <p:cNvSpPr/>
          <p:nvPr>
            <p:custDataLst>
              <p:tags r:id="rId2"/>
            </p:custDataLst>
          </p:nvPr>
        </p:nvSpPr>
        <p:spPr>
          <a:xfrm>
            <a:off x="6304915" y="1507490"/>
            <a:ext cx="2371090" cy="436880"/>
          </a:xfrm>
          <a:prstGeom prst="round2DiagRect">
            <a:avLst/>
          </a:prstGeom>
          <a:gradFill>
            <a:gsLst>
              <a:gs pos="0">
                <a:srgbClr val="009EA5">
                  <a:alpha val="100000"/>
                </a:srgbClr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Secure Data Asset Storage</a:t>
            </a:r>
          </a:p>
        </p:txBody>
      </p:sp>
      <p:sp>
        <p:nvSpPr>
          <p:cNvPr id="11" name="矩形 10"/>
          <p:cNvSpPr/>
          <p:nvPr/>
        </p:nvSpPr>
        <p:spPr>
          <a:xfrm>
            <a:off x="6315075" y="1944370"/>
            <a:ext cx="5374005" cy="3962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PB-Scale Secure Data Storage with Multi-Label Classification &amp; Second-Level Retrieval</a:t>
            </a:r>
          </a:p>
        </p:txBody>
      </p:sp>
      <p:sp>
        <p:nvSpPr>
          <p:cNvPr id="19" name="对角圆角矩形 18"/>
          <p:cNvSpPr/>
          <p:nvPr>
            <p:custDataLst>
              <p:tags r:id="rId3"/>
            </p:custDataLst>
          </p:nvPr>
        </p:nvSpPr>
        <p:spPr>
          <a:xfrm>
            <a:off x="6304915" y="2471420"/>
            <a:ext cx="2371090" cy="436880"/>
          </a:xfrm>
          <a:prstGeom prst="round2DiagRect">
            <a:avLst/>
          </a:prstGeom>
          <a:gradFill>
            <a:gsLst>
              <a:gs pos="0">
                <a:srgbClr val="009EA5">
                  <a:alpha val="100000"/>
                </a:srgbClr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Intelligent Data Annotation</a:t>
            </a:r>
          </a:p>
        </p:txBody>
      </p:sp>
      <p:sp>
        <p:nvSpPr>
          <p:cNvPr id="41" name="矩形 40"/>
          <p:cNvSpPr/>
          <p:nvPr/>
        </p:nvSpPr>
        <p:spPr>
          <a:xfrm>
            <a:off x="6315075" y="2884805"/>
            <a:ext cx="5374005" cy="5270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Multi-Mode Annotation Suite – Supporting 3D/point cloud/AI-prelabeling (+6 methods) with 160%+ annotator efficiency gain.</a:t>
            </a:r>
          </a:p>
        </p:txBody>
      </p:sp>
      <p:sp>
        <p:nvSpPr>
          <p:cNvPr id="42" name="对角圆角矩形 41"/>
          <p:cNvSpPr/>
          <p:nvPr>
            <p:custDataLst>
              <p:tags r:id="rId4"/>
            </p:custDataLst>
          </p:nvPr>
        </p:nvSpPr>
        <p:spPr>
          <a:xfrm>
            <a:off x="6304914" y="3525520"/>
            <a:ext cx="2700655" cy="436880"/>
          </a:xfrm>
          <a:prstGeom prst="round2DiagRect">
            <a:avLst/>
          </a:prstGeom>
          <a:gradFill>
            <a:gsLst>
              <a:gs pos="0">
                <a:srgbClr val="009EA5">
                  <a:alpha val="100000"/>
                </a:srgbClr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8+ Scenario Massive Datasets</a:t>
            </a:r>
          </a:p>
        </p:txBody>
      </p:sp>
      <p:sp>
        <p:nvSpPr>
          <p:cNvPr id="43" name="矩形 42"/>
          <p:cNvSpPr/>
          <p:nvPr/>
        </p:nvSpPr>
        <p:spPr>
          <a:xfrm>
            <a:off x="6315075" y="3962400"/>
            <a:ext cx="5374640" cy="4425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Multi-Scenario Datasets – 12.6TB curated data across transportation, maritime, healthcare, public security, and construction scenarios.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10" y="4771390"/>
            <a:ext cx="3141818" cy="1440000"/>
          </a:xfrm>
          <a:prstGeom prst="rect">
            <a:avLst/>
          </a:prstGeom>
        </p:spPr>
      </p:pic>
      <p:sp>
        <p:nvSpPr>
          <p:cNvPr id="113" name="文本框 2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5135" y="6252845"/>
            <a:ext cx="340296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Tag-Based Data Asset Management &amp; Feature Retrieval</a:t>
            </a: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2640" y="4755515"/>
            <a:ext cx="3141818" cy="1440000"/>
          </a:xfrm>
          <a:prstGeom prst="rect">
            <a:avLst/>
          </a:prstGeom>
        </p:spPr>
      </p:pic>
      <p:sp>
        <p:nvSpPr>
          <p:cNvPr id="143" name="文本框 2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87240" y="6271260"/>
            <a:ext cx="3435985" cy="39814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Intelligent Pre-Labeling for Object Detection Models (Pedestrian/Vehicle/Non-Motorized, etc.)</a:t>
            </a:r>
          </a:p>
        </p:txBody>
      </p:sp>
      <p:sp>
        <p:nvSpPr>
          <p:cNvPr id="144" name="矩形 143"/>
          <p:cNvSpPr/>
          <p:nvPr/>
        </p:nvSpPr>
        <p:spPr>
          <a:xfrm>
            <a:off x="8407400" y="4683125"/>
            <a:ext cx="3282315" cy="1552575"/>
          </a:xfrm>
          <a:prstGeom prst="rect">
            <a:avLst/>
          </a:prstGeom>
          <a:solidFill>
            <a:srgbClr val="269EB6">
              <a:alpha val="21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5345" y="4745355"/>
            <a:ext cx="3141818" cy="1440000"/>
          </a:xfrm>
          <a:prstGeom prst="rect">
            <a:avLst/>
          </a:prstGeom>
        </p:spPr>
      </p:pic>
      <p:sp>
        <p:nvSpPr>
          <p:cNvPr id="155" name="文本框 2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655685" y="6252845"/>
            <a:ext cx="3389630" cy="44069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Intelligent Dataset Classification for AI Model Training</a:t>
            </a:r>
          </a:p>
        </p:txBody>
      </p:sp>
      <p:sp>
        <p:nvSpPr>
          <p:cNvPr id="31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01650" y="377702"/>
            <a:ext cx="8491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  – Data Management 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 10"/>
          <p:cNvSpPr/>
          <p:nvPr/>
        </p:nvSpPr>
        <p:spPr>
          <a:xfrm>
            <a:off x="3587115" y="920115"/>
            <a:ext cx="5018405" cy="5018405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6858000 w 6858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6858000" y="3429000"/>
                </a:moveTo>
                <a:cubicBezTo>
                  <a:pt x="6858000" y="5322785"/>
                  <a:pt x="5322785" y="6858000"/>
                  <a:pt x="3429000" y="6858000"/>
                </a:cubicBezTo>
                <a:cubicBezTo>
                  <a:pt x="1535216" y="6858000"/>
                  <a:pt x="0" y="5322785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ubicBezTo>
                  <a:pt x="5322785" y="0"/>
                  <a:pt x="6858000" y="1535216"/>
                  <a:pt x="6858000" y="34290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9000"/>
                </a:schemeClr>
              </a:gs>
              <a:gs pos="100000">
                <a:schemeClr val="bg1">
                  <a:alpha val="9000"/>
                </a:schemeClr>
              </a:gs>
              <a:gs pos="51000">
                <a:schemeClr val="bg1">
                  <a:alpha val="56000"/>
                </a:schemeClr>
              </a:gs>
            </a:gsLst>
            <a:lin ang="5400000" scaled="1"/>
          </a:gradFill>
          <a:ln w="86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379" y="837536"/>
            <a:ext cx="1168100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Automated &amp; Visualized Model Training, Tuning, and Evaluation System – Accelerates AI model iteration and optimization.</a:t>
            </a:r>
          </a:p>
        </p:txBody>
      </p:sp>
      <p:sp>
        <p:nvSpPr>
          <p:cNvPr id="3" name="矩形 2"/>
          <p:cNvSpPr/>
          <p:nvPr/>
        </p:nvSpPr>
        <p:spPr>
          <a:xfrm>
            <a:off x="4535805" y="4692015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2440" y="4697730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对角圆角矩形 4"/>
          <p:cNvSpPr/>
          <p:nvPr>
            <p:custDataLst>
              <p:tags r:id="rId1"/>
            </p:custDataLst>
          </p:nvPr>
        </p:nvSpPr>
        <p:spPr>
          <a:xfrm>
            <a:off x="6304915" y="1507490"/>
            <a:ext cx="237109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5+ Pre-Trained Model Frameworks</a:t>
            </a:r>
          </a:p>
        </p:txBody>
      </p:sp>
      <p:sp>
        <p:nvSpPr>
          <p:cNvPr id="87" name="矩形 86"/>
          <p:cNvSpPr/>
          <p:nvPr/>
        </p:nvSpPr>
        <p:spPr>
          <a:xfrm>
            <a:off x="6315075" y="1944370"/>
            <a:ext cx="5466080" cy="3962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Multi-Framework Pre-Trained Model Support – Compatible with TensorFlow, PyTorch, PaddlePaddle, and other major frameworks.</a:t>
            </a:r>
          </a:p>
        </p:txBody>
      </p:sp>
      <p:sp>
        <p:nvSpPr>
          <p:cNvPr id="88" name="对角圆角矩形 87"/>
          <p:cNvSpPr/>
          <p:nvPr>
            <p:custDataLst>
              <p:tags r:id="rId2"/>
            </p:custDataLst>
          </p:nvPr>
        </p:nvSpPr>
        <p:spPr>
          <a:xfrm>
            <a:off x="6304915" y="2471420"/>
            <a:ext cx="237109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Training Visualization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99" name="矩形 98"/>
          <p:cNvSpPr/>
          <p:nvPr/>
        </p:nvSpPr>
        <p:spPr>
          <a:xfrm>
            <a:off x="6315075" y="2884805"/>
            <a:ext cx="5466080" cy="5270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"Zero-Code" Visual Model Training – 50%+ efficiency boost with full-process monitoring for metrics, compute utilization, and logs.</a:t>
            </a:r>
          </a:p>
        </p:txBody>
      </p:sp>
      <p:sp>
        <p:nvSpPr>
          <p:cNvPr id="101" name="对角圆角矩形 100"/>
          <p:cNvSpPr/>
          <p:nvPr>
            <p:custDataLst>
              <p:tags r:id="rId3"/>
            </p:custDataLst>
          </p:nvPr>
        </p:nvSpPr>
        <p:spPr>
          <a:xfrm>
            <a:off x="6304915" y="3525520"/>
            <a:ext cx="237109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 Lifecycle Management (MLM)</a:t>
            </a:r>
          </a:p>
        </p:txBody>
      </p:sp>
      <p:sp>
        <p:nvSpPr>
          <p:cNvPr id="102" name="矩形 101"/>
          <p:cNvSpPr/>
          <p:nvPr/>
        </p:nvSpPr>
        <p:spPr>
          <a:xfrm>
            <a:off x="6315075" y="3962400"/>
            <a:ext cx="5466715" cy="4425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End-to-End Model Lifecycle Management – Unified governance covering training, tuning, validation, and release.</a:t>
            </a:r>
          </a:p>
        </p:txBody>
      </p:sp>
      <p:sp>
        <p:nvSpPr>
          <p:cNvPr id="7" name="文本框 2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6240" y="6212840"/>
            <a:ext cx="380746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Real-Time Model Training Metrics Dashboard – Monitor accuracy, detection rate, and mAP with live updates.</a:t>
            </a:r>
          </a:p>
        </p:txBody>
      </p:sp>
      <p:sp>
        <p:nvSpPr>
          <p:cNvPr id="15" name="文本框 2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06620" y="6212840"/>
            <a:ext cx="3432810" cy="43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Multi-Model Tuning Comparison – Automated benchmarking to recommend optimal models.</a:t>
            </a:r>
          </a:p>
        </p:txBody>
      </p:sp>
      <p:sp>
        <p:nvSpPr>
          <p:cNvPr id="21" name="矩形 20"/>
          <p:cNvSpPr/>
          <p:nvPr/>
        </p:nvSpPr>
        <p:spPr>
          <a:xfrm>
            <a:off x="8407400" y="4671695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642350" y="6212840"/>
            <a:ext cx="3406775" cy="44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Model Version Control &amp; Provenance Tracking – Full lifecycle auditability for AI assets.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48" y="1479550"/>
            <a:ext cx="5672277" cy="290512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290" y="4751705"/>
            <a:ext cx="3141818" cy="1440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9145" y="4733925"/>
            <a:ext cx="3141818" cy="1440000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0" y="4733925"/>
            <a:ext cx="3141818" cy="1440000"/>
          </a:xfrm>
          <a:prstGeom prst="rect">
            <a:avLst/>
          </a:prstGeom>
        </p:spPr>
      </p:pic>
      <p:sp>
        <p:nvSpPr>
          <p:cNvPr id="31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01650" y="377702"/>
            <a:ext cx="7604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 – Model Factory 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 10"/>
          <p:cNvSpPr/>
          <p:nvPr/>
        </p:nvSpPr>
        <p:spPr>
          <a:xfrm>
            <a:off x="3587115" y="920115"/>
            <a:ext cx="5018405" cy="5018405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6858000 w 6858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6858000" y="3429000"/>
                </a:moveTo>
                <a:cubicBezTo>
                  <a:pt x="6858000" y="5322785"/>
                  <a:pt x="5322785" y="6858000"/>
                  <a:pt x="3429000" y="6858000"/>
                </a:cubicBezTo>
                <a:cubicBezTo>
                  <a:pt x="1535216" y="6858000"/>
                  <a:pt x="0" y="5322785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ubicBezTo>
                  <a:pt x="5322785" y="0"/>
                  <a:pt x="6858000" y="1535216"/>
                  <a:pt x="6858000" y="34290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9000"/>
                </a:schemeClr>
              </a:gs>
              <a:gs pos="100000">
                <a:schemeClr val="bg1">
                  <a:alpha val="9000"/>
                </a:schemeClr>
              </a:gs>
              <a:gs pos="51000">
                <a:schemeClr val="bg1">
                  <a:alpha val="56000"/>
                </a:schemeClr>
              </a:gs>
            </a:gsLst>
            <a:lin ang="5400000" scaled="1"/>
          </a:gradFill>
          <a:ln w="86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379" y="837536"/>
            <a:ext cx="1168100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Focus on engine tuning and deployment to enhance AI application efficiency, stability, and cost-effectiveness.</a:t>
            </a:r>
          </a:p>
        </p:txBody>
      </p:sp>
      <p:sp>
        <p:nvSpPr>
          <p:cNvPr id="124" name="矩形 123"/>
          <p:cNvSpPr/>
          <p:nvPr/>
        </p:nvSpPr>
        <p:spPr>
          <a:xfrm>
            <a:off x="4535805" y="4657725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72440" y="4663440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对角圆角矩形 8"/>
          <p:cNvSpPr/>
          <p:nvPr>
            <p:custDataLst>
              <p:tags r:id="rId1"/>
            </p:custDataLst>
          </p:nvPr>
        </p:nvSpPr>
        <p:spPr>
          <a:xfrm>
            <a:off x="6304915" y="1507490"/>
            <a:ext cx="237998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Multi-device Heterogeneous Adaptation</a:t>
            </a: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6315075" y="1944370"/>
            <a:ext cx="5466080" cy="3962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Comprehensive Hardware Support: NVIDIA T4/A10, Huawei Ascend,Cambricon MLUs,Intel Habana,AMD Instinct</a:t>
            </a:r>
          </a:p>
        </p:txBody>
      </p:sp>
      <p:sp>
        <p:nvSpPr>
          <p:cNvPr id="11" name="对角圆角矩形 10"/>
          <p:cNvSpPr/>
          <p:nvPr>
            <p:custDataLst>
              <p:tags r:id="rId3"/>
            </p:custDataLst>
          </p:nvPr>
        </p:nvSpPr>
        <p:spPr>
          <a:xfrm>
            <a:off x="6313805" y="2524760"/>
            <a:ext cx="237109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Engine Packaging &amp; Management</a:t>
            </a: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6315075" y="2938145"/>
            <a:ext cx="5466080" cy="4229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 Packaging SDK - Enable one-click deployment and 80% faster operational efficiency.</a:t>
            </a:r>
          </a:p>
        </p:txBody>
      </p:sp>
      <p:sp>
        <p:nvSpPr>
          <p:cNvPr id="27" name="对角圆角矩形 26"/>
          <p:cNvSpPr/>
          <p:nvPr>
            <p:custDataLst>
              <p:tags r:id="rId5"/>
            </p:custDataLst>
          </p:nvPr>
        </p:nvSpPr>
        <p:spPr>
          <a:xfrm>
            <a:off x="6304915" y="3525520"/>
            <a:ext cx="2371090" cy="436880"/>
          </a:xfrm>
          <a:prstGeom prst="round2DiagRect">
            <a:avLst/>
          </a:prstGeom>
          <a:gradFill>
            <a:gsLst>
              <a:gs pos="0">
                <a:srgbClr val="009EA5"/>
              </a:gs>
              <a:gs pos="50000">
                <a:srgbClr val="007DA7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Product Launch</a:t>
            </a:r>
          </a:p>
        </p:txBody>
      </p:sp>
      <p:sp>
        <p:nvSpPr>
          <p:cNvPr id="28" name="矩形 27"/>
          <p:cNvSpPr/>
          <p:nvPr>
            <p:custDataLst>
              <p:tags r:id="rId6"/>
            </p:custDataLst>
          </p:nvPr>
        </p:nvSpPr>
        <p:spPr>
          <a:xfrm>
            <a:off x="6315075" y="3962400"/>
            <a:ext cx="5466715" cy="4425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89CA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Delivered 170+ AI algorithms deployed across 10+ cities including Qingdao, Zhenjiang, and Chengdu.</a:t>
            </a:r>
          </a:p>
        </p:txBody>
      </p:sp>
      <p:sp>
        <p:nvSpPr>
          <p:cNvPr id="113" name="文本框 2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57200" y="6195695"/>
            <a:ext cx="340296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4+ Engine Tools – Ready for one-click download and immediate use.</a:t>
            </a:r>
          </a:p>
        </p:txBody>
      </p:sp>
      <p:sp>
        <p:nvSpPr>
          <p:cNvPr id="143" name="文本框 2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28820" y="6207125"/>
            <a:ext cx="3487420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Complete Offline Testing Protocol – Mandatory validation before product release.</a:t>
            </a:r>
          </a:p>
        </p:txBody>
      </p:sp>
      <p:sp>
        <p:nvSpPr>
          <p:cNvPr id="144" name="矩形 143"/>
          <p:cNvSpPr/>
          <p:nvPr/>
        </p:nvSpPr>
        <p:spPr>
          <a:xfrm>
            <a:off x="8407400" y="4671695"/>
            <a:ext cx="3282315" cy="1552575"/>
          </a:xfrm>
          <a:prstGeom prst="rect">
            <a:avLst/>
          </a:prstGeom>
          <a:solidFill>
            <a:srgbClr val="269EB6">
              <a:alpha val="20000"/>
            </a:srgbClr>
          </a:solidFill>
          <a:ln>
            <a:solidFill>
              <a:srgbClr val="269E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文本框 2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374380" y="6222365"/>
            <a:ext cx="3402965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Multi-Hardware Engine Adaptation – Supports one-click packaging and deployment.</a:t>
            </a: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245" y="1507490"/>
            <a:ext cx="5564505" cy="2879725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3600" y="4733925"/>
            <a:ext cx="3141818" cy="144000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430" y="4732020"/>
            <a:ext cx="3181985" cy="144018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2800" y="4732020"/>
            <a:ext cx="3141818" cy="1440000"/>
          </a:xfrm>
          <a:prstGeom prst="rect">
            <a:avLst/>
          </a:prstGeom>
        </p:spPr>
      </p:pic>
      <p:sp>
        <p:nvSpPr>
          <p:cNvPr id="31" name="图形 16"/>
          <p:cNvSpPr/>
          <p:nvPr/>
        </p:nvSpPr>
        <p:spPr>
          <a:xfrm>
            <a:off x="471348" y="413385"/>
            <a:ext cx="202546" cy="208121"/>
          </a:xfrm>
          <a:custGeom>
            <a:avLst/>
            <a:gdLst>
              <a:gd name="connsiteX0" fmla="*/ 0 w 304800"/>
              <a:gd name="connsiteY0" fmla="*/ 0 h 304800"/>
              <a:gd name="connsiteX1" fmla="*/ 304800 w 304800"/>
              <a:gd name="connsiteY1" fmla="*/ 0 h 304800"/>
              <a:gd name="connsiteX2" fmla="*/ 304800 w 304800"/>
              <a:gd name="connsiteY2" fmla="*/ 304800 h 304800"/>
              <a:gd name="connsiteX3" fmla="*/ 0 w 304800"/>
              <a:gd name="connsiteY3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26000">
                <a:srgbClr val="0799A6"/>
              </a:gs>
              <a:gs pos="100000">
                <a:srgbClr val="E2E6F2">
                  <a:alpha val="42000"/>
                </a:srgbClr>
              </a:gs>
            </a:gsLst>
            <a:lin ang="36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01650" y="377702"/>
            <a:ext cx="8370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AI Capability Center – Engineering Engine Module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rgbClr val="089CA3"/>
            </a:gs>
            <a:gs pos="73000">
              <a:srgbClr val="0076A3"/>
            </a:gs>
            <a:gs pos="100000">
              <a:srgbClr val="004E6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148" y="4403437"/>
            <a:ext cx="5004000" cy="334363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64" y="2742814"/>
            <a:ext cx="1116000" cy="111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2.839055118110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90.253464566929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03.66259842519685,&quot;left&quot;:37.44653543307086,&quot;top&quot;:17.08740157480315,&quot;width&quot;:877.4034645669292}"/>
</p:tagLst>
</file>

<file path=ppt/theme/theme1.xml><?xml version="1.0" encoding="utf-8"?>
<a:theme xmlns:a="http://schemas.openxmlformats.org/drawingml/2006/main" name="1_Office 主题​​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prstClr val="black"/>
            </a:solidFill>
            <a:latin typeface="Calibri" panose="020F0502020204030204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宽屏</PresentationFormat>
  <Paragraphs>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Microsoft YaHei Bold</vt:lpstr>
      <vt:lpstr>等线</vt:lpstr>
      <vt:lpstr>微软雅黑</vt:lpstr>
      <vt:lpstr>微软雅黑 Light</vt:lpstr>
      <vt:lpstr>Arial</vt:lpstr>
      <vt:lpstr>Calibri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</dc:creator>
  <cp:lastModifiedBy>J</cp:lastModifiedBy>
  <cp:revision>1</cp:revision>
  <dcterms:created xsi:type="dcterms:W3CDTF">2025-11-12T10:48:43Z</dcterms:created>
  <dcterms:modified xsi:type="dcterms:W3CDTF">2025-11-12T10:49:10Z</dcterms:modified>
</cp:coreProperties>
</file>