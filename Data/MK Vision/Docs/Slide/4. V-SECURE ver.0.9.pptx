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66" r:id="rId2"/>
    <p:sldId id="264" r:id="rId3"/>
    <p:sldId id="267" r:id="rId4"/>
    <p:sldId id="269" r:id="rId5"/>
    <p:sldId id="270" r:id="rId6"/>
    <p:sldId id="271" r:id="rId7"/>
    <p:sldId id="265" r:id="rId8"/>
    <p:sldId id="272" r:id="rId9"/>
    <p:sldId id="296" r:id="rId10"/>
    <p:sldId id="273" r:id="rId11"/>
    <p:sldId id="288" r:id="rId12"/>
    <p:sldId id="274" r:id="rId13"/>
    <p:sldId id="297" r:id="rId14"/>
    <p:sldId id="275" r:id="rId15"/>
    <p:sldId id="298" r:id="rId16"/>
    <p:sldId id="268" r:id="rId17"/>
    <p:sldId id="299" r:id="rId18"/>
    <p:sldId id="277" r:id="rId19"/>
    <p:sldId id="300" r:id="rId20"/>
    <p:sldId id="281" r:id="rId21"/>
    <p:sldId id="301" r:id="rId22"/>
    <p:sldId id="278" r:id="rId23"/>
    <p:sldId id="279" r:id="rId24"/>
    <p:sldId id="261"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E8210A-EA7E-4055-9998-4603E635A7AB}" v="80" dt="2025-11-18T09:43:58.523"/>
    <p1510:client id="{D6FC0B28-58FD-7A05-3CAA-4AB3F3F15999}" v="1" dt="2025-11-18T04:30:46.1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8DE268-E46B-495D-BF04-55E65BE3FBC6}" type="datetimeFigureOut">
              <a:rPr lang="en-US" smtClean="0"/>
              <a:t>18/11/2025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6CE55-DE56-4266-8338-8B13E57D6C5B}" type="slidenum">
              <a:rPr lang="en-US" smtClean="0"/>
              <a:t>‹#›</a:t>
            </a:fld>
            <a:endParaRPr lang="en-US"/>
          </a:p>
        </p:txBody>
      </p:sp>
    </p:spTree>
    <p:extLst>
      <p:ext uri="{BB962C8B-B14F-4D97-AF65-F5344CB8AC3E}">
        <p14:creationId xmlns:p14="http://schemas.microsoft.com/office/powerpoint/2010/main" val="683515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6CE55-DE56-4266-8338-8B13E57D6C5B}" type="slidenum">
              <a:rPr lang="en-US" smtClean="0"/>
              <a:t>2</a:t>
            </a:fld>
            <a:endParaRPr lang="en-US"/>
          </a:p>
        </p:txBody>
      </p:sp>
    </p:spTree>
    <p:extLst>
      <p:ext uri="{BB962C8B-B14F-4D97-AF65-F5344CB8AC3E}">
        <p14:creationId xmlns:p14="http://schemas.microsoft.com/office/powerpoint/2010/main" val="3073259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F56CE55-DE56-4266-8338-8B13E57D6C5B}" type="slidenum">
              <a:rPr lang="en-US" smtClean="0"/>
              <a:t>3</a:t>
            </a:fld>
            <a:endParaRPr lang="en-US"/>
          </a:p>
        </p:txBody>
      </p:sp>
    </p:spTree>
    <p:extLst>
      <p:ext uri="{BB962C8B-B14F-4D97-AF65-F5344CB8AC3E}">
        <p14:creationId xmlns:p14="http://schemas.microsoft.com/office/powerpoint/2010/main" val="1232076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1EEE8-380B-9B52-AD55-E17752D11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AA0BF-A14B-ACC0-22DF-1844409AA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25D87-72DF-DAC7-4FFC-8676602839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17144C-DDD3-71C8-C66C-9FB64A88969B}"/>
              </a:ext>
            </a:extLst>
          </p:cNvPr>
          <p:cNvSpPr>
            <a:spLocks noGrp="1"/>
          </p:cNvSpPr>
          <p:nvPr>
            <p:ph type="sldNum" sz="quarter" idx="5"/>
          </p:nvPr>
        </p:nvSpPr>
        <p:spPr/>
        <p:txBody>
          <a:bodyPr/>
          <a:lstStyle/>
          <a:p>
            <a:fld id="{AF56CE55-DE56-4266-8338-8B13E57D6C5B}" type="slidenum">
              <a:rPr lang="en-US" smtClean="0"/>
              <a:t>4</a:t>
            </a:fld>
            <a:endParaRPr lang="en-US"/>
          </a:p>
        </p:txBody>
      </p:sp>
    </p:spTree>
    <p:extLst>
      <p:ext uri="{BB962C8B-B14F-4D97-AF65-F5344CB8AC3E}">
        <p14:creationId xmlns:p14="http://schemas.microsoft.com/office/powerpoint/2010/main" val="3695786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EC21-7165-DA75-7F97-0FE08CB7A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CCCD0-EC19-884C-0AB9-F6327B7EB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0CDAA-DF3A-D3A6-CC2C-08E3C5D9A6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A4CE98-ABB8-E78C-D19B-B16E61EA9A73}"/>
              </a:ext>
            </a:extLst>
          </p:cNvPr>
          <p:cNvSpPr>
            <a:spLocks noGrp="1"/>
          </p:cNvSpPr>
          <p:nvPr>
            <p:ph type="sldNum" sz="quarter" idx="5"/>
          </p:nvPr>
        </p:nvSpPr>
        <p:spPr/>
        <p:txBody>
          <a:bodyPr/>
          <a:lstStyle/>
          <a:p>
            <a:fld id="{AF56CE55-DE56-4266-8338-8B13E57D6C5B}" type="slidenum">
              <a:rPr lang="en-US" smtClean="0"/>
              <a:t>5</a:t>
            </a:fld>
            <a:endParaRPr lang="en-US"/>
          </a:p>
        </p:txBody>
      </p:sp>
    </p:spTree>
    <p:extLst>
      <p:ext uri="{BB962C8B-B14F-4D97-AF65-F5344CB8AC3E}">
        <p14:creationId xmlns:p14="http://schemas.microsoft.com/office/powerpoint/2010/main" val="1564443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4A4A9-A680-2817-14D1-3B23B9A94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ACC4C-129D-E7CE-1AFA-2D1BE9D81F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E2409D-BFAC-7421-7243-C7123A6243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EBF4FF-B916-ED61-48F7-1EF07AEF8E5B}"/>
              </a:ext>
            </a:extLst>
          </p:cNvPr>
          <p:cNvSpPr>
            <a:spLocks noGrp="1"/>
          </p:cNvSpPr>
          <p:nvPr>
            <p:ph type="sldNum" sz="quarter" idx="5"/>
          </p:nvPr>
        </p:nvSpPr>
        <p:spPr/>
        <p:txBody>
          <a:bodyPr/>
          <a:lstStyle/>
          <a:p>
            <a:fld id="{AF56CE55-DE56-4266-8338-8B13E57D6C5B}" type="slidenum">
              <a:rPr lang="en-US" smtClean="0"/>
              <a:t>6</a:t>
            </a:fld>
            <a:endParaRPr lang="en-US"/>
          </a:p>
        </p:txBody>
      </p:sp>
    </p:spTree>
    <p:extLst>
      <p:ext uri="{BB962C8B-B14F-4D97-AF65-F5344CB8AC3E}">
        <p14:creationId xmlns:p14="http://schemas.microsoft.com/office/powerpoint/2010/main" val="3480698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6CE55-DE56-4266-8338-8B13E57D6C5B}" type="slidenum">
              <a:rPr lang="en-US" smtClean="0"/>
              <a:t>9</a:t>
            </a:fld>
            <a:endParaRPr lang="en-US"/>
          </a:p>
        </p:txBody>
      </p:sp>
    </p:spTree>
    <p:extLst>
      <p:ext uri="{BB962C8B-B14F-4D97-AF65-F5344CB8AC3E}">
        <p14:creationId xmlns:p14="http://schemas.microsoft.com/office/powerpoint/2010/main" val="2102670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55466-0E3F-78AE-B84E-CE8F25185A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A1E493-18CC-A6DB-F526-7CDA5D0F72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3C5354-80B0-C25F-8264-D419921D263D}"/>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5" name="Footer Placeholder 4">
            <a:extLst>
              <a:ext uri="{FF2B5EF4-FFF2-40B4-BE49-F238E27FC236}">
                <a16:creationId xmlns:a16="http://schemas.microsoft.com/office/drawing/2014/main" id="{8DC014C2-3E3A-DE7D-2256-D2A9E1947B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A9CFED-411B-2298-B6B8-501BBF42CFC1}"/>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84728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9DF5F-67B6-1D00-ACE9-2CC374738F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72D73-4A4C-7BB5-44FF-8047CD4281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DA70E-B469-6CD5-6453-718CF1CBF069}"/>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5" name="Footer Placeholder 4">
            <a:extLst>
              <a:ext uri="{FF2B5EF4-FFF2-40B4-BE49-F238E27FC236}">
                <a16:creationId xmlns:a16="http://schemas.microsoft.com/office/drawing/2014/main" id="{DAC8697B-CB4E-3A83-8D6D-C87AEDDE1C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07124-FC76-C53D-D402-2B7C8E7DC351}"/>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2683808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1CDE0-C75C-3E50-5D9E-FE55C56514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984D9C-18B6-9746-1521-C3896C6A74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7740C0-6337-84A8-53F6-217E7E4AF18C}"/>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5" name="Footer Placeholder 4">
            <a:extLst>
              <a:ext uri="{FF2B5EF4-FFF2-40B4-BE49-F238E27FC236}">
                <a16:creationId xmlns:a16="http://schemas.microsoft.com/office/drawing/2014/main" id="{C8C9A648-004D-AE55-276D-680C3280DC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11CB77-71FC-38C9-C58E-7168035DBED7}"/>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764862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5805F-C476-AF8F-4223-C190541D73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E5FB40-F670-328B-17B3-8E0581AF44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061958-A742-FF6C-1391-C8BD027DCE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599FDD-4817-3D8F-D4A3-51A61F09C7F0}"/>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6" name="Footer Placeholder 5">
            <a:extLst>
              <a:ext uri="{FF2B5EF4-FFF2-40B4-BE49-F238E27FC236}">
                <a16:creationId xmlns:a16="http://schemas.microsoft.com/office/drawing/2014/main" id="{5951E391-11A7-C150-3614-9CCCA494C3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CA07ED-D2D6-EE40-9B98-04D8516D4BF8}"/>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3630889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B24E0-67CC-8290-7B5F-7422DCDEFE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90361E-34DB-BE8D-DD59-67822191E4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79DBE9-B42F-51A7-F5F5-B24C253C62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62E507-D23A-18D1-066F-5AF6005E41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57642B-B9E9-8DE3-C223-CCCF900215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D4D82B-371A-2EA3-831B-CF7C8BF302B3}"/>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8" name="Footer Placeholder 7">
            <a:extLst>
              <a:ext uri="{FF2B5EF4-FFF2-40B4-BE49-F238E27FC236}">
                <a16:creationId xmlns:a16="http://schemas.microsoft.com/office/drawing/2014/main" id="{1B55E9E8-4A16-B77D-5E67-0D99F18F27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016D50-032A-175E-7550-A98E314BB79C}"/>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2526309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C17C-08A1-9B08-4A50-CF3BF8A9F0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D3299F-F293-90FC-95DA-4E3977C0130C}"/>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4" name="Footer Placeholder 3">
            <a:extLst>
              <a:ext uri="{FF2B5EF4-FFF2-40B4-BE49-F238E27FC236}">
                <a16:creationId xmlns:a16="http://schemas.microsoft.com/office/drawing/2014/main" id="{F2FB2E8B-25D7-9A96-A792-39EAD2995E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3788BA-C922-71AE-EA96-4533BF1E8FE1}"/>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214070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48E5D5-BD21-DA04-53B7-211E2F00AA1D}"/>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3" name="Footer Placeholder 2">
            <a:extLst>
              <a:ext uri="{FF2B5EF4-FFF2-40B4-BE49-F238E27FC236}">
                <a16:creationId xmlns:a16="http://schemas.microsoft.com/office/drawing/2014/main" id="{57D38AFF-B0FD-11CC-4A41-75E84BFF84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6F8A90-06A2-2BA4-2032-ED71F45D7095}"/>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2600513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3057-073B-5710-EE81-8DD0111AE4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0B6374-BFBF-83E1-7ADD-0E20420555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623826-00F9-2EC6-6BF0-0626AAD3E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087B9A-BE47-7259-AE6E-526601A3CB78}"/>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6" name="Footer Placeholder 5">
            <a:extLst>
              <a:ext uri="{FF2B5EF4-FFF2-40B4-BE49-F238E27FC236}">
                <a16:creationId xmlns:a16="http://schemas.microsoft.com/office/drawing/2014/main" id="{BF97D618-201B-16C5-1124-CCBF008714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26356C-FA49-D446-E46B-1AA42BB1C720}"/>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300094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052A7-D345-495A-7DA3-B0637B35E6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3D2435-4BAF-2115-7EE1-33237392C2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8DFA81-33F2-3AA4-631E-BB2C708A9F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712E1-BCC0-B56F-BE64-C7C2AC7419A4}"/>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6" name="Footer Placeholder 5">
            <a:extLst>
              <a:ext uri="{FF2B5EF4-FFF2-40B4-BE49-F238E27FC236}">
                <a16:creationId xmlns:a16="http://schemas.microsoft.com/office/drawing/2014/main" id="{6A93C7B6-9F8F-A848-0BF5-9AE79F944C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5CD60A-C875-652B-4A32-0B7B658E8443}"/>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366454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53476-F853-B014-2861-21F58CB4A0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0571AC-73F1-F495-D07F-CDA5261D05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3BC39A-F8CD-D278-1001-2A2CB870863A}"/>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5" name="Footer Placeholder 4">
            <a:extLst>
              <a:ext uri="{FF2B5EF4-FFF2-40B4-BE49-F238E27FC236}">
                <a16:creationId xmlns:a16="http://schemas.microsoft.com/office/drawing/2014/main" id="{5F01CF23-76A5-31D3-17F2-9387F30185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215B3-65FC-5845-FF15-4D94C562A362}"/>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3381066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CCF042-1F37-434B-1993-F67A21D585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778C10-10CE-34A5-DE74-1119A8CFF7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ADFD38-E0B5-AC9D-C907-FB960ACE120B}"/>
              </a:ext>
            </a:extLst>
          </p:cNvPr>
          <p:cNvSpPr>
            <a:spLocks noGrp="1"/>
          </p:cNvSpPr>
          <p:nvPr>
            <p:ph type="dt" sz="half" idx="10"/>
          </p:nvPr>
        </p:nvSpPr>
        <p:spPr/>
        <p:txBody>
          <a:bodyPr/>
          <a:lstStyle/>
          <a:p>
            <a:fld id="{8B927FB2-EFAB-43E6-B023-E80B46F26B08}" type="datetimeFigureOut">
              <a:rPr lang="en-US" smtClean="0"/>
              <a:t>18/11/2025</a:t>
            </a:fld>
            <a:endParaRPr lang="en-US"/>
          </a:p>
        </p:txBody>
      </p:sp>
      <p:sp>
        <p:nvSpPr>
          <p:cNvPr id="5" name="Footer Placeholder 4">
            <a:extLst>
              <a:ext uri="{FF2B5EF4-FFF2-40B4-BE49-F238E27FC236}">
                <a16:creationId xmlns:a16="http://schemas.microsoft.com/office/drawing/2014/main" id="{B4394884-CB23-EA4B-D2DB-92A836D92D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3A4ADA-0F30-DDEA-A93D-55AB6584256B}"/>
              </a:ext>
            </a:extLst>
          </p:cNvPr>
          <p:cNvSpPr>
            <a:spLocks noGrp="1"/>
          </p:cNvSpPr>
          <p:nvPr>
            <p:ph type="sldNum" sz="quarter" idx="12"/>
          </p:nvPr>
        </p:nvSpPr>
        <p:spPr/>
        <p:txBody>
          <a:bodyPr/>
          <a:lstStyle/>
          <a:p>
            <a:fld id="{317E1008-1CFE-49BC-B81B-AA69B38A8851}" type="slidenum">
              <a:rPr lang="en-US" smtClean="0"/>
              <a:t>‹#›</a:t>
            </a:fld>
            <a:endParaRPr lang="en-US"/>
          </a:p>
        </p:txBody>
      </p:sp>
    </p:spTree>
    <p:extLst>
      <p:ext uri="{BB962C8B-B14F-4D97-AF65-F5344CB8AC3E}">
        <p14:creationId xmlns:p14="http://schemas.microsoft.com/office/powerpoint/2010/main" val="2120600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F0C301-C34A-1F76-AFA6-A81EEF70EA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E05F2D-6050-5A49-08EB-95E15D388D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3DD6A3-AC80-A94D-148E-8B12C25944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927FB2-EFAB-43E6-B023-E80B46F26B08}" type="datetimeFigureOut">
              <a:rPr lang="en-US" smtClean="0"/>
              <a:t>18/11/2025</a:t>
            </a:fld>
            <a:endParaRPr lang="en-US"/>
          </a:p>
        </p:txBody>
      </p:sp>
      <p:sp>
        <p:nvSpPr>
          <p:cNvPr id="5" name="Footer Placeholder 4">
            <a:extLst>
              <a:ext uri="{FF2B5EF4-FFF2-40B4-BE49-F238E27FC236}">
                <a16:creationId xmlns:a16="http://schemas.microsoft.com/office/drawing/2014/main" id="{E446FEE9-C676-D5BB-31F3-295527370F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A2E755-930A-7DA1-CCF3-E9AF10E6C6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7E1008-1CFE-49BC-B81B-AA69B38A8851}" type="slidenum">
              <a:rPr lang="en-US" smtClean="0"/>
              <a:t>‹#›</a:t>
            </a:fld>
            <a:endParaRPr lang="en-US"/>
          </a:p>
        </p:txBody>
      </p:sp>
    </p:spTree>
    <p:extLst>
      <p:ext uri="{BB962C8B-B14F-4D97-AF65-F5344CB8AC3E}">
        <p14:creationId xmlns:p14="http://schemas.microsoft.com/office/powerpoint/2010/main" val="1301001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hyperlink" Target="https://thuvienphapluat.vn/van-ban/Dau-tu/Nghi-dinh-214-2025-ND-CP-huong-dan-Luat-Dau-thau-ve-lua-chon-nha-thau-668157.aspx?anchor=dieu_10"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61" name="Rectangle 5160">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2" name="Rectangle 5161">
            <a:extLst>
              <a:ext uri="{FF2B5EF4-FFF2-40B4-BE49-F238E27FC236}">
                <a16:creationId xmlns:a16="http://schemas.microsoft.com/office/drawing/2014/main" id="{2F36CA75-CFBF-4844-B719-8FE9EBADA9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3" name="Rectangle 5162">
            <a:extLst>
              <a:ext uri="{FF2B5EF4-FFF2-40B4-BE49-F238E27FC236}">
                <a16:creationId xmlns:a16="http://schemas.microsoft.com/office/drawing/2014/main" id="{3D4A84B9-E564-4DD0-97F8-DBF1C460C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4" name="Rectangle 5163">
            <a:extLst>
              <a:ext uri="{FF2B5EF4-FFF2-40B4-BE49-F238E27FC236}">
                <a16:creationId xmlns:a16="http://schemas.microsoft.com/office/drawing/2014/main" id="{102382E0-0A09-46AE-B955-B911CAFE7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5" name="Rectangle 5164">
            <a:extLst>
              <a:ext uri="{FF2B5EF4-FFF2-40B4-BE49-F238E27FC236}">
                <a16:creationId xmlns:a16="http://schemas.microsoft.com/office/drawing/2014/main" id="{7DE75D4A-0965-4973-BE75-DECCAC9A9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166" name="Picture 5165">
            <a:extLst>
              <a:ext uri="{FF2B5EF4-FFF2-40B4-BE49-F238E27FC236}">
                <a16:creationId xmlns:a16="http://schemas.microsoft.com/office/drawing/2014/main" id="{4A599609-F5C2-4A0B-A992-913F814A63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40000"/>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pic>
        <p:nvPicPr>
          <p:cNvPr id="5122" name="Picture 2" descr="A close-up of a camera&#10;&#10;AI-generated content may be incorrect.">
            <a:extLst>
              <a:ext uri="{FF2B5EF4-FFF2-40B4-BE49-F238E27FC236}">
                <a16:creationId xmlns:a16="http://schemas.microsoft.com/office/drawing/2014/main" id="{5A8619C4-B862-E8DF-E6A7-F7C90C346935}"/>
              </a:ext>
            </a:extLst>
          </p:cNvPr>
          <p:cNvPicPr>
            <a:picLocks noChangeAspect="1" noChangeArrowheads="1"/>
          </p:cNvPicPr>
          <p:nvPr/>
        </p:nvPicPr>
        <p:blipFill>
          <a:blip r:embed="rId3">
            <a:alphaModFix amt="60000"/>
            <a:extLst>
              <a:ext uri="{28A0092B-C50C-407E-A947-70E740481C1C}">
                <a14:useLocalDpi xmlns:a14="http://schemas.microsoft.com/office/drawing/2010/main" val="0"/>
              </a:ext>
            </a:extLst>
          </a:blip>
          <a:srcRect l="23622" r="17122"/>
          <a:stretch>
            <a:fillRect/>
          </a:stretch>
        </p:blipFill>
        <p:spPr bwMode="auto">
          <a:xfrm>
            <a:off x="0" y="10"/>
            <a:ext cx="4063768" cy="6857990"/>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A close-up of a camera&#10;&#10;AI-generated content may be incorrect.">
            <a:extLst>
              <a:ext uri="{FF2B5EF4-FFF2-40B4-BE49-F238E27FC236}">
                <a16:creationId xmlns:a16="http://schemas.microsoft.com/office/drawing/2014/main" id="{D9909555-A50B-722A-DE83-576D30091713}"/>
              </a:ext>
            </a:extLst>
          </p:cNvPr>
          <p:cNvPicPr>
            <a:picLocks noChangeAspect="1" noChangeArrowheads="1"/>
          </p:cNvPicPr>
          <p:nvPr/>
        </p:nvPicPr>
        <p:blipFill>
          <a:blip r:embed="rId4">
            <a:alphaModFix amt="60000"/>
            <a:extLst>
              <a:ext uri="{28A0092B-C50C-407E-A947-70E740481C1C}">
                <a14:useLocalDpi xmlns:a14="http://schemas.microsoft.com/office/drawing/2010/main" val="0"/>
              </a:ext>
            </a:extLst>
          </a:blip>
          <a:srcRect l="19936" r="20808"/>
          <a:stretch>
            <a:fillRect/>
          </a:stretch>
        </p:blipFill>
        <p:spPr bwMode="auto">
          <a:xfrm>
            <a:off x="4064424" y="10"/>
            <a:ext cx="4063788" cy="685799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 descr="A close-up of a camera&#10;&#10;AI-generated content may be incorrect.">
            <a:extLst>
              <a:ext uri="{FF2B5EF4-FFF2-40B4-BE49-F238E27FC236}">
                <a16:creationId xmlns:a16="http://schemas.microsoft.com/office/drawing/2014/main" id="{8B862F2F-E052-0FBC-DBD8-3E56ACCED6D8}"/>
              </a:ext>
            </a:extLst>
          </p:cNvPr>
          <p:cNvPicPr>
            <a:picLocks noChangeAspect="1" noChangeArrowheads="1"/>
          </p:cNvPicPr>
          <p:nvPr/>
        </p:nvPicPr>
        <p:blipFill>
          <a:blip r:embed="rId5">
            <a:alphaModFix amt="60000"/>
            <a:extLst>
              <a:ext uri="{28A0092B-C50C-407E-A947-70E740481C1C}">
                <a14:useLocalDpi xmlns:a14="http://schemas.microsoft.com/office/drawing/2010/main" val="0"/>
              </a:ext>
            </a:extLst>
          </a:blip>
          <a:srcRect l="30429" r="37573"/>
          <a:stretch>
            <a:fillRect/>
          </a:stretch>
        </p:blipFill>
        <p:spPr bwMode="auto">
          <a:xfrm>
            <a:off x="8128212" y="10"/>
            <a:ext cx="4063788"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9D56987-51D6-8441-1C84-1A65D7DFC1DA}"/>
              </a:ext>
            </a:extLst>
          </p:cNvPr>
          <p:cNvSpPr/>
          <p:nvPr/>
        </p:nvSpPr>
        <p:spPr>
          <a:xfrm>
            <a:off x="0" y="1710670"/>
            <a:ext cx="12192000" cy="29464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1BF69D1A-6350-CD3E-4640-A15A4B044FEC}"/>
              </a:ext>
            </a:extLst>
          </p:cNvPr>
          <p:cNvSpPr txBox="1">
            <a:spLocks/>
          </p:cNvSpPr>
          <p:nvPr/>
        </p:nvSpPr>
        <p:spPr>
          <a:xfrm>
            <a:off x="903932" y="2969686"/>
            <a:ext cx="10384773" cy="9186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500" b="1" kern="1200">
                <a:solidFill>
                  <a:schemeClr val="tx1"/>
                </a:solidFill>
                <a:latin typeface="Arial" panose="020B0604020202020204" pitchFamily="34" charset="0"/>
                <a:ea typeface="+mj-ea"/>
                <a:cs typeface="Arial" panose="020B0604020202020204" pitchFamily="34" charset="0"/>
              </a:defRPr>
            </a:lvl1pPr>
          </a:lstStyle>
          <a:p>
            <a:pPr>
              <a:lnSpc>
                <a:spcPct val="120000"/>
              </a:lnSpc>
            </a:pPr>
            <a:r>
              <a:rPr lang="en-US" sz="3200" cap="all" spc="50" dirty="0">
                <a:solidFill>
                  <a:schemeClr val="tx1">
                    <a:lumMod val="65000"/>
                    <a:lumOff val="35000"/>
                  </a:schemeClr>
                </a:solidFill>
                <a:effectLst>
                  <a:outerShdw blurRad="50800" dist="38100" dir="5400000" algn="t" rotWithShape="0">
                    <a:prstClr val="black">
                      <a:alpha val="40000"/>
                    </a:prstClr>
                  </a:outerShdw>
                </a:effectLst>
                <a:latin typeface="Segoe UI"/>
                <a:ea typeface="GrandView" panose="02000603000000000000" pitchFamily="2" charset="0"/>
                <a:cs typeface="Segoe UI"/>
              </a:rPr>
              <a:t>SẢN PHẨM AI CAMERA THƯƠNG HIỆU MKVISION </a:t>
            </a:r>
            <a:endParaRPr lang="en-US" sz="3200" cap="all" spc="50" dirty="0">
              <a:solidFill>
                <a:schemeClr val="tx1">
                  <a:lumMod val="65000"/>
                  <a:lumOff val="35000"/>
                </a:schemeClr>
              </a:solidFill>
              <a:effectLst>
                <a:outerShdw blurRad="50800" dist="38100" dir="5400000" algn="t" rotWithShape="0">
                  <a:prstClr val="black">
                    <a:alpha val="40000"/>
                  </a:prstClr>
                </a:outerShdw>
              </a:effectLst>
              <a:latin typeface="Segoe UI"/>
              <a:cs typeface="Segoe UI"/>
            </a:endParaRPr>
          </a:p>
        </p:txBody>
      </p:sp>
      <p:pic>
        <p:nvPicPr>
          <p:cNvPr id="4" name="Picture 3">
            <a:extLst>
              <a:ext uri="{FF2B5EF4-FFF2-40B4-BE49-F238E27FC236}">
                <a16:creationId xmlns:a16="http://schemas.microsoft.com/office/drawing/2014/main" id="{B92AB753-CBE8-EA46-2AA2-A355771C38A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9405" y="1909693"/>
            <a:ext cx="2065264" cy="730183"/>
          </a:xfrm>
          <a:prstGeom prst="rect">
            <a:avLst/>
          </a:prstGeom>
        </p:spPr>
      </p:pic>
    </p:spTree>
    <p:extLst>
      <p:ext uri="{BB962C8B-B14F-4D97-AF65-F5344CB8AC3E}">
        <p14:creationId xmlns:p14="http://schemas.microsoft.com/office/powerpoint/2010/main" val="3528761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6" name="Rectangle 7175">
            <a:extLst>
              <a:ext uri="{FF2B5EF4-FFF2-40B4-BE49-F238E27FC236}">
                <a16:creationId xmlns:a16="http://schemas.microsoft.com/office/drawing/2014/main" id="{114C78B5-EC6B-4A39-8860-705100867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29A712-67B7-2F9D-7B56-3E71A2749DA5}"/>
              </a:ext>
            </a:extLst>
          </p:cNvPr>
          <p:cNvSpPr>
            <a:spLocks noGrp="1"/>
          </p:cNvSpPr>
          <p:nvPr>
            <p:ph type="title"/>
          </p:nvPr>
        </p:nvSpPr>
        <p:spPr>
          <a:xfrm>
            <a:off x="-3595" y="4277433"/>
            <a:ext cx="12046659" cy="750101"/>
          </a:xfrm>
        </p:spPr>
        <p:txBody>
          <a:bodyPr vert="horz" lIns="91440" tIns="45720" rIns="91440" bIns="45720" rtlCol="0" anchor="t">
            <a:noAutofit/>
          </a:bodyPr>
          <a:lstStyle/>
          <a:p>
            <a:r>
              <a:rPr lang="vi-VN" sz="2800" b="1" dirty="0">
                <a:solidFill>
                  <a:schemeClr val="bg1"/>
                </a:solidFill>
                <a:latin typeface="Times New Roman" panose="02020603050405020304" pitchFamily="18" charset="0"/>
                <a:cs typeface="Times New Roman" panose="02020603050405020304" pitchFamily="18" charset="0"/>
              </a:rPr>
              <a:t>AI Camera xử lý tại biên</a:t>
            </a:r>
            <a:r>
              <a:rPr lang="vi-VN" sz="2800" dirty="0">
                <a:solidFill>
                  <a:schemeClr val="bg1"/>
                </a:solidFill>
                <a:latin typeface="Times New Roman" panose="02020603050405020304" pitchFamily="18" charset="0"/>
                <a:cs typeface="Times New Roman" panose="02020603050405020304" pitchFamily="18" charset="0"/>
              </a:rPr>
              <a:t> được xác định là sản phẩm công nghệ chiến lược cần ưu tiên triển khai ngay trong 2025 </a:t>
            </a:r>
            <a:r>
              <a:rPr lang="vi-VN" sz="2800" i="1" dirty="0">
                <a:solidFill>
                  <a:schemeClr val="bg1"/>
                </a:solidFill>
                <a:latin typeface="Times New Roman" panose="02020603050405020304" pitchFamily="18" charset="0"/>
                <a:cs typeface="Times New Roman" panose="02020603050405020304" pitchFamily="18" charset="0"/>
              </a:rPr>
              <a:t>(theo Bộ KH&amp;CN)</a:t>
            </a:r>
            <a:endParaRPr lang="en-US" sz="3200" dirty="0">
              <a:solidFill>
                <a:schemeClr val="bg1"/>
              </a:solidFill>
              <a:latin typeface="Times New Roman" panose="02020603050405020304" pitchFamily="18" charset="0"/>
              <a:cs typeface="Times New Roman" panose="02020603050405020304" pitchFamily="18" charset="0"/>
            </a:endParaRPr>
          </a:p>
        </p:txBody>
      </p:sp>
      <p:grpSp>
        <p:nvGrpSpPr>
          <p:cNvPr id="7178" name="Group 7177">
            <a:extLst>
              <a:ext uri="{FF2B5EF4-FFF2-40B4-BE49-F238E27FC236}">
                <a16:creationId xmlns:a16="http://schemas.microsoft.com/office/drawing/2014/main" id="{A50943B0-FDF7-4C2C-B784-9208C945A8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7179" name="Freeform: Shape 7178">
              <a:extLst>
                <a:ext uri="{FF2B5EF4-FFF2-40B4-BE49-F238E27FC236}">
                  <a16:creationId xmlns:a16="http://schemas.microsoft.com/office/drawing/2014/main" id="{64021FAB-FA86-49DE-8FC9-585A1729B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cs typeface="Times New Roman" panose="02020603050405020304" pitchFamily="18" charset="0"/>
              </a:endParaRPr>
            </a:p>
          </p:txBody>
        </p:sp>
        <p:sp>
          <p:nvSpPr>
            <p:cNvPr id="7180" name="Freeform: Shape 7179">
              <a:extLst>
                <a:ext uri="{FF2B5EF4-FFF2-40B4-BE49-F238E27FC236}">
                  <a16:creationId xmlns:a16="http://schemas.microsoft.com/office/drawing/2014/main" id="{7B58B526-A432-4EB5-AA70-2BB897257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07C81B71-1008-A77A-85D2-C210D3784DCC}"/>
              </a:ext>
            </a:extLst>
          </p:cNvPr>
          <p:cNvSpPr txBox="1"/>
          <p:nvPr/>
        </p:nvSpPr>
        <p:spPr>
          <a:xfrm>
            <a:off x="-81645" y="3742397"/>
            <a:ext cx="4625067"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5MP//8MP AI OUTDOOR BULLET CAMERA </a:t>
            </a:r>
          </a:p>
        </p:txBody>
      </p:sp>
      <p:sp>
        <p:nvSpPr>
          <p:cNvPr id="7" name="TextBox 6">
            <a:extLst>
              <a:ext uri="{FF2B5EF4-FFF2-40B4-BE49-F238E27FC236}">
                <a16:creationId xmlns:a16="http://schemas.microsoft.com/office/drawing/2014/main" id="{6A6273EB-1731-5754-27D7-12A193A0C3FF}"/>
              </a:ext>
            </a:extLst>
          </p:cNvPr>
          <p:cNvSpPr txBox="1"/>
          <p:nvPr/>
        </p:nvSpPr>
        <p:spPr>
          <a:xfrm>
            <a:off x="8686811" y="3817012"/>
            <a:ext cx="3135086"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AI OUTDOOR DOME CAMERA</a:t>
            </a:r>
          </a:p>
        </p:txBody>
      </p:sp>
      <p:sp>
        <p:nvSpPr>
          <p:cNvPr id="8" name="TextBox 7">
            <a:extLst>
              <a:ext uri="{FF2B5EF4-FFF2-40B4-BE49-F238E27FC236}">
                <a16:creationId xmlns:a16="http://schemas.microsoft.com/office/drawing/2014/main" id="{1E78D8A6-AB6B-8924-C191-19EF9AF470CB}"/>
              </a:ext>
            </a:extLst>
          </p:cNvPr>
          <p:cNvSpPr txBox="1"/>
          <p:nvPr/>
        </p:nvSpPr>
        <p:spPr>
          <a:xfrm>
            <a:off x="4431846" y="3624029"/>
            <a:ext cx="400047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40X OPTICAL ZOOM PTZ CAMERA</a:t>
            </a:r>
          </a:p>
        </p:txBody>
      </p:sp>
      <p:sp>
        <p:nvSpPr>
          <p:cNvPr id="9" name="Title 1">
            <a:extLst>
              <a:ext uri="{FF2B5EF4-FFF2-40B4-BE49-F238E27FC236}">
                <a16:creationId xmlns:a16="http://schemas.microsoft.com/office/drawing/2014/main" id="{F0E91DC9-DA66-1640-A779-693A41B43757}"/>
              </a:ext>
            </a:extLst>
          </p:cNvPr>
          <p:cNvSpPr txBox="1">
            <a:spLocks/>
          </p:cNvSpPr>
          <p:nvPr/>
        </p:nvSpPr>
        <p:spPr>
          <a:xfrm>
            <a:off x="6315076" y="4842043"/>
            <a:ext cx="4391024" cy="117370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000">
              <a:solidFill>
                <a:schemeClr val="bg1"/>
              </a:solidFill>
              <a:latin typeface="Times New Roman" panose="02020603050405020304" pitchFamily="18" charset="0"/>
              <a:cs typeface="Times New Roman" panose="02020603050405020304" pitchFamily="18" charset="0"/>
            </a:endParaRPr>
          </a:p>
        </p:txBody>
      </p:sp>
      <p:pic>
        <p:nvPicPr>
          <p:cNvPr id="15" name="Picture 14" descr="A white camera with a black background&#10;&#10;AI-generated content may be incorrect.">
            <a:extLst>
              <a:ext uri="{FF2B5EF4-FFF2-40B4-BE49-F238E27FC236}">
                <a16:creationId xmlns:a16="http://schemas.microsoft.com/office/drawing/2014/main" id="{DCA05004-5A46-9A23-A3B4-7554E38280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8469" y="27618"/>
            <a:ext cx="3345031" cy="3222787"/>
          </a:xfrm>
          <a:prstGeom prst="rect">
            <a:avLst/>
          </a:prstGeom>
        </p:spPr>
      </p:pic>
      <p:pic>
        <p:nvPicPr>
          <p:cNvPr id="17" name="Picture 16" descr="A close-up of a camera&#10;&#10;AI-generated content may be incorrect.">
            <a:extLst>
              <a:ext uri="{FF2B5EF4-FFF2-40B4-BE49-F238E27FC236}">
                <a16:creationId xmlns:a16="http://schemas.microsoft.com/office/drawing/2014/main" id="{62C5D74A-F347-A6DC-CD94-162AA51154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72051" y="-61945"/>
            <a:ext cx="2297812" cy="3438570"/>
          </a:xfrm>
          <a:prstGeom prst="rect">
            <a:avLst/>
          </a:prstGeom>
        </p:spPr>
      </p:pic>
      <p:pic>
        <p:nvPicPr>
          <p:cNvPr id="21" name="Picture 20" descr="A close-up of a camera&#10;&#10;AI-generated content may be incorrect.">
            <a:extLst>
              <a:ext uri="{FF2B5EF4-FFF2-40B4-BE49-F238E27FC236}">
                <a16:creationId xmlns:a16="http://schemas.microsoft.com/office/drawing/2014/main" id="{1E12BEA9-B8FE-EB4A-78ED-6A792C7C44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1337" y="613960"/>
            <a:ext cx="5124450" cy="2981325"/>
          </a:xfrm>
          <a:prstGeom prst="rect">
            <a:avLst/>
          </a:prstGeom>
        </p:spPr>
      </p:pic>
      <p:sp>
        <p:nvSpPr>
          <p:cNvPr id="3" name="TextBox 2">
            <a:extLst>
              <a:ext uri="{FF2B5EF4-FFF2-40B4-BE49-F238E27FC236}">
                <a16:creationId xmlns:a16="http://schemas.microsoft.com/office/drawing/2014/main" id="{ECFBEAA0-E0E3-594B-0695-67415375836D}"/>
              </a:ext>
            </a:extLst>
          </p:cNvPr>
          <p:cNvSpPr txBox="1"/>
          <p:nvPr/>
        </p:nvSpPr>
        <p:spPr>
          <a:xfrm>
            <a:off x="259773" y="5103674"/>
            <a:ext cx="11294063" cy="646331"/>
          </a:xfrm>
          <a:prstGeom prst="rect">
            <a:avLst/>
          </a:prstGeom>
          <a:noFill/>
        </p:spPr>
        <p:txBody>
          <a:bodyPr wrap="square" rtlCol="0">
            <a:spAutoFit/>
          </a:bodyPr>
          <a:lstStyle/>
          <a:p>
            <a:r>
              <a:rPr lang="vi-VN" dirty="0">
                <a:solidFill>
                  <a:schemeClr val="bg1"/>
                </a:solidFill>
                <a:latin typeface="Times New Roman" panose="02020603050405020304" pitchFamily="18" charset="0"/>
                <a:cs typeface="Times New Roman" panose="02020603050405020304" pitchFamily="18" charset="0"/>
              </a:rPr>
              <a:t>✓ </a:t>
            </a:r>
            <a:r>
              <a:rPr lang="vi-VN" b="1" dirty="0">
                <a:solidFill>
                  <a:schemeClr val="bg1"/>
                </a:solidFill>
                <a:latin typeface="Times New Roman" panose="02020603050405020304" pitchFamily="18" charset="0"/>
                <a:cs typeface="Times New Roman" panose="02020603050405020304" pitchFamily="18" charset="0"/>
              </a:rPr>
              <a:t>"MADE IN VIETNAM"</a:t>
            </a:r>
            <a:r>
              <a:rPr lang="vi-VN" dirty="0">
                <a:solidFill>
                  <a:schemeClr val="bg1"/>
                </a:solidFill>
                <a:latin typeface="Times New Roman" panose="02020603050405020304" pitchFamily="18" charset="0"/>
                <a:cs typeface="Times New Roman" panose="02020603050405020304" pitchFamily="18" charset="0"/>
              </a:rPr>
              <a:t> - Sản xuất tại Việt Nam</a:t>
            </a:r>
            <a:br>
              <a:rPr lang="vi-VN" dirty="0">
                <a:solidFill>
                  <a:schemeClr val="bg1"/>
                </a:solidFill>
                <a:latin typeface="Times New Roman" panose="02020603050405020304" pitchFamily="18" charset="0"/>
                <a:cs typeface="Times New Roman" panose="02020603050405020304" pitchFamily="18" charset="0"/>
              </a:rPr>
            </a:br>
            <a:r>
              <a:rPr lang="vi-VN" dirty="0">
                <a:solidFill>
                  <a:schemeClr val="bg1"/>
                </a:solidFill>
                <a:latin typeface="Times New Roman" panose="02020603050405020304" pitchFamily="18" charset="0"/>
                <a:cs typeface="Times New Roman" panose="02020603050405020304" pitchFamily="18" charset="0"/>
              </a:rPr>
              <a:t>✓ </a:t>
            </a:r>
            <a:r>
              <a:rPr lang="vi-VN" b="1" dirty="0">
                <a:solidFill>
                  <a:schemeClr val="bg1"/>
                </a:solidFill>
                <a:latin typeface="Times New Roman" panose="02020603050405020304" pitchFamily="18" charset="0"/>
                <a:cs typeface="Times New Roman" panose="02020603050405020304" pitchFamily="18" charset="0"/>
              </a:rPr>
              <a:t>"MAKE IN VIETNAM"</a:t>
            </a:r>
            <a:r>
              <a:rPr lang="vi-VN" dirty="0">
                <a:solidFill>
                  <a:schemeClr val="bg1"/>
                </a:solidFill>
                <a:latin typeface="Times New Roman" panose="02020603050405020304" pitchFamily="18" charset="0"/>
                <a:cs typeface="Times New Roman" panose="02020603050405020304" pitchFamily="18" charset="0"/>
              </a:rPr>
              <a:t> - Sáng tạo, thiết kế và làm chủ công nghệ bởi người Việt</a:t>
            </a:r>
          </a:p>
        </p:txBody>
      </p:sp>
      <p:sp>
        <p:nvSpPr>
          <p:cNvPr id="4" name="TextBox 3">
            <a:extLst>
              <a:ext uri="{FF2B5EF4-FFF2-40B4-BE49-F238E27FC236}">
                <a16:creationId xmlns:a16="http://schemas.microsoft.com/office/drawing/2014/main" id="{F28F70F5-8633-25AA-3249-638E5756B762}"/>
              </a:ext>
            </a:extLst>
          </p:cNvPr>
          <p:cNvSpPr txBox="1"/>
          <p:nvPr/>
        </p:nvSpPr>
        <p:spPr>
          <a:xfrm>
            <a:off x="3998968" y="6174816"/>
            <a:ext cx="8419673" cy="923330"/>
          </a:xfrm>
          <a:prstGeom prst="rect">
            <a:avLst/>
          </a:prstGeom>
          <a:noFill/>
        </p:spPr>
        <p:txBody>
          <a:bodyPr wrap="square" rtlCol="0">
            <a:spAutoFit/>
          </a:bodyPr>
          <a:lstStyle/>
          <a:p>
            <a:r>
              <a:rPr lang="vi-VN" dirty="0">
                <a:solidFill>
                  <a:schemeClr val="bg1"/>
                </a:solidFill>
                <a:latin typeface="Times New Roman" panose="02020603050405020304" pitchFamily="18" charset="0"/>
                <a:cs typeface="Times New Roman" panose="02020603050405020304" pitchFamily="18" charset="0"/>
              </a:rPr>
              <a:t>💰 ƯU ĐÃI ĐẶC BIỆT KHI THAM GIA ĐẤU THẦU</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Nghị</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 </a:t>
            </a:r>
            <a:r>
              <a:rPr lang="en-US" dirty="0" err="1">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định</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 214/2025/NĐ-CP</a:t>
            </a:r>
            <a:r>
              <a:rPr lang="en-US" dirty="0">
                <a:solidFill>
                  <a:schemeClr val="bg1"/>
                </a:solidFill>
                <a:latin typeface="Times New Roman" panose="02020603050405020304" pitchFamily="18" charset="0"/>
                <a:cs typeface="Times New Roman" panose="02020603050405020304" pitchFamily="18" charset="0"/>
              </a:rPr>
              <a:t>)</a:t>
            </a:r>
          </a:p>
          <a:p>
            <a:r>
              <a:rPr lang="vi-VN" dirty="0">
                <a:solidFill>
                  <a:schemeClr val="bg1"/>
                </a:solidFill>
                <a:latin typeface="Times New Roman" panose="02020603050405020304" pitchFamily="18" charset="0"/>
                <a:cs typeface="Times New Roman" panose="02020603050405020304" pitchFamily="18" charset="0"/>
              </a:rPr>
              <a:t>Ưu đãi 7.5% giá trị sản phẩm sản xuất tại Việt Nam</a:t>
            </a:r>
            <a:endParaRPr lang="en-US" dirty="0">
              <a:solidFill>
                <a:schemeClr val="bg1"/>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697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3" name="Rectangle 8202">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3" name="Picture 1">
            <a:extLst>
              <a:ext uri="{FF2B5EF4-FFF2-40B4-BE49-F238E27FC236}">
                <a16:creationId xmlns:a16="http://schemas.microsoft.com/office/drawing/2014/main" id="{201C4558-7EAF-1F36-E55E-951A0E1E9B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21" r="29615"/>
          <a:stretch>
            <a:fillRect/>
          </a:stretch>
        </p:blipFill>
        <p:spPr bwMode="auto">
          <a:xfrm>
            <a:off x="3522468" y="1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8205" name="Rectangle 8204">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B5B182-A22A-07D7-5E57-629287395B11}"/>
              </a:ext>
            </a:extLst>
          </p:cNvPr>
          <p:cNvSpPr>
            <a:spLocks noGrp="1"/>
          </p:cNvSpPr>
          <p:nvPr>
            <p:ph type="title"/>
          </p:nvPr>
        </p:nvSpPr>
        <p:spPr>
          <a:xfrm>
            <a:off x="371093" y="1161288"/>
            <a:ext cx="5821391" cy="1124712"/>
          </a:xfrm>
        </p:spPr>
        <p:txBody>
          <a:bodyPr anchor="ctr">
            <a:normAutofit fontScale="90000"/>
          </a:bodyPr>
          <a:lstStyle/>
          <a:p>
            <a:r>
              <a:rPr lang="en-US" sz="2800" dirty="0">
                <a:solidFill>
                  <a:schemeClr val="bg1"/>
                </a:solidFill>
                <a:latin typeface="Times New Roman" panose="02020603050405020304" pitchFamily="18" charset="0"/>
                <a:cs typeface="Times New Roman" panose="02020603050405020304" pitchFamily="18" charset="0"/>
              </a:rPr>
              <a:t>5MP AI OUTDOOR BULLET CAMERA</a:t>
            </a: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VB50FB1V</a:t>
            </a:r>
          </a:p>
        </p:txBody>
      </p:sp>
      <p:sp>
        <p:nvSpPr>
          <p:cNvPr id="8207" name="Rectangle 820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209" name="Rectangle 820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8BCAA4E1-AA83-2349-F636-F33950F0E0B0}"/>
              </a:ext>
            </a:extLst>
          </p:cNvPr>
          <p:cNvSpPr txBox="1"/>
          <p:nvPr/>
        </p:nvSpPr>
        <p:spPr>
          <a:xfrm>
            <a:off x="320294" y="2885597"/>
            <a:ext cx="4089146" cy="2677656"/>
          </a:xfrm>
          <a:prstGeom prst="rect">
            <a:avLst/>
          </a:prstGeom>
          <a:noFill/>
        </p:spPr>
        <p:txBody>
          <a:bodyPr wrap="square" lIns="91440" tIns="45720" rIns="91440" bIns="45720" rtlCol="0" anchor="ctr">
            <a:spAutoFit/>
          </a:bodyPr>
          <a:lstStyle/>
          <a:p>
            <a:pPr marL="285750" indent="-285750" algn="just">
              <a:buFont typeface="Arial" panose="020B0604020202020204" pitchFamily="34" charset="0"/>
              <a:buChar char="•"/>
            </a:pPr>
            <a:r>
              <a:rPr lang="en-US" sz="1400" dirty="0" err="1">
                <a:solidFill>
                  <a:schemeClr val="bg1"/>
                </a:solidFill>
                <a:latin typeface="Times New Roman" panose="02020603050405020304" pitchFamily="18" charset="0"/>
                <a:cs typeface="Times New Roman" panose="02020603050405020304" pitchFamily="18" charset="0"/>
              </a:rPr>
              <a:t>Cảm</a:t>
            </a:r>
            <a:r>
              <a:rPr lang="en-US" sz="1400" dirty="0">
                <a:solidFill>
                  <a:schemeClr val="bg1"/>
                </a:solidFill>
                <a:latin typeface="Times New Roman" panose="02020603050405020304" pitchFamily="18" charset="0"/>
                <a:cs typeface="Times New Roman" panose="02020603050405020304" pitchFamily="18" charset="0"/>
              </a:rPr>
              <a:t> </a:t>
            </a:r>
            <a:r>
              <a:rPr lang="vi-VN" sz="1400" dirty="0">
                <a:solidFill>
                  <a:schemeClr val="bg1"/>
                </a:solidFill>
                <a:latin typeface="Times New Roman" panose="02020603050405020304" pitchFamily="18" charset="0"/>
                <a:cs typeface="Times New Roman" panose="02020603050405020304" pitchFamily="18" charset="0"/>
              </a:rPr>
              <a:t>biến </a:t>
            </a:r>
            <a:r>
              <a:rPr lang="vi-VN" sz="1400" b="1" dirty="0">
                <a:solidFill>
                  <a:schemeClr val="bg1"/>
                </a:solidFill>
                <a:latin typeface="Times New Roman" panose="02020603050405020304" pitchFamily="18" charset="0"/>
                <a:cs typeface="Times New Roman" panose="02020603050405020304" pitchFamily="18" charset="0"/>
              </a:rPr>
              <a:t>Sony IMX-335</a:t>
            </a:r>
            <a:r>
              <a:rPr lang="vi-VN" sz="1400" dirty="0">
                <a:solidFill>
                  <a:schemeClr val="bg1"/>
                </a:solidFill>
                <a:latin typeface="Times New Roman" panose="02020603050405020304" pitchFamily="18" charset="0"/>
                <a:cs typeface="Times New Roman" panose="02020603050405020304" pitchFamily="18" charset="0"/>
              </a:rPr>
              <a:t> và </a:t>
            </a:r>
            <a:r>
              <a:rPr lang="vi-VN" sz="1400" b="1" dirty="0">
                <a:solidFill>
                  <a:schemeClr val="bg1"/>
                </a:solidFill>
                <a:latin typeface="Times New Roman" panose="02020603050405020304" pitchFamily="18" charset="0"/>
                <a:cs typeface="Times New Roman" panose="02020603050405020304" pitchFamily="18" charset="0"/>
              </a:rPr>
              <a:t>HDR Engine Gen3</a:t>
            </a:r>
            <a:r>
              <a:rPr lang="vi-VN" sz="1400" dirty="0">
                <a:solidFill>
                  <a:schemeClr val="bg1"/>
                </a:solidFill>
                <a:latin typeface="Times New Roman" panose="02020603050405020304" pitchFamily="18" charset="0"/>
                <a:cs typeface="Times New Roman" panose="02020603050405020304" pitchFamily="18" charset="0"/>
              </a:rPr>
              <a:t> cho chất lượng hình ảnh sắc nét vượt trội ngay trong các điều kiện thiếu sáng</a:t>
            </a:r>
            <a:endParaRPr lang="en-US" sz="14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K</a:t>
            </a:r>
            <a:r>
              <a:rPr lang="vi-VN" sz="1400" dirty="0">
                <a:solidFill>
                  <a:schemeClr val="bg1"/>
                </a:solidFill>
                <a:latin typeface="Times New Roman" panose="02020603050405020304" pitchFamily="18" charset="0"/>
                <a:cs typeface="Times New Roman" panose="02020603050405020304" pitchFamily="18" charset="0"/>
              </a:rPr>
              <a:t>hả năng phân tích nội dung video thông minh </a:t>
            </a:r>
            <a:r>
              <a:rPr lang="vi-VN" sz="1400" b="1" dirty="0">
                <a:solidFill>
                  <a:schemeClr val="bg1"/>
                </a:solidFill>
                <a:latin typeface="Times New Roman" panose="02020603050405020304" pitchFamily="18" charset="0"/>
                <a:cs typeface="Times New Roman" panose="02020603050405020304" pitchFamily="18" charset="0"/>
              </a:rPr>
              <a:t>Ambarella C</a:t>
            </a:r>
            <a:r>
              <a:rPr lang="en-US" sz="1400" b="1" dirty="0">
                <a:solidFill>
                  <a:schemeClr val="bg1"/>
                </a:solidFill>
                <a:latin typeface="Times New Roman" panose="02020603050405020304" pitchFamily="18" charset="0"/>
                <a:cs typeface="Times New Roman" panose="02020603050405020304" pitchFamily="18" charset="0"/>
              </a:rPr>
              <a:t>v</a:t>
            </a:r>
            <a:r>
              <a:rPr lang="vi-VN" sz="1400" b="1" dirty="0">
                <a:solidFill>
                  <a:schemeClr val="bg1"/>
                </a:solidFill>
                <a:latin typeface="Times New Roman" panose="02020603050405020304" pitchFamily="18" charset="0"/>
                <a:cs typeface="Times New Roman" panose="02020603050405020304" pitchFamily="18" charset="0"/>
              </a:rPr>
              <a:t>flow</a:t>
            </a:r>
            <a:endParaRPr lang="en-US" sz="14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400" dirty="0" err="1">
                <a:solidFill>
                  <a:schemeClr val="bg1"/>
                </a:solidFill>
                <a:latin typeface="Times New Roman" panose="02020603050405020304" pitchFamily="18" charset="0"/>
                <a:cs typeface="Times New Roman" panose="02020603050405020304" pitchFamily="18" charset="0"/>
              </a:rPr>
              <a:t>Hoạt</a:t>
            </a:r>
            <a:r>
              <a:rPr lang="en-US" sz="1400" dirty="0">
                <a:solidFill>
                  <a:schemeClr val="bg1"/>
                </a:solidFill>
                <a:latin typeface="Times New Roman" panose="02020603050405020304" pitchFamily="18" charset="0"/>
                <a:cs typeface="Times New Roman" panose="02020603050405020304" pitchFamily="18" charset="0"/>
              </a:rPr>
              <a:t> </a:t>
            </a:r>
            <a:r>
              <a:rPr lang="vi-VN" sz="1400" dirty="0">
                <a:solidFill>
                  <a:schemeClr val="bg1"/>
                </a:solidFill>
                <a:latin typeface="Times New Roman" panose="02020603050405020304" pitchFamily="18" charset="0"/>
                <a:cs typeface="Times New Roman" panose="02020603050405020304" pitchFamily="18" charset="0"/>
              </a:rPr>
              <a:t>động bền bỉ trong mọi môi trường với tiêu chuẩn chống va đập </a:t>
            </a:r>
            <a:r>
              <a:rPr lang="vi-VN" sz="1400" b="1" dirty="0">
                <a:solidFill>
                  <a:schemeClr val="bg1"/>
                </a:solidFill>
                <a:latin typeface="Times New Roman" panose="02020603050405020304" pitchFamily="18" charset="0"/>
                <a:cs typeface="Times New Roman" panose="02020603050405020304" pitchFamily="18" charset="0"/>
              </a:rPr>
              <a:t>IK10</a:t>
            </a:r>
            <a:r>
              <a:rPr lang="vi-VN" sz="1400" dirty="0">
                <a:solidFill>
                  <a:schemeClr val="bg1"/>
                </a:solidFill>
                <a:latin typeface="Times New Roman" panose="02020603050405020304" pitchFamily="18" charset="0"/>
                <a:cs typeface="Times New Roman" panose="02020603050405020304" pitchFamily="18" charset="0"/>
              </a:rPr>
              <a:t> và chống bụi/nước </a:t>
            </a:r>
            <a:r>
              <a:rPr lang="vi-VN" sz="1400" b="1" dirty="0">
                <a:solidFill>
                  <a:schemeClr val="bg1"/>
                </a:solidFill>
                <a:latin typeface="Times New Roman" panose="02020603050405020304" pitchFamily="18" charset="0"/>
                <a:cs typeface="Times New Roman" panose="02020603050405020304" pitchFamily="18" charset="0"/>
              </a:rPr>
              <a:t>IP67</a:t>
            </a: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Đ</a:t>
            </a:r>
            <a:r>
              <a:rPr lang="vi-VN" sz="1400" dirty="0">
                <a:solidFill>
                  <a:schemeClr val="bg1"/>
                </a:solidFill>
                <a:latin typeface="Times New Roman" panose="02020603050405020304" pitchFamily="18" charset="0"/>
                <a:cs typeface="Times New Roman" panose="02020603050405020304" pitchFamily="18" charset="0"/>
              </a:rPr>
              <a:t>áp ứng đầy đủ các tiêu chuẩn về tương thích </a:t>
            </a:r>
            <a:r>
              <a:rPr lang="vi-VN" sz="1400" b="1" dirty="0">
                <a:solidFill>
                  <a:schemeClr val="bg1"/>
                </a:solidFill>
                <a:latin typeface="Times New Roman" panose="02020603050405020304" pitchFamily="18" charset="0"/>
                <a:cs typeface="Times New Roman" panose="02020603050405020304" pitchFamily="18" charset="0"/>
              </a:rPr>
              <a:t>ONVIF Profile S/G/T/M</a:t>
            </a:r>
            <a:r>
              <a:rPr lang="vi-VN" sz="1400" dirty="0">
                <a:solidFill>
                  <a:schemeClr val="bg1"/>
                </a:solidFill>
                <a:latin typeface="Times New Roman" panose="02020603050405020304" pitchFamily="18" charset="0"/>
                <a:cs typeface="Times New Roman" panose="02020603050405020304" pitchFamily="18" charset="0"/>
              </a:rPr>
              <a:t> và an toàn thông tin </a:t>
            </a:r>
            <a:r>
              <a:rPr lang="vi-VN" sz="1400" b="1" dirty="0">
                <a:solidFill>
                  <a:schemeClr val="bg1"/>
                </a:solidFill>
                <a:latin typeface="Times New Roman" panose="02020603050405020304" pitchFamily="18" charset="0"/>
                <a:cs typeface="Times New Roman" panose="02020603050405020304" pitchFamily="18" charset="0"/>
              </a:rPr>
              <a:t>QCVN 135:2024/BTTTT</a:t>
            </a:r>
            <a:r>
              <a:rPr lang="vi-VN" sz="1400" dirty="0">
                <a:solidFill>
                  <a:schemeClr val="bg1"/>
                </a:solidFill>
                <a:latin typeface="Times New Roman" panose="02020603050405020304" pitchFamily="18" charset="0"/>
                <a:cs typeface="Times New Roman" panose="02020603050405020304" pitchFamily="18" charset="0"/>
              </a:rPr>
              <a:t>, khẳng định đây là lựa chọn tối ưu về hiệu năng và bảo mật.</a:t>
            </a:r>
          </a:p>
        </p:txBody>
      </p:sp>
      <p:pic>
        <p:nvPicPr>
          <p:cNvPr id="16" name="Picture 15" descr="A screenshot of a phone&#10;&#10;AI-generated content may be incorrect.">
            <a:extLst>
              <a:ext uri="{FF2B5EF4-FFF2-40B4-BE49-F238E27FC236}">
                <a16:creationId xmlns:a16="http://schemas.microsoft.com/office/drawing/2014/main" id="{3D643114-36BE-D80F-5E9C-3614E69C5F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5025" y="-233208"/>
            <a:ext cx="3399038" cy="2012844"/>
          </a:xfrm>
          <a:prstGeom prst="rect">
            <a:avLst/>
          </a:prstGeom>
        </p:spPr>
      </p:pic>
      <p:pic>
        <p:nvPicPr>
          <p:cNvPr id="19" name="Picture 18" descr="A blue circle with black text&#10;&#10;AI-generated content may be incorrect.">
            <a:extLst>
              <a:ext uri="{FF2B5EF4-FFF2-40B4-BE49-F238E27FC236}">
                <a16:creationId xmlns:a16="http://schemas.microsoft.com/office/drawing/2014/main" id="{860EE254-69A2-E9FE-4171-71B108E15A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23053" y="6010275"/>
            <a:ext cx="4791075" cy="847725"/>
          </a:xfrm>
          <a:prstGeom prst="rect">
            <a:avLst/>
          </a:prstGeom>
        </p:spPr>
      </p:pic>
    </p:spTree>
    <p:extLst>
      <p:ext uri="{BB962C8B-B14F-4D97-AF65-F5344CB8AC3E}">
        <p14:creationId xmlns:p14="http://schemas.microsoft.com/office/powerpoint/2010/main" val="196457836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5238BE-25EC-3D08-99DB-D88EF54A73DD}"/>
            </a:ext>
          </a:extLst>
        </p:cNvPr>
        <p:cNvGrpSpPr/>
        <p:nvPr/>
      </p:nvGrpSpPr>
      <p:grpSpPr>
        <a:xfrm>
          <a:off x="0" y="0"/>
          <a:ext cx="0" cy="0"/>
          <a:chOff x="0" y="0"/>
          <a:chExt cx="0" cy="0"/>
        </a:xfrm>
      </p:grpSpPr>
      <p:sp useBgFill="1">
        <p:nvSpPr>
          <p:cNvPr id="8203" name="Rectangle 8202">
            <a:extLst>
              <a:ext uri="{FF2B5EF4-FFF2-40B4-BE49-F238E27FC236}">
                <a16:creationId xmlns:a16="http://schemas.microsoft.com/office/drawing/2014/main" id="{C5A1B503-E8FE-5419-137F-33A1552A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3" name="Picture 1">
            <a:extLst>
              <a:ext uri="{FF2B5EF4-FFF2-40B4-BE49-F238E27FC236}">
                <a16:creationId xmlns:a16="http://schemas.microsoft.com/office/drawing/2014/main" id="{AB7F34BF-1953-6104-65E4-43E0C7C9E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21" r="29615"/>
          <a:stretch>
            <a:fillRect/>
          </a:stretch>
        </p:blipFill>
        <p:spPr bwMode="auto">
          <a:xfrm>
            <a:off x="3522468" y="1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8205" name="Rectangle 8204">
            <a:extLst>
              <a:ext uri="{FF2B5EF4-FFF2-40B4-BE49-F238E27FC236}">
                <a16:creationId xmlns:a16="http://schemas.microsoft.com/office/drawing/2014/main" id="{15A779FF-3A62-2421-FF3C-2D5CBE4C7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684ECB-335F-8DC8-B240-372097B7FCCA}"/>
              </a:ext>
            </a:extLst>
          </p:cNvPr>
          <p:cNvSpPr>
            <a:spLocks noGrp="1"/>
          </p:cNvSpPr>
          <p:nvPr>
            <p:ph type="title"/>
          </p:nvPr>
        </p:nvSpPr>
        <p:spPr>
          <a:xfrm>
            <a:off x="371093" y="1161288"/>
            <a:ext cx="5821391" cy="1124712"/>
          </a:xfrm>
        </p:spPr>
        <p:txBody>
          <a:bodyPr anchor="ctr">
            <a:normAutofit fontScale="90000"/>
          </a:bodyPr>
          <a:lstStyle/>
          <a:p>
            <a:r>
              <a:rPr lang="en-US" sz="2800" dirty="0">
                <a:solidFill>
                  <a:schemeClr val="bg1"/>
                </a:solidFill>
                <a:latin typeface="Times New Roman" panose="02020603050405020304" pitchFamily="18" charset="0"/>
                <a:cs typeface="Times New Roman" panose="02020603050405020304" pitchFamily="18" charset="0"/>
              </a:rPr>
              <a:t>8MP AI OUTDOOR BULLET CAMERA</a:t>
            </a: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VB80FA1V</a:t>
            </a:r>
          </a:p>
        </p:txBody>
      </p:sp>
      <p:sp>
        <p:nvSpPr>
          <p:cNvPr id="8207" name="Rectangle 8206">
            <a:extLst>
              <a:ext uri="{FF2B5EF4-FFF2-40B4-BE49-F238E27FC236}">
                <a16:creationId xmlns:a16="http://schemas.microsoft.com/office/drawing/2014/main" id="{D4CCD708-2178-E048-6286-C0260AB6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209" name="Rectangle 8208">
            <a:extLst>
              <a:ext uri="{FF2B5EF4-FFF2-40B4-BE49-F238E27FC236}">
                <a16:creationId xmlns:a16="http://schemas.microsoft.com/office/drawing/2014/main" id="{2D9EAF0E-8B53-EF89-ACC4-9AD6DE276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2F91AB51-0330-5D80-1ABD-E08FDE412286}"/>
              </a:ext>
            </a:extLst>
          </p:cNvPr>
          <p:cNvSpPr txBox="1"/>
          <p:nvPr/>
        </p:nvSpPr>
        <p:spPr>
          <a:xfrm>
            <a:off x="340614" y="2885597"/>
            <a:ext cx="4089146" cy="2677656"/>
          </a:xfrm>
          <a:prstGeom prst="rect">
            <a:avLst/>
          </a:prstGeom>
          <a:noFill/>
        </p:spPr>
        <p:txBody>
          <a:bodyPr wrap="square" lIns="91440" tIns="45720" rIns="91440" bIns="45720" rtlCol="0" anchor="ctr">
            <a:spAutoFit/>
          </a:bodyPr>
          <a:lstStyle/>
          <a:p>
            <a:pPr marL="285750"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C</a:t>
            </a:r>
            <a:r>
              <a:rPr lang="vi-VN" sz="1400" dirty="0">
                <a:solidFill>
                  <a:schemeClr val="bg1"/>
                </a:solidFill>
                <a:latin typeface="Times New Roman" panose="02020603050405020304" pitchFamily="18" charset="0"/>
                <a:cs typeface="Times New Roman" panose="02020603050405020304" pitchFamily="18" charset="0"/>
              </a:rPr>
              <a:t>ảm biến </a:t>
            </a:r>
            <a:r>
              <a:rPr lang="vi-VN" sz="1400" b="1" dirty="0">
                <a:solidFill>
                  <a:schemeClr val="bg1"/>
                </a:solidFill>
                <a:latin typeface="Times New Roman" panose="02020603050405020304" pitchFamily="18" charset="0"/>
                <a:cs typeface="Times New Roman" panose="02020603050405020304" pitchFamily="18" charset="0"/>
              </a:rPr>
              <a:t>Sony IMX-</a:t>
            </a:r>
            <a:r>
              <a:rPr lang="en-US" sz="1400" b="1" dirty="0">
                <a:solidFill>
                  <a:schemeClr val="bg1"/>
                </a:solidFill>
                <a:latin typeface="Times New Roman" panose="02020603050405020304" pitchFamily="18" charset="0"/>
                <a:cs typeface="Times New Roman" panose="02020603050405020304" pitchFamily="18" charset="0"/>
              </a:rPr>
              <a:t>415</a:t>
            </a:r>
            <a:r>
              <a:rPr lang="vi-VN" sz="1400" dirty="0">
                <a:solidFill>
                  <a:schemeClr val="bg1"/>
                </a:solidFill>
                <a:latin typeface="Times New Roman" panose="02020603050405020304" pitchFamily="18" charset="0"/>
                <a:cs typeface="Times New Roman" panose="02020603050405020304" pitchFamily="18" charset="0"/>
              </a:rPr>
              <a:t> và </a:t>
            </a:r>
            <a:r>
              <a:rPr lang="vi-VN" sz="1400" b="1" dirty="0">
                <a:solidFill>
                  <a:schemeClr val="bg1"/>
                </a:solidFill>
                <a:latin typeface="Times New Roman" panose="02020603050405020304" pitchFamily="18" charset="0"/>
                <a:cs typeface="Times New Roman" panose="02020603050405020304" pitchFamily="18" charset="0"/>
              </a:rPr>
              <a:t>HDR Engine Gen3</a:t>
            </a:r>
            <a:r>
              <a:rPr lang="vi-VN" sz="1400" dirty="0">
                <a:solidFill>
                  <a:schemeClr val="bg1"/>
                </a:solidFill>
                <a:latin typeface="Times New Roman" panose="02020603050405020304" pitchFamily="18" charset="0"/>
                <a:cs typeface="Times New Roman" panose="02020603050405020304" pitchFamily="18" charset="0"/>
              </a:rPr>
              <a:t> cho chất lượng hình ảnh sắc nét vượt trội ngay trong các điều kiện thiếu sáng</a:t>
            </a:r>
            <a:endParaRPr lang="en-US" sz="14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K</a:t>
            </a:r>
            <a:r>
              <a:rPr lang="vi-VN" sz="1400" dirty="0">
                <a:solidFill>
                  <a:schemeClr val="bg1"/>
                </a:solidFill>
                <a:latin typeface="Times New Roman" panose="02020603050405020304" pitchFamily="18" charset="0"/>
                <a:cs typeface="Times New Roman" panose="02020603050405020304" pitchFamily="18" charset="0"/>
              </a:rPr>
              <a:t>hả năng phân tích nội dung video thông minh </a:t>
            </a:r>
            <a:r>
              <a:rPr lang="vi-VN" sz="1400" b="1" dirty="0">
                <a:solidFill>
                  <a:schemeClr val="bg1"/>
                </a:solidFill>
                <a:latin typeface="Times New Roman" panose="02020603050405020304" pitchFamily="18" charset="0"/>
                <a:cs typeface="Times New Roman" panose="02020603050405020304" pitchFamily="18" charset="0"/>
              </a:rPr>
              <a:t>Ambarella Cvflow</a:t>
            </a: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H</a:t>
            </a:r>
            <a:r>
              <a:rPr lang="vi-VN" sz="1400" dirty="0">
                <a:solidFill>
                  <a:schemeClr val="bg1"/>
                </a:solidFill>
                <a:latin typeface="Times New Roman" panose="02020603050405020304" pitchFamily="18" charset="0"/>
                <a:cs typeface="Times New Roman" panose="02020603050405020304" pitchFamily="18" charset="0"/>
              </a:rPr>
              <a:t>oạt động bền bỉ trong mọi môi trường với tiêu chuẩn chống va đập </a:t>
            </a:r>
            <a:r>
              <a:rPr lang="vi-VN" sz="1400" b="1" dirty="0">
                <a:solidFill>
                  <a:schemeClr val="bg1"/>
                </a:solidFill>
                <a:latin typeface="Times New Roman" panose="02020603050405020304" pitchFamily="18" charset="0"/>
                <a:cs typeface="Times New Roman" panose="02020603050405020304" pitchFamily="18" charset="0"/>
              </a:rPr>
              <a:t>IK10</a:t>
            </a:r>
            <a:r>
              <a:rPr lang="vi-VN" sz="1400" dirty="0">
                <a:solidFill>
                  <a:schemeClr val="bg1"/>
                </a:solidFill>
                <a:latin typeface="Times New Roman" panose="02020603050405020304" pitchFamily="18" charset="0"/>
                <a:cs typeface="Times New Roman" panose="02020603050405020304" pitchFamily="18" charset="0"/>
              </a:rPr>
              <a:t> và chống bụi/nước </a:t>
            </a:r>
            <a:r>
              <a:rPr lang="vi-VN" sz="1400" b="1" dirty="0">
                <a:solidFill>
                  <a:schemeClr val="bg1"/>
                </a:solidFill>
                <a:latin typeface="Times New Roman" panose="02020603050405020304" pitchFamily="18" charset="0"/>
                <a:cs typeface="Times New Roman" panose="02020603050405020304" pitchFamily="18" charset="0"/>
              </a:rPr>
              <a:t>IP67</a:t>
            </a:r>
            <a:endParaRPr lang="en-US" sz="1400" b="1"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Đ</a:t>
            </a:r>
            <a:r>
              <a:rPr lang="vi-VN" sz="1400" dirty="0">
                <a:solidFill>
                  <a:schemeClr val="bg1"/>
                </a:solidFill>
                <a:latin typeface="Times New Roman" panose="02020603050405020304" pitchFamily="18" charset="0"/>
                <a:cs typeface="Times New Roman" panose="02020603050405020304" pitchFamily="18" charset="0"/>
              </a:rPr>
              <a:t>áp ứng đầy đủ các tiêu chuẩn về tương thích </a:t>
            </a:r>
            <a:r>
              <a:rPr lang="vi-VN" sz="1400" b="1" dirty="0">
                <a:solidFill>
                  <a:schemeClr val="bg1"/>
                </a:solidFill>
                <a:latin typeface="Times New Roman" panose="02020603050405020304" pitchFamily="18" charset="0"/>
                <a:cs typeface="Times New Roman" panose="02020603050405020304" pitchFamily="18" charset="0"/>
              </a:rPr>
              <a:t>ONVIF Profile S/G/T/M</a:t>
            </a:r>
            <a:r>
              <a:rPr lang="vi-VN" sz="1400" dirty="0">
                <a:solidFill>
                  <a:schemeClr val="bg1"/>
                </a:solidFill>
                <a:latin typeface="Times New Roman" panose="02020603050405020304" pitchFamily="18" charset="0"/>
                <a:cs typeface="Times New Roman" panose="02020603050405020304" pitchFamily="18" charset="0"/>
              </a:rPr>
              <a:t> và an toàn thông tin </a:t>
            </a:r>
            <a:r>
              <a:rPr lang="vi-VN" sz="1400" b="1" dirty="0">
                <a:solidFill>
                  <a:schemeClr val="bg1"/>
                </a:solidFill>
                <a:latin typeface="Times New Roman" panose="02020603050405020304" pitchFamily="18" charset="0"/>
                <a:cs typeface="Times New Roman" panose="02020603050405020304" pitchFamily="18" charset="0"/>
              </a:rPr>
              <a:t>QCVN 135:2024/BTTTT</a:t>
            </a:r>
            <a:r>
              <a:rPr lang="vi-VN" sz="1400" dirty="0">
                <a:solidFill>
                  <a:schemeClr val="bg1"/>
                </a:solidFill>
                <a:latin typeface="Times New Roman" panose="02020603050405020304" pitchFamily="18" charset="0"/>
                <a:cs typeface="Times New Roman" panose="02020603050405020304" pitchFamily="18" charset="0"/>
              </a:rPr>
              <a:t>, khẳng định đây là lựa chọn tối ưu về hiệu năng và bảo mật</a:t>
            </a:r>
          </a:p>
        </p:txBody>
      </p:sp>
      <p:pic>
        <p:nvPicPr>
          <p:cNvPr id="7" name="Picture 6" descr="A blue circle with black text&#10;&#10;AI-generated content may be incorrect.">
            <a:extLst>
              <a:ext uri="{FF2B5EF4-FFF2-40B4-BE49-F238E27FC236}">
                <a16:creationId xmlns:a16="http://schemas.microsoft.com/office/drawing/2014/main" id="{53D2599D-5D79-576B-A829-379323C1F6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3053" y="6010275"/>
            <a:ext cx="4791075" cy="847725"/>
          </a:xfrm>
          <a:prstGeom prst="rect">
            <a:avLst/>
          </a:prstGeom>
        </p:spPr>
      </p:pic>
      <p:pic>
        <p:nvPicPr>
          <p:cNvPr id="3" name="Picture 2" descr="A screenshot of a phone&#10;&#10;AI-generated content may be incorrect.">
            <a:extLst>
              <a:ext uri="{FF2B5EF4-FFF2-40B4-BE49-F238E27FC236}">
                <a16:creationId xmlns:a16="http://schemas.microsoft.com/office/drawing/2014/main" id="{E2DA880E-E602-AC57-CA0F-4BADF9EDD1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5025" y="-233208"/>
            <a:ext cx="3399038" cy="2012844"/>
          </a:xfrm>
          <a:prstGeom prst="rect">
            <a:avLst/>
          </a:prstGeom>
        </p:spPr>
      </p:pic>
    </p:spTree>
    <p:extLst>
      <p:ext uri="{BB962C8B-B14F-4D97-AF65-F5344CB8AC3E}">
        <p14:creationId xmlns:p14="http://schemas.microsoft.com/office/powerpoint/2010/main" val="416119897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43FA1F-2E72-3C46-C1BF-83ED982419F6}"/>
            </a:ext>
          </a:extLst>
        </p:cNvPr>
        <p:cNvGrpSpPr/>
        <p:nvPr/>
      </p:nvGrpSpPr>
      <p:grpSpPr>
        <a:xfrm>
          <a:off x="0" y="0"/>
          <a:ext cx="0" cy="0"/>
          <a:chOff x="0" y="0"/>
          <a:chExt cx="0" cy="0"/>
        </a:xfrm>
      </p:grpSpPr>
      <p:sp useBgFill="1">
        <p:nvSpPr>
          <p:cNvPr id="8203" name="Rectangle 8202">
            <a:extLst>
              <a:ext uri="{FF2B5EF4-FFF2-40B4-BE49-F238E27FC236}">
                <a16:creationId xmlns:a16="http://schemas.microsoft.com/office/drawing/2014/main" id="{59FE2ACE-380A-1412-B114-BD97D992AA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5" name="Rectangle 8204">
            <a:extLst>
              <a:ext uri="{FF2B5EF4-FFF2-40B4-BE49-F238E27FC236}">
                <a16:creationId xmlns:a16="http://schemas.microsoft.com/office/drawing/2014/main" id="{77381609-E9D0-7DF7-1AF2-A5B67F4A3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F59A5C-8547-CA1E-F83D-3DEF1F82E857}"/>
              </a:ext>
            </a:extLst>
          </p:cNvPr>
          <p:cNvSpPr>
            <a:spLocks noGrp="1"/>
          </p:cNvSpPr>
          <p:nvPr>
            <p:ph type="title"/>
          </p:nvPr>
        </p:nvSpPr>
        <p:spPr>
          <a:xfrm>
            <a:off x="371093" y="1161288"/>
            <a:ext cx="5498765" cy="1124712"/>
          </a:xfrm>
        </p:spPr>
        <p:txBody>
          <a:bodyPr anchor="ctr">
            <a:normAutofit fontScale="90000"/>
          </a:bodyPr>
          <a:lstStyle/>
          <a:p>
            <a:r>
              <a:rPr lang="en-US" sz="2800" dirty="0">
                <a:solidFill>
                  <a:schemeClr val="bg1"/>
                </a:solidFill>
                <a:latin typeface="Times New Roman" panose="02020603050405020304" pitchFamily="18" charset="0"/>
                <a:cs typeface="Times New Roman" panose="02020603050405020304" pitchFamily="18" charset="0"/>
              </a:rPr>
              <a:t>40x OPTICAL ZOOM PTZ CAMERA</a:t>
            </a: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VA50FA2V-40</a:t>
            </a:r>
          </a:p>
        </p:txBody>
      </p:sp>
      <p:sp>
        <p:nvSpPr>
          <p:cNvPr id="8207" name="Rectangle 8206">
            <a:extLst>
              <a:ext uri="{FF2B5EF4-FFF2-40B4-BE49-F238E27FC236}">
                <a16:creationId xmlns:a16="http://schemas.microsoft.com/office/drawing/2014/main" id="{2BC45B3C-21E2-A0CE-FCF0-A3B9D7EF4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209" name="Rectangle 8208">
            <a:extLst>
              <a:ext uri="{FF2B5EF4-FFF2-40B4-BE49-F238E27FC236}">
                <a16:creationId xmlns:a16="http://schemas.microsoft.com/office/drawing/2014/main" id="{22A21E77-A53E-D9B3-4799-E62456DAA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A15E09D6-5E29-7AAE-B5C4-364493417BA4}"/>
              </a:ext>
            </a:extLst>
          </p:cNvPr>
          <p:cNvSpPr txBox="1"/>
          <p:nvPr/>
        </p:nvSpPr>
        <p:spPr>
          <a:xfrm>
            <a:off x="320293" y="2692557"/>
            <a:ext cx="5254809" cy="2462213"/>
          </a:xfrm>
          <a:prstGeom prst="rect">
            <a:avLst/>
          </a:prstGeom>
          <a:noFill/>
        </p:spPr>
        <p:txBody>
          <a:bodyPr wrap="square" lIns="91440" tIns="45720" rIns="91440" bIns="45720" rtlCol="0" anchor="ctr">
            <a:spAutoFit/>
          </a:bodyPr>
          <a:lstStyle/>
          <a:p>
            <a:pPr marL="285750" indent="-285750" algn="just">
              <a:buFont typeface="Arial" panose="020B0604020202020204" pitchFamily="34" charset="0"/>
              <a:buChar char="•"/>
            </a:pPr>
            <a:r>
              <a:rPr lang="en-US" sz="1400" dirty="0" err="1">
                <a:solidFill>
                  <a:schemeClr val="bg1"/>
                </a:solidFill>
                <a:latin typeface="Times New Roman" panose="02020603050405020304" pitchFamily="18" charset="0"/>
                <a:cs typeface="Times New Roman" panose="02020603050405020304" pitchFamily="18" charset="0"/>
              </a:rPr>
              <a:t>Khả</a:t>
            </a:r>
            <a:r>
              <a:rPr lang="en-US" sz="1400" dirty="0">
                <a:solidFill>
                  <a:schemeClr val="bg1"/>
                </a:solidFill>
                <a:latin typeface="Times New Roman" panose="02020603050405020304" pitchFamily="18" charset="0"/>
                <a:cs typeface="Times New Roman" panose="02020603050405020304" pitchFamily="18" charset="0"/>
              </a:rPr>
              <a:t> </a:t>
            </a:r>
            <a:r>
              <a:rPr lang="vi-VN" sz="1400" dirty="0">
                <a:solidFill>
                  <a:schemeClr val="bg1"/>
                </a:solidFill>
                <a:latin typeface="Times New Roman" panose="02020603050405020304" pitchFamily="18" charset="0"/>
                <a:cs typeface="Times New Roman" panose="02020603050405020304" pitchFamily="18" charset="0"/>
              </a:rPr>
              <a:t>năng quan sát toàn diện với Phạm vi quan sát 360° ngang và 90° dọc, kết hợp với khả năng Zoom quang học 40x và zoom số 10x cho phép theo dõi chi tiết đối tượng chính xác</a:t>
            </a:r>
            <a:endParaRPr lang="en-US" sz="14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T</a:t>
            </a:r>
            <a:r>
              <a:rPr lang="vi-VN" sz="1400" dirty="0">
                <a:solidFill>
                  <a:schemeClr val="bg1"/>
                </a:solidFill>
                <a:latin typeface="Times New Roman" panose="02020603050405020304" pitchFamily="18" charset="0"/>
                <a:cs typeface="Times New Roman" panose="02020603050405020304" pitchFamily="18" charset="0"/>
              </a:rPr>
              <a:t>ích hợp HDR Engine Gen3 tối ưu hóa hình ảnh trong điều kiện ngược sáng, sử dụng Ambarella CVflow hỗ trợ các ứng dụng phân tích nội dung video bằng công nghệ AI xử lý tại biên</a:t>
            </a:r>
            <a:endParaRPr lang="en-US" sz="14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1400" dirty="0">
                <a:solidFill>
                  <a:schemeClr val="bg1"/>
                </a:solidFill>
                <a:latin typeface="Times New Roman" panose="02020603050405020304" pitchFamily="18" charset="0"/>
                <a:cs typeface="Times New Roman" panose="02020603050405020304" pitchFamily="18" charset="0"/>
              </a:rPr>
              <a:t>Thiết kế đạt chuẩn chống va đập IK10 và chống bụi/nước IP67</a:t>
            </a:r>
          </a:p>
          <a:p>
            <a:pPr marL="285750" indent="-285750" algn="just">
              <a:buFont typeface="Arial" panose="020B0604020202020204" pitchFamily="34" charset="0"/>
              <a:buChar char="•"/>
            </a:pPr>
            <a:r>
              <a:rPr lang="vi-VN" sz="1400" dirty="0">
                <a:solidFill>
                  <a:schemeClr val="bg1"/>
                </a:solidFill>
                <a:latin typeface="Times New Roman" panose="02020603050405020304" pitchFamily="18" charset="0"/>
                <a:cs typeface="Times New Roman" panose="02020603050405020304" pitchFamily="18" charset="0"/>
              </a:rPr>
              <a:t>Đáp ứng đầy đủ các tiêu chuẩn về tương thích ONVIF Profiles S/G/T/M và An toàn thông tin QCVN 135:2024/BTTTT</a:t>
            </a:r>
            <a:endParaRPr lang="en-US" sz="14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1400" dirty="0">
                <a:solidFill>
                  <a:schemeClr val="bg1"/>
                </a:solidFill>
                <a:latin typeface="Times New Roman" panose="02020603050405020304" pitchFamily="18" charset="0"/>
                <a:cs typeface="Times New Roman" panose="02020603050405020304" pitchFamily="18" charset="0"/>
              </a:rPr>
              <a:t>Camera PTZ 360° đảm bảo hiệu suất vượt trội, độ bền bỉ và tính bảo mật cao cho mọi dự án giám sát quy mô lớn.</a:t>
            </a:r>
          </a:p>
        </p:txBody>
      </p:sp>
      <p:pic>
        <p:nvPicPr>
          <p:cNvPr id="13" name="Picture 12" descr="A close-up of a camera&#10;&#10;AI-generated content may be incorrect.">
            <a:extLst>
              <a:ext uri="{FF2B5EF4-FFF2-40B4-BE49-F238E27FC236}">
                <a16:creationId xmlns:a16="http://schemas.microsoft.com/office/drawing/2014/main" id="{62A5AB94-7881-BD33-0E4D-8EF74E805C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2340" y="-213358"/>
            <a:ext cx="4112213" cy="6153738"/>
          </a:xfrm>
          <a:prstGeom prst="rect">
            <a:avLst/>
          </a:prstGeom>
        </p:spPr>
      </p:pic>
      <p:pic>
        <p:nvPicPr>
          <p:cNvPr id="10" name="Picture 9" descr="A screenshot of a phone&#10;&#10;AI-generated content may be incorrect.">
            <a:extLst>
              <a:ext uri="{FF2B5EF4-FFF2-40B4-BE49-F238E27FC236}">
                <a16:creationId xmlns:a16="http://schemas.microsoft.com/office/drawing/2014/main" id="{661AAA12-82EE-585E-0CD8-09D87DBBD0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9262" y="0"/>
            <a:ext cx="4260291" cy="1414054"/>
          </a:xfrm>
          <a:prstGeom prst="rect">
            <a:avLst/>
          </a:prstGeom>
        </p:spPr>
      </p:pic>
      <p:pic>
        <p:nvPicPr>
          <p:cNvPr id="15" name="Picture 14" descr="A blue circle with black text&#10;&#10;AI-generated content may be incorrect.">
            <a:extLst>
              <a:ext uri="{FF2B5EF4-FFF2-40B4-BE49-F238E27FC236}">
                <a16:creationId xmlns:a16="http://schemas.microsoft.com/office/drawing/2014/main" id="{845B0DA6-5EFD-4671-A084-CAA6EB6580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23053" y="6010275"/>
            <a:ext cx="4791075" cy="847725"/>
          </a:xfrm>
          <a:prstGeom prst="rect">
            <a:avLst/>
          </a:prstGeom>
        </p:spPr>
      </p:pic>
    </p:spTree>
    <p:extLst>
      <p:ext uri="{BB962C8B-B14F-4D97-AF65-F5344CB8AC3E}">
        <p14:creationId xmlns:p14="http://schemas.microsoft.com/office/powerpoint/2010/main" val="1570679395"/>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B4053B-3D6C-224B-DEF0-71457FBEE741}"/>
            </a:ext>
          </a:extLst>
        </p:cNvPr>
        <p:cNvGrpSpPr/>
        <p:nvPr/>
      </p:nvGrpSpPr>
      <p:grpSpPr>
        <a:xfrm>
          <a:off x="0" y="0"/>
          <a:ext cx="0" cy="0"/>
          <a:chOff x="0" y="0"/>
          <a:chExt cx="0" cy="0"/>
        </a:xfrm>
      </p:grpSpPr>
      <p:sp useBgFill="1">
        <p:nvSpPr>
          <p:cNvPr id="8203" name="Rectangle 8202">
            <a:extLst>
              <a:ext uri="{FF2B5EF4-FFF2-40B4-BE49-F238E27FC236}">
                <a16:creationId xmlns:a16="http://schemas.microsoft.com/office/drawing/2014/main" id="{7148C6B4-D3BC-7FFE-F8D9-DBE7AF7CD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5" name="Rectangle 8204">
            <a:extLst>
              <a:ext uri="{FF2B5EF4-FFF2-40B4-BE49-F238E27FC236}">
                <a16:creationId xmlns:a16="http://schemas.microsoft.com/office/drawing/2014/main" id="{F11B5AF5-1955-F520-AD89-E81B75AFC0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0A4C33-A091-8449-1BCA-734973239320}"/>
              </a:ext>
            </a:extLst>
          </p:cNvPr>
          <p:cNvSpPr>
            <a:spLocks noGrp="1"/>
          </p:cNvSpPr>
          <p:nvPr>
            <p:ph type="title"/>
          </p:nvPr>
        </p:nvSpPr>
        <p:spPr>
          <a:xfrm>
            <a:off x="371093" y="1161288"/>
            <a:ext cx="4741681" cy="1124712"/>
          </a:xfrm>
        </p:spPr>
        <p:txBody>
          <a:bodyPr anchor="ctr">
            <a:normAutofit fontScale="90000"/>
          </a:bodyPr>
          <a:lstStyle/>
          <a:p>
            <a:r>
              <a:rPr lang="en-US" sz="2800" dirty="0">
                <a:solidFill>
                  <a:schemeClr val="bg1"/>
                </a:solidFill>
                <a:latin typeface="Times New Roman" panose="02020603050405020304" pitchFamily="18" charset="0"/>
                <a:cs typeface="Times New Roman" panose="02020603050405020304" pitchFamily="18" charset="0"/>
              </a:rPr>
              <a:t>AI OUTDOOR DOME CAMERA</a:t>
            </a: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VA50FA0V</a:t>
            </a:r>
          </a:p>
        </p:txBody>
      </p:sp>
      <p:sp>
        <p:nvSpPr>
          <p:cNvPr id="8207" name="Rectangle 8206">
            <a:extLst>
              <a:ext uri="{FF2B5EF4-FFF2-40B4-BE49-F238E27FC236}">
                <a16:creationId xmlns:a16="http://schemas.microsoft.com/office/drawing/2014/main" id="{ABAC2526-E610-29D0-7A29-B18EC10C6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209" name="Rectangle 8208">
            <a:extLst>
              <a:ext uri="{FF2B5EF4-FFF2-40B4-BE49-F238E27FC236}">
                <a16:creationId xmlns:a16="http://schemas.microsoft.com/office/drawing/2014/main" id="{9B11FE0B-6504-469C-200A-CDC193691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87D56788-7539-C63B-08E3-3365CC1DB762}"/>
              </a:ext>
            </a:extLst>
          </p:cNvPr>
          <p:cNvSpPr txBox="1"/>
          <p:nvPr/>
        </p:nvSpPr>
        <p:spPr>
          <a:xfrm>
            <a:off x="371093" y="2885597"/>
            <a:ext cx="5037595" cy="1815882"/>
          </a:xfrm>
          <a:prstGeom prst="rect">
            <a:avLst/>
          </a:prstGeom>
          <a:noFill/>
        </p:spPr>
        <p:txBody>
          <a:bodyPr wrap="square" lIns="91440" tIns="45720" rIns="91440" bIns="45720" rtlCol="0" anchor="ctr">
            <a:spAutoFit/>
          </a:bodyPr>
          <a:lstStyle/>
          <a:p>
            <a:pPr marL="342900" indent="-34290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T</a:t>
            </a:r>
            <a:r>
              <a:rPr lang="vi-VN" sz="1400" dirty="0">
                <a:solidFill>
                  <a:schemeClr val="bg1"/>
                </a:solidFill>
                <a:latin typeface="Times New Roman" panose="02020603050405020304" pitchFamily="18" charset="0"/>
                <a:cs typeface="Times New Roman" panose="02020603050405020304" pitchFamily="18" charset="0"/>
              </a:rPr>
              <a:t>ích hợp HDR Engine Gen3 cho chất lượng hình ảnh sắc nét vượt trội ngay trong các điều kiện thiếu sáng, khả năng phân tích nội dung video thông minh Ambarella Cvflow</a:t>
            </a:r>
          </a:p>
          <a:p>
            <a:pPr marL="342900" indent="-342900" algn="just">
              <a:buFont typeface="Arial" panose="020B0604020202020204" pitchFamily="34" charset="0"/>
              <a:buChar char="•"/>
            </a:pPr>
            <a:r>
              <a:rPr lang="vi-VN" sz="1400" dirty="0">
                <a:solidFill>
                  <a:schemeClr val="bg1"/>
                </a:solidFill>
                <a:latin typeface="Times New Roman" panose="02020603050405020304" pitchFamily="18" charset="0"/>
                <a:cs typeface="Times New Roman" panose="02020603050405020304" pitchFamily="18" charset="0"/>
              </a:rPr>
              <a:t>Hoạt động bền bỉ trong mọi môi trường với tiêu chuẩn chống va đập IK10 và chống bụi/nước IP67. </a:t>
            </a:r>
          </a:p>
          <a:p>
            <a:pPr marL="342900" indent="-342900" algn="just">
              <a:buFont typeface="Arial" panose="020B0604020202020204" pitchFamily="34" charset="0"/>
              <a:buChar char="•"/>
            </a:pPr>
            <a:r>
              <a:rPr lang="vi-VN" sz="1400" dirty="0">
                <a:solidFill>
                  <a:schemeClr val="bg1"/>
                </a:solidFill>
                <a:latin typeface="Times New Roman" panose="02020603050405020304" pitchFamily="18" charset="0"/>
                <a:cs typeface="Times New Roman" panose="02020603050405020304" pitchFamily="18" charset="0"/>
              </a:rPr>
              <a:t>Đáp ứng đầy đủ các tiêu chuẩn về tương thích ONVIF Profile S/G/T/M và An toàn thông tin QCVN 135:2024/BTTTT, khẳng định đây là lựa chọn tối ưu về hiệu năng và bảo mật.</a:t>
            </a:r>
            <a:endParaRPr lang="vi-VN" dirty="0">
              <a:solidFill>
                <a:schemeClr val="bg1"/>
              </a:solidFill>
              <a:latin typeface="Times New Roman" panose="02020603050405020304" pitchFamily="18" charset="0"/>
              <a:cs typeface="Times New Roman" panose="02020603050405020304" pitchFamily="18" charset="0"/>
            </a:endParaRPr>
          </a:p>
        </p:txBody>
      </p:sp>
      <p:pic>
        <p:nvPicPr>
          <p:cNvPr id="8" name="Picture 7" descr="A white camera with a black background&#10;&#10;AI-generated content may be incorrect.">
            <a:extLst>
              <a:ext uri="{FF2B5EF4-FFF2-40B4-BE49-F238E27FC236}">
                <a16:creationId xmlns:a16="http://schemas.microsoft.com/office/drawing/2014/main" id="{1CF6BC7E-2CA8-2DB8-E72A-DA6AE90A5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3312" y="990647"/>
            <a:ext cx="5552940" cy="5350008"/>
          </a:xfrm>
          <a:prstGeom prst="rect">
            <a:avLst/>
          </a:prstGeom>
        </p:spPr>
      </p:pic>
      <p:pic>
        <p:nvPicPr>
          <p:cNvPr id="9" name="Picture 8" descr="A blue circle with black text&#10;&#10;AI-generated content may be incorrect.">
            <a:extLst>
              <a:ext uri="{FF2B5EF4-FFF2-40B4-BE49-F238E27FC236}">
                <a16:creationId xmlns:a16="http://schemas.microsoft.com/office/drawing/2014/main" id="{E4815DC6-AEC5-BBD8-C5B1-B263E4EA5A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3053" y="6010275"/>
            <a:ext cx="4791075" cy="847725"/>
          </a:xfrm>
          <a:prstGeom prst="rect">
            <a:avLst/>
          </a:prstGeom>
        </p:spPr>
      </p:pic>
      <p:pic>
        <p:nvPicPr>
          <p:cNvPr id="14" name="Picture 13" descr="A screenshot of a phone&#10;&#10;AI-generated content may be incorrect.">
            <a:extLst>
              <a:ext uri="{FF2B5EF4-FFF2-40B4-BE49-F238E27FC236}">
                <a16:creationId xmlns:a16="http://schemas.microsoft.com/office/drawing/2014/main" id="{DAF0795F-8466-EA70-D3B2-CD019F6576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3750" y="-13608"/>
            <a:ext cx="5495925" cy="1095375"/>
          </a:xfrm>
          <a:prstGeom prst="rect">
            <a:avLst/>
          </a:prstGeom>
        </p:spPr>
      </p:pic>
    </p:spTree>
    <p:extLst>
      <p:ext uri="{BB962C8B-B14F-4D97-AF65-F5344CB8AC3E}">
        <p14:creationId xmlns:p14="http://schemas.microsoft.com/office/powerpoint/2010/main" val="1183354386"/>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mp_page.png"/>
          <p:cNvPicPr>
            <a:picLocks noChangeAspect="1"/>
          </p:cNvPicPr>
          <p:nvPr/>
        </p:nvPicPr>
        <p:blipFill>
          <a:blip r:embed="rId2"/>
          <a:srcRect t="-169" r="-95"/>
          <a:stretch>
            <a:fillRect/>
          </a:stretch>
        </p:blipFill>
        <p:spPr>
          <a:xfrm>
            <a:off x="1588" y="0"/>
            <a:ext cx="12200507" cy="68695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mp_page.png"/>
          <p:cNvPicPr>
            <a:picLocks noChangeAspect="1"/>
          </p:cNvPicPr>
          <p:nvPr/>
        </p:nvPicPr>
        <p:blipFill>
          <a:blip r:embed="rId2"/>
          <a:stretch>
            <a:fillRect/>
          </a:stretch>
        </p:blipFill>
        <p:spPr>
          <a:xfrm>
            <a:off x="1588" y="0"/>
            <a:ext cx="12188952" cy="6858000"/>
          </a:xfrm>
          <a:prstGeom prst="rect">
            <a:avLst/>
          </a:prstGeom>
        </p:spPr>
      </p:pic>
      <p:sp>
        <p:nvSpPr>
          <p:cNvPr id="3" name="TextBox 2">
            <a:extLst>
              <a:ext uri="{FF2B5EF4-FFF2-40B4-BE49-F238E27FC236}">
                <a16:creationId xmlns:a16="http://schemas.microsoft.com/office/drawing/2014/main" id="{B886A36B-D1DD-1F6D-6125-C1B37A0109EC}"/>
              </a:ext>
            </a:extLst>
          </p:cNvPr>
          <p:cNvSpPr txBox="1"/>
          <p:nvPr/>
        </p:nvSpPr>
        <p:spPr>
          <a:xfrm>
            <a:off x="5839097" y="5878285"/>
            <a:ext cx="3135086" cy="461665"/>
          </a:xfrm>
          <a:prstGeom prst="rect">
            <a:avLst/>
          </a:prstGeom>
          <a:solidFill>
            <a:schemeClr val="bg1"/>
          </a:solidFill>
        </p:spPr>
        <p:txBody>
          <a:bodyPr wrap="square" rtlCol="0">
            <a:spAutoFit/>
          </a:bodyPr>
          <a:lstStyle/>
          <a:p>
            <a:r>
              <a:rPr lang="vi-VN" sz="1200"/>
              <a:t>Phát hiện hành vi bất thường như đánh nhau, ngã, tụ tập, đám đông, hút thuốc,...</a:t>
            </a:r>
            <a:endParaRPr lang="en-US" sz="1200"/>
          </a:p>
        </p:txBody>
      </p:sp>
    </p:spTree>
    <p:extLst>
      <p:ext uri="{BB962C8B-B14F-4D97-AF65-F5344CB8AC3E}">
        <p14:creationId xmlns:p14="http://schemas.microsoft.com/office/powerpoint/2010/main" val="2924252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Freeform: Shape 62">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35DA046-4C59-8B14-8935-09D19814E506}"/>
              </a:ext>
            </a:extLst>
          </p:cNvPr>
          <p:cNvSpPr>
            <a:spLocks noGrp="1"/>
          </p:cNvSpPr>
          <p:nvPr>
            <p:ph type="ctrTitle"/>
          </p:nvPr>
        </p:nvSpPr>
        <p:spPr>
          <a:xfrm>
            <a:off x="148552" y="813049"/>
            <a:ext cx="3519208" cy="2156621"/>
          </a:xfrm>
        </p:spPr>
        <p:txBody>
          <a:bodyPr vert="horz" lIns="91440" tIns="45720" rIns="91440" bIns="45720" rtlCol="0" anchor="t">
            <a:noAutofit/>
          </a:bodyPr>
          <a:lstStyle/>
          <a:p>
            <a:pPr algn="l"/>
            <a:r>
              <a:rPr lang="en-US" sz="2400" b="1" kern="1200" dirty="0">
                <a:solidFill>
                  <a:srgbClr val="FFFFFF"/>
                </a:solidFill>
                <a:latin typeface="Times New Roman" panose="02020603050405020304" pitchFamily="18" charset="0"/>
                <a:cs typeface="Times New Roman" panose="02020603050405020304" pitchFamily="18" charset="0"/>
              </a:rPr>
              <a:t>AI Camera MKVISION: </a:t>
            </a:r>
            <a:br>
              <a:rPr lang="en-US" sz="2400" b="1" kern="1200" dirty="0">
                <a:solidFill>
                  <a:srgbClr val="FFFFFF"/>
                </a:solidFill>
                <a:latin typeface="Times New Roman" panose="02020603050405020304" pitchFamily="18" charset="0"/>
                <a:cs typeface="Times New Roman" panose="02020603050405020304" pitchFamily="18" charset="0"/>
              </a:rPr>
            </a:br>
            <a:r>
              <a:rPr lang="en-US" sz="2400" b="1" kern="1200" dirty="0" err="1">
                <a:solidFill>
                  <a:srgbClr val="FFFFFF"/>
                </a:solidFill>
                <a:latin typeface="Times New Roman" panose="02020603050405020304" pitchFamily="18" charset="0"/>
                <a:cs typeface="Times New Roman" panose="02020603050405020304" pitchFamily="18" charset="0"/>
              </a:rPr>
              <a:t>Trợ</a:t>
            </a:r>
            <a:r>
              <a:rPr lang="en-US" sz="2400" b="1" kern="1200" dirty="0">
                <a:solidFill>
                  <a:srgbClr val="FFFFFF"/>
                </a:solidFill>
                <a:latin typeface="Times New Roman" panose="02020603050405020304" pitchFamily="18" charset="0"/>
                <a:cs typeface="Times New Roman" panose="02020603050405020304" pitchFamily="18" charset="0"/>
              </a:rPr>
              <a:t> Lý Thông Minh Cho Quản Lý </a:t>
            </a:r>
            <a:r>
              <a:rPr lang="en-US" sz="2400" b="1" kern="1200" dirty="0" err="1">
                <a:solidFill>
                  <a:srgbClr val="FFFFFF"/>
                </a:solidFill>
                <a:latin typeface="Times New Roman" panose="02020603050405020304" pitchFamily="18" charset="0"/>
                <a:cs typeface="Times New Roman" panose="02020603050405020304" pitchFamily="18" charset="0"/>
              </a:rPr>
              <a:t>Trật</a:t>
            </a:r>
            <a:r>
              <a:rPr lang="en-US" sz="2400" b="1" kern="1200" dirty="0">
                <a:solidFill>
                  <a:srgbClr val="FFFFFF"/>
                </a:solidFill>
                <a:latin typeface="Times New Roman" panose="02020603050405020304" pitchFamily="18" charset="0"/>
                <a:cs typeface="Times New Roman" panose="02020603050405020304" pitchFamily="18" charset="0"/>
              </a:rPr>
              <a:t> </a:t>
            </a:r>
            <a:r>
              <a:rPr lang="en-US" sz="2400" b="1" kern="1200" dirty="0" err="1">
                <a:solidFill>
                  <a:srgbClr val="FFFFFF"/>
                </a:solidFill>
                <a:latin typeface="Times New Roman" panose="02020603050405020304" pitchFamily="18" charset="0"/>
                <a:cs typeface="Times New Roman" panose="02020603050405020304" pitchFamily="18" charset="0"/>
              </a:rPr>
              <a:t>Tự</a:t>
            </a:r>
            <a:r>
              <a:rPr lang="en-US" sz="2400" b="1" kern="1200" dirty="0">
                <a:solidFill>
                  <a:srgbClr val="FFFFFF"/>
                </a:solidFill>
                <a:latin typeface="Times New Roman" panose="02020603050405020304" pitchFamily="18" charset="0"/>
                <a:cs typeface="Times New Roman" panose="02020603050405020304" pitchFamily="18" charset="0"/>
              </a:rPr>
              <a:t> </a:t>
            </a:r>
            <a:r>
              <a:rPr lang="en-US" sz="2400" b="1" kern="1200" dirty="0" err="1">
                <a:solidFill>
                  <a:srgbClr val="FFFFFF"/>
                </a:solidFill>
                <a:latin typeface="Times New Roman" panose="02020603050405020304" pitchFamily="18" charset="0"/>
                <a:cs typeface="Times New Roman" panose="02020603050405020304" pitchFamily="18" charset="0"/>
              </a:rPr>
              <a:t>Đô</a:t>
            </a:r>
            <a:r>
              <a:rPr lang="en-US" sz="2400" b="1" kern="1200" dirty="0">
                <a:solidFill>
                  <a:srgbClr val="FFFFFF"/>
                </a:solidFill>
                <a:latin typeface="Times New Roman" panose="02020603050405020304" pitchFamily="18" charset="0"/>
                <a:cs typeface="Times New Roman" panose="02020603050405020304" pitchFamily="18" charset="0"/>
              </a:rPr>
              <a:t> Thị</a:t>
            </a:r>
            <a:br>
              <a:rPr lang="en-US" sz="2400" b="1" kern="1200" dirty="0">
                <a:solidFill>
                  <a:srgbClr val="FFFFFF"/>
                </a:solidFill>
                <a:latin typeface="Times New Roman" panose="02020603050405020304" pitchFamily="18" charset="0"/>
                <a:cs typeface="Times New Roman" panose="02020603050405020304" pitchFamily="18" charset="0"/>
              </a:rPr>
            </a:br>
            <a:r>
              <a:rPr lang="en-US" sz="2400" b="1" kern="1200" dirty="0" err="1">
                <a:solidFill>
                  <a:srgbClr val="FFFFFF"/>
                </a:solidFill>
                <a:latin typeface="Times New Roman" panose="02020603050405020304" pitchFamily="18" charset="0"/>
                <a:cs typeface="Times New Roman" panose="02020603050405020304" pitchFamily="18" charset="0"/>
              </a:rPr>
              <a:t>Xây</a:t>
            </a:r>
            <a:r>
              <a:rPr lang="en-US" sz="2400" b="1" kern="1200" dirty="0">
                <a:solidFill>
                  <a:srgbClr val="FFFFFF"/>
                </a:solidFill>
                <a:latin typeface="Times New Roman" panose="02020603050405020304" pitchFamily="18" charset="0"/>
                <a:cs typeface="Times New Roman" panose="02020603050405020304" pitchFamily="18" charset="0"/>
              </a:rPr>
              <a:t> </a:t>
            </a:r>
            <a:r>
              <a:rPr lang="en-US" sz="2400" b="1" kern="1200" dirty="0" err="1">
                <a:solidFill>
                  <a:srgbClr val="FFFFFF"/>
                </a:solidFill>
                <a:latin typeface="Times New Roman" panose="02020603050405020304" pitchFamily="18" charset="0"/>
                <a:cs typeface="Times New Roman" panose="02020603050405020304" pitchFamily="18" charset="0"/>
              </a:rPr>
              <a:t>Dựng</a:t>
            </a:r>
            <a:r>
              <a:rPr lang="en-US" sz="2400" b="1" kern="1200" dirty="0">
                <a:solidFill>
                  <a:srgbClr val="FFFFFF"/>
                </a:solidFill>
                <a:latin typeface="Times New Roman" panose="02020603050405020304" pitchFamily="18" charset="0"/>
                <a:cs typeface="Times New Roman" panose="02020603050405020304" pitchFamily="18" charset="0"/>
              </a:rPr>
              <a:t> </a:t>
            </a:r>
            <a:r>
              <a:rPr lang="en-US" sz="2400" b="1" kern="1200" dirty="0" err="1">
                <a:solidFill>
                  <a:srgbClr val="FFFFFF"/>
                </a:solidFill>
                <a:latin typeface="Times New Roman" panose="02020603050405020304" pitchFamily="18" charset="0"/>
                <a:cs typeface="Times New Roman" panose="02020603050405020304" pitchFamily="18" charset="0"/>
              </a:rPr>
              <a:t>Đô</a:t>
            </a:r>
            <a:r>
              <a:rPr lang="en-US" sz="2400" b="1" kern="1200" dirty="0">
                <a:solidFill>
                  <a:srgbClr val="FFFFFF"/>
                </a:solidFill>
                <a:latin typeface="Times New Roman" panose="02020603050405020304" pitchFamily="18" charset="0"/>
                <a:cs typeface="Times New Roman" panose="02020603050405020304" pitchFamily="18" charset="0"/>
              </a:rPr>
              <a:t> Thị </a:t>
            </a:r>
            <a:br>
              <a:rPr lang="en-US" sz="2400" b="1" kern="1200" dirty="0">
                <a:solidFill>
                  <a:srgbClr val="FFFFFF"/>
                </a:solidFill>
                <a:latin typeface="Times New Roman" panose="02020603050405020304" pitchFamily="18" charset="0"/>
                <a:cs typeface="Times New Roman" panose="02020603050405020304" pitchFamily="18" charset="0"/>
              </a:rPr>
            </a:br>
            <a:r>
              <a:rPr lang="en-US" sz="2400" b="1" kern="1200" dirty="0">
                <a:solidFill>
                  <a:srgbClr val="FFFFFF"/>
                </a:solidFill>
                <a:latin typeface="Times New Roman" panose="02020603050405020304" pitchFamily="18" charset="0"/>
                <a:cs typeface="Times New Roman" panose="02020603050405020304" pitchFamily="18" charset="0"/>
              </a:rPr>
              <a:t>Văn Minh, An </a:t>
            </a:r>
            <a:r>
              <a:rPr lang="en-US" sz="2400" b="1" kern="1200" dirty="0" err="1">
                <a:solidFill>
                  <a:srgbClr val="FFFFFF"/>
                </a:solidFill>
                <a:latin typeface="Times New Roman" panose="02020603050405020304" pitchFamily="18" charset="0"/>
                <a:cs typeface="Times New Roman" panose="02020603050405020304" pitchFamily="18" charset="0"/>
              </a:rPr>
              <a:t>Toàn</a:t>
            </a:r>
            <a:r>
              <a:rPr lang="en-US" sz="2400" b="1" kern="1200" dirty="0">
                <a:solidFill>
                  <a:srgbClr val="FFFFFF"/>
                </a:solidFill>
                <a:latin typeface="Times New Roman" panose="02020603050405020304" pitchFamily="18" charset="0"/>
                <a:cs typeface="Times New Roman" panose="02020603050405020304" pitchFamily="18" charset="0"/>
              </a:rPr>
              <a:t> </a:t>
            </a:r>
            <a:br>
              <a:rPr lang="en-US" sz="2400" b="1" kern="1200" dirty="0">
                <a:solidFill>
                  <a:srgbClr val="FFFFFF"/>
                </a:solidFill>
                <a:latin typeface="Times New Roman" panose="02020603050405020304" pitchFamily="18" charset="0"/>
                <a:cs typeface="Times New Roman" panose="02020603050405020304" pitchFamily="18" charset="0"/>
              </a:rPr>
            </a:br>
            <a:r>
              <a:rPr lang="en-US" sz="2400" b="1" kern="1200" dirty="0">
                <a:solidFill>
                  <a:srgbClr val="FFFFFF"/>
                </a:solidFill>
                <a:latin typeface="Times New Roman" panose="02020603050405020304" pitchFamily="18" charset="0"/>
                <a:cs typeface="Times New Roman" panose="02020603050405020304" pitchFamily="18" charset="0"/>
              </a:rPr>
              <a:t>&amp; </a:t>
            </a:r>
            <a:r>
              <a:rPr lang="en-US" sz="2400" b="1" kern="1200" dirty="0" err="1">
                <a:solidFill>
                  <a:srgbClr val="FFFFFF"/>
                </a:solidFill>
                <a:latin typeface="Times New Roman" panose="02020603050405020304" pitchFamily="18" charset="0"/>
                <a:cs typeface="Times New Roman" panose="02020603050405020304" pitchFamily="18" charset="0"/>
              </a:rPr>
              <a:t>Hiện</a:t>
            </a:r>
            <a:r>
              <a:rPr lang="en-US" sz="2400" b="1" kern="1200" dirty="0">
                <a:solidFill>
                  <a:srgbClr val="FFFFFF"/>
                </a:solidFill>
                <a:latin typeface="Times New Roman" panose="02020603050405020304" pitchFamily="18" charset="0"/>
                <a:cs typeface="Times New Roman" panose="02020603050405020304" pitchFamily="18" charset="0"/>
              </a:rPr>
              <a:t> </a:t>
            </a:r>
            <a:r>
              <a:rPr lang="en-US" sz="2400" b="1" kern="1200" dirty="0" err="1">
                <a:solidFill>
                  <a:srgbClr val="FFFFFF"/>
                </a:solidFill>
                <a:latin typeface="Times New Roman" panose="02020603050405020304" pitchFamily="18" charset="0"/>
                <a:cs typeface="Times New Roman" panose="02020603050405020304" pitchFamily="18" charset="0"/>
              </a:rPr>
              <a:t>Đại</a:t>
            </a:r>
            <a:br>
              <a:rPr lang="en-US" sz="1600" b="1" kern="1200" dirty="0">
                <a:solidFill>
                  <a:srgbClr val="FFFFFF"/>
                </a:solidFill>
                <a:latin typeface="Times New Roman" panose="02020603050405020304" pitchFamily="18" charset="0"/>
                <a:cs typeface="Times New Roman" panose="02020603050405020304" pitchFamily="18" charset="0"/>
              </a:rPr>
            </a:br>
            <a:r>
              <a:rPr lang="en-US" sz="1600" kern="1200" dirty="0" err="1">
                <a:solidFill>
                  <a:srgbClr val="FFFFFF"/>
                </a:solidFill>
                <a:latin typeface="Times New Roman" panose="02020603050405020304" pitchFamily="18" charset="0"/>
                <a:cs typeface="Times New Roman" panose="02020603050405020304" pitchFamily="18" charset="0"/>
              </a:rPr>
              <a:t>Đồng</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vai</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trò</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thay</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thế</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và</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hỗ</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trợ</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đắc</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lực</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cho</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cán</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bộ</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quản</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lý</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trật</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tự</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đô</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thị</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giúp</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thành</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phố</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vận</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hành</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hiệu</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quả</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minh</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bạch</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và</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bền</a:t>
            </a:r>
            <a:r>
              <a:rPr lang="en-US" sz="1600" kern="1200" dirty="0">
                <a:solidFill>
                  <a:srgbClr val="FFFFFF"/>
                </a:solidFill>
                <a:latin typeface="Times New Roman" panose="02020603050405020304" pitchFamily="18" charset="0"/>
                <a:cs typeface="Times New Roman" panose="02020603050405020304" pitchFamily="18" charset="0"/>
              </a:rPr>
              <a:t> </a:t>
            </a:r>
            <a:r>
              <a:rPr lang="en-US" sz="1600" kern="1200" dirty="0" err="1">
                <a:solidFill>
                  <a:srgbClr val="FFFFFF"/>
                </a:solidFill>
                <a:latin typeface="Times New Roman" panose="02020603050405020304" pitchFamily="18" charset="0"/>
                <a:cs typeface="Times New Roman" panose="02020603050405020304" pitchFamily="18" charset="0"/>
              </a:rPr>
              <a:t>vững</a:t>
            </a:r>
            <a:r>
              <a:rPr lang="en-US" sz="1600" kern="1200" dirty="0">
                <a:solidFill>
                  <a:srgbClr val="FFFFFF"/>
                </a:solidFill>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F95BB029-7440-0171-94F7-7F11FB428C40}"/>
              </a:ext>
            </a:extLst>
          </p:cNvPr>
          <p:cNvSpPr>
            <a:spLocks noGrp="1"/>
          </p:cNvSpPr>
          <p:nvPr>
            <p:ph type="subTitle" idx="1"/>
          </p:nvPr>
        </p:nvSpPr>
        <p:spPr>
          <a:xfrm>
            <a:off x="4232229" y="179849"/>
            <a:ext cx="4135026" cy="7304791"/>
          </a:xfrm>
        </p:spPr>
        <p:txBody>
          <a:bodyPr vert="horz" lIns="91440" tIns="45720" rIns="91440" bIns="45720" rtlCol="0">
            <a:normAutofit/>
          </a:bodyPr>
          <a:lstStyle/>
          <a:p>
            <a:pPr algn="just">
              <a:lnSpc>
                <a:spcPct val="120000"/>
              </a:lnSpc>
              <a:spcBef>
                <a:spcPts val="600"/>
              </a:spcBef>
            </a:pP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Đảm</a:t>
            </a:r>
            <a:r>
              <a:rPr lang="en-US" sz="1000" b="1" dirty="0">
                <a:latin typeface="Times New Roman" panose="02020603050405020304" pitchFamily="18" charset="0"/>
                <a:cs typeface="Times New Roman" panose="02020603050405020304" pitchFamily="18" charset="0"/>
              </a:rPr>
              <a:t> Bảo An Ninh &amp; </a:t>
            </a:r>
            <a:r>
              <a:rPr lang="en-US" sz="1000" b="1" dirty="0" err="1">
                <a:latin typeface="Times New Roman" panose="02020603050405020304" pitchFamily="18" charset="0"/>
                <a:cs typeface="Times New Roman" panose="02020603050405020304" pitchFamily="18" charset="0"/>
              </a:rPr>
              <a:t>Trật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Tự</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Đô</a:t>
            </a:r>
            <a:r>
              <a:rPr lang="en-US" sz="1000" b="1" dirty="0">
                <a:latin typeface="Times New Roman" panose="02020603050405020304" pitchFamily="18" charset="0"/>
                <a:cs typeface="Times New Roman" panose="02020603050405020304" pitchFamily="18" charset="0"/>
              </a:rPr>
              <a:t> Thị</a:t>
            </a:r>
          </a:p>
          <a:p>
            <a:pPr algn="just">
              <a:lnSpc>
                <a:spcPct val="120000"/>
              </a:lnSpc>
              <a:spcBef>
                <a:spcPts val="600"/>
              </a:spcBef>
            </a:pPr>
            <a:r>
              <a:rPr lang="en-US" sz="1000" b="1" dirty="0" err="1">
                <a:latin typeface="Times New Roman" panose="02020603050405020304" pitchFamily="18" charset="0"/>
                <a:cs typeface="Times New Roman" panose="02020603050405020304" pitchFamily="18" charset="0"/>
              </a:rPr>
              <a:t>Giám</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sát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toàn</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diện</a:t>
            </a:r>
            <a:r>
              <a:rPr lang="en-US" sz="1000" b="1" dirty="0">
                <a:latin typeface="Times New Roman" panose="02020603050405020304" pitchFamily="18" charset="0"/>
                <a:cs typeface="Times New Roman" panose="02020603050405020304" pitchFamily="18" charset="0"/>
              </a:rPr>
              <a:t> 24/7:</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Theo </a:t>
            </a:r>
            <a:r>
              <a:rPr lang="en-US" sz="1000" dirty="0" err="1">
                <a:latin typeface="Times New Roman" panose="02020603050405020304" pitchFamily="18" charset="0"/>
                <a:cs typeface="Times New Roman" panose="02020603050405020304" pitchFamily="18" charset="0"/>
              </a:rPr>
              <a:t>dõi</a:t>
            </a:r>
            <a:r>
              <a:rPr lang="en-US" sz="1000" dirty="0">
                <a:latin typeface="Times New Roman" panose="02020603050405020304" pitchFamily="18" charset="0"/>
                <a:cs typeface="Times New Roman" panose="02020603050405020304" pitchFamily="18" charset="0"/>
              </a:rPr>
              <a:t> an </a:t>
            </a:r>
            <a:r>
              <a:rPr lang="en-US" sz="1000" dirty="0" err="1">
                <a:latin typeface="Times New Roman" panose="02020603050405020304" pitchFamily="18" charset="0"/>
                <a:cs typeface="Times New Roman" panose="02020603050405020304" pitchFamily="18" charset="0"/>
              </a:rPr>
              <a:t>ninh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tại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cơ</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sở</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doanh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khu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đêm</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Giám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phố</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bộ</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viên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quảng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trường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cộng</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Phát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hành</a:t>
            </a:r>
            <a:r>
              <a:rPr lang="en-US" sz="1000" dirty="0">
                <a:latin typeface="Times New Roman" panose="02020603050405020304" pitchFamily="18" charset="0"/>
                <a:cs typeface="Times New Roman" panose="02020603050405020304" pitchFamily="18" charset="0"/>
              </a:rPr>
              <a:t> vi </a:t>
            </a:r>
            <a:r>
              <a:rPr lang="en-US" sz="1000" dirty="0" err="1">
                <a:latin typeface="Times New Roman" panose="02020603050405020304" pitchFamily="18" charset="0"/>
                <a:cs typeface="Times New Roman" panose="02020603050405020304" pitchFamily="18" charset="0"/>
              </a:rPr>
              <a:t>gây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rối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trật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tự</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tụ</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tập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bất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thường</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Cảnh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báo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kịp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nguy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cơ</a:t>
            </a:r>
            <a:r>
              <a:rPr lang="en-US" sz="1000" dirty="0">
                <a:latin typeface="Times New Roman" panose="02020603050405020304" pitchFamily="18" charset="0"/>
                <a:cs typeface="Times New Roman" panose="02020603050405020304" pitchFamily="18" charset="0"/>
              </a:rPr>
              <a:t> an </a:t>
            </a:r>
            <a:r>
              <a:rPr lang="en-US" sz="1000" dirty="0" err="1">
                <a:latin typeface="Times New Roman" panose="02020603050405020304" pitchFamily="18" charset="0"/>
                <a:cs typeface="Times New Roman" panose="02020603050405020304" pitchFamily="18" charset="0"/>
              </a:rPr>
              <a:t>ninh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trong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endParaRPr lang="en-US" sz="1000" dirty="0">
              <a:latin typeface="Times New Roman" panose="02020603050405020304" pitchFamily="18" charset="0"/>
              <a:cs typeface="Times New Roman" panose="02020603050405020304" pitchFamily="18" charset="0"/>
            </a:endParaRPr>
          </a:p>
          <a:p>
            <a:pPr algn="just">
              <a:lnSpc>
                <a:spcPct val="120000"/>
              </a:lnSpc>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Tăng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cường</a:t>
            </a:r>
            <a:r>
              <a:rPr lang="en-US" sz="1000" dirty="0">
                <a:latin typeface="Times New Roman" panose="02020603050405020304" pitchFamily="18" charset="0"/>
                <a:cs typeface="Times New Roman" panose="02020603050405020304" pitchFamily="18" charset="0"/>
              </a:rPr>
              <a:t> an </a:t>
            </a:r>
            <a:r>
              <a:rPr lang="en-US" sz="1000" dirty="0" err="1">
                <a:latin typeface="Times New Roman" panose="02020603050405020304" pitchFamily="18" charset="0"/>
                <a:cs typeface="Times New Roman" panose="02020603050405020304" pitchFamily="18" charset="0"/>
              </a:rPr>
              <a:t>toàn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và</a:t>
            </a:r>
            <a:r>
              <a:rPr lang="en-US" sz="1000" dirty="0">
                <a:latin typeface="Times New Roman" panose="02020603050405020304" pitchFamily="18" charset="0"/>
                <a:cs typeface="Times New Roman" panose="02020603050405020304" pitchFamily="18" charset="0"/>
              </a:rPr>
              <a:t> du </a:t>
            </a:r>
            <a:r>
              <a:rPr lang="en-US" sz="1000" dirty="0" err="1">
                <a:latin typeface="Times New Roman" panose="02020603050405020304" pitchFamily="18" charset="0"/>
                <a:cs typeface="Times New Roman" panose="02020603050405020304" pitchFamily="18" charset="0"/>
              </a:rPr>
              <a:t>khách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xử</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lý</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nhanh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tình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huống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bất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ổn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nâng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cao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hình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ảnh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văn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minh</a:t>
            </a:r>
            <a:r>
              <a:rPr lang="en-US" sz="1000" dirty="0">
                <a:latin typeface="Times New Roman" panose="02020603050405020304" pitchFamily="18" charset="0"/>
                <a:cs typeface="Times New Roman" panose="02020603050405020304" pitchFamily="18" charset="0"/>
              </a:rPr>
              <a:t>.</a:t>
            </a:r>
          </a:p>
          <a:p>
            <a:pPr indent="-228600" algn="just">
              <a:lnSpc>
                <a:spcPct val="120000"/>
              </a:lnSpc>
              <a:spcBef>
                <a:spcPts val="600"/>
              </a:spcBef>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algn="just">
              <a:lnSpc>
                <a:spcPct val="120000"/>
              </a:lnSpc>
              <a:spcBef>
                <a:spcPts val="600"/>
              </a:spcBef>
            </a:pPr>
            <a:r>
              <a:rPr lang="en-US" sz="1000" b="1" dirty="0">
                <a:latin typeface="Times New Roman" panose="02020603050405020304" pitchFamily="18" charset="0"/>
                <a:cs typeface="Times New Roman" panose="02020603050405020304" pitchFamily="18" charset="0"/>
              </a:rPr>
              <a:t>📋 Tuân </a:t>
            </a:r>
            <a:r>
              <a:rPr lang="en-US" sz="1000" b="1" dirty="0" err="1">
                <a:latin typeface="Times New Roman" panose="02020603050405020304" pitchFamily="18" charset="0"/>
                <a:cs typeface="Times New Roman" panose="02020603050405020304" pitchFamily="18" charset="0"/>
              </a:rPr>
              <a:t>Thủ</a:t>
            </a:r>
            <a:r>
              <a:rPr lang="en-US" sz="1000" b="1" dirty="0">
                <a:latin typeface="Times New Roman" panose="02020603050405020304" pitchFamily="18" charset="0"/>
                <a:cs typeface="Times New Roman" panose="02020603050405020304" pitchFamily="18" charset="0"/>
              </a:rPr>
              <a:t> Cam </a:t>
            </a:r>
            <a:r>
              <a:rPr lang="en-US" sz="1000" b="1" dirty="0" err="1">
                <a:latin typeface="Times New Roman" panose="02020603050405020304" pitchFamily="18" charset="0"/>
                <a:cs typeface="Times New Roman" panose="02020603050405020304" pitchFamily="18" charset="0"/>
              </a:rPr>
              <a:t>Kết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Đô</a:t>
            </a:r>
            <a:r>
              <a:rPr lang="en-US" sz="1000" b="1" dirty="0">
                <a:latin typeface="Times New Roman" panose="02020603050405020304" pitchFamily="18" charset="0"/>
                <a:cs typeface="Times New Roman" panose="02020603050405020304" pitchFamily="18" charset="0"/>
              </a:rPr>
              <a:t> Thị Văn Minh</a:t>
            </a:r>
          </a:p>
          <a:p>
            <a:pPr algn="just">
              <a:lnSpc>
                <a:spcPct val="120000"/>
              </a:lnSpc>
              <a:spcBef>
                <a:spcPts val="600"/>
              </a:spcBef>
            </a:pPr>
            <a:r>
              <a:rPr lang="en-US" sz="1000" b="1" dirty="0" err="1">
                <a:latin typeface="Times New Roman" panose="02020603050405020304" pitchFamily="18" charset="0"/>
                <a:cs typeface="Times New Roman" panose="02020603050405020304" pitchFamily="18" charset="0"/>
              </a:rPr>
              <a:t>Giám</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sát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các</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tiêu</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chí</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văn</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minh</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đô</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thị</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Phát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vứt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bừa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nơi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cộng</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Giám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vệ</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môi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trường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tự</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phát</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Theo </a:t>
            </a:r>
            <a:r>
              <a:rPr lang="en-US" sz="1000" dirty="0" err="1">
                <a:latin typeface="Times New Roman" panose="02020603050405020304" pitchFamily="18" charset="0"/>
                <a:cs typeface="Times New Roman" panose="02020603050405020304" pitchFamily="18" charset="0"/>
              </a:rPr>
              <a:t>dõi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hoạt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động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buôn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bán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lấn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chiếm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vỉa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hè</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Tạo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điều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thúc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đẩy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hoạt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động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tế</a:t>
            </a:r>
            <a:r>
              <a:rPr lang="en-US" sz="1000" dirty="0">
                <a:latin typeface="Times New Roman" panose="02020603050405020304" pitchFamily="18" charset="0"/>
                <a:cs typeface="Times New Roman" panose="02020603050405020304" pitchFamily="18" charset="0"/>
              </a:rPr>
              <a:t> - </a:t>
            </a:r>
            <a:r>
              <a:rPr lang="en-US" sz="1000" dirty="0" err="1">
                <a:latin typeface="Times New Roman" panose="02020603050405020304" pitchFamily="18" charset="0"/>
                <a:cs typeface="Times New Roman" panose="02020603050405020304" pitchFamily="18" charset="0"/>
              </a:rPr>
              <a:t>xã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hội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lành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mạnh</a:t>
            </a:r>
            <a:endParaRPr lang="en-US" sz="1000" dirty="0">
              <a:latin typeface="Times New Roman" panose="02020603050405020304" pitchFamily="18" charset="0"/>
              <a:cs typeface="Times New Roman" panose="02020603050405020304" pitchFamily="18" charset="0"/>
            </a:endParaRPr>
          </a:p>
          <a:p>
            <a:pPr algn="just">
              <a:lnSpc>
                <a:spcPct val="120000"/>
              </a:lnSpc>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Xây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dựng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sạch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đẹp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nâng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cao</a:t>
            </a:r>
            <a:r>
              <a:rPr lang="en-US" sz="1000" dirty="0">
                <a:latin typeface="Times New Roman" panose="02020603050405020304" pitchFamily="18" charset="0"/>
                <a:cs typeface="Times New Roman" panose="02020603050405020304" pitchFamily="18" charset="0"/>
              </a:rPr>
              <a:t> ý </a:t>
            </a:r>
            <a:r>
              <a:rPr lang="en-US" sz="1000" dirty="0" err="1">
                <a:latin typeface="Times New Roman" panose="02020603050405020304" pitchFamily="18" charset="0"/>
                <a:cs typeface="Times New Roman" panose="02020603050405020304" pitchFamily="18" charset="0"/>
              </a:rPr>
              <a:t>thức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tạo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môi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trường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sống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văn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đại</a:t>
            </a:r>
            <a:r>
              <a:rPr lang="en-US" sz="1000" dirty="0">
                <a:latin typeface="Times New Roman" panose="02020603050405020304" pitchFamily="18" charset="0"/>
                <a:cs typeface="Times New Roman" panose="02020603050405020304" pitchFamily="18" charset="0"/>
              </a:rPr>
              <a:t>.</a:t>
            </a:r>
          </a:p>
          <a:p>
            <a:pPr algn="just">
              <a:lnSpc>
                <a:spcPct val="120000"/>
              </a:lnSpc>
              <a:spcBef>
                <a:spcPts val="600"/>
              </a:spcBef>
            </a:pPr>
            <a:br>
              <a:rPr lang="en-US" sz="1000" dirty="0">
                <a:latin typeface="Times New Roman" panose="02020603050405020304" pitchFamily="18" charset="0"/>
                <a:cs typeface="Times New Roman" panose="02020603050405020304" pitchFamily="18" charset="0"/>
              </a:rPr>
            </a:b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Phát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Hiện</a:t>
            </a:r>
            <a:r>
              <a:rPr lang="en-US" sz="1000" b="1" dirty="0">
                <a:latin typeface="Times New Roman" panose="02020603050405020304" pitchFamily="18" charset="0"/>
                <a:cs typeface="Times New Roman" panose="02020603050405020304" pitchFamily="18" charset="0"/>
              </a:rPr>
              <a:t> &amp; </a:t>
            </a:r>
            <a:r>
              <a:rPr lang="en-US" sz="1000" b="1" dirty="0" err="1">
                <a:latin typeface="Times New Roman" panose="02020603050405020304" pitchFamily="18" charset="0"/>
                <a:cs typeface="Times New Roman" panose="02020603050405020304" pitchFamily="18" charset="0"/>
              </a:rPr>
              <a:t>Cảnh</a:t>
            </a:r>
            <a:r>
              <a:rPr lang="en-US" sz="1000" b="1" dirty="0">
                <a:latin typeface="Times New Roman" panose="02020603050405020304" pitchFamily="18" charset="0"/>
                <a:cs typeface="Times New Roman" panose="02020603050405020304" pitchFamily="18" charset="0"/>
              </a:rPr>
              <a:t> Báo </a:t>
            </a:r>
            <a:r>
              <a:rPr lang="en-US" sz="1000" b="1" dirty="0" err="1">
                <a:latin typeface="Times New Roman" panose="02020603050405020304" pitchFamily="18" charset="0"/>
                <a:cs typeface="Times New Roman" panose="02020603050405020304" pitchFamily="18" charset="0"/>
              </a:rPr>
              <a:t>Hành</a:t>
            </a:r>
            <a:r>
              <a:rPr lang="en-US" sz="1000" b="1" dirty="0">
                <a:latin typeface="Times New Roman" panose="02020603050405020304" pitchFamily="18" charset="0"/>
                <a:cs typeface="Times New Roman" panose="02020603050405020304" pitchFamily="18" charset="0"/>
              </a:rPr>
              <a:t> Vi </a:t>
            </a:r>
            <a:r>
              <a:rPr lang="en-US" sz="1000" b="1" dirty="0" err="1">
                <a:latin typeface="Times New Roman" panose="02020603050405020304" pitchFamily="18" charset="0"/>
                <a:cs typeface="Times New Roman" panose="02020603050405020304" pitchFamily="18" charset="0"/>
              </a:rPr>
              <a:t>Vi</a:t>
            </a:r>
            <a:r>
              <a:rPr lang="en-US" sz="1000" b="1" dirty="0">
                <a:latin typeface="Times New Roman" panose="02020603050405020304" pitchFamily="18" charset="0"/>
                <a:cs typeface="Times New Roman" panose="02020603050405020304" pitchFamily="18" charset="0"/>
              </a:rPr>
              <a:t> Phạm</a:t>
            </a:r>
          </a:p>
          <a:p>
            <a:pPr algn="just">
              <a:lnSpc>
                <a:spcPct val="120000"/>
              </a:lnSpc>
              <a:spcBef>
                <a:spcPts val="600"/>
              </a:spcBef>
            </a:pPr>
            <a:r>
              <a:rPr lang="en-US" sz="1000" b="1" dirty="0" err="1">
                <a:latin typeface="Times New Roman" panose="02020603050405020304" pitchFamily="18" charset="0"/>
                <a:cs typeface="Times New Roman" panose="02020603050405020304" pitchFamily="18" charset="0"/>
              </a:rPr>
              <a:t>Xử</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lý</a:t>
            </a:r>
            <a:r>
              <a:rPr lang="en-US" sz="1000" b="1" dirty="0">
                <a:latin typeface="Times New Roman" panose="02020603050405020304" pitchFamily="18" charset="0"/>
                <a:cs typeface="Times New Roman" panose="02020603050405020304" pitchFamily="18" charset="0"/>
              </a:rPr>
              <a:t> vi </a:t>
            </a:r>
            <a:r>
              <a:rPr lang="en-US" sz="1000" b="1" dirty="0" err="1">
                <a:latin typeface="Times New Roman" panose="02020603050405020304" pitchFamily="18" charset="0"/>
                <a:cs typeface="Times New Roman" panose="02020603050405020304" pitchFamily="18" charset="0"/>
              </a:rPr>
              <a:t>phạm</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kịp</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thời</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Tụ</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tập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gây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rối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trật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tự</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cộng</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Xâm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nhập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khu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vực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cấm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phá</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hoại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tài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sản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Hành</a:t>
            </a:r>
            <a:r>
              <a:rPr lang="en-US" sz="1000" dirty="0">
                <a:latin typeface="Times New Roman" panose="02020603050405020304" pitchFamily="18" charset="0"/>
                <a:cs typeface="Times New Roman" panose="02020603050405020304" pitchFamily="18" charset="0"/>
              </a:rPr>
              <a:t> vi </a:t>
            </a:r>
            <a:r>
              <a:rPr lang="en-US" sz="1000" dirty="0" err="1">
                <a:latin typeface="Times New Roman" panose="02020603050405020304" pitchFamily="18" charset="0"/>
                <a:cs typeface="Times New Roman" panose="02020603050405020304" pitchFamily="18" charset="0"/>
              </a:rPr>
              <a:t>bạo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lực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đánh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nhau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tại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nơi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cộng</a:t>
            </a:r>
            <a:endParaRPr lang="en-US" sz="1000" dirty="0">
              <a:latin typeface="Times New Roman" panose="02020603050405020304" pitchFamily="18" charset="0"/>
              <a:cs typeface="Times New Roman" panose="02020603050405020304" pitchFamily="18" charset="0"/>
            </a:endParaRPr>
          </a:p>
          <a:p>
            <a:pPr indent="-228600" algn="just">
              <a:lnSpc>
                <a:spcPct val="120000"/>
              </a:lnSpc>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Vi </a:t>
            </a:r>
            <a:r>
              <a:rPr lang="en-US" sz="1000" dirty="0" err="1">
                <a:latin typeface="Times New Roman" panose="02020603050405020304" pitchFamily="18" charset="0"/>
                <a:cs typeface="Times New Roman" panose="02020603050405020304" pitchFamily="18" charset="0"/>
              </a:rPr>
              <a:t>phạm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về</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phương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gây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ảnh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hưởng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không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phép</a:t>
            </a:r>
            <a:r>
              <a:rPr lang="en-US" sz="1000" dirty="0">
                <a:latin typeface="Times New Roman" panose="02020603050405020304" pitchFamily="18" charset="0"/>
                <a:cs typeface="Times New Roman" panose="02020603050405020304" pitchFamily="18" charset="0"/>
              </a:rPr>
              <a:t>, loa </a:t>
            </a:r>
            <a:r>
              <a:rPr lang="en-US" sz="1000" dirty="0" err="1">
                <a:latin typeface="Times New Roman" panose="02020603050405020304" pitchFamily="18" charset="0"/>
                <a:cs typeface="Times New Roman" panose="02020603050405020304" pitchFamily="18" charset="0"/>
              </a:rPr>
              <a:t>phường</a:t>
            </a:r>
            <a:r>
              <a:rPr lang="en-US" sz="1000" dirty="0">
                <a:latin typeface="Times New Roman" panose="02020603050405020304" pitchFamily="18" charset="0"/>
                <a:cs typeface="Times New Roman" panose="02020603050405020304" pitchFamily="18" charset="0"/>
              </a:rPr>
              <a:t>)</a:t>
            </a:r>
          </a:p>
          <a:p>
            <a:pPr algn="just">
              <a:lnSpc>
                <a:spcPct val="120000"/>
              </a:lnSpc>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Phản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ứng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nhanh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xử</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bằng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với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bằng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chứng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rõ</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ràng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răn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giảm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việc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lực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lượng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chức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năng</a:t>
            </a:r>
            <a:r>
              <a:rPr lang="en-US" sz="1000" dirty="0">
                <a:latin typeface="Times New Roman" panose="02020603050405020304" pitchFamily="18" charset="0"/>
                <a:cs typeface="Times New Roman" panose="02020603050405020304" pitchFamily="18" charset="0"/>
              </a:rPr>
              <a:t>.</a:t>
            </a:r>
          </a:p>
        </p:txBody>
      </p:sp>
      <p:sp>
        <p:nvSpPr>
          <p:cNvPr id="4" name="Subtitle 2">
            <a:extLst>
              <a:ext uri="{FF2B5EF4-FFF2-40B4-BE49-F238E27FC236}">
                <a16:creationId xmlns:a16="http://schemas.microsoft.com/office/drawing/2014/main" id="{7409A96D-9C65-4022-9E7F-6ED46E83B889}"/>
              </a:ext>
            </a:extLst>
          </p:cNvPr>
          <p:cNvSpPr txBox="1">
            <a:spLocks/>
          </p:cNvSpPr>
          <p:nvPr/>
        </p:nvSpPr>
        <p:spPr>
          <a:xfrm>
            <a:off x="8304119" y="609848"/>
            <a:ext cx="3739330" cy="63192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600"/>
              </a:spcBef>
            </a:pP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Hỗ</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Trợ</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Truy</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Vết</a:t>
            </a:r>
            <a:r>
              <a:rPr lang="en-US" sz="1000" b="1" dirty="0">
                <a:latin typeface="Times New Roman" panose="02020603050405020304" pitchFamily="18" charset="0"/>
                <a:cs typeface="Times New Roman" panose="02020603050405020304" pitchFamily="18" charset="0"/>
              </a:rPr>
              <a:t> &amp; </a:t>
            </a:r>
            <a:r>
              <a:rPr lang="en-US" sz="1000" b="1" dirty="0" err="1">
                <a:latin typeface="Times New Roman" panose="02020603050405020304" pitchFamily="18" charset="0"/>
                <a:cs typeface="Times New Roman" panose="02020603050405020304" pitchFamily="18" charset="0"/>
              </a:rPr>
              <a:t>Điều</a:t>
            </a:r>
            <a:r>
              <a:rPr lang="en-US" sz="1000" b="1" dirty="0">
                <a:latin typeface="Times New Roman" panose="02020603050405020304" pitchFamily="18" charset="0"/>
                <a:cs typeface="Times New Roman" panose="02020603050405020304" pitchFamily="18" charset="0"/>
              </a:rPr>
              <a:t> Tra</a:t>
            </a:r>
          </a:p>
          <a:p>
            <a:pPr algn="just">
              <a:lnSpc>
                <a:spcPct val="100000"/>
              </a:lnSpc>
              <a:spcBef>
                <a:spcPts val="600"/>
              </a:spcBef>
            </a:pPr>
            <a:r>
              <a:rPr lang="en-US" sz="1000" b="1" dirty="0">
                <a:latin typeface="Times New Roman" panose="02020603050405020304" pitchFamily="18" charset="0"/>
                <a:cs typeface="Times New Roman" panose="02020603050405020304" pitchFamily="18" charset="0"/>
              </a:rPr>
              <a:t>Bảo </a:t>
            </a:r>
            <a:r>
              <a:rPr lang="en-US" sz="1000" b="1" dirty="0" err="1">
                <a:latin typeface="Times New Roman" panose="02020603050405020304" pitchFamily="18" charset="0"/>
                <a:cs typeface="Times New Roman" panose="02020603050405020304" pitchFamily="18" charset="0"/>
              </a:rPr>
              <a:t>vệ</a:t>
            </a:r>
            <a:r>
              <a:rPr lang="en-US" sz="1000" b="1" dirty="0">
                <a:latin typeface="Times New Roman" panose="02020603050405020304" pitchFamily="18" charset="0"/>
                <a:cs typeface="Times New Roman" panose="02020603050405020304" pitchFamily="18" charset="0"/>
              </a:rPr>
              <a:t> an </a:t>
            </a:r>
            <a:r>
              <a:rPr lang="en-US" sz="1000" b="1" dirty="0" err="1">
                <a:latin typeface="Times New Roman" panose="02020603050405020304" pitchFamily="18" charset="0"/>
                <a:cs typeface="Times New Roman" panose="02020603050405020304" pitchFamily="18" charset="0"/>
              </a:rPr>
              <a:t>ninh</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quốc</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gia</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Truy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vết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đối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tượng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tình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nghi</a:t>
            </a:r>
            <a:r>
              <a:rPr lang="en-US" sz="1000" dirty="0">
                <a:latin typeface="Times New Roman" panose="02020603050405020304" pitchFamily="18" charset="0"/>
                <a:cs typeface="Times New Roman" panose="02020603050405020304" pitchFamily="18" charset="0"/>
              </a:rPr>
              <a:t> qua </a:t>
            </a:r>
            <a:r>
              <a:rPr lang="en-US" sz="1000" dirty="0" err="1">
                <a:latin typeface="Times New Roman" panose="02020603050405020304" pitchFamily="18" charset="0"/>
                <a:cs typeface="Times New Roman" panose="02020603050405020304" pitchFamily="18" charset="0"/>
              </a:rPr>
              <a:t>mạng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lưới</a:t>
            </a:r>
            <a:r>
              <a:rPr lang="en-US" sz="1000" dirty="0">
                <a:latin typeface="Times New Roman" panose="02020603050405020304" pitchFamily="18" charset="0"/>
                <a:cs typeface="Times New Roman" panose="02020603050405020304" pitchFamily="18" charset="0"/>
              </a:rPr>
              <a:t> camera</a:t>
            </a: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Hỗ</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an </a:t>
            </a:r>
            <a:r>
              <a:rPr lang="en-US" sz="1000" dirty="0" err="1">
                <a:latin typeface="Times New Roman" panose="02020603050405020304" pitchFamily="18" charset="0"/>
                <a:cs typeface="Times New Roman" panose="02020603050405020304" pitchFamily="18" charset="0"/>
              </a:rPr>
              <a:t>điều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vụ</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án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hình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sự</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Cung </a:t>
            </a:r>
            <a:r>
              <a:rPr lang="en-US" sz="1000" dirty="0" err="1">
                <a:latin typeface="Times New Roman" panose="02020603050405020304" pitchFamily="18" charset="0"/>
                <a:cs typeface="Times New Roman" panose="02020603050405020304" pitchFamily="18" charset="0"/>
              </a:rPr>
              <a:t>cấp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bằng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chứng</a:t>
            </a:r>
            <a:r>
              <a:rPr lang="en-US" sz="1000" dirty="0">
                <a:latin typeface="Times New Roman" panose="02020603050405020304" pitchFamily="18" charset="0"/>
                <a:cs typeface="Times New Roman" panose="02020603050405020304" pitchFamily="18" charset="0"/>
              </a:rPr>
              <a:t> video </a:t>
            </a:r>
            <a:r>
              <a:rPr lang="en-US" sz="1000" dirty="0" err="1">
                <a:latin typeface="Times New Roman" panose="02020603050405020304" pitchFamily="18" charset="0"/>
                <a:cs typeface="Times New Roman" panose="02020603050405020304" pitchFamily="18" charset="0"/>
              </a:rPr>
              <a:t>rõ</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nét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chính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xác</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Giám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phương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gây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án</a:t>
            </a:r>
            <a:endParaRPr lang="en-US" sz="100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Tăng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tỷ</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lệ</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phá</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án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bảo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vệ</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tính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và</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tài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sản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giữ</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vững</a:t>
            </a:r>
            <a:r>
              <a:rPr lang="en-US" sz="1000" dirty="0">
                <a:latin typeface="Times New Roman" panose="02020603050405020304" pitchFamily="18" charset="0"/>
                <a:cs typeface="Times New Roman" panose="02020603050405020304" pitchFamily="18" charset="0"/>
              </a:rPr>
              <a:t> an </a:t>
            </a:r>
            <a:r>
              <a:rPr lang="en-US" sz="1000" dirty="0" err="1">
                <a:latin typeface="Times New Roman" panose="02020603050405020304" pitchFamily="18" charset="0"/>
                <a:cs typeface="Times New Roman" panose="02020603050405020304" pitchFamily="18" charset="0"/>
              </a:rPr>
              <a:t>ninh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trật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tự</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r>
              <a:rPr lang="en-US" sz="1000" dirty="0">
                <a:latin typeface="Times New Roman" panose="02020603050405020304" pitchFamily="18" charset="0"/>
                <a:cs typeface="Times New Roman" panose="02020603050405020304" pitchFamily="18" charset="0"/>
              </a:rPr>
              <a:t>.</a:t>
            </a:r>
          </a:p>
          <a:p>
            <a:pPr algn="just">
              <a:lnSpc>
                <a:spcPct val="100000"/>
              </a:lnSpc>
              <a:spcBef>
                <a:spcPts val="600"/>
              </a:spcBef>
            </a:pPr>
            <a:br>
              <a:rPr lang="en-US" sz="1000" dirty="0">
                <a:latin typeface="Times New Roman" panose="02020603050405020304" pitchFamily="18" charset="0"/>
                <a:cs typeface="Times New Roman" panose="02020603050405020304" pitchFamily="18" charset="0"/>
              </a:rPr>
            </a:b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Giải</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Quyết</a:t>
            </a:r>
            <a:r>
              <a:rPr lang="en-US" sz="1000" b="1" dirty="0">
                <a:latin typeface="Times New Roman" panose="02020603050405020304" pitchFamily="18" charset="0"/>
                <a:cs typeface="Times New Roman" panose="02020603050405020304" pitchFamily="18" charset="0"/>
              </a:rPr>
              <a:t> Tranh </a:t>
            </a:r>
            <a:r>
              <a:rPr lang="en-US" sz="1000" b="1" dirty="0" err="1">
                <a:latin typeface="Times New Roman" panose="02020603050405020304" pitchFamily="18" charset="0"/>
                <a:cs typeface="Times New Roman" panose="02020603050405020304" pitchFamily="18" charset="0"/>
              </a:rPr>
              <a:t>Chấp</a:t>
            </a:r>
            <a:r>
              <a:rPr lang="en-US" sz="1000" b="1" dirty="0">
                <a:latin typeface="Times New Roman" panose="02020603050405020304" pitchFamily="18" charset="0"/>
                <a:cs typeface="Times New Roman" panose="02020603050405020304" pitchFamily="18" charset="0"/>
              </a:rPr>
              <a:t> &amp; </a:t>
            </a:r>
            <a:r>
              <a:rPr lang="en-US" sz="1000" b="1" dirty="0" err="1">
                <a:latin typeface="Times New Roman" panose="02020603050405020304" pitchFamily="18" charset="0"/>
                <a:cs typeface="Times New Roman" panose="02020603050405020304" pitchFamily="18" charset="0"/>
              </a:rPr>
              <a:t>Khiếu</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Nại</a:t>
            </a:r>
            <a:endParaRPr lang="en-US" sz="1000" b="1"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US" sz="1000" b="1" dirty="0">
                <a:latin typeface="Times New Roman" panose="02020603050405020304" pitchFamily="18" charset="0"/>
                <a:cs typeface="Times New Roman" panose="02020603050405020304" pitchFamily="18" charset="0"/>
              </a:rPr>
              <a:t>Công </a:t>
            </a:r>
            <a:r>
              <a:rPr lang="en-US" sz="1000" b="1" dirty="0" err="1">
                <a:latin typeface="Times New Roman" panose="02020603050405020304" pitchFamily="18" charset="0"/>
                <a:cs typeface="Times New Roman" panose="02020603050405020304" pitchFamily="18" charset="0"/>
              </a:rPr>
              <a:t>cụ</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giải</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quyết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công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bằng</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Cung </a:t>
            </a:r>
            <a:r>
              <a:rPr lang="en-US" sz="1000" dirty="0" err="1">
                <a:latin typeface="Times New Roman" panose="02020603050405020304" pitchFamily="18" charset="0"/>
                <a:cs typeface="Times New Roman" panose="02020603050405020304" pitchFamily="18" charset="0"/>
              </a:rPr>
              <a:t>cấp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bằng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chứng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khách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quan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chấp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sự</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Hỗ</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quyết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khiếu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nại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liên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quan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đến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quản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lý</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Xác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nguồn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gốc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vấn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đề</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về</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hạ</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tầng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môi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trường</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Bảo </a:t>
            </a:r>
            <a:r>
              <a:rPr lang="en-US" sz="1000" dirty="0" err="1">
                <a:latin typeface="Times New Roman" panose="02020603050405020304" pitchFamily="18" charset="0"/>
                <a:cs typeface="Times New Roman" panose="02020603050405020304" pitchFamily="18" charset="0"/>
              </a:rPr>
              <a:t>vệ</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quyền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chính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của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chính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quyền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địa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phương</a:t>
            </a:r>
            <a:endParaRPr lang="en-US" sz="100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quyết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nhanh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chóng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bạch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tăng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niềm</a:t>
            </a:r>
            <a:r>
              <a:rPr lang="en-US" sz="1000" dirty="0">
                <a:latin typeface="Times New Roman" panose="02020603050405020304" pitchFamily="18" charset="0"/>
                <a:cs typeface="Times New Roman" panose="02020603050405020304" pitchFamily="18" charset="0"/>
              </a:rPr>
              <a:t> tin </a:t>
            </a:r>
            <a:r>
              <a:rPr lang="en-US" sz="1000" dirty="0" err="1">
                <a:latin typeface="Times New Roman" panose="02020603050405020304" pitchFamily="18" charset="0"/>
                <a:cs typeface="Times New Roman" panose="02020603050405020304" pitchFamily="18" charset="0"/>
              </a:rPr>
              <a:t>của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vào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chính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quyền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giảm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thiểu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cãi</a:t>
            </a:r>
            <a:r>
              <a:rPr lang="en-US" sz="1000" dirty="0">
                <a:latin typeface="Times New Roman" panose="02020603050405020304" pitchFamily="18" charset="0"/>
                <a:cs typeface="Times New Roman" panose="02020603050405020304" pitchFamily="18" charset="0"/>
              </a:rPr>
              <a:t>.</a:t>
            </a:r>
          </a:p>
          <a:p>
            <a:pPr indent="-228600" algn="just">
              <a:lnSpc>
                <a:spcPct val="100000"/>
              </a:lnSpc>
              <a:spcBef>
                <a:spcPts val="600"/>
              </a:spcBef>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Hỗ</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Trợ</a:t>
            </a:r>
            <a:r>
              <a:rPr lang="en-US" sz="1000" b="1" dirty="0">
                <a:latin typeface="Times New Roman" panose="02020603050405020304" pitchFamily="18" charset="0"/>
                <a:cs typeface="Times New Roman" panose="02020603050405020304" pitchFamily="18" charset="0"/>
              </a:rPr>
              <a:t> Quy </a:t>
            </a:r>
            <a:r>
              <a:rPr lang="en-US" sz="1000" b="1" dirty="0" err="1">
                <a:latin typeface="Times New Roman" panose="02020603050405020304" pitchFamily="18" charset="0"/>
                <a:cs typeface="Times New Roman" panose="02020603050405020304" pitchFamily="18" charset="0"/>
              </a:rPr>
              <a:t>Hoạch</a:t>
            </a:r>
            <a:r>
              <a:rPr lang="en-US" sz="1000" b="1" dirty="0">
                <a:latin typeface="Times New Roman" panose="02020603050405020304" pitchFamily="18" charset="0"/>
                <a:cs typeface="Times New Roman" panose="02020603050405020304" pitchFamily="18" charset="0"/>
              </a:rPr>
              <a:t> &amp; </a:t>
            </a:r>
            <a:r>
              <a:rPr lang="en-US" sz="1000" b="1" dirty="0" err="1">
                <a:latin typeface="Times New Roman" panose="02020603050405020304" pitchFamily="18" charset="0"/>
                <a:cs typeface="Times New Roman" panose="02020603050405020304" pitchFamily="18" charset="0"/>
              </a:rPr>
              <a:t>Phát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Triển</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Bền</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Vững</a:t>
            </a:r>
            <a:endParaRPr lang="en-US" sz="1000" b="1"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US" sz="1000" b="1" dirty="0" err="1">
                <a:latin typeface="Times New Roman" panose="02020603050405020304" pitchFamily="18" charset="0"/>
                <a:cs typeface="Times New Roman" panose="02020603050405020304" pitchFamily="18" charset="0"/>
              </a:rPr>
              <a:t>Dữ</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liệu</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cho</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quyết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định</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đúng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đắn</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Thống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kê</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mật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độ</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phương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theo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khu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vực</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Đánh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giá</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sử</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dụng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không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gian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cộng</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Xác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định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điểm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nóng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cần</a:t>
            </a:r>
            <a:r>
              <a:rPr lang="en-US" sz="1000" dirty="0">
                <a:latin typeface="Times New Roman" panose="02020603050405020304" pitchFamily="18" charset="0"/>
                <a:cs typeface="Times New Roman" panose="02020603050405020304" pitchFamily="18" charset="0"/>
              </a:rPr>
              <a:t> can </a:t>
            </a:r>
            <a:r>
              <a:rPr lang="en-US" sz="1000" dirty="0" err="1">
                <a:latin typeface="Times New Roman" panose="02020603050405020304" pitchFamily="18" charset="0"/>
                <a:cs typeface="Times New Roman" panose="02020603050405020304" pitchFamily="18" charset="0"/>
              </a:rPr>
              <a:t>thiệp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tạo</a:t>
            </a:r>
            <a:endParaRPr lang="en-US" sz="1000" dirty="0">
              <a:latin typeface="Times New Roman" panose="02020603050405020304" pitchFamily="18" charset="0"/>
              <a:cs typeface="Times New Roman" panose="02020603050405020304" pitchFamily="18" charset="0"/>
            </a:endParaRPr>
          </a:p>
          <a:p>
            <a:pPr indent="-228600" algn="just">
              <a:lnSpc>
                <a:spcPct val="100000"/>
              </a:lnSpc>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Hỗ</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xây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dựng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chiến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lược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triển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minh</a:t>
            </a:r>
            <a:endParaRPr lang="en-US" sz="1000" dirty="0">
              <a:latin typeface="Times New Roman" panose="02020603050405020304" pitchFamily="18" charset="0"/>
              <a:cs typeface="Times New Roman" panose="02020603050405020304" pitchFamily="18" charset="0"/>
            </a:endParaRPr>
          </a:p>
          <a:p>
            <a:pPr algn="just"/>
            <a:r>
              <a:rPr lang="en-US" sz="1000" b="1" dirty="0">
                <a:latin typeface="Times New Roman" panose="02020603050405020304" pitchFamily="18" charset="0"/>
                <a:cs typeface="Times New Roman" panose="02020603050405020304" pitchFamily="18" charset="0"/>
                <a:sym typeface="Wingdings" panose="05000000000000000000" pitchFamily="2" charset="2"/>
              </a:rPr>
              <a:t> 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Quy </a:t>
            </a:r>
            <a:r>
              <a:rPr lang="en-US" sz="1000" dirty="0" err="1">
                <a:latin typeface="Times New Roman" panose="02020603050405020304" pitchFamily="18" charset="0"/>
                <a:cs typeface="Times New Roman" panose="02020603050405020304" pitchFamily="18" charset="0"/>
              </a:rPr>
              <a:t>hoạch</a:t>
            </a:r>
            <a:r>
              <a:rPr lang="en-US" sz="1000" dirty="0">
                <a:latin typeface="Times New Roman" panose="02020603050405020304" pitchFamily="18" charset="0"/>
                <a:cs typeface="Times New Roman" panose="02020603050405020304" pitchFamily="18" charset="0"/>
              </a:rPr>
              <a:t> khoa </a:t>
            </a:r>
            <a:r>
              <a:rPr lang="en-US" sz="1000" dirty="0" err="1">
                <a:latin typeface="Times New Roman" panose="02020603050405020304" pitchFamily="18" charset="0"/>
                <a:cs typeface="Times New Roman" panose="02020603050405020304" pitchFamily="18" charset="0"/>
              </a:rPr>
              <a:t>học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dựa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trên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dữ</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thực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tế</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tối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ưu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sách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đầu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tư</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triển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bền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vững</a:t>
            </a:r>
            <a:r>
              <a:rPr lang="en-US" sz="10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36EC6979-E0C8-87B9-0E90-4D32561378B5}"/>
              </a:ext>
            </a:extLst>
          </p:cNvPr>
          <p:cNvSpPr txBox="1"/>
          <p:nvPr/>
        </p:nvSpPr>
        <p:spPr>
          <a:xfrm>
            <a:off x="9791" y="6858000"/>
            <a:ext cx="6797041" cy="369332"/>
          </a:xfrm>
          <a:prstGeom prst="rect">
            <a:avLst/>
          </a:prstGeom>
          <a:solidFill>
            <a:schemeClr val="tx2">
              <a:lumMod val="50000"/>
              <a:lumOff val="50000"/>
            </a:schemeClr>
          </a:solidFill>
        </p:spPr>
        <p:txBody>
          <a:bodyPr wrap="square" rtlCol="0">
            <a:spAutoFit/>
          </a:bodyPr>
          <a:lstStyle/>
          <a:p>
            <a:pPr>
              <a:spcAft>
                <a:spcPts val="600"/>
              </a:spcAft>
            </a:pPr>
            <a:r>
              <a:rPr lang="vi-VN" dirty="0">
                <a:latin typeface="Times New Roman" panose="02020603050405020304" pitchFamily="18" charset="0"/>
                <a:cs typeface="Times New Roman" panose="02020603050405020304" pitchFamily="18" charset="0"/>
              </a:rPr>
              <a:t>→ Đô thị thông minh - Quản lý hiệu quả - Người dân hạnh phúc</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4294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mp_page.png"/>
          <p:cNvPicPr>
            <a:picLocks noChangeAspect="1"/>
          </p:cNvPicPr>
          <p:nvPr/>
        </p:nvPicPr>
        <p:blipFill>
          <a:blip r:embed="rId2"/>
          <a:stretch>
            <a:fillRect/>
          </a:stretch>
        </p:blipFill>
        <p:spPr>
          <a:xfrm>
            <a:off x="1588" y="0"/>
            <a:ext cx="12188952" cy="6858000"/>
          </a:xfrm>
          <a:prstGeom prst="rect">
            <a:avLst/>
          </a:prstGeom>
        </p:spPr>
      </p:pic>
    </p:spTree>
    <p:extLst>
      <p:ext uri="{BB962C8B-B14F-4D97-AF65-F5344CB8AC3E}">
        <p14:creationId xmlns:p14="http://schemas.microsoft.com/office/powerpoint/2010/main" val="2916192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32BBAD-0024-AF94-4893-F7CE76E95A9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895D09-3207-36E9-3E1A-28500876A5FB}"/>
              </a:ext>
            </a:extLst>
          </p:cNvPr>
          <p:cNvSpPr>
            <a:spLocks noGrp="1"/>
          </p:cNvSpPr>
          <p:nvPr>
            <p:ph type="ctrTitle"/>
          </p:nvPr>
        </p:nvSpPr>
        <p:spPr>
          <a:xfrm>
            <a:off x="182880" y="945129"/>
            <a:ext cx="3492887" cy="2156621"/>
          </a:xfrm>
        </p:spPr>
        <p:txBody>
          <a:bodyPr vert="horz" lIns="91440" tIns="45720" rIns="91440" bIns="45720" rtlCol="0" anchor="t">
            <a:normAutofit fontScale="90000"/>
          </a:bodyPr>
          <a:lstStyle/>
          <a:p>
            <a:pPr algn="l"/>
            <a:r>
              <a:rPr lang="en-US" sz="2700" b="1" kern="1200" dirty="0">
                <a:solidFill>
                  <a:srgbClr val="FFFFFF"/>
                </a:solidFill>
                <a:latin typeface="Times New Roman" panose="02020603050405020304" pitchFamily="18" charset="0"/>
                <a:cs typeface="Times New Roman" panose="02020603050405020304" pitchFamily="18" charset="0"/>
              </a:rPr>
              <a:t>AI Camera MKVISION: </a:t>
            </a:r>
            <a:r>
              <a:rPr lang="en-US" sz="2700" b="1" kern="1200" dirty="0" err="1">
                <a:solidFill>
                  <a:srgbClr val="FFFFFF"/>
                </a:solidFill>
                <a:latin typeface="Times New Roman" panose="02020603050405020304" pitchFamily="18" charset="0"/>
                <a:cs typeface="Times New Roman" panose="02020603050405020304" pitchFamily="18" charset="0"/>
              </a:rPr>
              <a:t>Nâng</a:t>
            </a:r>
            <a:r>
              <a:rPr lang="en-US" sz="2700" b="1" kern="1200" dirty="0">
                <a:solidFill>
                  <a:srgbClr val="FFFFFF"/>
                </a:solidFill>
                <a:latin typeface="Times New Roman" panose="02020603050405020304" pitchFamily="18" charset="0"/>
                <a:cs typeface="Times New Roman" panose="02020603050405020304" pitchFamily="18" charset="0"/>
              </a:rPr>
              <a:t> </a:t>
            </a:r>
            <a:r>
              <a:rPr lang="en-US" sz="2700" b="1" kern="1200" dirty="0" err="1">
                <a:solidFill>
                  <a:srgbClr val="FFFFFF"/>
                </a:solidFill>
                <a:latin typeface="Times New Roman" panose="02020603050405020304" pitchFamily="18" charset="0"/>
                <a:cs typeface="Times New Roman" panose="02020603050405020304" pitchFamily="18" charset="0"/>
              </a:rPr>
              <a:t>Tầm</a:t>
            </a:r>
            <a:r>
              <a:rPr lang="en-US" sz="2700" b="1" kern="1200" dirty="0">
                <a:solidFill>
                  <a:srgbClr val="FFFFFF"/>
                </a:solidFill>
                <a:latin typeface="Times New Roman" panose="02020603050405020304" pitchFamily="18" charset="0"/>
                <a:cs typeface="Times New Roman" panose="02020603050405020304" pitchFamily="18" charset="0"/>
              </a:rPr>
              <a:t> Quản Lý Giao Thông </a:t>
            </a:r>
            <a:r>
              <a:rPr lang="en-US" sz="2700" b="1" kern="1200" dirty="0" err="1">
                <a:solidFill>
                  <a:srgbClr val="FFFFFF"/>
                </a:solidFill>
                <a:latin typeface="Times New Roman" panose="02020603050405020304" pitchFamily="18" charset="0"/>
                <a:cs typeface="Times New Roman" panose="02020603050405020304" pitchFamily="18" charset="0"/>
              </a:rPr>
              <a:t>Đô</a:t>
            </a:r>
            <a:r>
              <a:rPr lang="en-US" sz="2700" b="1" kern="1200" dirty="0">
                <a:solidFill>
                  <a:srgbClr val="FFFFFF"/>
                </a:solidFill>
                <a:latin typeface="Times New Roman" panose="02020603050405020304" pitchFamily="18" charset="0"/>
                <a:cs typeface="Times New Roman" panose="02020603050405020304" pitchFamily="18" charset="0"/>
              </a:rPr>
              <a:t> Thị</a:t>
            </a:r>
            <a:br>
              <a:rPr lang="en-US" sz="2700" b="1" kern="1200" dirty="0">
                <a:solidFill>
                  <a:srgbClr val="FFFFFF"/>
                </a:solidFill>
                <a:latin typeface="Times New Roman" panose="02020603050405020304" pitchFamily="18" charset="0"/>
                <a:cs typeface="Times New Roman" panose="02020603050405020304" pitchFamily="18" charset="0"/>
              </a:rPr>
            </a:br>
            <a:r>
              <a:rPr lang="en-US" sz="2700" b="1" kern="1200" dirty="0" err="1">
                <a:solidFill>
                  <a:srgbClr val="FFFFFF"/>
                </a:solidFill>
                <a:latin typeface="Times New Roman" panose="02020603050405020304" pitchFamily="18" charset="0"/>
                <a:cs typeface="Times New Roman" panose="02020603050405020304" pitchFamily="18" charset="0"/>
              </a:rPr>
              <a:t>Giải</a:t>
            </a:r>
            <a:r>
              <a:rPr lang="en-US" sz="2700" b="1" kern="1200" dirty="0">
                <a:solidFill>
                  <a:srgbClr val="FFFFFF"/>
                </a:solidFill>
                <a:latin typeface="Times New Roman" panose="02020603050405020304" pitchFamily="18" charset="0"/>
                <a:cs typeface="Times New Roman" panose="02020603050405020304" pitchFamily="18" charset="0"/>
              </a:rPr>
              <a:t> Pháp </a:t>
            </a:r>
            <a:r>
              <a:rPr lang="en-US" sz="2700" b="1" kern="1200" dirty="0" err="1">
                <a:solidFill>
                  <a:srgbClr val="FFFFFF"/>
                </a:solidFill>
                <a:latin typeface="Times New Roman" panose="02020603050405020304" pitchFamily="18" charset="0"/>
                <a:cs typeface="Times New Roman" panose="02020603050405020304" pitchFamily="18" charset="0"/>
              </a:rPr>
              <a:t>Toàn</a:t>
            </a:r>
            <a:r>
              <a:rPr lang="en-US" sz="2700" b="1" kern="1200" dirty="0">
                <a:solidFill>
                  <a:srgbClr val="FFFFFF"/>
                </a:solidFill>
                <a:latin typeface="Times New Roman" panose="02020603050405020304" pitchFamily="18" charset="0"/>
                <a:cs typeface="Times New Roman" panose="02020603050405020304" pitchFamily="18" charset="0"/>
              </a:rPr>
              <a:t> </a:t>
            </a:r>
            <a:r>
              <a:rPr lang="en-US" sz="2700" b="1" kern="1200" dirty="0" err="1">
                <a:solidFill>
                  <a:srgbClr val="FFFFFF"/>
                </a:solidFill>
                <a:latin typeface="Times New Roman" panose="02020603050405020304" pitchFamily="18" charset="0"/>
                <a:cs typeface="Times New Roman" panose="02020603050405020304" pitchFamily="18" charset="0"/>
              </a:rPr>
              <a:t>Diện</a:t>
            </a:r>
            <a:r>
              <a:rPr lang="en-US" sz="2700" b="1" kern="1200" dirty="0">
                <a:solidFill>
                  <a:srgbClr val="FFFFFF"/>
                </a:solidFill>
                <a:latin typeface="Times New Roman" panose="02020603050405020304" pitchFamily="18" charset="0"/>
                <a:cs typeface="Times New Roman" panose="02020603050405020304" pitchFamily="18" charset="0"/>
              </a:rPr>
              <a:t> Cho Giao Thông </a:t>
            </a:r>
            <a:r>
              <a:rPr lang="en-US" sz="2700" b="1" kern="1200" dirty="0" err="1">
                <a:solidFill>
                  <a:srgbClr val="FFFFFF"/>
                </a:solidFill>
                <a:latin typeface="Times New Roman" panose="02020603050405020304" pitchFamily="18" charset="0"/>
                <a:cs typeface="Times New Roman" panose="02020603050405020304" pitchFamily="18" charset="0"/>
              </a:rPr>
              <a:t>Thông</a:t>
            </a:r>
            <a:r>
              <a:rPr lang="en-US" sz="2700" b="1" kern="1200" dirty="0">
                <a:solidFill>
                  <a:srgbClr val="FFFFFF"/>
                </a:solidFill>
                <a:latin typeface="Times New Roman" panose="02020603050405020304" pitchFamily="18" charset="0"/>
                <a:cs typeface="Times New Roman" panose="02020603050405020304" pitchFamily="18" charset="0"/>
              </a:rPr>
              <a:t> Minh &amp; An </a:t>
            </a:r>
            <a:r>
              <a:rPr lang="en-US" sz="2700" b="1" kern="1200" dirty="0" err="1">
                <a:solidFill>
                  <a:srgbClr val="FFFFFF"/>
                </a:solidFill>
                <a:latin typeface="Times New Roman" panose="02020603050405020304" pitchFamily="18" charset="0"/>
                <a:cs typeface="Times New Roman" panose="02020603050405020304" pitchFamily="18" charset="0"/>
              </a:rPr>
              <a:t>Toàn</a:t>
            </a:r>
            <a:br>
              <a:rPr lang="en-US" sz="1400" b="1" kern="1200" dirty="0">
                <a:solidFill>
                  <a:srgbClr val="FFFFFF"/>
                </a:solidFill>
                <a:latin typeface="Times New Roman" panose="02020603050405020304" pitchFamily="18" charset="0"/>
                <a:cs typeface="Times New Roman" panose="02020603050405020304" pitchFamily="18" charset="0"/>
              </a:rPr>
            </a:br>
            <a:r>
              <a:rPr lang="en-US" sz="1800" kern="1200" dirty="0" err="1">
                <a:solidFill>
                  <a:srgbClr val="FFFFFF"/>
                </a:solidFill>
                <a:latin typeface="Times New Roman" panose="02020603050405020304" pitchFamily="18" charset="0"/>
                <a:cs typeface="Times New Roman" panose="02020603050405020304" pitchFamily="18" charset="0"/>
              </a:rPr>
              <a:t>Được</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lắp</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đặt</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tại</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các</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cửa</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ngõ</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vào</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thành</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phố</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tuyến</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đường</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chính</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đường</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vành</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đai</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trục</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xuyên</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tâm</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giao</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lộ</a:t>
            </a:r>
            <a:r>
              <a:rPr lang="en-US" sz="1800" kern="1200" dirty="0">
                <a:solidFill>
                  <a:srgbClr val="FFFFFF"/>
                </a:solidFill>
                <a:latin typeface="Times New Roman" panose="02020603050405020304" pitchFamily="18" charset="0"/>
                <a:cs typeface="Times New Roman" panose="02020603050405020304" pitchFamily="18" charset="0"/>
              </a:rPr>
              <a:t> then </a:t>
            </a:r>
            <a:r>
              <a:rPr lang="en-US" sz="1800" kern="1200" dirty="0" err="1">
                <a:solidFill>
                  <a:srgbClr val="FFFFFF"/>
                </a:solidFill>
                <a:latin typeface="Times New Roman" panose="02020603050405020304" pitchFamily="18" charset="0"/>
                <a:cs typeface="Times New Roman" panose="02020603050405020304" pitchFamily="18" charset="0"/>
              </a:rPr>
              <a:t>chốt</a:t>
            </a:r>
            <a:r>
              <a:rPr lang="en-US" sz="1800" kern="1200" dirty="0">
                <a:solidFill>
                  <a:srgbClr val="FFFFFF"/>
                </a:solidFill>
                <a:latin typeface="Times New Roman" panose="02020603050405020304" pitchFamily="18" charset="0"/>
                <a:cs typeface="Times New Roman" panose="02020603050405020304" pitchFamily="18" charset="0"/>
              </a:rPr>
              <a:t> - </a:t>
            </a:r>
            <a:r>
              <a:rPr lang="en-US" sz="1800" kern="1200" dirty="0" err="1">
                <a:solidFill>
                  <a:srgbClr val="FFFFFF"/>
                </a:solidFill>
                <a:latin typeface="Times New Roman" panose="02020603050405020304" pitchFamily="18" charset="0"/>
                <a:cs typeface="Times New Roman" panose="02020603050405020304" pitchFamily="18" charset="0"/>
              </a:rPr>
              <a:t>hỗ</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trợ</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lực</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lượng</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chức</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năng</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quản</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lý</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và</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điều</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tiết</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giao</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thông</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hiệu</a:t>
            </a:r>
            <a:r>
              <a:rPr lang="en-US" sz="1800" kern="1200" dirty="0">
                <a:solidFill>
                  <a:srgbClr val="FFFFFF"/>
                </a:solidFill>
                <a:latin typeface="Times New Roman" panose="02020603050405020304" pitchFamily="18" charset="0"/>
                <a:cs typeface="Times New Roman" panose="02020603050405020304" pitchFamily="18" charset="0"/>
              </a:rPr>
              <a:t> </a:t>
            </a:r>
            <a:r>
              <a:rPr lang="en-US" sz="1800" kern="1200" dirty="0" err="1">
                <a:solidFill>
                  <a:srgbClr val="FFFFFF"/>
                </a:solidFill>
                <a:latin typeface="Times New Roman" panose="02020603050405020304" pitchFamily="18" charset="0"/>
                <a:cs typeface="Times New Roman" panose="02020603050405020304" pitchFamily="18" charset="0"/>
              </a:rPr>
              <a:t>quả</a:t>
            </a:r>
            <a:r>
              <a:rPr lang="en-US" sz="1800" kern="1200" dirty="0">
                <a:solidFill>
                  <a:srgbClr val="FFFFFF"/>
                </a:solidFill>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54BCF80F-5063-F7D1-671F-7B08CA6D34E6}"/>
              </a:ext>
            </a:extLst>
          </p:cNvPr>
          <p:cNvSpPr>
            <a:spLocks noGrp="1"/>
          </p:cNvSpPr>
          <p:nvPr>
            <p:ph type="subTitle" idx="1"/>
          </p:nvPr>
        </p:nvSpPr>
        <p:spPr>
          <a:xfrm>
            <a:off x="4288982" y="1757929"/>
            <a:ext cx="3614033" cy="4198433"/>
          </a:xfrm>
        </p:spPr>
        <p:txBody>
          <a:bodyPr vert="horz" lIns="91440" tIns="45720" rIns="91440" bIns="45720" rtlCol="0">
            <a:normAutofit/>
          </a:bodyPr>
          <a:lstStyle/>
          <a:p>
            <a:pPr algn="l">
              <a:spcBef>
                <a:spcPts val="600"/>
              </a:spcBef>
            </a:pP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Giám</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Sát</a:t>
            </a:r>
            <a:r>
              <a:rPr lang="en-US" sz="1000" b="1" dirty="0">
                <a:latin typeface="Times New Roman" panose="02020603050405020304" pitchFamily="18" charset="0"/>
                <a:cs typeface="Times New Roman" panose="02020603050405020304" pitchFamily="18" charset="0"/>
              </a:rPr>
              <a:t> &amp; </a:t>
            </a:r>
            <a:r>
              <a:rPr lang="en-US" sz="1000" b="1" dirty="0" err="1">
                <a:latin typeface="Times New Roman" panose="02020603050405020304" pitchFamily="18" charset="0"/>
                <a:cs typeface="Times New Roman" panose="02020603050405020304" pitchFamily="18" charset="0"/>
              </a:rPr>
              <a:t>Phân</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Tích</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Dòng</a:t>
            </a:r>
            <a:r>
              <a:rPr lang="en-US" sz="1000" b="1" dirty="0">
                <a:latin typeface="Times New Roman" panose="02020603050405020304" pitchFamily="18" charset="0"/>
                <a:cs typeface="Times New Roman" panose="02020603050405020304" pitchFamily="18" charset="0"/>
              </a:rPr>
              <a:t> Phương </a:t>
            </a:r>
            <a:r>
              <a:rPr lang="en-US" sz="1000" b="1" dirty="0" err="1">
                <a:latin typeface="Times New Roman" panose="02020603050405020304" pitchFamily="18" charset="0"/>
                <a:cs typeface="Times New Roman" panose="02020603050405020304" pitchFamily="18" charset="0"/>
              </a:rPr>
              <a:t>Tiện</a:t>
            </a:r>
            <a:endParaRPr lang="en-US" sz="1000" b="1"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rPr>
              <a:t>Theo </a:t>
            </a:r>
            <a:r>
              <a:rPr lang="en-US" sz="1000" b="1" dirty="0" err="1">
                <a:latin typeface="Times New Roman" panose="02020603050405020304" pitchFamily="18" charset="0"/>
                <a:cs typeface="Times New Roman" panose="02020603050405020304" pitchFamily="18" charset="0"/>
              </a:rPr>
              <a:t>dõi</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thông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minh</a:t>
            </a:r>
            <a:r>
              <a:rPr lang="en-US" sz="1000" b="1" dirty="0">
                <a:latin typeface="Times New Roman" panose="02020603050405020304" pitchFamily="18" charset="0"/>
                <a:cs typeface="Times New Roman" panose="02020603050405020304" pitchFamily="18" charset="0"/>
              </a:rPr>
              <a:t> 24/7:</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Tự</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động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thập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dữ</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lưu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lượng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mật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độ</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phương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tiện</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Phân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tích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vận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tốc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trung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bình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theo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gian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thực</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Theo </a:t>
            </a:r>
            <a:r>
              <a:rPr lang="en-US" sz="1000" dirty="0" err="1">
                <a:latin typeface="Times New Roman" panose="02020603050405020304" pitchFamily="18" charset="0"/>
                <a:cs typeface="Times New Roman" panose="02020603050405020304" pitchFamily="18" charset="0"/>
              </a:rPr>
              <a:t>dõi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loại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phương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tiện</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Cung </a:t>
            </a:r>
            <a:r>
              <a:rPr lang="en-US" sz="1000" dirty="0" err="1">
                <a:latin typeface="Times New Roman" panose="02020603050405020304" pitchFamily="18" charset="0"/>
                <a:cs typeface="Times New Roman" panose="02020603050405020304" pitchFamily="18" charset="0"/>
              </a:rPr>
              <a:t>cấp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thống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kê</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theo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giờ</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cao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điểm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giờ</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thấp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điểm</a:t>
            </a:r>
            <a:endParaRPr lang="en-US" sz="1000"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Dữ</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chính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để</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điều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tiết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đèn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tín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hoạch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giao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thông</a:t>
            </a:r>
            <a:r>
              <a:rPr lang="en-US" sz="1000" dirty="0">
                <a:latin typeface="Times New Roman" panose="02020603050405020304" pitchFamily="18" charset="0"/>
                <a:cs typeface="Times New Roman" panose="02020603050405020304" pitchFamily="18" charset="0"/>
              </a:rPr>
              <a:t> khoa </a:t>
            </a:r>
            <a:r>
              <a:rPr lang="en-US" sz="1000" dirty="0" err="1">
                <a:latin typeface="Times New Roman" panose="02020603050405020304" pitchFamily="18" charset="0"/>
                <a:cs typeface="Times New Roman" panose="02020603050405020304" pitchFamily="18" charset="0"/>
              </a:rPr>
              <a:t>học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giảm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ùn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tắc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quả</a:t>
            </a:r>
            <a:r>
              <a:rPr lang="en-US" sz="1000" dirty="0">
                <a:latin typeface="Times New Roman" panose="02020603050405020304" pitchFamily="18" charset="0"/>
                <a:cs typeface="Times New Roman" panose="02020603050405020304" pitchFamily="18" charset="0"/>
              </a:rPr>
              <a:t>.</a:t>
            </a:r>
          </a:p>
          <a:p>
            <a:pPr indent="-228600" algn="l">
              <a:spcBef>
                <a:spcPts val="600"/>
              </a:spcBef>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Phát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Hiện</a:t>
            </a:r>
            <a:r>
              <a:rPr lang="en-US" sz="1000" b="1" dirty="0">
                <a:latin typeface="Times New Roman" panose="02020603050405020304" pitchFamily="18" charset="0"/>
                <a:cs typeface="Times New Roman" panose="02020603050405020304" pitchFamily="18" charset="0"/>
              </a:rPr>
              <a:t> Vi Phạm Giao Thông </a:t>
            </a:r>
            <a:r>
              <a:rPr lang="en-US" sz="1000" b="1" dirty="0" err="1">
                <a:latin typeface="Times New Roman" panose="02020603050405020304" pitchFamily="18" charset="0"/>
                <a:cs typeface="Times New Roman" panose="02020603050405020304" pitchFamily="18" charset="0"/>
              </a:rPr>
              <a:t>Tự</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Động</a:t>
            </a:r>
            <a:endParaRPr lang="en-US" sz="1000" b="1" dirty="0">
              <a:latin typeface="Times New Roman" panose="02020603050405020304" pitchFamily="18" charset="0"/>
              <a:cs typeface="Times New Roman" panose="02020603050405020304" pitchFamily="18" charset="0"/>
            </a:endParaRPr>
          </a:p>
          <a:p>
            <a:pPr algn="l">
              <a:spcBef>
                <a:spcPts val="600"/>
              </a:spcBef>
            </a:pPr>
            <a:r>
              <a:rPr lang="en-US" sz="1000" b="1" dirty="0" err="1">
                <a:latin typeface="Times New Roman" panose="02020603050405020304" pitchFamily="18" charset="0"/>
                <a:cs typeface="Times New Roman" panose="02020603050405020304" pitchFamily="18" charset="0"/>
              </a:rPr>
              <a:t>Xử</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phạt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công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bằng</a:t>
            </a:r>
            <a:r>
              <a:rPr lang="en-US" sz="1000" b="1" dirty="0">
                <a:latin typeface="Times New Roman" panose="02020603050405020304" pitchFamily="18" charset="0"/>
                <a:cs typeface="Times New Roman" panose="02020603050405020304" pitchFamily="18" charset="0"/>
              </a:rPr>
              <a:t> &amp; </a:t>
            </a:r>
            <a:r>
              <a:rPr lang="en-US" sz="1000" b="1" dirty="0" err="1">
                <a:latin typeface="Times New Roman" panose="02020603050405020304" pitchFamily="18" charset="0"/>
                <a:cs typeface="Times New Roman" panose="02020603050405020304" pitchFamily="18" charset="0"/>
              </a:rPr>
              <a:t>minh</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bạch</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Vi </a:t>
            </a:r>
            <a:r>
              <a:rPr lang="en-US" sz="1000" dirty="0" err="1">
                <a:latin typeface="Times New Roman" panose="02020603050405020304" pitchFamily="18" charset="0"/>
                <a:cs typeface="Times New Roman" panose="02020603050405020304" pitchFamily="18" charset="0"/>
              </a:rPr>
              <a:t>phạm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tốc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độ</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chạy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quá</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tốc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độ</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phép</a:t>
            </a:r>
            <a:r>
              <a:rPr lang="en-US" sz="1000" dirty="0">
                <a:latin typeface="Times New Roman" panose="02020603050405020304" pitchFamily="18" charset="0"/>
                <a:cs typeface="Times New Roman" panose="02020603050405020304" pitchFamily="18" charset="0"/>
              </a:rPr>
              <a:t>)</a:t>
            </a: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Vượt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đèn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đỏ</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tại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giao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lộ</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Đi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sai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làn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đường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ngược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chiều</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Dừng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đỗ</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không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đúng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định</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Không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đội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mũ</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bảo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hiểm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máy</a:t>
            </a:r>
            <a:r>
              <a:rPr lang="en-US" sz="1000" dirty="0">
                <a:latin typeface="Times New Roman" panose="02020603050405020304" pitchFamily="18" charset="0"/>
                <a:cs typeface="Times New Roman" panose="02020603050405020304" pitchFamily="18" charset="0"/>
              </a:rPr>
              <a:t>)</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Xử</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lý</a:t>
            </a:r>
            <a:r>
              <a:rPr lang="en-US" sz="1000" dirty="0">
                <a:latin typeface="Times New Roman" panose="02020603050405020304" pitchFamily="18" charset="0"/>
                <a:cs typeface="Times New Roman" panose="02020603050405020304" pitchFamily="18" charset="0"/>
              </a:rPr>
              <a:t> vi </a:t>
            </a:r>
            <a:r>
              <a:rPr lang="en-US" sz="1000" dirty="0" err="1">
                <a:latin typeface="Times New Roman" panose="02020603050405020304" pitchFamily="18" charset="0"/>
                <a:cs typeface="Times New Roman" panose="02020603050405020304" pitchFamily="18" charset="0"/>
              </a:rPr>
              <a:t>phạm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nhanh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chóng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bằng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giảm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việc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cho</a:t>
            </a:r>
            <a:r>
              <a:rPr lang="en-US" sz="1000" dirty="0">
                <a:latin typeface="Times New Roman" panose="02020603050405020304" pitchFamily="18" charset="0"/>
                <a:cs typeface="Times New Roman" panose="02020603050405020304" pitchFamily="18" charset="0"/>
              </a:rPr>
              <a:t> CSGT, </a:t>
            </a:r>
            <a:r>
              <a:rPr lang="en-US" sz="1000" dirty="0" err="1">
                <a:latin typeface="Times New Roman" panose="02020603050405020304" pitchFamily="18" charset="0"/>
                <a:cs typeface="Times New Roman" panose="02020603050405020304" pitchFamily="18" charset="0"/>
              </a:rPr>
              <a:t>răn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nâng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cao</a:t>
            </a:r>
            <a:r>
              <a:rPr lang="en-US" sz="1000" dirty="0">
                <a:latin typeface="Times New Roman" panose="02020603050405020304" pitchFamily="18" charset="0"/>
                <a:cs typeface="Times New Roman" panose="02020603050405020304" pitchFamily="18" charset="0"/>
              </a:rPr>
              <a:t> ý </a:t>
            </a:r>
            <a:r>
              <a:rPr lang="en-US" sz="1000" dirty="0" err="1">
                <a:latin typeface="Times New Roman" panose="02020603050405020304" pitchFamily="18" charset="0"/>
                <a:cs typeface="Times New Roman" panose="02020603050405020304" pitchFamily="18" charset="0"/>
              </a:rPr>
              <a:t>thức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tham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giao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thông</a:t>
            </a:r>
            <a:r>
              <a:rPr lang="en-US" sz="1000" dirty="0">
                <a:latin typeface="Times New Roman" panose="02020603050405020304" pitchFamily="18" charset="0"/>
                <a:cs typeface="Times New Roman" panose="02020603050405020304" pitchFamily="18" charset="0"/>
              </a:rPr>
              <a:t>.</a:t>
            </a:r>
          </a:p>
          <a:p>
            <a:pPr indent="-228600" algn="l">
              <a:buFont typeface="Arial" panose="020B0604020202020204" pitchFamily="34" charset="0"/>
              <a:buChar char="•"/>
            </a:pPr>
            <a:endParaRPr lang="en-US" sz="8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46DD3536-34BC-3B18-0E4E-F442FFBA9C2B}"/>
              </a:ext>
            </a:extLst>
          </p:cNvPr>
          <p:cNvSpPr txBox="1">
            <a:spLocks/>
          </p:cNvSpPr>
          <p:nvPr/>
        </p:nvSpPr>
        <p:spPr>
          <a:xfrm>
            <a:off x="8125073" y="1247078"/>
            <a:ext cx="3747524" cy="43638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Cảnh</a:t>
            </a:r>
            <a:r>
              <a:rPr lang="en-US" sz="1000" b="1" dirty="0">
                <a:latin typeface="Times New Roman" panose="02020603050405020304" pitchFamily="18" charset="0"/>
                <a:cs typeface="Times New Roman" panose="02020603050405020304" pitchFamily="18" charset="0"/>
              </a:rPr>
              <a:t> Báo </a:t>
            </a:r>
            <a:r>
              <a:rPr lang="en-US" sz="1000" b="1" dirty="0" err="1">
                <a:latin typeface="Times New Roman" panose="02020603050405020304" pitchFamily="18" charset="0"/>
                <a:cs typeface="Times New Roman" panose="02020603050405020304" pitchFamily="18" charset="0"/>
              </a:rPr>
              <a:t>Sự</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Cố</a:t>
            </a:r>
            <a:r>
              <a:rPr lang="en-US" sz="1000" b="1" dirty="0">
                <a:latin typeface="Times New Roman" panose="02020603050405020304" pitchFamily="18" charset="0"/>
                <a:cs typeface="Times New Roman" panose="02020603050405020304" pitchFamily="18" charset="0"/>
              </a:rPr>
              <a:t> &amp; </a:t>
            </a:r>
            <a:r>
              <a:rPr lang="en-US" sz="1000" b="1" dirty="0" err="1">
                <a:latin typeface="Times New Roman" panose="02020603050405020304" pitchFamily="18" charset="0"/>
                <a:cs typeface="Times New Roman" panose="02020603050405020304" pitchFamily="18" charset="0"/>
              </a:rPr>
              <a:t>Ứng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Phó</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Khẩn</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Cấp</a:t>
            </a:r>
            <a:endParaRPr lang="en-US" sz="1000" b="1" dirty="0">
              <a:latin typeface="Times New Roman" panose="02020603050405020304" pitchFamily="18" charset="0"/>
              <a:cs typeface="Times New Roman" panose="02020603050405020304" pitchFamily="18" charset="0"/>
            </a:endParaRPr>
          </a:p>
          <a:p>
            <a:pPr algn="l">
              <a:spcBef>
                <a:spcPts val="600"/>
              </a:spcBef>
            </a:pPr>
            <a:r>
              <a:rPr lang="en-US" sz="1000" b="1" dirty="0" err="1">
                <a:latin typeface="Times New Roman" panose="02020603050405020304" pitchFamily="18" charset="0"/>
                <a:cs typeface="Times New Roman" panose="02020603050405020304" pitchFamily="18" charset="0"/>
              </a:rPr>
              <a:t>Phản</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ứng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nhanh</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trong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mọi</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tình</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huống</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Phát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hiện</a:t>
            </a:r>
            <a:r>
              <a:rPr lang="en-US" sz="1000" dirty="0">
                <a:latin typeface="Times New Roman" panose="02020603050405020304" pitchFamily="18" charset="0"/>
                <a:cs typeface="Times New Roman" panose="02020603050405020304" pitchFamily="18" charset="0"/>
              </a:rPr>
              <a:t> tai </a:t>
            </a:r>
            <a:r>
              <a:rPr lang="en-US" sz="1000" dirty="0" err="1">
                <a:latin typeface="Times New Roman" panose="02020603050405020304" pitchFamily="18" charset="0"/>
                <a:cs typeface="Times New Roman" panose="02020603050405020304" pitchFamily="18" charset="0"/>
              </a:rPr>
              <a:t>nạn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giao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ngay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lập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tức</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Cảnh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báo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ùn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tắc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bất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thường</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Nhận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hỏng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vật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cản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trên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đường</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Phát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hiện</a:t>
            </a:r>
            <a:r>
              <a:rPr lang="en-US" sz="1000" dirty="0">
                <a:latin typeface="Times New Roman" panose="02020603050405020304" pitchFamily="18" charset="0"/>
                <a:cs typeface="Times New Roman" panose="02020603050405020304" pitchFamily="18" charset="0"/>
              </a:rPr>
              <a:t> vi </a:t>
            </a:r>
            <a:r>
              <a:rPr lang="en-US" sz="1000" dirty="0" err="1">
                <a:latin typeface="Times New Roman" panose="02020603050405020304" pitchFamily="18" charset="0"/>
                <a:cs typeface="Times New Roman" panose="02020603050405020304" pitchFamily="18" charset="0"/>
              </a:rPr>
              <a:t>phạm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nghiêm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trọng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đua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lách</a:t>
            </a:r>
            <a:r>
              <a:rPr lang="en-US" sz="1000" dirty="0">
                <a:latin typeface="Times New Roman" panose="02020603050405020304" pitchFamily="18" charset="0"/>
                <a:cs typeface="Times New Roman" panose="02020603050405020304" pitchFamily="18" charset="0"/>
              </a:rPr>
              <a:t>)</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Điều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cứu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thương</a:t>
            </a:r>
            <a:r>
              <a:rPr lang="en-US" sz="1000" dirty="0">
                <a:latin typeface="Times New Roman" panose="02020603050405020304" pitchFamily="18" charset="0"/>
                <a:cs typeface="Times New Roman" panose="02020603050405020304" pitchFamily="18" charset="0"/>
              </a:rPr>
              <a:t>, CSGT </a:t>
            </a:r>
            <a:r>
              <a:rPr lang="en-US" sz="1000" dirty="0" err="1">
                <a:latin typeface="Times New Roman" panose="02020603050405020304" pitchFamily="18" charset="0"/>
                <a:cs typeface="Times New Roman" panose="02020603050405020304" pitchFamily="18" charset="0"/>
              </a:rPr>
              <a:t>đến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trường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nhanh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nhất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giảm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thiểu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hậu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quả</a:t>
            </a:r>
            <a:r>
              <a:rPr lang="en-US" sz="1000" dirty="0">
                <a:latin typeface="Times New Roman" panose="02020603050405020304" pitchFamily="18" charset="0"/>
                <a:cs typeface="Times New Roman" panose="02020603050405020304" pitchFamily="18" charset="0"/>
              </a:rPr>
              <a:t> tai </a:t>
            </a:r>
            <a:r>
              <a:rPr lang="en-US" sz="1000" dirty="0" err="1">
                <a:latin typeface="Times New Roman" panose="02020603050405020304" pitchFamily="18" charset="0"/>
                <a:cs typeface="Times New Roman" panose="02020603050405020304" pitchFamily="18" charset="0"/>
              </a:rPr>
              <a:t>nạn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xử</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lý</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ùn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tắc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kịp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thời</a:t>
            </a:r>
            <a:r>
              <a:rPr lang="en-US" sz="1000" dirty="0">
                <a:latin typeface="Times New Roman" panose="02020603050405020304" pitchFamily="18" charset="0"/>
                <a:cs typeface="Times New Roman" panose="02020603050405020304" pitchFamily="18" charset="0"/>
              </a:rPr>
              <a:t>.</a:t>
            </a:r>
          </a:p>
          <a:p>
            <a:pPr indent="-228600" algn="l">
              <a:spcBef>
                <a:spcPts val="600"/>
              </a:spcBef>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Xây</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Dựng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Hệ</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Thống</a:t>
            </a:r>
            <a:r>
              <a:rPr lang="en-US" sz="1000" b="1" dirty="0">
                <a:latin typeface="Times New Roman" panose="02020603050405020304" pitchFamily="18" charset="0"/>
                <a:cs typeface="Times New Roman" panose="02020603050405020304" pitchFamily="18" charset="0"/>
              </a:rPr>
              <a:t> Giao Thông Văn Minh</a:t>
            </a:r>
          </a:p>
          <a:p>
            <a:pPr indent="-228600" algn="l">
              <a:spcBef>
                <a:spcPts val="600"/>
              </a:spcBef>
              <a:buFont typeface="Arial" panose="020B0604020202020204" pitchFamily="34" charset="0"/>
              <a:buChar char="•"/>
            </a:pPr>
            <a:r>
              <a:rPr lang="en-US" sz="1000" b="1" dirty="0" err="1">
                <a:latin typeface="Times New Roman" panose="02020603050405020304" pitchFamily="18" charset="0"/>
                <a:cs typeface="Times New Roman" panose="02020603050405020304" pitchFamily="18" charset="0"/>
              </a:rPr>
              <a:t>Nâng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cao</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chất</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lượng</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đô</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thị</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Dữ</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để</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hoạch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đường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mới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mở</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rộng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đường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cũ</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Xác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định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điểm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đen</a:t>
            </a:r>
            <a:r>
              <a:rPr lang="en-US" sz="1000" dirty="0">
                <a:latin typeface="Times New Roman" panose="02020603050405020304" pitchFamily="18" charset="0"/>
                <a:cs typeface="Times New Roman" panose="02020603050405020304" pitchFamily="18" charset="0"/>
              </a:rPr>
              <a:t> tai </a:t>
            </a:r>
            <a:r>
              <a:rPr lang="en-US" sz="1000" dirty="0" err="1">
                <a:latin typeface="Times New Roman" panose="02020603050405020304" pitchFamily="18" charset="0"/>
                <a:cs typeface="Times New Roman" panose="02020603050405020304" pitchFamily="18" charset="0"/>
              </a:rPr>
              <a:t>nạn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để</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tạo</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Đánh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giá</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hiệu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giải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pháp</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giao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thông</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Hỗ</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xây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dựng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thành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phố</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minh</a:t>
            </a:r>
            <a:r>
              <a:rPr lang="en-US" sz="1000" dirty="0">
                <a:latin typeface="Times New Roman" panose="02020603050405020304" pitchFamily="18" charset="0"/>
                <a:cs typeface="Times New Roman" panose="02020603050405020304" pitchFamily="18" charset="0"/>
              </a:rPr>
              <a:t> (Smart City)</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Ra </a:t>
            </a:r>
            <a:r>
              <a:rPr lang="en-US" sz="1000" dirty="0" err="1">
                <a:latin typeface="Times New Roman" panose="02020603050405020304" pitchFamily="18" charset="0"/>
                <a:cs typeface="Times New Roman" panose="02020603050405020304" pitchFamily="18" charset="0"/>
              </a:rPr>
              <a:t>quyết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định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dựa</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trên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dữ</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liệu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thực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tế</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tối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ưu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ngân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sách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đầu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tư</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nâng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cao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chất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lượng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sống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người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dân</a:t>
            </a:r>
            <a:r>
              <a:rPr lang="en-US" sz="1000" dirty="0">
                <a:latin typeface="Times New Roman" panose="02020603050405020304" pitchFamily="18" charset="0"/>
                <a:cs typeface="Times New Roman" panose="02020603050405020304" pitchFamily="18" charset="0"/>
              </a:rPr>
              <a:t>.</a:t>
            </a:r>
            <a:br>
              <a:rPr lang="en-US" sz="1000" dirty="0">
                <a:latin typeface="Times New Roman" panose="02020603050405020304" pitchFamily="18" charset="0"/>
                <a:cs typeface="Times New Roman" panose="02020603050405020304" pitchFamily="18" charset="0"/>
              </a:rPr>
            </a:br>
            <a:endParaRPr lang="en-US" sz="1000"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Hỗ</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Trợ</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Điều</a:t>
            </a:r>
            <a:r>
              <a:rPr lang="en-US" sz="1000" b="1" dirty="0">
                <a:latin typeface="Times New Roman" panose="02020603050405020304" pitchFamily="18" charset="0"/>
                <a:cs typeface="Times New Roman" panose="02020603050405020304" pitchFamily="18" charset="0"/>
              </a:rPr>
              <a:t> Tra &amp; An Ninh</a:t>
            </a:r>
          </a:p>
          <a:p>
            <a:pPr indent="-228600" algn="l">
              <a:spcBef>
                <a:spcPts val="600"/>
              </a:spcBef>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Bảo </a:t>
            </a:r>
            <a:r>
              <a:rPr lang="en-US" sz="1000" b="1" dirty="0" err="1">
                <a:latin typeface="Times New Roman" panose="02020603050405020304" pitchFamily="18" charset="0"/>
                <a:cs typeface="Times New Roman" panose="02020603050405020304" pitchFamily="18" charset="0"/>
              </a:rPr>
              <a:t>vệ</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toàn</a:t>
            </a:r>
            <a:r>
              <a:rPr lang="en-US" sz="1000" b="1" dirty="0">
                <a:latin typeface="Times New Roman" panose="02020603050405020304" pitchFamily="18" charset="0"/>
                <a:cs typeface="Times New Roman" panose="02020603050405020304" pitchFamily="18" charset="0"/>
              </a:rPr>
              <a:t> </a:t>
            </a:r>
            <a:r>
              <a:rPr lang="en-US" sz="1000" b="1" dirty="0" err="1">
                <a:latin typeface="Times New Roman" panose="02020603050405020304" pitchFamily="18" charset="0"/>
                <a:cs typeface="Times New Roman" panose="02020603050405020304" pitchFamily="18" charset="0"/>
              </a:rPr>
              <a:t>diện</a:t>
            </a:r>
            <a:r>
              <a:rPr lang="en-US" sz="1000" b="1"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Truy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vết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phương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liên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quan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đến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vụ</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án</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Nhận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diện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biển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số</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xe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trong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các</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vụ</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truy</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nã</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Lưu </a:t>
            </a:r>
            <a:r>
              <a:rPr lang="en-US" sz="1000" dirty="0" err="1">
                <a:latin typeface="Times New Roman" panose="02020603050405020304" pitchFamily="18" charset="0"/>
                <a:cs typeface="Times New Roman" panose="02020603050405020304" pitchFamily="18" charset="0"/>
              </a:rPr>
              <a:t>trữ</a:t>
            </a:r>
            <a:r>
              <a:rPr lang="en-US" sz="1000" dirty="0">
                <a:latin typeface="Times New Roman" panose="02020603050405020304" pitchFamily="18" charset="0"/>
                <a:cs typeface="Times New Roman" panose="02020603050405020304" pitchFamily="18" charset="0"/>
              </a:rPr>
              <a:t> video </a:t>
            </a:r>
            <a:r>
              <a:rPr lang="en-US" sz="1000" dirty="0" err="1">
                <a:latin typeface="Times New Roman" panose="02020603050405020304" pitchFamily="18" charset="0"/>
                <a:cs typeface="Times New Roman" panose="02020603050405020304" pitchFamily="18" charset="0"/>
              </a:rPr>
              <a:t>để</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điều</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tra</a:t>
            </a:r>
            <a:r>
              <a:rPr lang="en-US" sz="1000" dirty="0">
                <a:latin typeface="Times New Roman" panose="02020603050405020304" pitchFamily="18" charset="0"/>
                <a:cs typeface="Times New Roman" panose="02020603050405020304" pitchFamily="18" charset="0"/>
              </a:rPr>
              <a:t> tai </a:t>
            </a:r>
            <a:r>
              <a:rPr lang="en-US" sz="1000" dirty="0" err="1">
                <a:latin typeface="Times New Roman" panose="02020603050405020304" pitchFamily="18" charset="0"/>
                <a:cs typeface="Times New Roman" panose="02020603050405020304" pitchFamily="18" charset="0"/>
              </a:rPr>
              <a:t>nạn</a:t>
            </a:r>
            <a:endParaRPr lang="en-US" sz="1000" dirty="0">
              <a:latin typeface="Times New Roman" panose="02020603050405020304" pitchFamily="18" charset="0"/>
              <a:cs typeface="Times New Roman" panose="02020603050405020304" pitchFamily="18" charset="0"/>
            </a:endParaRPr>
          </a:p>
          <a:p>
            <a:pPr indent="-228600" algn="l">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Hỗ</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trợ</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công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tác</a:t>
            </a:r>
            <a:r>
              <a:rPr lang="en-US" sz="1000" dirty="0">
                <a:latin typeface="Times New Roman" panose="02020603050405020304" pitchFamily="18" charset="0"/>
                <a:cs typeface="Times New Roman" panose="02020603050405020304" pitchFamily="18" charset="0"/>
              </a:rPr>
              <a:t> an </a:t>
            </a:r>
            <a:r>
              <a:rPr lang="en-US" sz="1000" dirty="0" err="1">
                <a:latin typeface="Times New Roman" panose="02020603050405020304" pitchFamily="18" charset="0"/>
                <a:cs typeface="Times New Roman" panose="02020603050405020304" pitchFamily="18" charset="0"/>
              </a:rPr>
              <a:t>ninh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endParaRPr lang="en-US" sz="1000"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en-US" sz="1000" b="1" dirty="0">
                <a:latin typeface="Times New Roman" panose="02020603050405020304" pitchFamily="18" charset="0"/>
                <a:cs typeface="Times New Roman" panose="02020603050405020304" pitchFamily="18" charset="0"/>
              </a:rPr>
              <a:t>Lợi </a:t>
            </a:r>
            <a:r>
              <a:rPr lang="en-US" sz="1000" b="1" dirty="0" err="1">
                <a:latin typeface="Times New Roman" panose="02020603050405020304" pitchFamily="18" charset="0"/>
                <a:cs typeface="Times New Roman" panose="02020603050405020304" pitchFamily="18" charset="0"/>
              </a:rPr>
              <a:t>ích</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Tăng</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tỷ</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lệ</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phá</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án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răn</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đe</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tội</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phạm</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bảo</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vệ</a:t>
            </a:r>
            <a:r>
              <a:rPr lang="en-US" sz="1000" dirty="0">
                <a:latin typeface="Times New Roman" panose="02020603050405020304" pitchFamily="18" charset="0"/>
                <a:cs typeface="Times New Roman" panose="02020603050405020304" pitchFamily="18" charset="0"/>
              </a:rPr>
              <a:t> an </a:t>
            </a:r>
            <a:r>
              <a:rPr lang="en-US" sz="1000" dirty="0" err="1">
                <a:latin typeface="Times New Roman" panose="02020603050405020304" pitchFamily="18" charset="0"/>
                <a:cs typeface="Times New Roman" panose="02020603050405020304" pitchFamily="18" charset="0"/>
              </a:rPr>
              <a:t>ninh</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trật</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tự</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đô</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thị</a:t>
            </a:r>
            <a:r>
              <a:rPr lang="en-US" sz="1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F090B645-2989-FD8A-59E3-A584E44159D9}"/>
              </a:ext>
            </a:extLst>
          </p:cNvPr>
          <p:cNvSpPr txBox="1"/>
          <p:nvPr/>
        </p:nvSpPr>
        <p:spPr>
          <a:xfrm>
            <a:off x="0" y="6895695"/>
            <a:ext cx="6715300" cy="369332"/>
          </a:xfrm>
          <a:prstGeom prst="rect">
            <a:avLst/>
          </a:prstGeom>
          <a:solidFill>
            <a:schemeClr val="tx2">
              <a:lumMod val="50000"/>
              <a:lumOff val="50000"/>
            </a:schemeClr>
          </a:solidFill>
        </p:spPr>
        <p:txBody>
          <a:bodyPr wrap="none" rtlCol="0">
            <a:spAutoFit/>
          </a:bodyPr>
          <a:lstStyle/>
          <a:p>
            <a:pPr>
              <a:spcAft>
                <a:spcPts val="600"/>
              </a:spcAft>
            </a:pPr>
            <a:r>
              <a:rPr lang="vi-VN" dirty="0">
                <a:latin typeface="Times New Roman" panose="02020603050405020304" pitchFamily="18" charset="0"/>
                <a:cs typeface="Times New Roman" panose="02020603050405020304" pitchFamily="18" charset="0"/>
              </a:rPr>
              <a:t>→ Giao thông thông minh - Thành phố văn minh - Người dân hài lòng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5827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mp_page.png"/>
          <p:cNvPicPr>
            <a:picLocks noChangeAspect="1"/>
          </p:cNvPicPr>
          <p:nvPr/>
        </p:nvPicPr>
        <p:blipFill>
          <a:blip r:embed="rId2"/>
          <a:stretch>
            <a:fillRect/>
          </a:stretch>
        </p:blipFill>
        <p:spPr>
          <a:xfrm>
            <a:off x="1588" y="0"/>
            <a:ext cx="12188952" cy="6858000"/>
          </a:xfrm>
          <a:prstGeom prst="rect">
            <a:avLst/>
          </a:prstGeom>
        </p:spPr>
      </p:pic>
    </p:spTree>
    <p:extLst>
      <p:ext uri="{BB962C8B-B14F-4D97-AF65-F5344CB8AC3E}">
        <p14:creationId xmlns:p14="http://schemas.microsoft.com/office/powerpoint/2010/main" val="2148292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0489E7-8AC8-38A2-A9C7-A34F7D0BBA1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39DC02F-B729-EBAA-D9A3-828010A76B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F3350A1-BA80-99DC-2E4B-974CB5160C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4E07CD7F-C035-664E-0DDB-A203A6457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392196-6778-F6F4-61A0-86D672E82FA5}"/>
              </a:ext>
            </a:extLst>
          </p:cNvPr>
          <p:cNvSpPr>
            <a:spLocks noGrp="1"/>
          </p:cNvSpPr>
          <p:nvPr>
            <p:ph type="ctrTitle"/>
          </p:nvPr>
        </p:nvSpPr>
        <p:spPr>
          <a:xfrm>
            <a:off x="182880" y="945129"/>
            <a:ext cx="3811475" cy="2156621"/>
          </a:xfrm>
        </p:spPr>
        <p:txBody>
          <a:bodyPr vert="horz" lIns="91440" tIns="45720" rIns="91440" bIns="45720" rtlCol="0" anchor="t">
            <a:normAutofit fontScale="90000"/>
          </a:bodyPr>
          <a:lstStyle/>
          <a:p>
            <a:pPr algn="l"/>
            <a:r>
              <a:rPr lang="vi-VN" sz="2700" b="1" kern="1200" dirty="0">
                <a:solidFill>
                  <a:srgbClr val="FFFFFF"/>
                </a:solidFill>
                <a:latin typeface="Times New Roman" panose="02020603050405020304" pitchFamily="18" charset="0"/>
                <a:cs typeface="Times New Roman" panose="02020603050405020304" pitchFamily="18" charset="0"/>
              </a:rPr>
              <a:t>AI Camera MKVISION: Xây Dựng Trường Học An Toàn, Văn Minh, Hiện Đại</a:t>
            </a:r>
            <a:br>
              <a:rPr lang="vi-VN" sz="2700" b="1" kern="1200" dirty="0">
                <a:solidFill>
                  <a:srgbClr val="FFFFFF"/>
                </a:solidFill>
                <a:latin typeface="Times New Roman" panose="02020603050405020304" pitchFamily="18" charset="0"/>
                <a:cs typeface="Times New Roman" panose="02020603050405020304" pitchFamily="18" charset="0"/>
              </a:rPr>
            </a:br>
            <a:r>
              <a:rPr lang="vi-VN" sz="2700" b="1" kern="1200" dirty="0">
                <a:solidFill>
                  <a:srgbClr val="FFFFFF"/>
                </a:solidFill>
                <a:latin typeface="Times New Roman" panose="02020603050405020304" pitchFamily="18" charset="0"/>
                <a:cs typeface="Times New Roman" panose="02020603050405020304" pitchFamily="18" charset="0"/>
              </a:rPr>
              <a:t>Bảo Vệ Toàn Diện </a:t>
            </a:r>
            <a:br>
              <a:rPr lang="en-US" sz="2700" b="1" kern="1200" dirty="0">
                <a:solidFill>
                  <a:srgbClr val="FFFFFF"/>
                </a:solidFill>
                <a:latin typeface="Times New Roman" panose="02020603050405020304" pitchFamily="18" charset="0"/>
                <a:cs typeface="Times New Roman" panose="02020603050405020304" pitchFamily="18" charset="0"/>
              </a:rPr>
            </a:br>
            <a:r>
              <a:rPr lang="vi-VN" sz="2700" b="1" kern="1200" dirty="0">
                <a:solidFill>
                  <a:srgbClr val="FFFFFF"/>
                </a:solidFill>
                <a:latin typeface="Times New Roman" panose="02020603050405020304" pitchFamily="18" charset="0"/>
                <a:cs typeface="Times New Roman" panose="02020603050405020304" pitchFamily="18" charset="0"/>
              </a:rPr>
              <a:t>Học Sinh &amp; Giáo Viên, </a:t>
            </a:r>
            <a:br>
              <a:rPr lang="vi-VN" sz="2700" b="1" kern="1200" dirty="0">
                <a:solidFill>
                  <a:srgbClr val="FFFFFF"/>
                </a:solidFill>
                <a:latin typeface="Times New Roman" panose="02020603050405020304" pitchFamily="18" charset="0"/>
                <a:cs typeface="Times New Roman" panose="02020603050405020304" pitchFamily="18" charset="0"/>
              </a:rPr>
            </a:br>
            <a:r>
              <a:rPr lang="vi-VN" sz="2700" b="1" kern="1200" dirty="0">
                <a:solidFill>
                  <a:srgbClr val="FFFFFF"/>
                </a:solidFill>
                <a:latin typeface="Times New Roman" panose="02020603050405020304" pitchFamily="18" charset="0"/>
                <a:cs typeface="Times New Roman" panose="02020603050405020304" pitchFamily="18" charset="0"/>
              </a:rPr>
              <a:t>Hỗ Trợ Quản Lý </a:t>
            </a:r>
            <a:br>
              <a:rPr lang="en-US" sz="2700" b="1" kern="1200" dirty="0">
                <a:solidFill>
                  <a:srgbClr val="FFFFFF"/>
                </a:solidFill>
                <a:latin typeface="Times New Roman" panose="02020603050405020304" pitchFamily="18" charset="0"/>
                <a:cs typeface="Times New Roman" panose="02020603050405020304" pitchFamily="18" charset="0"/>
              </a:rPr>
            </a:br>
            <a:r>
              <a:rPr lang="vi-VN" sz="2700" b="1" kern="1200" dirty="0">
                <a:solidFill>
                  <a:srgbClr val="FFFFFF"/>
                </a:solidFill>
                <a:latin typeface="Times New Roman" panose="02020603050405020304" pitchFamily="18" charset="0"/>
                <a:cs typeface="Times New Roman" panose="02020603050405020304" pitchFamily="18" charset="0"/>
              </a:rPr>
              <a:t>Thông Minh</a:t>
            </a:r>
            <a:endParaRPr lang="en-US" sz="1800" kern="1200" dirty="0">
              <a:solidFill>
                <a:srgbClr val="FFFFFF"/>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D95B834-93DA-7732-4742-B69172F50273}"/>
              </a:ext>
            </a:extLst>
          </p:cNvPr>
          <p:cNvSpPr>
            <a:spLocks noGrp="1"/>
          </p:cNvSpPr>
          <p:nvPr>
            <p:ph type="subTitle" idx="1"/>
          </p:nvPr>
        </p:nvSpPr>
        <p:spPr>
          <a:xfrm>
            <a:off x="4288982" y="1757929"/>
            <a:ext cx="3614033" cy="4198433"/>
          </a:xfrm>
        </p:spPr>
        <p:txBody>
          <a:bodyPr vert="horz" lIns="91440" tIns="45720" rIns="91440" bIns="45720" rtlCol="0">
            <a:normAutofit/>
          </a:bodyPr>
          <a:lstStyle/>
          <a:p>
            <a:pPr algn="l">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An Ninh Toàn Diện Trong &amp; Ngoài Trường</a:t>
            </a:r>
          </a:p>
          <a:p>
            <a:pPr algn="l">
              <a:spcBef>
                <a:spcPts val="600"/>
              </a:spcBef>
            </a:pPr>
            <a:r>
              <a:rPr lang="vi-VN" sz="1000" b="1" dirty="0">
                <a:latin typeface="Times New Roman" panose="02020603050405020304" pitchFamily="18" charset="0"/>
                <a:cs typeface="Times New Roman" panose="02020603050405020304" pitchFamily="18" charset="0"/>
              </a:rPr>
              <a:t>Bảo vệ 24/7:</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Giám sát an ninh toàn bộ khuôn viên trường</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Cảnh báo ngay khi phát hiện xâm nhập trái phép</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Bảo vệ an toàn tuyệt đối cho học sinh và giáo viên</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Phụ huynh yên tâm, học sinh học tập trong môi trường an toàn, ngăn chặn các nguy cơ từ bên ngoài.</a:t>
            </a:r>
            <a:endParaRPr lang="en-US" sz="1000" dirty="0">
              <a:latin typeface="Times New Roman" panose="02020603050405020304" pitchFamily="18" charset="0"/>
              <a:cs typeface="Times New Roman" panose="02020603050405020304" pitchFamily="18" charset="0"/>
            </a:endParaRPr>
          </a:p>
          <a:p>
            <a:pPr algn="l">
              <a:spcBef>
                <a:spcPts val="600"/>
              </a:spcBef>
            </a:pPr>
            <a:endParaRPr lang="vi-VN" sz="1000"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Quản Lý Ra Vào Thông Minh</a:t>
            </a:r>
          </a:p>
          <a:p>
            <a:pPr algn="l">
              <a:spcBef>
                <a:spcPts val="600"/>
              </a:spcBef>
            </a:pPr>
            <a:r>
              <a:rPr lang="vi-VN" sz="1000" b="1" dirty="0">
                <a:latin typeface="Times New Roman" panose="02020603050405020304" pitchFamily="18" charset="0"/>
                <a:cs typeface="Times New Roman" panose="02020603050405020304" pitchFamily="18" charset="0"/>
              </a:rPr>
              <a:t>Kiểm soát hiện đại:</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Nhận diện khuôn mặt tự động cho học sinh, giáo viên, cán bộ</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Nhận diện biển số xe đưa đón học sinh</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Điểm danh và chấm công tự động, chính xác</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Thông báo tức thì cho phụ huynh khi con đến/về trường</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Tiết kiệm thời gian hành chính, tăng tính minh bạch, phụ huynh theo dõi con qua app.</a:t>
            </a:r>
          </a:p>
          <a:p>
            <a:pPr indent="-228600" algn="l">
              <a:buFont typeface="Arial" panose="020B0604020202020204" pitchFamily="34" charset="0"/>
              <a:buChar char="•"/>
            </a:pPr>
            <a:endParaRPr lang="en-US" sz="8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D592ADFB-1061-6552-D34E-56DE7D40C291}"/>
              </a:ext>
            </a:extLst>
          </p:cNvPr>
          <p:cNvSpPr txBox="1">
            <a:spLocks/>
          </p:cNvSpPr>
          <p:nvPr/>
        </p:nvSpPr>
        <p:spPr>
          <a:xfrm>
            <a:off x="8125072" y="1247078"/>
            <a:ext cx="4079545" cy="43638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Giám Sát Khu Vực Nhạy Cảm</a:t>
            </a:r>
          </a:p>
          <a:p>
            <a:pPr algn="l">
              <a:spcBef>
                <a:spcPts val="600"/>
              </a:spcBef>
            </a:pPr>
            <a:r>
              <a:rPr lang="vi-VN" sz="1000" b="1" dirty="0">
                <a:latin typeface="Times New Roman" panose="02020603050405020304" pitchFamily="18" charset="0"/>
                <a:cs typeface="Times New Roman" panose="02020603050405020304" pitchFamily="18" charset="0"/>
              </a:rPr>
              <a:t>An toàn tối đa:</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Theo dõi khu vực cổng trường, bãi đỗ xe, sân chơi</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Giám sát hoạt động đón trả học sinh an toàn và trật tự</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Kiểm soát khu vực nguy hiểm (thang máy, tầng thượng, hồ bơi)</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Phòng ngừa tai nạn, xử lý nhanh tình huống khẩn cấp, bảo vệ trẻ em tối đa.</a:t>
            </a:r>
            <a:br>
              <a:rPr lang="vi-VN" sz="1000" dirty="0">
                <a:latin typeface="Times New Roman" panose="02020603050405020304" pitchFamily="18" charset="0"/>
                <a:cs typeface="Times New Roman" panose="02020603050405020304" pitchFamily="18" charset="0"/>
              </a:rPr>
            </a:br>
            <a:endParaRPr lang="vi-VN" sz="1000" dirty="0">
              <a:latin typeface="Times New Roman" panose="02020603050405020304" pitchFamily="18" charset="0"/>
              <a:cs typeface="Times New Roman" panose="02020603050405020304" pitchFamily="18" charset="0"/>
            </a:endParaRPr>
          </a:p>
          <a:p>
            <a:pPr algn="l">
              <a:spcBef>
                <a:spcPts val="600"/>
              </a:spcBef>
            </a:pPr>
            <a:r>
              <a:rPr lang="vi-VN" sz="1000" b="1" dirty="0">
                <a:latin typeface="Times New Roman" panose="02020603050405020304" pitchFamily="18" charset="0"/>
                <a:cs typeface="Times New Roman" panose="02020603050405020304" pitchFamily="18" charset="0"/>
              </a:rPr>
              <a:t>⚠️ Phát Hiện &amp; Cảnh Báo Hành Vi Nguy Hiểm</a:t>
            </a:r>
          </a:p>
          <a:p>
            <a:pPr algn="l">
              <a:spcBef>
                <a:spcPts val="600"/>
              </a:spcBef>
            </a:pPr>
            <a:r>
              <a:rPr lang="vi-VN" sz="1000" b="1" dirty="0">
                <a:latin typeface="Times New Roman" panose="02020603050405020304" pitchFamily="18" charset="0"/>
                <a:cs typeface="Times New Roman" panose="02020603050405020304" pitchFamily="18" charset="0"/>
              </a:rPr>
              <a:t>Bảo vệ môi trường học đường:</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Phát hiện hành vi bắt nạt</a:t>
            </a:r>
            <a:r>
              <a:rPr lang="en-US" sz="1000" dirty="0">
                <a:latin typeface="Times New Roman" panose="02020603050405020304" pitchFamily="18" charset="0"/>
                <a:cs typeface="Times New Roman" panose="02020603050405020304" pitchFamily="18" charset="0"/>
              </a:rPr>
              <a:t>, </a:t>
            </a:r>
            <a:r>
              <a:rPr lang="vi-VN" sz="1000" dirty="0">
                <a:latin typeface="Times New Roman" panose="02020603050405020304" pitchFamily="18" charset="0"/>
                <a:cs typeface="Times New Roman" panose="02020603050405020304" pitchFamily="18" charset="0"/>
              </a:rPr>
              <a:t>đánh nhau</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Cảnh báo hút thuốc, vi phạm nội quy học đường</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Nhận diện người lạ hoặc hành vi khả nghi trong trường</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Ghi lại bằng chứng rõ ràng để xử lý kỷ luật công bằng</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Ngăn chặn bạo lực học đường, bảo vệ học sinh yếu thế, tạo môi trường học tập lành mạnh.</a:t>
            </a:r>
            <a:br>
              <a:rPr lang="vi-VN" sz="1000" dirty="0">
                <a:latin typeface="Times New Roman" panose="02020603050405020304" pitchFamily="18" charset="0"/>
                <a:cs typeface="Times New Roman" panose="02020603050405020304" pitchFamily="18" charset="0"/>
              </a:rPr>
            </a:br>
            <a:endParaRPr lang="vi-VN" sz="1000"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Hỗ Trợ Quản Lý &amp; Báo Cáo</a:t>
            </a:r>
          </a:p>
          <a:p>
            <a:pPr algn="l">
              <a:spcBef>
                <a:spcPts val="600"/>
              </a:spcBef>
            </a:pPr>
            <a:r>
              <a:rPr lang="vi-VN" sz="1000" b="1" dirty="0">
                <a:latin typeface="Times New Roman" panose="02020603050405020304" pitchFamily="18" charset="0"/>
                <a:cs typeface="Times New Roman" panose="02020603050405020304" pitchFamily="18" charset="0"/>
              </a:rPr>
              <a:t>Hiện đại hóa quản lý:</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Thống kê tự động học sinh đi học, vắng mặt</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Báo cáo hoạt động an ninh hàng ngày</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Lưu trữ video để kiểm tra khi có sự cố hoặc khiếu nại</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Cung cấp dữ liệu cho ban giám hiệu ra quyết định</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Giảm gánh nặng hành chính, quản lý minh bạch, nâng cao chất lượng giáo dục.</a:t>
            </a:r>
          </a:p>
        </p:txBody>
      </p:sp>
      <p:sp>
        <p:nvSpPr>
          <p:cNvPr id="13" name="TextBox 12">
            <a:extLst>
              <a:ext uri="{FF2B5EF4-FFF2-40B4-BE49-F238E27FC236}">
                <a16:creationId xmlns:a16="http://schemas.microsoft.com/office/drawing/2014/main" id="{516E63CC-C681-181A-9A92-7FDF2AA4B5E9}"/>
              </a:ext>
            </a:extLst>
          </p:cNvPr>
          <p:cNvSpPr txBox="1"/>
          <p:nvPr/>
        </p:nvSpPr>
        <p:spPr>
          <a:xfrm>
            <a:off x="0" y="6881955"/>
            <a:ext cx="7138493" cy="369332"/>
          </a:xfrm>
          <a:prstGeom prst="rect">
            <a:avLst/>
          </a:prstGeom>
          <a:solidFill>
            <a:schemeClr val="tx2">
              <a:lumMod val="50000"/>
              <a:lumOff val="50000"/>
            </a:schemeClr>
          </a:solidFill>
        </p:spPr>
        <p:txBody>
          <a:bodyPr wrap="none" rtlCol="0">
            <a:spAutoFit/>
          </a:bodyPr>
          <a:lstStyle/>
          <a:p>
            <a:r>
              <a:rPr lang="vi-VN" dirty="0">
                <a:latin typeface="Times New Roman" panose="02020603050405020304" pitchFamily="18" charset="0"/>
                <a:cs typeface="Times New Roman" panose="02020603050405020304" pitchFamily="18" charset="0"/>
              </a:rPr>
              <a:t>→ Trường học an toàn - Phụ huynh yên tâm - Học sinh phát triển toàn diện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7345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mp_page.png"/>
          <p:cNvPicPr>
            <a:picLocks noChangeAspect="1"/>
          </p:cNvPicPr>
          <p:nvPr/>
        </p:nvPicPr>
        <p:blipFill>
          <a:blip r:embed="rId2"/>
          <a:stretch>
            <a:fillRect/>
          </a:stretch>
        </p:blipFill>
        <p:spPr>
          <a:xfrm>
            <a:off x="1588" y="0"/>
            <a:ext cx="12188952" cy="6858000"/>
          </a:xfrm>
          <a:prstGeom prst="rect">
            <a:avLst/>
          </a:prstGeom>
        </p:spPr>
      </p:pic>
    </p:spTree>
    <p:extLst>
      <p:ext uri="{BB962C8B-B14F-4D97-AF65-F5344CB8AC3E}">
        <p14:creationId xmlns:p14="http://schemas.microsoft.com/office/powerpoint/2010/main" val="600614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016129-3B11-92ED-F855-A19CD9A5807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A6D50E6-B7A3-3FAF-7468-C813A1AA1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04F3C5F-D85B-7449-D618-5D5AEEC62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D25859FE-4571-6CC6-0E5B-C4903425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3D1C67-6045-AAE5-CDC8-E85C67F31D28}"/>
              </a:ext>
            </a:extLst>
          </p:cNvPr>
          <p:cNvSpPr>
            <a:spLocks noGrp="1"/>
          </p:cNvSpPr>
          <p:nvPr>
            <p:ph type="ctrTitle"/>
          </p:nvPr>
        </p:nvSpPr>
        <p:spPr>
          <a:xfrm>
            <a:off x="182879" y="945129"/>
            <a:ext cx="4017535" cy="2156621"/>
          </a:xfrm>
        </p:spPr>
        <p:txBody>
          <a:bodyPr vert="horz" lIns="91440" tIns="45720" rIns="91440" bIns="45720" rtlCol="0" anchor="t">
            <a:normAutofit fontScale="90000"/>
          </a:bodyPr>
          <a:lstStyle/>
          <a:p>
            <a:pPr algn="l"/>
            <a:r>
              <a:rPr lang="vi-VN" sz="2700" b="1" kern="1200" dirty="0">
                <a:solidFill>
                  <a:srgbClr val="FFFFFF"/>
                </a:solidFill>
                <a:latin typeface="Times New Roman" panose="02020603050405020304" pitchFamily="18" charset="0"/>
                <a:cs typeface="Times New Roman" panose="02020603050405020304" pitchFamily="18" charset="0"/>
              </a:rPr>
              <a:t>AI Camera MKVISION: Giải Pháp Quản Lý </a:t>
            </a:r>
            <a:br>
              <a:rPr lang="en-US" sz="2700" b="1" kern="1200" dirty="0">
                <a:solidFill>
                  <a:srgbClr val="FFFFFF"/>
                </a:solidFill>
                <a:latin typeface="Times New Roman" panose="02020603050405020304" pitchFamily="18" charset="0"/>
                <a:cs typeface="Times New Roman" panose="02020603050405020304" pitchFamily="18" charset="0"/>
              </a:rPr>
            </a:br>
            <a:r>
              <a:rPr lang="vi-VN" sz="2700" b="1" kern="1200" dirty="0">
                <a:solidFill>
                  <a:srgbClr val="FFFFFF"/>
                </a:solidFill>
                <a:latin typeface="Times New Roman" panose="02020603050405020304" pitchFamily="18" charset="0"/>
                <a:cs typeface="Times New Roman" panose="02020603050405020304" pitchFamily="18" charset="0"/>
              </a:rPr>
              <a:t>Thông Minh Cho Trại Giam </a:t>
            </a:r>
            <a:br>
              <a:rPr lang="en-US" sz="2700" b="1" kern="1200" dirty="0">
                <a:solidFill>
                  <a:srgbClr val="FFFFFF"/>
                </a:solidFill>
                <a:latin typeface="Times New Roman" panose="02020603050405020304" pitchFamily="18" charset="0"/>
                <a:cs typeface="Times New Roman" panose="02020603050405020304" pitchFamily="18" charset="0"/>
              </a:rPr>
            </a:br>
            <a:r>
              <a:rPr lang="vi-VN" sz="2700" b="1" kern="1200" dirty="0">
                <a:solidFill>
                  <a:srgbClr val="FFFFFF"/>
                </a:solidFill>
                <a:latin typeface="Times New Roman" panose="02020603050405020304" pitchFamily="18" charset="0"/>
                <a:cs typeface="Times New Roman" panose="02020603050405020304" pitchFamily="18" charset="0"/>
              </a:rPr>
              <a:t>&amp; Cơ Sở Cai Nghiện</a:t>
            </a:r>
            <a:br>
              <a:rPr lang="vi-VN" sz="2700" b="1" kern="1200" dirty="0">
                <a:solidFill>
                  <a:srgbClr val="FFFFFF"/>
                </a:solidFill>
                <a:latin typeface="Times New Roman" panose="02020603050405020304" pitchFamily="18" charset="0"/>
                <a:cs typeface="Times New Roman" panose="02020603050405020304" pitchFamily="18" charset="0"/>
              </a:rPr>
            </a:br>
            <a:r>
              <a:rPr lang="vi-VN" sz="1800" kern="1200" dirty="0">
                <a:solidFill>
                  <a:srgbClr val="FFFFFF"/>
                </a:solidFill>
                <a:latin typeface="Times New Roman" panose="02020603050405020304" pitchFamily="18" charset="0"/>
                <a:cs typeface="Times New Roman" panose="02020603050405020304" pitchFamily="18" charset="0"/>
              </a:rPr>
              <a:t>Nâng Cao Hiệu Quả Quản Lý, Đảm Bảo An Toàn Tuyệt Đối</a:t>
            </a:r>
            <a:endParaRPr lang="en-US" sz="1800" kern="1200" dirty="0">
              <a:solidFill>
                <a:srgbClr val="FFFFFF"/>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D779E5C-9406-65A4-247A-8ACAE154971A}"/>
              </a:ext>
            </a:extLst>
          </p:cNvPr>
          <p:cNvSpPr>
            <a:spLocks noGrp="1"/>
          </p:cNvSpPr>
          <p:nvPr>
            <p:ph type="subTitle" idx="1"/>
          </p:nvPr>
        </p:nvSpPr>
        <p:spPr>
          <a:xfrm>
            <a:off x="4288982" y="1757929"/>
            <a:ext cx="3747524" cy="4198433"/>
          </a:xfrm>
        </p:spPr>
        <p:txBody>
          <a:bodyPr vert="horz" lIns="91440" tIns="45720" rIns="91440" bIns="45720" rtlCol="0">
            <a:normAutofit/>
          </a:bodyPr>
          <a:lstStyle/>
          <a:p>
            <a:pPr algn="just">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Giám Sát Phạm Nhân Liên Tục</a:t>
            </a:r>
          </a:p>
          <a:p>
            <a:pPr algn="just">
              <a:spcBef>
                <a:spcPts val="600"/>
              </a:spcBef>
            </a:pPr>
            <a:r>
              <a:rPr lang="vi-VN" sz="1000" b="1" dirty="0">
                <a:latin typeface="Times New Roman" panose="02020603050405020304" pitchFamily="18" charset="0"/>
                <a:cs typeface="Times New Roman" panose="02020603050405020304" pitchFamily="18" charset="0"/>
              </a:rPr>
              <a:t>Giám sát chuyên sâu:</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Theo dõi phạm nhân 24/7 trong khu giam giữ, khu thăm gặp</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Nhận diện hành vi bất thường, phát hiện dấu hiệu bạo lực hoặc tự gây thương tích</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Đảm bảo tuân thủ nội quy và an toàn trong từng khu vực</a:t>
            </a:r>
          </a:p>
          <a:p>
            <a:pPr algn="just">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Phát hiện sớm nguy cơ, ngăn chặn sự cố trước khi leo thang, bảo vệ cả phạm nhân và cán bộ.</a:t>
            </a:r>
          </a:p>
          <a:p>
            <a:pPr algn="just">
              <a:spcBef>
                <a:spcPts val="600"/>
              </a:spcBef>
            </a:pPr>
            <a:endParaRPr lang="vi-VN" sz="1000" dirty="0">
              <a:latin typeface="Times New Roman" panose="02020603050405020304" pitchFamily="18" charset="0"/>
              <a:cs typeface="Times New Roman" panose="02020603050405020304" pitchFamily="18" charset="0"/>
            </a:endParaRPr>
          </a:p>
          <a:p>
            <a:pPr algn="just">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Cảnh Báo Hành Vi Nguy Hiểm Tức Thời</a:t>
            </a:r>
          </a:p>
          <a:p>
            <a:pPr algn="just">
              <a:spcBef>
                <a:spcPts val="600"/>
              </a:spcBef>
            </a:pPr>
            <a:r>
              <a:rPr lang="vi-VN" sz="1000" b="1" dirty="0">
                <a:latin typeface="Times New Roman" panose="02020603050405020304" pitchFamily="18" charset="0"/>
                <a:cs typeface="Times New Roman" panose="02020603050405020304" pitchFamily="18" charset="0"/>
              </a:rPr>
              <a:t>Phát hiện thông minh:</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Tự tập, đánh nhau, gây rối</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Vượt rào, trốn trại</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Phá hoại tài sản, hành vi tự hại</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Cảnh báo ngay lập tức đến trung tâm giám sát</a:t>
            </a:r>
          </a:p>
          <a:p>
            <a:pPr algn="just">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Phản ứng nhanh trong tình huống khẩn cấp, giảm thiểu thương vong và thiệt hại.</a:t>
            </a:r>
          </a:p>
          <a:p>
            <a:pPr indent="-228600" algn="l">
              <a:buFont typeface="Arial" panose="020B0604020202020204" pitchFamily="34" charset="0"/>
              <a:buChar char="•"/>
            </a:pPr>
            <a:endParaRPr lang="en-US" sz="8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4D51F99D-CE3A-7158-133F-FAE9BB7CABA6}"/>
              </a:ext>
            </a:extLst>
          </p:cNvPr>
          <p:cNvSpPr txBox="1">
            <a:spLocks/>
          </p:cNvSpPr>
          <p:nvPr/>
        </p:nvSpPr>
        <p:spPr>
          <a:xfrm>
            <a:off x="8125073" y="1601037"/>
            <a:ext cx="3747524" cy="43638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Hỗ Trợ Công Tác Quản Lý Hành Chính</a:t>
            </a:r>
          </a:p>
          <a:p>
            <a:pPr algn="l">
              <a:spcBef>
                <a:spcPts val="600"/>
              </a:spcBef>
            </a:pPr>
            <a:r>
              <a:rPr lang="vi-VN" sz="1000" b="1" dirty="0">
                <a:latin typeface="Times New Roman" panose="02020603050405020304" pitchFamily="18" charset="0"/>
                <a:cs typeface="Times New Roman" panose="02020603050405020304" pitchFamily="18" charset="0"/>
              </a:rPr>
              <a:t>Tự động hóa quy trình:</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Điểm danh phạm nhân bằng nhận diện khuôn mặt</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Kiểm tra, ghi nhận bằng chứng video cho các hoạt động giám sát</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Xử lý nhanh các tình huống khẩn cấp với dữ liệu rõ ràng</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Lưu trữ và tra cứu video dễ dàng khi cần thiết</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Giảm tải công việc thủ công, tăng tính minh bạch, cung cấp bằng chứng pháp lý đầy đủ.</a:t>
            </a:r>
            <a:br>
              <a:rPr lang="vi-VN" sz="1000" dirty="0">
                <a:latin typeface="Times New Roman" panose="02020603050405020304" pitchFamily="18" charset="0"/>
                <a:cs typeface="Times New Roman" panose="02020603050405020304" pitchFamily="18" charset="0"/>
              </a:rPr>
            </a:br>
            <a:endParaRPr lang="vi-VN" sz="1000" dirty="0">
              <a:latin typeface="Times New Roman" panose="02020603050405020304" pitchFamily="18" charset="0"/>
              <a:cs typeface="Times New Roman" panose="02020603050405020304" pitchFamily="18" charset="0"/>
            </a:endParaRPr>
          </a:p>
          <a:p>
            <a:pPr algn="l">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Tuân Thủ Quy Định &amp; Bảo Vệ Quyền Con Người</a:t>
            </a:r>
          </a:p>
          <a:p>
            <a:pPr algn="l">
              <a:spcBef>
                <a:spcPts val="600"/>
              </a:spcBef>
            </a:pPr>
            <a:r>
              <a:rPr lang="vi-VN" sz="1000" b="1" dirty="0">
                <a:latin typeface="Times New Roman" panose="02020603050405020304" pitchFamily="18" charset="0"/>
                <a:cs typeface="Times New Roman" panose="02020603050405020304" pitchFamily="18" charset="0"/>
              </a:rPr>
              <a:t>Quản lý có trách nhiệm:</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Ghi lại đầy đủ hoạt động để kiểm tra, giám sát</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Bảo vệ quyền lợi hợp pháp của phạm nhân</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Cung cấp minh chứng trong các vụ khiếu nại, tranh chấp</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Tuân thủ các tiêu chuẩn nhân đạo và pháp luật Việt Nam</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Minh bạch hoạt động, bảo vệ cán bộ quản lý khỏi cáo buộc sai, nâng cao uy tín cơ sở.</a:t>
            </a:r>
          </a:p>
        </p:txBody>
      </p:sp>
      <p:sp>
        <p:nvSpPr>
          <p:cNvPr id="6" name="TextBox 5">
            <a:extLst>
              <a:ext uri="{FF2B5EF4-FFF2-40B4-BE49-F238E27FC236}">
                <a16:creationId xmlns:a16="http://schemas.microsoft.com/office/drawing/2014/main" id="{5305D037-4E58-3C56-1F69-64EA0B642046}"/>
              </a:ext>
            </a:extLst>
          </p:cNvPr>
          <p:cNvSpPr txBox="1"/>
          <p:nvPr/>
        </p:nvSpPr>
        <p:spPr>
          <a:xfrm>
            <a:off x="15753" y="6879705"/>
            <a:ext cx="4225837" cy="369332"/>
          </a:xfrm>
          <a:prstGeom prst="rect">
            <a:avLst/>
          </a:prstGeom>
          <a:solidFill>
            <a:schemeClr val="tx2">
              <a:lumMod val="50000"/>
              <a:lumOff val="50000"/>
            </a:schemeClr>
          </a:solidFill>
        </p:spPr>
        <p:txBody>
          <a:bodyPr wrap="none" rtlCol="0">
            <a:spAutoFit/>
          </a:bodyPr>
          <a:lstStyle/>
          <a:p>
            <a:r>
              <a:rPr lang="en-US" b="1" dirty="0">
                <a:latin typeface="Times New Roman" panose="02020603050405020304" pitchFamily="18" charset="0"/>
                <a:cs typeface="Times New Roman" panose="02020603050405020304" pitchFamily="18" charset="0"/>
              </a:rPr>
              <a:t>→ Quản </a:t>
            </a:r>
            <a:r>
              <a:rPr lang="en-US" b="1" dirty="0" err="1">
                <a:latin typeface="Times New Roman" panose="02020603050405020304" pitchFamily="18" charset="0"/>
                <a:cs typeface="Times New Roman" panose="02020603050405020304" pitchFamily="18" charset="0"/>
              </a:rPr>
              <a:t>lý</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đại</a:t>
            </a:r>
            <a:r>
              <a:rPr lang="en-US" b="1" dirty="0">
                <a:latin typeface="Times New Roman" panose="02020603050405020304" pitchFamily="18" charset="0"/>
                <a:cs typeface="Times New Roman" panose="02020603050405020304" pitchFamily="18" charset="0"/>
              </a:rPr>
              <a:t>, an </a:t>
            </a:r>
            <a:r>
              <a:rPr lang="en-US" b="1" dirty="0" err="1">
                <a:latin typeface="Times New Roman" panose="02020603050405020304" pitchFamily="18" charset="0"/>
                <a:cs typeface="Times New Roman" panose="02020603050405020304" pitchFamily="18" charset="0"/>
              </a:rPr>
              <a:t>toàn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nhân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đạo</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706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mp_page.png"/>
          <p:cNvPicPr>
            <a:picLocks noChangeAspect="1"/>
          </p:cNvPicPr>
          <p:nvPr/>
        </p:nvPicPr>
        <p:blipFill>
          <a:blip r:embed="rId2"/>
          <a:stretch>
            <a:fillRect/>
          </a:stretch>
        </p:blipFill>
        <p:spPr>
          <a:xfrm>
            <a:off x="1588" y="0"/>
            <a:ext cx="12188952" cy="6858000"/>
          </a:xfrm>
          <a:prstGeom prst="rect">
            <a:avLst/>
          </a:prstGeom>
        </p:spPr>
      </p:pic>
      <p:sp>
        <p:nvSpPr>
          <p:cNvPr id="3" name="TextBox 2">
            <a:extLst>
              <a:ext uri="{FF2B5EF4-FFF2-40B4-BE49-F238E27FC236}">
                <a16:creationId xmlns:a16="http://schemas.microsoft.com/office/drawing/2014/main" id="{9D39EDC8-1605-4A9D-F555-B7E2AF74E093}"/>
              </a:ext>
            </a:extLst>
          </p:cNvPr>
          <p:cNvSpPr txBox="1"/>
          <p:nvPr/>
        </p:nvSpPr>
        <p:spPr>
          <a:xfrm>
            <a:off x="943428" y="2278742"/>
            <a:ext cx="2815772" cy="461665"/>
          </a:xfrm>
          <a:prstGeom prst="rect">
            <a:avLst/>
          </a:prstGeom>
          <a:solidFill>
            <a:schemeClr val="bg1"/>
          </a:solidFill>
        </p:spPr>
        <p:txBody>
          <a:bodyPr wrap="square" rtlCol="0">
            <a:spAutoFit/>
          </a:bodyPr>
          <a:lstStyle/>
          <a:p>
            <a:r>
              <a:rPr lang="vi-VN" sz="1200"/>
              <a:t>Nhận diện khuôn mặt, phân tích nhân khẩu học, nhận diện cảm xúc</a:t>
            </a:r>
            <a:endParaRPr 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E4E26D-8C6A-FEE3-CB5E-0B0DD04E492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CA0308B-6E72-339B-8996-6B9D6B6CD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F227023-7FDE-332E-242B-05F6DE432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443CCE98-033C-1FDD-34FA-8471C48DB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BF3072A-B321-82D1-6808-7562A4A0DB6C}"/>
              </a:ext>
            </a:extLst>
          </p:cNvPr>
          <p:cNvSpPr>
            <a:spLocks noGrp="1"/>
          </p:cNvSpPr>
          <p:nvPr>
            <p:ph type="ctrTitle"/>
          </p:nvPr>
        </p:nvSpPr>
        <p:spPr>
          <a:xfrm>
            <a:off x="28379" y="640714"/>
            <a:ext cx="4232226" cy="2156621"/>
          </a:xfrm>
        </p:spPr>
        <p:txBody>
          <a:bodyPr vert="horz" lIns="91440" tIns="45720" rIns="91440" bIns="45720" rtlCol="0" anchor="t">
            <a:normAutofit/>
          </a:bodyPr>
          <a:lstStyle/>
          <a:p>
            <a:pPr algn="l"/>
            <a:r>
              <a:rPr lang="vi-VN" sz="2400" b="1" kern="1200" dirty="0">
                <a:solidFill>
                  <a:srgbClr val="FFFFFF"/>
                </a:solidFill>
                <a:latin typeface="Times New Roman" panose="02020603050405020304" pitchFamily="18" charset="0"/>
                <a:cs typeface="Times New Roman" panose="02020603050405020304" pitchFamily="18" charset="0"/>
              </a:rPr>
              <a:t>AI Camera MKVISION: </a:t>
            </a:r>
            <a:br>
              <a:rPr lang="en-US" sz="2400" b="1" kern="1200" dirty="0">
                <a:solidFill>
                  <a:srgbClr val="FFFFFF"/>
                </a:solidFill>
                <a:latin typeface="Times New Roman" panose="02020603050405020304" pitchFamily="18" charset="0"/>
                <a:cs typeface="Times New Roman" panose="02020603050405020304" pitchFamily="18" charset="0"/>
              </a:rPr>
            </a:br>
            <a:r>
              <a:rPr lang="vi-VN" sz="2300" b="1" kern="1200" dirty="0">
                <a:solidFill>
                  <a:srgbClr val="FFFFFF"/>
                </a:solidFill>
                <a:latin typeface="Times New Roman" panose="02020603050405020304" pitchFamily="18" charset="0"/>
                <a:cs typeface="Times New Roman" panose="02020603050405020304" pitchFamily="18" charset="0"/>
              </a:rPr>
              <a:t>Giải Pháp An Ninh Thông Minh Cho Tòa Nhà &amp; Văn Phòng</a:t>
            </a:r>
            <a:br>
              <a:rPr lang="vi-VN" sz="2700" b="1" kern="1200" dirty="0">
                <a:solidFill>
                  <a:srgbClr val="FFFFFF"/>
                </a:solidFill>
                <a:latin typeface="Times New Roman" panose="02020603050405020304" pitchFamily="18" charset="0"/>
                <a:cs typeface="Times New Roman" panose="02020603050405020304" pitchFamily="18" charset="0"/>
              </a:rPr>
            </a:br>
            <a:r>
              <a:rPr lang="vi-VN" sz="1600" kern="1200" dirty="0">
                <a:solidFill>
                  <a:srgbClr val="FFFFFF"/>
                </a:solidFill>
                <a:latin typeface="Times New Roman" panose="02020603050405020304" pitchFamily="18" charset="0"/>
                <a:cs typeface="Times New Roman" panose="02020603050405020304" pitchFamily="18" charset="0"/>
              </a:rPr>
              <a:t>Xây Dựng Môi Trường Làm Việc An Toàn, Minh Bạch, Hiện Đại</a:t>
            </a:r>
            <a:endParaRPr lang="en-US" sz="1600" kern="1200" dirty="0">
              <a:solidFill>
                <a:srgbClr val="FFFFFF"/>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3E3D7A2-8B93-6808-5704-8286E443D597}"/>
              </a:ext>
            </a:extLst>
          </p:cNvPr>
          <p:cNvSpPr>
            <a:spLocks noGrp="1"/>
          </p:cNvSpPr>
          <p:nvPr>
            <p:ph type="subTitle" idx="1"/>
          </p:nvPr>
        </p:nvSpPr>
        <p:spPr>
          <a:xfrm>
            <a:off x="4288982" y="1757929"/>
            <a:ext cx="3747524" cy="4198433"/>
          </a:xfrm>
        </p:spPr>
        <p:txBody>
          <a:bodyPr vert="horz" lIns="91440" tIns="45720" rIns="91440" bIns="45720" rtlCol="0">
            <a:normAutofit/>
          </a:bodyPr>
          <a:lstStyle/>
          <a:p>
            <a:pPr algn="just">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Quản Lý Chấm Công &amp; Nhân Viên Tự Động</a:t>
            </a:r>
          </a:p>
          <a:p>
            <a:pPr algn="just">
              <a:spcBef>
                <a:spcPts val="600"/>
              </a:spcBef>
            </a:pPr>
            <a:r>
              <a:rPr lang="vi-VN" sz="1000" b="1" dirty="0">
                <a:latin typeface="Times New Roman" panose="02020603050405020304" pitchFamily="18" charset="0"/>
                <a:cs typeface="Times New Roman" panose="02020603050405020304" pitchFamily="18" charset="0"/>
              </a:rPr>
              <a:t>Hiện đại hóa quản lý:</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Chấm công không tiếp xúc bằng nhận diện khuôn mặt</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Điểm danh thiết bị (laptop, điện thoại) ra vào tòa nhà</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Theo dõi giờ làm việc chính xác, chống gian lận</a:t>
            </a:r>
          </a:p>
          <a:p>
            <a:pPr marL="171450" indent="-171450" algn="just">
              <a:spcBef>
                <a:spcPts val="600"/>
              </a:spcBef>
              <a:buFont typeface="Wingdings" panose="05000000000000000000" pitchFamily="2" charset="2"/>
              <a:buChar char="è"/>
            </a:pP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Loại bỏ chấm công thủ công, giảm tranh chấp, tăng tính minh bạch và công bằng.</a:t>
            </a:r>
            <a:endParaRPr lang="en-US" sz="1000" dirty="0">
              <a:latin typeface="Times New Roman" panose="02020603050405020304" pitchFamily="18" charset="0"/>
              <a:cs typeface="Times New Roman" panose="02020603050405020304" pitchFamily="18" charset="0"/>
            </a:endParaRPr>
          </a:p>
          <a:p>
            <a:pPr marL="171450" indent="-171450" algn="just">
              <a:spcBef>
                <a:spcPts val="600"/>
              </a:spcBef>
              <a:buFont typeface="Wingdings" panose="05000000000000000000" pitchFamily="2" charset="2"/>
              <a:buChar char="è"/>
            </a:pPr>
            <a:endParaRPr lang="vi-VN" sz="1000" dirty="0">
              <a:latin typeface="Times New Roman" panose="02020603050405020304" pitchFamily="18" charset="0"/>
              <a:cs typeface="Times New Roman" panose="02020603050405020304" pitchFamily="18" charset="0"/>
            </a:endParaRPr>
          </a:p>
          <a:p>
            <a:pPr algn="just">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Kiểm Soát Khách Ra Vào</a:t>
            </a:r>
          </a:p>
          <a:p>
            <a:pPr algn="just">
              <a:spcBef>
                <a:spcPts val="600"/>
              </a:spcBef>
            </a:pPr>
            <a:r>
              <a:rPr lang="vi-VN" sz="1000" b="1" dirty="0">
                <a:latin typeface="Times New Roman" panose="02020603050405020304" pitchFamily="18" charset="0"/>
                <a:cs typeface="Times New Roman" panose="02020603050405020304" pitchFamily="18" charset="0"/>
              </a:rPr>
              <a:t>Bảo mật nâng cao:</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Nhận diện và đăng ký khách tự động tại quầy lễ tân</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Theo dõi lịch sử ra vào của từng khách</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Cảnh báo khi có người lạ hoặc khách không đăng ký</a:t>
            </a:r>
          </a:p>
          <a:p>
            <a:pPr algn="just">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Nâng cao an ninh tòa nhà, hỗ trợ lễ tân làm việc hiệu quả hơn, tạo ấn tượng chuyên nghiệp.</a:t>
            </a:r>
          </a:p>
        </p:txBody>
      </p:sp>
      <p:sp>
        <p:nvSpPr>
          <p:cNvPr id="4" name="Subtitle 2">
            <a:extLst>
              <a:ext uri="{FF2B5EF4-FFF2-40B4-BE49-F238E27FC236}">
                <a16:creationId xmlns:a16="http://schemas.microsoft.com/office/drawing/2014/main" id="{989B2D4F-E19E-64C4-2551-149D1AA33C09}"/>
              </a:ext>
            </a:extLst>
          </p:cNvPr>
          <p:cNvSpPr txBox="1">
            <a:spLocks/>
          </p:cNvSpPr>
          <p:nvPr/>
        </p:nvSpPr>
        <p:spPr>
          <a:xfrm>
            <a:off x="8125073" y="1719025"/>
            <a:ext cx="3747524" cy="43638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Giám Sát An Toàn &amp; Phòng Cháy</a:t>
            </a:r>
          </a:p>
          <a:p>
            <a:pPr algn="just">
              <a:spcBef>
                <a:spcPts val="600"/>
              </a:spcBef>
            </a:pPr>
            <a:r>
              <a:rPr lang="vi-VN" sz="1000" b="1" dirty="0">
                <a:latin typeface="Times New Roman" panose="02020603050405020304" pitchFamily="18" charset="0"/>
                <a:cs typeface="Times New Roman" panose="02020603050405020304" pitchFamily="18" charset="0"/>
              </a:rPr>
              <a:t>Bảo vệ tài sản &amp; con người:</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Giám sát khu vực kỹ thuật, khu vực hạn chế</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Cảnh báo sớm: cháy, khói</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Phát hiện rò rỉ hóa chất, khí gas nguy hiểm</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Tuân thủ quy định PCCC, phản ứng nhanh khi có sự cố, bảo vệ nhân viên và tài sản.</a:t>
            </a:r>
            <a:br>
              <a:rPr lang="vi-VN" sz="1000" dirty="0">
                <a:latin typeface="Times New Roman" panose="02020603050405020304" pitchFamily="18" charset="0"/>
                <a:cs typeface="Times New Roman" panose="02020603050405020304" pitchFamily="18" charset="0"/>
              </a:rPr>
            </a:br>
            <a:endParaRPr lang="vi-VN" sz="1000" dirty="0">
              <a:latin typeface="Times New Roman" panose="02020603050405020304" pitchFamily="18" charset="0"/>
              <a:cs typeface="Times New Roman" panose="02020603050405020304" pitchFamily="18" charset="0"/>
            </a:endParaRPr>
          </a:p>
          <a:p>
            <a:pPr algn="just">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Tối Ưu Vận Hành Tòa Nhà</a:t>
            </a:r>
          </a:p>
          <a:p>
            <a:pPr algn="just">
              <a:spcBef>
                <a:spcPts val="600"/>
              </a:spcBef>
            </a:pPr>
            <a:r>
              <a:rPr lang="vi-VN" sz="1000" b="1" dirty="0">
                <a:latin typeface="Times New Roman" panose="02020603050405020304" pitchFamily="18" charset="0"/>
                <a:cs typeface="Times New Roman" panose="02020603050405020304" pitchFamily="18" charset="0"/>
              </a:rPr>
              <a:t>Quản lý thông minh:</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Thống kê số lượng người ra vào theo giờ, theo ngày</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Phát hiện khu vực đông đúc, hỗ trợ bố trí không gian hợp lý</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Cung cấp báo cáo tự động cho ban quản lý</a:t>
            </a:r>
          </a:p>
          <a:p>
            <a:pPr algn="just">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Ra quyết định dựa trên dữ liệu, tối ưu chi phí vận hành, nâng cao trải nghiệm nhân viên.</a:t>
            </a:r>
          </a:p>
        </p:txBody>
      </p:sp>
      <p:sp>
        <p:nvSpPr>
          <p:cNvPr id="5" name="Rectangle 4">
            <a:extLst>
              <a:ext uri="{FF2B5EF4-FFF2-40B4-BE49-F238E27FC236}">
                <a16:creationId xmlns:a16="http://schemas.microsoft.com/office/drawing/2014/main" id="{AEC5EAD7-61CA-3E4E-9257-19ED7118B1AF}"/>
              </a:ext>
            </a:extLst>
          </p:cNvPr>
          <p:cNvSpPr/>
          <p:nvPr/>
        </p:nvSpPr>
        <p:spPr>
          <a:xfrm>
            <a:off x="-1" y="6862009"/>
            <a:ext cx="6238008" cy="44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Times New Roman" panose="02020603050405020304" pitchFamily="18" charset="0"/>
                <a:cs typeface="Times New Roman" panose="02020603050405020304" pitchFamily="18" charset="0"/>
              </a:rPr>
              <a:t>Nâng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phòng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đại</a:t>
            </a:r>
            <a:r>
              <a:rPr lang="en-US" dirty="0">
                <a:latin typeface="Times New Roman" panose="02020603050405020304" pitchFamily="18" charset="0"/>
                <a:cs typeface="Times New Roman" panose="02020603050405020304" pitchFamily="18" charset="0"/>
              </a:rPr>
              <a:t>, an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2342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mp_page.png"/>
          <p:cNvPicPr>
            <a:picLocks noChangeAspect="1"/>
          </p:cNvPicPr>
          <p:nvPr/>
        </p:nvPicPr>
        <p:blipFill>
          <a:blip r:embed="rId2"/>
          <a:stretch>
            <a:fillRect/>
          </a:stretch>
        </p:blipFill>
        <p:spPr>
          <a:xfrm>
            <a:off x="1588" y="0"/>
            <a:ext cx="12188952" cy="6858000"/>
          </a:xfrm>
          <a:prstGeom prst="rect">
            <a:avLst/>
          </a:prstGeom>
        </p:spPr>
      </p:pic>
    </p:spTree>
    <p:extLst>
      <p:ext uri="{BB962C8B-B14F-4D97-AF65-F5344CB8AC3E}">
        <p14:creationId xmlns:p14="http://schemas.microsoft.com/office/powerpoint/2010/main" val="639421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A17A2B-03D9-0951-D3AA-B93A1B4906B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084B9F8-CB60-86B9-B85D-9949C8490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12D40F-47AD-2F1C-F9F9-700B2CBC8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895BB262-B809-E3D3-E3F4-02E016B75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6DFA355-4657-532F-CFB4-77B1837EDEA8}"/>
              </a:ext>
            </a:extLst>
          </p:cNvPr>
          <p:cNvSpPr>
            <a:spLocks noGrp="1"/>
          </p:cNvSpPr>
          <p:nvPr>
            <p:ph type="ctrTitle"/>
          </p:nvPr>
        </p:nvSpPr>
        <p:spPr>
          <a:xfrm>
            <a:off x="182879" y="945129"/>
            <a:ext cx="4232227" cy="2156621"/>
          </a:xfrm>
        </p:spPr>
        <p:txBody>
          <a:bodyPr vert="horz" lIns="91440" tIns="45720" rIns="91440" bIns="45720" rtlCol="0" anchor="t">
            <a:normAutofit/>
          </a:bodyPr>
          <a:lstStyle/>
          <a:p>
            <a:pPr algn="l"/>
            <a:r>
              <a:rPr lang="vi-VN" sz="2400" b="1" kern="1200" dirty="0">
                <a:solidFill>
                  <a:srgbClr val="FFFFFF"/>
                </a:solidFill>
                <a:latin typeface="Times New Roman" panose="02020603050405020304" pitchFamily="18" charset="0"/>
                <a:cs typeface="Times New Roman" panose="02020603050405020304" pitchFamily="18" charset="0"/>
              </a:rPr>
              <a:t>AI Camera MKVISION: </a:t>
            </a:r>
            <a:br>
              <a:rPr lang="en-US" sz="2400" b="1" kern="1200" dirty="0">
                <a:solidFill>
                  <a:srgbClr val="FFFFFF"/>
                </a:solidFill>
                <a:latin typeface="Times New Roman" panose="02020603050405020304" pitchFamily="18" charset="0"/>
                <a:cs typeface="Times New Roman" panose="02020603050405020304" pitchFamily="18" charset="0"/>
              </a:rPr>
            </a:br>
            <a:r>
              <a:rPr lang="vi-VN" sz="2400" b="1" kern="1200" dirty="0">
                <a:solidFill>
                  <a:srgbClr val="FFFFFF"/>
                </a:solidFill>
                <a:latin typeface="Times New Roman" panose="02020603050405020304" pitchFamily="18" charset="0"/>
                <a:cs typeface="Times New Roman" panose="02020603050405020304" pitchFamily="18" charset="0"/>
              </a:rPr>
              <a:t>Giải Pháp An Ninh Cao Cấp Cho Hệ Thống Điện Lực</a:t>
            </a:r>
            <a:br>
              <a:rPr lang="vi-VN" sz="2700" b="1" kern="1200" dirty="0">
                <a:solidFill>
                  <a:srgbClr val="FFFFFF"/>
                </a:solidFill>
                <a:latin typeface="Times New Roman" panose="02020603050405020304" pitchFamily="18" charset="0"/>
                <a:cs typeface="Times New Roman" panose="02020603050405020304" pitchFamily="18" charset="0"/>
              </a:rPr>
            </a:br>
            <a:r>
              <a:rPr lang="vi-VN" sz="1600" kern="1200" dirty="0">
                <a:solidFill>
                  <a:srgbClr val="FFFFFF"/>
                </a:solidFill>
                <a:latin typeface="Times New Roman" panose="02020603050405020304" pitchFamily="18" charset="0"/>
                <a:cs typeface="Times New Roman" panose="02020603050405020304" pitchFamily="18" charset="0"/>
              </a:rPr>
              <a:t>Bảo Vệ Hạ Tầng Điện Quan Trọng 24/7</a:t>
            </a:r>
            <a:endParaRPr lang="en-US" sz="1600" kern="1200" dirty="0">
              <a:solidFill>
                <a:srgbClr val="FFFFFF"/>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9354E8E-F1F9-C8E8-741D-61C2E87FA447}"/>
              </a:ext>
            </a:extLst>
          </p:cNvPr>
          <p:cNvSpPr>
            <a:spLocks noGrp="1"/>
          </p:cNvSpPr>
          <p:nvPr>
            <p:ph type="subTitle" idx="1"/>
          </p:nvPr>
        </p:nvSpPr>
        <p:spPr>
          <a:xfrm>
            <a:off x="4288982" y="1757929"/>
            <a:ext cx="3747524" cy="4198433"/>
          </a:xfrm>
        </p:spPr>
        <p:txBody>
          <a:bodyPr vert="horz" lIns="91440" tIns="45720" rIns="91440" bIns="45720" rtlCol="0">
            <a:normAutofit/>
          </a:bodyPr>
          <a:lstStyle/>
          <a:p>
            <a:pPr algn="just">
              <a:spcBef>
                <a:spcPts val="600"/>
              </a:spcBef>
            </a:pPr>
            <a:r>
              <a:rPr lang="vi-VN" sz="1000" b="1" dirty="0">
                <a:latin typeface="Times New Roman" panose="02020603050405020304" pitchFamily="18" charset="0"/>
                <a:cs typeface="Times New Roman" panose="02020603050405020304" pitchFamily="18" charset="0"/>
              </a:rPr>
              <a:t>⚡ Phát Hiện Nguy Hiểm Sớm</a:t>
            </a:r>
          </a:p>
          <a:p>
            <a:pPr algn="just">
              <a:spcBef>
                <a:spcPts val="600"/>
              </a:spcBef>
            </a:pPr>
            <a:r>
              <a:rPr lang="vi-VN" sz="1000" b="1" dirty="0">
                <a:latin typeface="Times New Roman" panose="02020603050405020304" pitchFamily="18" charset="0"/>
                <a:cs typeface="Times New Roman" panose="02020603050405020304" pitchFamily="18" charset="0"/>
              </a:rPr>
              <a:t>Giám sát liên tục:</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Đường dây điện, trạm biến áp, khu vực truyền tải</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Phát hiện sớm: sự cố, cháy nổ, xâm nhập trái phép</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Cảnh báo tức thời khi có dấu hiệu bất thường</a:t>
            </a:r>
          </a:p>
          <a:p>
            <a:pPr algn="just">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Ngăn chặn sự cố nghiêm trọng, đảm bảo cung cấp điện liên tục, giảm thiệt hại tài sản.</a:t>
            </a:r>
          </a:p>
          <a:p>
            <a:pPr algn="just">
              <a:spcBef>
                <a:spcPts val="600"/>
              </a:spcBef>
            </a:pPr>
            <a:br>
              <a:rPr lang="vi-VN" sz="1000" dirty="0">
                <a:latin typeface="Times New Roman" panose="02020603050405020304" pitchFamily="18" charset="0"/>
                <a:cs typeface="Times New Roman" panose="02020603050405020304" pitchFamily="18" charset="0"/>
              </a:rPr>
            </a:b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Kiểm Soát Khu Vực K</a:t>
            </a:r>
            <a:r>
              <a:rPr lang="en-US" sz="1000" b="1" dirty="0">
                <a:latin typeface="Times New Roman" panose="02020603050405020304" pitchFamily="18" charset="0"/>
                <a:cs typeface="Times New Roman" panose="02020603050405020304" pitchFamily="18" charset="0"/>
              </a:rPr>
              <a:t>ỹ</a:t>
            </a:r>
            <a:r>
              <a:rPr lang="vi-VN" sz="1000" b="1" dirty="0">
                <a:latin typeface="Times New Roman" panose="02020603050405020304" pitchFamily="18" charset="0"/>
                <a:cs typeface="Times New Roman" panose="02020603050405020304" pitchFamily="18" charset="0"/>
              </a:rPr>
              <a:t> Thuật</a:t>
            </a:r>
          </a:p>
          <a:p>
            <a:pPr algn="just">
              <a:spcBef>
                <a:spcPts val="600"/>
              </a:spcBef>
            </a:pPr>
            <a:r>
              <a:rPr lang="vi-VN" sz="1000" b="1" dirty="0">
                <a:latin typeface="Times New Roman" panose="02020603050405020304" pitchFamily="18" charset="0"/>
                <a:cs typeface="Times New Roman" panose="02020603050405020304" pitchFamily="18" charset="0"/>
              </a:rPr>
              <a:t>Bảo vệ an toàn tuyệt đối:</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Phân quyền và kiểm soát người ra vào khu vực </a:t>
            </a:r>
            <a:r>
              <a:rPr lang="en-US" sz="1000" dirty="0" err="1">
                <a:latin typeface="Times New Roman" panose="02020603050405020304" pitchFamily="18" charset="0"/>
                <a:cs typeface="Times New Roman" panose="02020603050405020304" pitchFamily="18" charset="0"/>
              </a:rPr>
              <a:t>kỹ</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thuật</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Cảnh báo ngay khi phát hiện hành vi vi phạm an toàn lao động</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Xác thực danh tính nhân viên được phép vào khu vực nhạy cảm</a:t>
            </a:r>
          </a:p>
          <a:p>
            <a:pPr algn="just">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Tuân thủ nghiêm ngặt quy định an toàn, bảo vệ tính mạng công nhân viên.</a:t>
            </a:r>
          </a:p>
        </p:txBody>
      </p:sp>
      <p:sp>
        <p:nvSpPr>
          <p:cNvPr id="4" name="Subtitle 2">
            <a:extLst>
              <a:ext uri="{FF2B5EF4-FFF2-40B4-BE49-F238E27FC236}">
                <a16:creationId xmlns:a16="http://schemas.microsoft.com/office/drawing/2014/main" id="{A3A6BAD4-E021-9298-786C-6F8A5CCE729A}"/>
              </a:ext>
            </a:extLst>
          </p:cNvPr>
          <p:cNvSpPr txBox="1">
            <a:spLocks/>
          </p:cNvSpPr>
          <p:nvPr/>
        </p:nvSpPr>
        <p:spPr>
          <a:xfrm>
            <a:off x="8125073" y="1719025"/>
            <a:ext cx="3747524" cy="43638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Hỗ Trợ Giám Sát Nhân Viên</a:t>
            </a:r>
          </a:p>
          <a:p>
            <a:pPr algn="just">
              <a:spcBef>
                <a:spcPts val="600"/>
              </a:spcBef>
            </a:pPr>
            <a:r>
              <a:rPr lang="vi-VN" sz="1000" b="1" dirty="0">
                <a:latin typeface="Times New Roman" panose="02020603050405020304" pitchFamily="18" charset="0"/>
                <a:cs typeface="Times New Roman" panose="02020603050405020304" pitchFamily="18" charset="0"/>
              </a:rPr>
              <a:t>Quản lý thông minh:</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en-US" sz="1000" dirty="0" err="1">
                <a:latin typeface="Times New Roman" panose="02020603050405020304" pitchFamily="18" charset="0"/>
                <a:cs typeface="Times New Roman" panose="02020603050405020304" pitchFamily="18" charset="0"/>
              </a:rPr>
              <a:t>Hỗ</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trợ</a:t>
            </a:r>
            <a:r>
              <a:rPr lang="vi-VN" sz="1000" dirty="0">
                <a:latin typeface="Times New Roman" panose="02020603050405020304" pitchFamily="18" charset="0"/>
                <a:cs typeface="Times New Roman" panose="02020603050405020304" pitchFamily="18" charset="0"/>
              </a:rPr>
              <a:t> nhân viên bảo trì</a:t>
            </a:r>
            <a:r>
              <a:rPr lang="en-US" sz="1000" dirty="0">
                <a:latin typeface="Times New Roman" panose="02020603050405020304" pitchFamily="18" charset="0"/>
                <a:cs typeface="Times New Roman" panose="02020603050405020304" pitchFamily="18" charset="0"/>
              </a:rPr>
              <a:t> </a:t>
            </a:r>
            <a:r>
              <a:rPr lang="vi-VN" sz="1000" dirty="0">
                <a:latin typeface="Times New Roman" panose="02020603050405020304" pitchFamily="18" charset="0"/>
                <a:cs typeface="Times New Roman" panose="02020603050405020304" pitchFamily="18" charset="0"/>
              </a:rPr>
              <a:t>ghi thao tác k</a:t>
            </a:r>
            <a:r>
              <a:rPr lang="en-US" sz="1000" dirty="0">
                <a:latin typeface="Times New Roman" panose="02020603050405020304" pitchFamily="18" charset="0"/>
                <a:cs typeface="Times New Roman" panose="02020603050405020304" pitchFamily="18" charset="0"/>
              </a:rPr>
              <a:t>ỹ</a:t>
            </a:r>
            <a:r>
              <a:rPr lang="vi-VN" sz="1000" dirty="0">
                <a:latin typeface="Times New Roman" panose="02020603050405020304" pitchFamily="18" charset="0"/>
                <a:cs typeface="Times New Roman" panose="02020603050405020304" pitchFamily="18" charset="0"/>
              </a:rPr>
              <a:t> thuật</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Đảm bảo tuân thủ đúng quy trình vận hành</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Lưu trữ video để kiểm tra, đào tạo và xử lý sự cố</a:t>
            </a:r>
          </a:p>
          <a:p>
            <a:pPr algn="just">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Nâng cao chất lượng bảo trì, giảm sai sót, tăng trách nhiệm của nhân viên.</a:t>
            </a:r>
          </a:p>
          <a:p>
            <a:pPr algn="just">
              <a:spcBef>
                <a:spcPts val="600"/>
              </a:spcBef>
            </a:pPr>
            <a:endParaRPr lang="vi-VN" sz="1000" dirty="0">
              <a:latin typeface="Times New Roman" panose="02020603050405020304" pitchFamily="18" charset="0"/>
              <a:cs typeface="Times New Roman" panose="02020603050405020304" pitchFamily="18" charset="0"/>
            </a:endParaRPr>
          </a:p>
          <a:p>
            <a:pPr algn="just">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Giám Sát Công Việc Hiện Trường</a:t>
            </a:r>
          </a:p>
          <a:p>
            <a:pPr algn="just">
              <a:spcBef>
                <a:spcPts val="600"/>
              </a:spcBef>
            </a:pPr>
            <a:r>
              <a:rPr lang="vi-VN" sz="1000" b="1" dirty="0">
                <a:latin typeface="Times New Roman" panose="02020603050405020304" pitchFamily="18" charset="0"/>
                <a:cs typeface="Times New Roman" panose="02020603050405020304" pitchFamily="18" charset="0"/>
              </a:rPr>
              <a:t>Quản lý hiệu quả:</a:t>
            </a:r>
            <a:endParaRPr lang="vi-VN" sz="1000" dirty="0">
              <a:latin typeface="Times New Roman" panose="02020603050405020304" pitchFamily="18" charset="0"/>
              <a:cs typeface="Times New Roman" panose="02020603050405020304" pitchFamily="18" charset="0"/>
            </a:endParaRP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Giám sát tiến độ công việc từ xa</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Kiểm tra hiện trường real-time không cần di chuyển</a:t>
            </a:r>
          </a:p>
          <a:p>
            <a:pPr marL="171450" indent="-171450" algn="just">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Phát hiện kịp thời các rủi ro trong quá trình thi công</a:t>
            </a:r>
          </a:p>
          <a:p>
            <a:pPr algn="just">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Tiết kiệm thời gian quản lý, xử lý nhanh sự cố, tối ưu lực lượng giám sát.</a:t>
            </a:r>
          </a:p>
        </p:txBody>
      </p:sp>
      <p:sp>
        <p:nvSpPr>
          <p:cNvPr id="5" name="Rectangle 4">
            <a:extLst>
              <a:ext uri="{FF2B5EF4-FFF2-40B4-BE49-F238E27FC236}">
                <a16:creationId xmlns:a16="http://schemas.microsoft.com/office/drawing/2014/main" id="{60B2021C-919A-69E8-F094-77EE8A27A860}"/>
              </a:ext>
            </a:extLst>
          </p:cNvPr>
          <p:cNvSpPr/>
          <p:nvPr/>
        </p:nvSpPr>
        <p:spPr>
          <a:xfrm>
            <a:off x="-2" y="6862009"/>
            <a:ext cx="7305369" cy="44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b="1" dirty="0">
                <a:latin typeface="Times New Roman" panose="02020603050405020304" pitchFamily="18" charset="0"/>
                <a:cs typeface="Times New Roman" panose="02020603050405020304" pitchFamily="18" charset="0"/>
              </a:rPr>
              <a:t>→ Bảo vệ hạ tầng điện quốc gia, đảm bảo an ninh năng lượng</a:t>
            </a:r>
            <a:endParaRPr lang="vi-V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352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BE5E90-B1BA-0395-C2ED-53CA7741EFA1}"/>
              </a:ext>
            </a:extLst>
          </p:cNvPr>
          <p:cNvSpPr txBox="1"/>
          <p:nvPr/>
        </p:nvSpPr>
        <p:spPr>
          <a:xfrm>
            <a:off x="496956" y="397564"/>
            <a:ext cx="3600173"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err="1"/>
              <a:t>Nhờ</a:t>
            </a:r>
            <a:r>
              <a:rPr lang="en-US" sz="3200" dirty="0"/>
              <a:t> </a:t>
            </a:r>
            <a:r>
              <a:rPr lang="en-US" sz="3200" dirty="0" err="1"/>
              <a:t>đội</a:t>
            </a:r>
            <a:r>
              <a:rPr lang="en-US" sz="3200" dirty="0"/>
              <a:t> Design </a:t>
            </a:r>
            <a:r>
              <a:rPr lang="en-US" sz="3200" dirty="0" err="1"/>
              <a:t>dựng</a:t>
            </a:r>
            <a:r>
              <a:rPr lang="en-US" sz="3200" dirty="0"/>
              <a:t> </a:t>
            </a:r>
            <a:r>
              <a:rPr lang="en-US" sz="3200" dirty="0" err="1"/>
              <a:t>giúp</a:t>
            </a:r>
            <a:r>
              <a:rPr lang="en-US" sz="3200" dirty="0"/>
              <a:t> </a:t>
            </a:r>
            <a:r>
              <a:rPr lang="en-US" sz="3200" dirty="0" err="1"/>
              <a:t>mô</a:t>
            </a:r>
            <a:r>
              <a:rPr lang="en-US" sz="3200" dirty="0"/>
              <a:t> </a:t>
            </a:r>
            <a:r>
              <a:rPr lang="en-US" sz="3200" dirty="0" err="1"/>
              <a:t>hình</a:t>
            </a:r>
            <a:r>
              <a:rPr lang="en-US" sz="3200" dirty="0"/>
              <a:t> 3D </a:t>
            </a:r>
            <a:r>
              <a:rPr lang="en-US" sz="3200" dirty="0" err="1"/>
              <a:t>tương</a:t>
            </a:r>
            <a:r>
              <a:rPr lang="en-US" sz="3200" dirty="0"/>
              <a:t> </a:t>
            </a:r>
            <a:r>
              <a:rPr lang="en-US" sz="3200" dirty="0" err="1"/>
              <a:t>tự</a:t>
            </a:r>
            <a:r>
              <a:rPr lang="en-US" sz="3200" dirty="0"/>
              <a:t> </a:t>
            </a:r>
            <a:r>
              <a:rPr lang="en-US" sz="3200" dirty="0" err="1"/>
              <a:t>với</a:t>
            </a:r>
            <a:r>
              <a:rPr lang="en-US" sz="3200" dirty="0"/>
              <a:t> </a:t>
            </a:r>
            <a:r>
              <a:rPr lang="en-US" sz="3200" dirty="0" err="1"/>
              <a:t>nhà</a:t>
            </a:r>
            <a:r>
              <a:rPr lang="en-US" sz="3200" dirty="0"/>
              <a:t> </a:t>
            </a:r>
            <a:r>
              <a:rPr lang="en-US" sz="3200" dirty="0" err="1"/>
              <a:t>kho</a:t>
            </a:r>
            <a:r>
              <a:rPr lang="en-US" sz="3200" dirty="0"/>
              <a:t>, </a:t>
            </a:r>
            <a:r>
              <a:rPr lang="en-US" sz="3200" dirty="0" err="1"/>
              <a:t>nhà</a:t>
            </a:r>
            <a:r>
              <a:rPr lang="en-US" sz="3200" dirty="0"/>
              <a:t> </a:t>
            </a:r>
            <a:r>
              <a:rPr lang="en-US" sz="3200" dirty="0" err="1"/>
              <a:t>máy</a:t>
            </a:r>
            <a:endParaRPr lang="en-US" sz="3200" dirty="0"/>
          </a:p>
        </p:txBody>
      </p:sp>
      <p:pic>
        <p:nvPicPr>
          <p:cNvPr id="4" name="Picture 3" descr="A blueprint of a building&#10;&#10;AI-generated content may be incorrect.">
            <a:extLst>
              <a:ext uri="{FF2B5EF4-FFF2-40B4-BE49-F238E27FC236}">
                <a16:creationId xmlns:a16="http://schemas.microsoft.com/office/drawing/2014/main" id="{246B8D0B-7C4F-5429-D459-B038B397EE85}"/>
              </a:ext>
            </a:extLst>
          </p:cNvPr>
          <p:cNvPicPr>
            <a:picLocks noChangeAspect="1"/>
          </p:cNvPicPr>
          <p:nvPr/>
        </p:nvPicPr>
        <p:blipFill>
          <a:blip r:embed="rId2"/>
          <a:stretch>
            <a:fillRect/>
          </a:stretch>
        </p:blipFill>
        <p:spPr>
          <a:xfrm>
            <a:off x="4062333" y="139170"/>
            <a:ext cx="7156815" cy="6211455"/>
          </a:xfrm>
          <a:prstGeom prst="rect">
            <a:avLst/>
          </a:prstGeom>
        </p:spPr>
      </p:pic>
    </p:spTree>
    <p:extLst>
      <p:ext uri="{BB962C8B-B14F-4D97-AF65-F5344CB8AC3E}">
        <p14:creationId xmlns:p14="http://schemas.microsoft.com/office/powerpoint/2010/main" val="1379966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8521BF-62B4-A232-A1D2-021D3E849B0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68592A0-CD65-3982-752A-A819F2EA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6A93009-4263-B506-4BDD-A224EF6C4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ACA63B96-DEED-F985-D16F-0719E43A9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33BF3C-D1AC-6913-13D7-E95CE9439FF9}"/>
              </a:ext>
            </a:extLst>
          </p:cNvPr>
          <p:cNvSpPr>
            <a:spLocks noGrp="1"/>
          </p:cNvSpPr>
          <p:nvPr>
            <p:ph type="ctrTitle"/>
          </p:nvPr>
        </p:nvSpPr>
        <p:spPr>
          <a:xfrm>
            <a:off x="182880" y="945129"/>
            <a:ext cx="3492887" cy="2156621"/>
          </a:xfrm>
        </p:spPr>
        <p:txBody>
          <a:bodyPr vert="horz" lIns="91440" tIns="45720" rIns="91440" bIns="45720" rtlCol="0" anchor="t">
            <a:normAutofit fontScale="90000"/>
          </a:bodyPr>
          <a:lstStyle/>
          <a:p>
            <a:pPr algn="l"/>
            <a:r>
              <a:rPr lang="vi-VN" sz="2700" b="1" kern="1200" dirty="0">
                <a:solidFill>
                  <a:srgbClr val="FFFFFF"/>
                </a:solidFill>
                <a:ea typeface="+mj-ea"/>
                <a:cs typeface="+mj-cs"/>
              </a:rPr>
              <a:t>AI Camera MKVISION: Trợ Lý Quản Lý Thông Minh Cho Nhà Máy &amp; Khu Công Nghiệp</a:t>
            </a:r>
            <a:br>
              <a:rPr lang="vi-VN" sz="2700" b="1" kern="1200" dirty="0">
                <a:solidFill>
                  <a:srgbClr val="FFFFFF"/>
                </a:solidFill>
                <a:ea typeface="+mj-ea"/>
                <a:cs typeface="+mj-cs"/>
              </a:rPr>
            </a:br>
            <a:r>
              <a:rPr lang="vi-VN" sz="1800" kern="1200" dirty="0">
                <a:solidFill>
                  <a:srgbClr val="FFFFFF"/>
                </a:solidFill>
                <a:ea typeface="+mj-ea"/>
                <a:cs typeface="+mj-cs"/>
              </a:rPr>
              <a:t>Giám Sát 24/7 - Thay Thế Cán Bộ </a:t>
            </a:r>
            <a:br>
              <a:rPr lang="en-US" sz="1800" kern="1200" dirty="0">
                <a:solidFill>
                  <a:srgbClr val="FFFFFF"/>
                </a:solidFill>
                <a:ea typeface="+mj-ea"/>
                <a:cs typeface="+mj-cs"/>
              </a:rPr>
            </a:br>
            <a:r>
              <a:rPr lang="vi-VN" sz="1800" kern="1200" dirty="0">
                <a:solidFill>
                  <a:srgbClr val="FFFFFF"/>
                </a:solidFill>
                <a:ea typeface="+mj-ea"/>
                <a:cs typeface="+mj-cs"/>
              </a:rPr>
              <a:t>Quản Lý Truyền Thống</a:t>
            </a:r>
            <a:endParaRPr lang="en-US" sz="1800" kern="1200" dirty="0">
              <a:solidFill>
                <a:srgbClr val="FFFFFF"/>
              </a:solidFill>
              <a:ea typeface="+mj-ea"/>
              <a:cs typeface="+mj-cs"/>
            </a:endParaRPr>
          </a:p>
        </p:txBody>
      </p:sp>
      <p:sp>
        <p:nvSpPr>
          <p:cNvPr id="3" name="Subtitle 2">
            <a:extLst>
              <a:ext uri="{FF2B5EF4-FFF2-40B4-BE49-F238E27FC236}">
                <a16:creationId xmlns:a16="http://schemas.microsoft.com/office/drawing/2014/main" id="{4EDD82CF-FD5D-7F32-A21D-BC08E9ECE642}"/>
              </a:ext>
            </a:extLst>
          </p:cNvPr>
          <p:cNvSpPr>
            <a:spLocks noGrp="1"/>
          </p:cNvSpPr>
          <p:nvPr>
            <p:ph type="subTitle" idx="1"/>
          </p:nvPr>
        </p:nvSpPr>
        <p:spPr>
          <a:xfrm>
            <a:off x="4288982" y="1757929"/>
            <a:ext cx="3747524" cy="4198433"/>
          </a:xfrm>
        </p:spPr>
        <p:txBody>
          <a:bodyPr vert="horz" lIns="91440" tIns="45720" rIns="91440" bIns="45720" rtlCol="0">
            <a:normAutofit/>
          </a:bodyPr>
          <a:lstStyle/>
          <a:p>
            <a:pPr algn="l">
              <a:spcBef>
                <a:spcPts val="600"/>
              </a:spcBef>
            </a:pP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Bảo Vệ An Ninh Toàn Diện</a:t>
            </a:r>
          </a:p>
          <a:p>
            <a:pPr algn="l">
              <a:spcBef>
                <a:spcPts val="600"/>
              </a:spcBef>
            </a:pPr>
            <a:r>
              <a:rPr lang="vi-VN" sz="1000" b="1" dirty="0">
                <a:latin typeface="Times New Roman" panose="02020603050405020304" pitchFamily="18" charset="0"/>
                <a:cs typeface="Times New Roman" panose="02020603050405020304" pitchFamily="18" charset="0"/>
              </a:rPr>
              <a:t>Phát hiện tức thời:</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Vi phạm quy trình sản xuất</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Xâm nhập trái phép vào khu vực cấm</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Hành vi bất thường đe dọa an ninh nhà máy</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Ngăn chặn sự cố trước khi xảy ra, giảm thiểu rủi ro và thiệt hại.</a:t>
            </a:r>
          </a:p>
          <a:p>
            <a:pPr algn="l">
              <a:spcBef>
                <a:spcPts val="600"/>
              </a:spcBef>
            </a:pPr>
            <a:br>
              <a:rPr lang="vi-VN" sz="1000" dirty="0">
                <a:latin typeface="Times New Roman" panose="02020603050405020304" pitchFamily="18" charset="0"/>
                <a:cs typeface="Times New Roman" panose="02020603050405020304" pitchFamily="18" charset="0"/>
              </a:rPr>
            </a:br>
            <a:r>
              <a:rPr lang="en-US" sz="1000" b="1" dirty="0">
                <a:latin typeface="Times New Roman" panose="02020603050405020304" pitchFamily="18" charset="0"/>
                <a:cs typeface="Times New Roman" panose="02020603050405020304" pitchFamily="18" charset="0"/>
              </a:rPr>
              <a:t>📊 </a:t>
            </a:r>
            <a:r>
              <a:rPr lang="vi-VN" sz="1000" b="1" dirty="0">
                <a:latin typeface="Times New Roman" panose="02020603050405020304" pitchFamily="18" charset="0"/>
                <a:cs typeface="Times New Roman" panose="02020603050405020304" pitchFamily="18" charset="0"/>
              </a:rPr>
              <a:t>Giám Sát Sản Xuất Thông Minh</a:t>
            </a:r>
          </a:p>
          <a:p>
            <a:pPr algn="l">
              <a:spcBef>
                <a:spcPts val="600"/>
              </a:spcBef>
            </a:pPr>
            <a:r>
              <a:rPr lang="vi-VN" sz="1000" b="1" dirty="0">
                <a:latin typeface="Times New Roman" panose="02020603050405020304" pitchFamily="18" charset="0"/>
                <a:cs typeface="Times New Roman" panose="02020603050405020304" pitchFamily="18" charset="0"/>
              </a:rPr>
              <a:t>Theo dõi liên tục:</a:t>
            </a:r>
            <a:endParaRPr lang="vi-VN" sz="1000" dirty="0">
              <a:latin typeface="Times New Roman" panose="02020603050405020304" pitchFamily="18" charset="0"/>
              <a:cs typeface="Times New Roman" panose="02020603050405020304" pitchFamily="18" charset="0"/>
            </a:endParaRP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Quy trình vận hành máy móc</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Hiệu suất làm việc của từng công đoạn</a:t>
            </a:r>
          </a:p>
          <a:p>
            <a:pPr marL="171450" indent="-171450" algn="l">
              <a:spcBef>
                <a:spcPts val="600"/>
              </a:spcBef>
              <a:buFont typeface="Arial" panose="020B0604020202020204" pitchFamily="34" charset="0"/>
              <a:buChar char="•"/>
            </a:pPr>
            <a:r>
              <a:rPr lang="vi-VN" sz="1000" dirty="0">
                <a:latin typeface="Times New Roman" panose="02020603050405020304" pitchFamily="18" charset="0"/>
                <a:cs typeface="Times New Roman" panose="02020603050405020304" pitchFamily="18" charset="0"/>
              </a:rPr>
              <a:t>Phát hiện gián đoạn hoặc chậm trễ trong dây chuyền</a:t>
            </a:r>
          </a:p>
          <a:p>
            <a:pPr algn="l">
              <a:spcBef>
                <a:spcPts val="600"/>
              </a:spcBef>
            </a:pPr>
            <a:r>
              <a:rPr lang="en-US" sz="1000" b="1" dirty="0">
                <a:latin typeface="Times New Roman" panose="02020603050405020304" pitchFamily="18" charset="0"/>
                <a:cs typeface="Times New Roman" panose="02020603050405020304" pitchFamily="18" charset="0"/>
                <a:sym typeface="Wingdings" panose="05000000000000000000" pitchFamily="2" charset="2"/>
              </a:rPr>
              <a:t> </a:t>
            </a:r>
            <a:r>
              <a:rPr lang="vi-VN" sz="1000" b="1" dirty="0">
                <a:latin typeface="Times New Roman" panose="02020603050405020304" pitchFamily="18" charset="0"/>
                <a:cs typeface="Times New Roman" panose="02020603050405020304" pitchFamily="18" charset="0"/>
              </a:rPr>
              <a:t>Lợi ích:</a:t>
            </a:r>
            <a:r>
              <a:rPr lang="vi-VN" sz="1000" dirty="0">
                <a:latin typeface="Times New Roman" panose="02020603050405020304" pitchFamily="18" charset="0"/>
                <a:cs typeface="Times New Roman" panose="02020603050405020304" pitchFamily="18" charset="0"/>
              </a:rPr>
              <a:t> Tối ưu năng suất, giảm thời gian ngừng máy, nâng cao hiệu quả sản xuất.</a:t>
            </a:r>
          </a:p>
        </p:txBody>
      </p:sp>
      <p:sp>
        <p:nvSpPr>
          <p:cNvPr id="4" name="Subtitle 2">
            <a:extLst>
              <a:ext uri="{FF2B5EF4-FFF2-40B4-BE49-F238E27FC236}">
                <a16:creationId xmlns:a16="http://schemas.microsoft.com/office/drawing/2014/main" id="{C6A7044A-FEA6-0398-D1C7-897652FC72D3}"/>
              </a:ext>
            </a:extLst>
          </p:cNvPr>
          <p:cNvSpPr txBox="1">
            <a:spLocks/>
          </p:cNvSpPr>
          <p:nvPr/>
        </p:nvSpPr>
        <p:spPr>
          <a:xfrm>
            <a:off x="8125073" y="1719025"/>
            <a:ext cx="3747524" cy="43638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600"/>
              </a:spcBef>
            </a:pPr>
            <a:r>
              <a:rPr lang="vi-VN" sz="1000" b="1" dirty="0">
                <a:latin typeface="+mj-lt"/>
              </a:rPr>
              <a:t>⚠️ Cảnh Báo Nguy Hiểm Sớm</a:t>
            </a:r>
          </a:p>
          <a:p>
            <a:pPr algn="l">
              <a:spcBef>
                <a:spcPts val="600"/>
              </a:spcBef>
            </a:pPr>
            <a:r>
              <a:rPr lang="vi-VN" sz="1000" b="1" dirty="0">
                <a:latin typeface="+mj-lt"/>
              </a:rPr>
              <a:t>Phát hiện ngay lập tức:</a:t>
            </a:r>
            <a:endParaRPr lang="vi-VN" sz="1000" dirty="0">
              <a:latin typeface="+mj-lt"/>
            </a:endParaRPr>
          </a:p>
          <a:p>
            <a:pPr marL="171450" indent="-171450" algn="l">
              <a:spcBef>
                <a:spcPts val="600"/>
              </a:spcBef>
              <a:buFont typeface="Arial" panose="020B0604020202020204" pitchFamily="34" charset="0"/>
              <a:buChar char="•"/>
            </a:pPr>
            <a:r>
              <a:rPr lang="vi-VN" sz="1000" dirty="0">
                <a:latin typeface="+mj-lt"/>
              </a:rPr>
              <a:t>Cháy, khói, nhiệt độ bất thường</a:t>
            </a:r>
          </a:p>
          <a:p>
            <a:pPr marL="171450" indent="-171450" algn="l">
              <a:spcBef>
                <a:spcPts val="600"/>
              </a:spcBef>
              <a:buFont typeface="Arial" panose="020B0604020202020204" pitchFamily="34" charset="0"/>
              <a:buChar char="•"/>
            </a:pPr>
            <a:r>
              <a:rPr lang="vi-VN" sz="1000" dirty="0">
                <a:latin typeface="+mj-lt"/>
              </a:rPr>
              <a:t>Rò rỉ hóa chất, khí độc</a:t>
            </a:r>
          </a:p>
          <a:p>
            <a:pPr marL="171450" indent="-171450" algn="l">
              <a:spcBef>
                <a:spcPts val="600"/>
              </a:spcBef>
              <a:buFont typeface="Arial" panose="020B0604020202020204" pitchFamily="34" charset="0"/>
              <a:buChar char="•"/>
            </a:pPr>
            <a:r>
              <a:rPr lang="vi-VN" sz="1000" dirty="0">
                <a:latin typeface="+mj-lt"/>
              </a:rPr>
              <a:t>Vi phạm an toàn lao động (không đội mũ bảo hộ, vào khu vực nguy hiểm)</a:t>
            </a:r>
          </a:p>
          <a:p>
            <a:pPr algn="l">
              <a:spcBef>
                <a:spcPts val="600"/>
              </a:spcBef>
            </a:pPr>
            <a:r>
              <a:rPr lang="en-US" sz="1000" b="1" dirty="0">
                <a:latin typeface="+mj-lt"/>
                <a:sym typeface="Wingdings" panose="05000000000000000000" pitchFamily="2" charset="2"/>
              </a:rPr>
              <a:t>  </a:t>
            </a:r>
            <a:r>
              <a:rPr lang="vi-VN" sz="1000" b="1" dirty="0">
                <a:latin typeface="+mj-lt"/>
              </a:rPr>
              <a:t>Lợi ích:</a:t>
            </a:r>
            <a:r>
              <a:rPr lang="vi-VN" sz="1000" dirty="0">
                <a:latin typeface="+mj-lt"/>
              </a:rPr>
              <a:t> Bảo vệ tính mạng công nhân, tuân thủ quy định an toàn lao động nghiêm ngặt.</a:t>
            </a:r>
            <a:endParaRPr lang="en-US" sz="1000" dirty="0">
              <a:latin typeface="+mj-lt"/>
            </a:endParaRPr>
          </a:p>
          <a:p>
            <a:pPr algn="l">
              <a:spcBef>
                <a:spcPts val="600"/>
              </a:spcBef>
            </a:pPr>
            <a:endParaRPr lang="vi-VN" sz="1000" dirty="0">
              <a:latin typeface="+mj-lt"/>
            </a:endParaRPr>
          </a:p>
          <a:p>
            <a:pPr algn="l">
              <a:spcBef>
                <a:spcPts val="600"/>
              </a:spcBef>
            </a:pPr>
            <a:r>
              <a:rPr lang="en-US" sz="1000" b="1" dirty="0">
                <a:latin typeface="+mj-lt"/>
              </a:rPr>
              <a:t>🚛 </a:t>
            </a:r>
            <a:r>
              <a:rPr lang="vi-VN" sz="1000" b="1" dirty="0">
                <a:latin typeface="+mj-lt"/>
              </a:rPr>
              <a:t>Quản Lý Phương Tiện Tự Động</a:t>
            </a:r>
          </a:p>
          <a:p>
            <a:pPr algn="l">
              <a:spcBef>
                <a:spcPts val="600"/>
              </a:spcBef>
            </a:pPr>
            <a:r>
              <a:rPr lang="vi-VN" sz="1000" b="1" dirty="0">
                <a:latin typeface="+mj-lt"/>
              </a:rPr>
              <a:t>Kiểm soát thông minh:</a:t>
            </a:r>
            <a:endParaRPr lang="vi-VN" sz="1000" dirty="0">
              <a:latin typeface="+mj-lt"/>
            </a:endParaRPr>
          </a:p>
          <a:p>
            <a:pPr marL="171450" indent="-171450" algn="l">
              <a:spcBef>
                <a:spcPts val="600"/>
              </a:spcBef>
              <a:buFont typeface="Arial" panose="020B0604020202020204" pitchFamily="34" charset="0"/>
              <a:buChar char="•"/>
            </a:pPr>
            <a:r>
              <a:rPr lang="vi-VN" sz="1000" dirty="0">
                <a:latin typeface="+mj-lt"/>
              </a:rPr>
              <a:t>Nhận diện biển số xe tự động</a:t>
            </a:r>
          </a:p>
          <a:p>
            <a:pPr marL="171450" indent="-171450" algn="l">
              <a:spcBef>
                <a:spcPts val="600"/>
              </a:spcBef>
              <a:buFont typeface="Arial" panose="020B0604020202020204" pitchFamily="34" charset="0"/>
              <a:buChar char="•"/>
            </a:pPr>
            <a:r>
              <a:rPr lang="vi-VN" sz="1000" dirty="0">
                <a:latin typeface="+mj-lt"/>
              </a:rPr>
              <a:t>Quản lý cổng ra/vào không cần nhân viên</a:t>
            </a:r>
          </a:p>
          <a:p>
            <a:pPr marL="171450" indent="-171450" algn="l">
              <a:spcBef>
                <a:spcPts val="600"/>
              </a:spcBef>
              <a:buFont typeface="Arial" panose="020B0604020202020204" pitchFamily="34" charset="0"/>
              <a:buChar char="•"/>
            </a:pPr>
            <a:r>
              <a:rPr lang="vi-VN" sz="1000" dirty="0">
                <a:latin typeface="+mj-lt"/>
              </a:rPr>
              <a:t>Theo dõi lộ trình xe container, xe tải trong khu công nghiệp</a:t>
            </a:r>
          </a:p>
          <a:p>
            <a:pPr algn="l">
              <a:spcBef>
                <a:spcPts val="600"/>
              </a:spcBef>
            </a:pPr>
            <a:r>
              <a:rPr lang="en-US" sz="1000" b="1" dirty="0">
                <a:latin typeface="+mj-lt"/>
                <a:sym typeface="Wingdings" panose="05000000000000000000" pitchFamily="2" charset="2"/>
              </a:rPr>
              <a:t>  </a:t>
            </a:r>
            <a:r>
              <a:rPr lang="vi-VN" sz="1000" b="1" dirty="0">
                <a:latin typeface="+mj-lt"/>
              </a:rPr>
              <a:t>Lợi ích:</a:t>
            </a:r>
            <a:r>
              <a:rPr lang="vi-VN" sz="1000" dirty="0">
                <a:latin typeface="+mj-lt"/>
              </a:rPr>
              <a:t> Tiết kiệm nhân sự bảo vệ, tăng tốc độ xử lý xe, chống thất thoát hàng hóa.</a:t>
            </a:r>
          </a:p>
        </p:txBody>
      </p:sp>
      <p:sp>
        <p:nvSpPr>
          <p:cNvPr id="5" name="Rectangle 4">
            <a:extLst>
              <a:ext uri="{FF2B5EF4-FFF2-40B4-BE49-F238E27FC236}">
                <a16:creationId xmlns:a16="http://schemas.microsoft.com/office/drawing/2014/main" id="{72BDA4B4-A62B-DB17-B1F4-F0F178988D8F}"/>
              </a:ext>
            </a:extLst>
          </p:cNvPr>
          <p:cNvSpPr/>
          <p:nvPr/>
        </p:nvSpPr>
        <p:spPr>
          <a:xfrm>
            <a:off x="-2" y="6862009"/>
            <a:ext cx="3775589" cy="44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b="1" dirty="0"/>
              <a:t>→ Một lần đầu tư, bảo vệ lâu dài</a:t>
            </a:r>
            <a:endParaRPr lang="vi-VN" dirty="0"/>
          </a:p>
        </p:txBody>
      </p:sp>
    </p:spTree>
    <p:extLst>
      <p:ext uri="{BB962C8B-B14F-4D97-AF65-F5344CB8AC3E}">
        <p14:creationId xmlns:p14="http://schemas.microsoft.com/office/powerpoint/2010/main" val="388663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mp_page.png"/>
          <p:cNvPicPr>
            <a:picLocks noChangeAspect="1"/>
          </p:cNvPicPr>
          <p:nvPr/>
        </p:nvPicPr>
        <p:blipFill>
          <a:blip r:embed="rId2"/>
          <a:stretch>
            <a:fillRect/>
          </a:stretch>
        </p:blipFill>
        <p:spPr>
          <a:xfrm>
            <a:off x="1588" y="0"/>
            <a:ext cx="12188952" cy="6858000"/>
          </a:xfrm>
          <a:prstGeom prst="rect">
            <a:avLst/>
          </a:prstGeom>
        </p:spPr>
      </p:pic>
      <p:sp>
        <p:nvSpPr>
          <p:cNvPr id="4" name="Rectangle 3">
            <a:extLst>
              <a:ext uri="{FF2B5EF4-FFF2-40B4-BE49-F238E27FC236}">
                <a16:creationId xmlns:a16="http://schemas.microsoft.com/office/drawing/2014/main" id="{30888EA4-A521-8AF1-BEBB-A5BC78EB7E66}"/>
              </a:ext>
            </a:extLst>
          </p:cNvPr>
          <p:cNvSpPr/>
          <p:nvPr/>
        </p:nvSpPr>
        <p:spPr>
          <a:xfrm flipV="1">
            <a:off x="773044" y="474868"/>
            <a:ext cx="552174" cy="4196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7115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5F1A172-DE0B-56F3-A903-1910EFA7DF4C}"/>
              </a:ext>
            </a:extLst>
          </p:cNvPr>
          <p:cNvSpPr txBox="1"/>
          <p:nvPr/>
        </p:nvSpPr>
        <p:spPr>
          <a:xfrm>
            <a:off x="699713" y="248038"/>
            <a:ext cx="10882687" cy="115920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pPr>
              <a:lnSpc>
                <a:spcPct val="90000"/>
              </a:lnSpc>
              <a:spcBef>
                <a:spcPct val="0"/>
              </a:spcBef>
              <a:spcAft>
                <a:spcPts val="600"/>
              </a:spcAft>
            </a:pPr>
            <a:r>
              <a:rPr lang="en-US" sz="3400" b="1" kern="1200" dirty="0">
                <a:solidFill>
                  <a:srgbClr val="FFFFFF"/>
                </a:solidFill>
                <a:latin typeface="Times New Roman" panose="02020603050405020304" pitchFamily="18" charset="0"/>
                <a:ea typeface="+mj-ea"/>
                <a:cs typeface="Times New Roman" panose="02020603050405020304" pitchFamily="18" charset="0"/>
              </a:rPr>
              <a:t>Camera </a:t>
            </a:r>
            <a:r>
              <a:rPr lang="en-US" sz="3400" b="1" kern="1200" dirty="0" err="1">
                <a:solidFill>
                  <a:srgbClr val="FFFFFF"/>
                </a:solidFill>
                <a:latin typeface="Times New Roman" panose="02020603050405020304" pitchFamily="18" charset="0"/>
                <a:ea typeface="+mj-ea"/>
                <a:cs typeface="Times New Roman" panose="02020603050405020304" pitchFamily="18" charset="0"/>
              </a:rPr>
              <a:t>của</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MKVision</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ứng</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dụng</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kiến</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trúc</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hệ</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thống</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mới</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công</a:t>
            </a:r>
            <a:r>
              <a:rPr lang="en-US" sz="3400" b="1" kern="1200" dirty="0">
                <a:solidFill>
                  <a:srgbClr val="FFFFFF"/>
                </a:solidFill>
                <a:latin typeface="Times New Roman" panose="02020603050405020304" pitchFamily="18" charset="0"/>
                <a:ea typeface="+mj-ea"/>
                <a:cs typeface="Times New Roman" panose="02020603050405020304" pitchFamily="18" charset="0"/>
              </a:rPr>
              <a:t> </a:t>
            </a:r>
            <a:r>
              <a:rPr lang="en-US" sz="3400" b="1" kern="1200" dirty="0" err="1">
                <a:solidFill>
                  <a:srgbClr val="FFFFFF"/>
                </a:solidFill>
                <a:latin typeface="Times New Roman" panose="02020603050405020304" pitchFamily="18" charset="0"/>
                <a:ea typeface="+mj-ea"/>
                <a:cs typeface="Times New Roman" panose="02020603050405020304" pitchFamily="18" charset="0"/>
              </a:rPr>
              <a:t>nghệ</a:t>
            </a:r>
            <a:r>
              <a:rPr lang="en-US" sz="3400" b="1" kern="1200" dirty="0">
                <a:solidFill>
                  <a:srgbClr val="FFFFFF"/>
                </a:solidFill>
                <a:latin typeface="Times New Roman" panose="02020603050405020304" pitchFamily="18" charset="0"/>
                <a:ea typeface="+mj-ea"/>
                <a:cs typeface="Times New Roman" panose="02020603050405020304" pitchFamily="18" charset="0"/>
              </a:rPr>
              <a:t> 5G </a:t>
            </a:r>
            <a:r>
              <a:rPr lang="en-US" sz="3400" b="1" kern="1200" dirty="0" err="1">
                <a:solidFill>
                  <a:srgbClr val="FFFFFF"/>
                </a:solidFill>
                <a:latin typeface="Times New Roman" panose="02020603050405020304" pitchFamily="18" charset="0"/>
                <a:ea typeface="+mj-ea"/>
                <a:cs typeface="Times New Roman" panose="02020603050405020304" pitchFamily="18" charset="0"/>
              </a:rPr>
              <a:t>và</a:t>
            </a:r>
            <a:r>
              <a:rPr lang="en-US" sz="3400" b="1" kern="1200" dirty="0">
                <a:solidFill>
                  <a:srgbClr val="FFFFFF"/>
                </a:solidFill>
                <a:latin typeface="Times New Roman" panose="02020603050405020304" pitchFamily="18" charset="0"/>
                <a:ea typeface="+mj-ea"/>
                <a:cs typeface="Times New Roman" panose="02020603050405020304" pitchFamily="18" charset="0"/>
              </a:rPr>
              <a:t> AI on Edge</a:t>
            </a:r>
            <a:r>
              <a:rPr lang="en-US" sz="3400" kern="1200" dirty="0">
                <a:solidFill>
                  <a:srgbClr val="FFFFFF"/>
                </a:solidFill>
                <a:latin typeface="Times New Roman" panose="02020603050405020304" pitchFamily="18" charset="0"/>
                <a:ea typeface="+mj-ea"/>
                <a:cs typeface="Times New Roman" panose="02020603050405020304" pitchFamily="18" charset="0"/>
              </a:rPr>
              <a:t> </a:t>
            </a:r>
          </a:p>
        </p:txBody>
      </p:sp>
      <p:pic>
        <p:nvPicPr>
          <p:cNvPr id="2" name="Picture 1" descr="temp_page.png"/>
          <p:cNvPicPr>
            <a:picLocks noChangeAspect="1"/>
          </p:cNvPicPr>
          <p:nvPr/>
        </p:nvPicPr>
        <p:blipFill>
          <a:blip r:embed="rId2"/>
          <a:srcRect t="28900" r="-203"/>
          <a:stretch>
            <a:fillRect/>
          </a:stretch>
        </p:blipFill>
        <p:spPr>
          <a:xfrm>
            <a:off x="518633" y="1966293"/>
            <a:ext cx="11154733" cy="4452160"/>
          </a:xfrm>
          <a:prstGeom prst="rect">
            <a:avLst/>
          </a:prstGeom>
        </p:spPr>
      </p:pic>
    </p:spTree>
    <p:extLst>
      <p:ext uri="{BB962C8B-B14F-4D97-AF65-F5344CB8AC3E}">
        <p14:creationId xmlns:p14="http://schemas.microsoft.com/office/powerpoint/2010/main" val="1105564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temp_page.png"/>
          <p:cNvPicPr>
            <a:picLocks noChangeAspect="1"/>
          </p:cNvPicPr>
          <p:nvPr/>
        </p:nvPicPr>
        <p:blipFill>
          <a:blip r:embed="rId2"/>
          <a:srcRect b="19"/>
          <a:stretch>
            <a:fillRect/>
          </a:stretch>
        </p:blipFill>
        <p:spPr>
          <a:xfrm>
            <a:off x="20" y="1282"/>
            <a:ext cx="12191980" cy="685671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1F2BFF-4ACA-6097-EA3D-E6B1ABE8453D}"/>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014E7-0E49-3DBC-46EC-C7E8C45C06CE}"/>
              </a:ext>
            </a:extLst>
          </p:cNvPr>
          <p:cNvSpPr>
            <a:spLocks noGrp="1"/>
          </p:cNvSpPr>
          <p:nvPr>
            <p:ph type="title"/>
          </p:nvPr>
        </p:nvSpPr>
        <p:spPr>
          <a:xfrm>
            <a:off x="1371599" y="294538"/>
            <a:ext cx="9895951" cy="1033669"/>
          </a:xfrm>
        </p:spPr>
        <p:txBody>
          <a:bodyPr>
            <a:normAutofit/>
          </a:bodyPr>
          <a:lstStyle/>
          <a:p>
            <a:r>
              <a:rPr lang="en-US" sz="3400" b="1" dirty="0">
                <a:solidFill>
                  <a:srgbClr val="FFFFFF"/>
                </a:solidFill>
                <a:latin typeface="Times New Roman" panose="02020603050405020304" pitchFamily="18" charset="0"/>
                <a:cs typeface="Times New Roman" panose="02020603050405020304" pitchFamily="18" charset="0"/>
              </a:rPr>
              <a:t>MKV Camera: </a:t>
            </a:r>
            <a:r>
              <a:rPr lang="en-US" sz="3400" b="1" dirty="0" err="1">
                <a:solidFill>
                  <a:srgbClr val="FFFFFF"/>
                </a:solidFill>
                <a:latin typeface="Times New Roman" panose="02020603050405020304" pitchFamily="18" charset="0"/>
                <a:cs typeface="Times New Roman" panose="02020603050405020304" pitchFamily="18" charset="0"/>
              </a:rPr>
              <a:t>Giải</a:t>
            </a:r>
            <a:r>
              <a:rPr lang="en-US" sz="3400" b="1" dirty="0">
                <a:solidFill>
                  <a:srgbClr val="FFFFFF"/>
                </a:solidFill>
                <a:latin typeface="Times New Roman" panose="02020603050405020304" pitchFamily="18" charset="0"/>
                <a:cs typeface="Times New Roman" panose="02020603050405020304" pitchFamily="18" charset="0"/>
              </a:rPr>
              <a:t> Pháp An Ninh </a:t>
            </a:r>
            <a:r>
              <a:rPr lang="en-US" sz="3400" b="1" dirty="0" err="1">
                <a:solidFill>
                  <a:srgbClr val="FFFFFF"/>
                </a:solidFill>
                <a:latin typeface="Times New Roman" panose="02020603050405020304" pitchFamily="18" charset="0"/>
                <a:cs typeface="Times New Roman" panose="02020603050405020304" pitchFamily="18" charset="0"/>
              </a:rPr>
              <a:t>Hàng</a:t>
            </a:r>
            <a:r>
              <a:rPr lang="en-US" sz="3400" b="1" dirty="0">
                <a:solidFill>
                  <a:srgbClr val="FFFFFF"/>
                </a:solidFill>
                <a:latin typeface="Times New Roman" panose="02020603050405020304" pitchFamily="18" charset="0"/>
                <a:cs typeface="Times New Roman" panose="02020603050405020304" pitchFamily="18" charset="0"/>
              </a:rPr>
              <a:t> </a:t>
            </a:r>
            <a:r>
              <a:rPr lang="en-US" sz="3400" b="1" dirty="0" err="1">
                <a:solidFill>
                  <a:srgbClr val="FFFFFF"/>
                </a:solidFill>
                <a:latin typeface="Times New Roman" panose="02020603050405020304" pitchFamily="18" charset="0"/>
                <a:cs typeface="Times New Roman" panose="02020603050405020304" pitchFamily="18" charset="0"/>
              </a:rPr>
              <a:t>Đầu</a:t>
            </a:r>
            <a:r>
              <a:rPr lang="en-US" sz="3400" b="1" dirty="0">
                <a:solidFill>
                  <a:srgbClr val="FFFFFF"/>
                </a:solidFill>
                <a:latin typeface="Times New Roman" panose="02020603050405020304" pitchFamily="18" charset="0"/>
                <a:cs typeface="Times New Roman" panose="02020603050405020304" pitchFamily="18" charset="0"/>
              </a:rPr>
              <a:t> Cho Việt Nam</a:t>
            </a:r>
            <a:endParaRPr lang="en-US" sz="3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1347E4-A37B-53C4-5679-00451660035C}"/>
              </a:ext>
            </a:extLst>
          </p:cNvPr>
          <p:cNvSpPr>
            <a:spLocks noGrp="1"/>
          </p:cNvSpPr>
          <p:nvPr>
            <p:ph idx="1"/>
          </p:nvPr>
        </p:nvSpPr>
        <p:spPr>
          <a:xfrm>
            <a:off x="747253" y="1885280"/>
            <a:ext cx="10717160" cy="4279546"/>
          </a:xfrm>
        </p:spPr>
        <p:txBody>
          <a:bodyPr vert="horz" lIns="91440" tIns="45720" rIns="91440" bIns="45720" rtlCol="0" anchor="ctr">
            <a:normAutofit fontScale="55000" lnSpcReduction="20000"/>
          </a:bodyPr>
          <a:lstStyle/>
          <a:p>
            <a:pPr>
              <a:buNone/>
            </a:pPr>
            <a:endParaRPr lang="en-US" sz="1000" dirty="0">
              <a:latin typeface="Times New Roman" panose="02020603050405020304" pitchFamily="18" charset="0"/>
              <a:cs typeface="Times New Roman" panose="02020603050405020304" pitchFamily="18" charset="0"/>
            </a:endParaRPr>
          </a:p>
          <a:p>
            <a:pPr>
              <a:buNone/>
            </a:pPr>
            <a:r>
              <a:rPr lang="en-US" sz="2500" b="1" dirty="0">
                <a:latin typeface="Times New Roman" panose="02020603050405020304" pitchFamily="18" charset="0"/>
                <a:cs typeface="Times New Roman" panose="02020603050405020304" pitchFamily="18" charset="0"/>
              </a:rPr>
              <a:t>1. Bảo </a:t>
            </a:r>
            <a:r>
              <a:rPr lang="en-US" sz="2500" b="1" dirty="0" err="1">
                <a:latin typeface="Times New Roman" panose="02020603050405020304" pitchFamily="18" charset="0"/>
                <a:cs typeface="Times New Roman" panose="02020603050405020304" pitchFamily="18" charset="0"/>
              </a:rPr>
              <a:t>Mật</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Vượt</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Trội</a:t>
            </a:r>
            <a:endParaRPr lang="en-US" sz="2500" b="1" dirty="0">
              <a:latin typeface="Times New Roman" panose="02020603050405020304" pitchFamily="18" charset="0"/>
              <a:cs typeface="Times New Roman" panose="02020603050405020304" pitchFamily="18" charset="0"/>
            </a:endParaRPr>
          </a:p>
          <a:p>
            <a:pPr>
              <a:buNone/>
            </a:pPr>
            <a:r>
              <a:rPr lang="en-US" sz="2500" dirty="0">
                <a:latin typeface="Times New Roman" panose="02020603050405020304" pitchFamily="18" charset="0"/>
                <a:ea typeface="+mn-lt"/>
                <a:cs typeface="Times New Roman" panose="02020603050405020304" pitchFamily="18" charset="0"/>
              </a:rPr>
              <a:t>Camera MKV </a:t>
            </a:r>
            <a:r>
              <a:rPr lang="en-US" sz="2500" dirty="0" err="1">
                <a:latin typeface="Times New Roman" panose="02020603050405020304" pitchFamily="18" charset="0"/>
                <a:ea typeface="+mn-lt"/>
                <a:cs typeface="Times New Roman" panose="02020603050405020304" pitchFamily="18" charset="0"/>
              </a:rPr>
              <a:t>tích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hợp</a:t>
            </a:r>
            <a:r>
              <a:rPr lang="en-US" sz="2500" dirty="0">
                <a:latin typeface="Times New Roman" panose="02020603050405020304" pitchFamily="18" charset="0"/>
                <a:ea typeface="+mn-lt"/>
                <a:cs typeface="Times New Roman" panose="02020603050405020304" pitchFamily="18" charset="0"/>
              </a:rPr>
              <a:t> chip Ambarella </a:t>
            </a:r>
            <a:r>
              <a:rPr lang="en-US" sz="2500" dirty="0" err="1">
                <a:latin typeface="Times New Roman" panose="02020603050405020304" pitchFamily="18" charset="0"/>
                <a:ea typeface="+mn-lt"/>
                <a:cs typeface="Times New Roman" panose="02020603050405020304" pitchFamily="18" charset="0"/>
              </a:rPr>
              <a:t>hàng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đầu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từ</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Mỹ</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với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tiêu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chuẩn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quốc</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tế</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đảm</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bảo</a:t>
            </a:r>
            <a:r>
              <a:rPr lang="en-US" sz="2500" dirty="0">
                <a:latin typeface="Times New Roman" panose="02020603050405020304" pitchFamily="18" charset="0"/>
                <a:ea typeface="+mn-lt"/>
                <a:cs typeface="Times New Roman" panose="02020603050405020304" pitchFamily="18" charset="0"/>
              </a:rPr>
              <a:t> an </a:t>
            </a:r>
            <a:r>
              <a:rPr lang="en-US" sz="2500" dirty="0" err="1">
                <a:latin typeface="Times New Roman" panose="02020603050405020304" pitchFamily="18" charset="0"/>
                <a:ea typeface="+mn-lt"/>
                <a:cs typeface="Times New Roman" panose="02020603050405020304" pitchFamily="18" charset="0"/>
              </a:rPr>
              <a:t>toàn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thông</a:t>
            </a:r>
            <a:r>
              <a:rPr lang="en-US" sz="2500" dirty="0">
                <a:latin typeface="Times New Roman" panose="02020603050405020304" pitchFamily="18" charset="0"/>
                <a:ea typeface="+mn-lt"/>
                <a:cs typeface="Times New Roman" panose="02020603050405020304" pitchFamily="18" charset="0"/>
              </a:rPr>
              <a:t> tin </a:t>
            </a:r>
            <a:r>
              <a:rPr lang="en-US" sz="2500" dirty="0" err="1">
                <a:latin typeface="Times New Roman" panose="02020603050405020304" pitchFamily="18" charset="0"/>
                <a:ea typeface="+mn-lt"/>
                <a:cs typeface="Times New Roman" panose="02020603050405020304" pitchFamily="18" charset="0"/>
              </a:rPr>
              <a:t>tuyệt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đối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và</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bảo</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vệ</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dữ</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liệu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người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dùng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toàn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diện</a:t>
            </a:r>
            <a:r>
              <a:rPr lang="en-US" sz="2500" dirty="0">
                <a:latin typeface="Times New Roman" panose="02020603050405020304" pitchFamily="18" charset="0"/>
                <a:ea typeface="+mn-lt"/>
                <a:cs typeface="Times New Roman" panose="02020603050405020304" pitchFamily="18" charset="0"/>
              </a:rPr>
              <a:t>.</a:t>
            </a:r>
            <a:endParaRPr lang="en-US" sz="2500" dirty="0">
              <a:latin typeface="Times New Roman" panose="02020603050405020304" pitchFamily="18" charset="0"/>
              <a:cs typeface="Times New Roman" panose="02020603050405020304" pitchFamily="18" charset="0"/>
            </a:endParaRPr>
          </a:p>
          <a:p>
            <a:pPr>
              <a:buNone/>
            </a:pPr>
            <a:r>
              <a:rPr lang="en-US" sz="2500" b="1" dirty="0">
                <a:latin typeface="Times New Roman" panose="02020603050405020304" pitchFamily="18" charset="0"/>
                <a:ea typeface="+mn-lt"/>
                <a:cs typeface="Times New Roman" panose="02020603050405020304" pitchFamily="18" charset="0"/>
              </a:rPr>
              <a:t>Lợi </a:t>
            </a:r>
            <a:r>
              <a:rPr lang="en-US" sz="2500" b="1" dirty="0" err="1">
                <a:latin typeface="Times New Roman" panose="02020603050405020304" pitchFamily="18" charset="0"/>
                <a:ea typeface="+mn-lt"/>
                <a:cs typeface="Times New Roman" panose="02020603050405020304" pitchFamily="18" charset="0"/>
              </a:rPr>
              <a:t>ích</a:t>
            </a:r>
            <a:r>
              <a:rPr lang="en-US" sz="2500" b="1" dirty="0">
                <a:latin typeface="Times New Roman" panose="02020603050405020304" pitchFamily="18" charset="0"/>
                <a:ea typeface="+mn-lt"/>
                <a:cs typeface="Times New Roman" panose="02020603050405020304" pitchFamily="18" charset="0"/>
              </a:rPr>
              <a: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Khách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hàng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yên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tâm</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tuyệt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đối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về</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bảo</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mật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dữ</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liệu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nhạy</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cảm</a:t>
            </a:r>
            <a:r>
              <a:rPr lang="en-US" sz="2500" dirty="0">
                <a:latin typeface="Times New Roman" panose="02020603050405020304" pitchFamily="18" charset="0"/>
                <a:ea typeface="+mn-lt"/>
                <a:cs typeface="Times New Roman" panose="02020603050405020304" pitchFamily="18" charset="0"/>
              </a:rPr>
              <a:t>.</a:t>
            </a:r>
          </a:p>
          <a:p>
            <a:pPr>
              <a:buNone/>
            </a:pPr>
            <a:r>
              <a:rPr lang="en-US" sz="2500" b="1" dirty="0">
                <a:latin typeface="Times New Roman" panose="02020603050405020304" pitchFamily="18" charset="0"/>
                <a:cs typeface="Times New Roman" panose="02020603050405020304" pitchFamily="18" charset="0"/>
              </a:rPr>
              <a:t>2. </a:t>
            </a:r>
            <a:r>
              <a:rPr lang="en-US" sz="2500" b="1" dirty="0" err="1">
                <a:latin typeface="Times New Roman" panose="02020603050405020304" pitchFamily="18" charset="0"/>
                <a:cs typeface="Times New Roman" panose="02020603050405020304" pitchFamily="18" charset="0"/>
              </a:rPr>
              <a:t>Tích</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Hợp</a:t>
            </a:r>
            <a:r>
              <a:rPr lang="en-US" sz="2500" b="1" dirty="0">
                <a:latin typeface="Times New Roman" panose="02020603050405020304" pitchFamily="18" charset="0"/>
                <a:cs typeface="Times New Roman" panose="02020603050405020304" pitchFamily="18" charset="0"/>
              </a:rPr>
              <a:t> Linh </a:t>
            </a:r>
            <a:r>
              <a:rPr lang="en-US" sz="2500" b="1" dirty="0" err="1">
                <a:latin typeface="Times New Roman" panose="02020603050405020304" pitchFamily="18" charset="0"/>
                <a:cs typeface="Times New Roman" panose="02020603050405020304" pitchFamily="18" charset="0"/>
              </a:rPr>
              <a:t>Hoạt</a:t>
            </a:r>
            <a:endParaRPr lang="en-US" sz="2500" dirty="0">
              <a:latin typeface="Times New Roman" panose="02020603050405020304" pitchFamily="18" charset="0"/>
              <a:cs typeface="Times New Roman" panose="02020603050405020304" pitchFamily="18" charset="0"/>
            </a:endParaRPr>
          </a:p>
          <a:p>
            <a:pPr>
              <a:buNone/>
            </a:pPr>
            <a:r>
              <a:rPr lang="en-US" sz="2500" dirty="0" err="1">
                <a:latin typeface="Times New Roman" panose="02020603050405020304" pitchFamily="18" charset="0"/>
                <a:cs typeface="Times New Roman" panose="02020603050405020304" pitchFamily="18" charset="0"/>
              </a:rPr>
              <a:t>Tiêu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chuẩn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mở</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cho</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phép</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kết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nối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đa</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nền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tảng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một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cách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mượt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mà</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tối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ưu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hóa</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việc</a:t>
            </a:r>
            <a:r>
              <a:rPr lang="en-US" sz="2500" dirty="0">
                <a:latin typeface="Times New Roman" panose="02020603050405020304" pitchFamily="18" charset="0"/>
                <a:ea typeface="+mn-lt"/>
                <a:cs typeface="Times New Roman" panose="02020603050405020304" pitchFamily="18" charset="0"/>
              </a:rPr>
              <a:t> chia </a:t>
            </a:r>
            <a:r>
              <a:rPr lang="en-US" sz="2500" dirty="0" err="1">
                <a:latin typeface="Times New Roman" panose="02020603050405020304" pitchFamily="18" charset="0"/>
                <a:ea typeface="+mn-lt"/>
                <a:cs typeface="Times New Roman" panose="02020603050405020304" pitchFamily="18" charset="0"/>
              </a:rPr>
              <a:t>sẻ</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và</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khai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thác</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dữ</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liệu</a:t>
            </a:r>
            <a:r>
              <a:rPr lang="en-US" sz="2500" dirty="0">
                <a:latin typeface="Times New Roman" panose="02020603050405020304" pitchFamily="18" charset="0"/>
                <a:ea typeface="+mn-lt"/>
                <a:cs typeface="Times New Roman" panose="02020603050405020304" pitchFamily="18" charset="0"/>
              </a:rPr>
              <a:t> camera </a:t>
            </a:r>
            <a:r>
              <a:rPr lang="en-US" sz="2500" dirty="0" err="1">
                <a:latin typeface="Times New Roman" panose="02020603050405020304" pitchFamily="18" charset="0"/>
                <a:ea typeface="+mn-lt"/>
                <a:cs typeface="Times New Roman" panose="02020603050405020304" pitchFamily="18" charset="0"/>
              </a:rPr>
              <a:t>trên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mọi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hệ</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thống</a:t>
            </a:r>
            <a:r>
              <a:rPr lang="en-US" sz="2500" dirty="0">
                <a:latin typeface="Times New Roman" panose="02020603050405020304" pitchFamily="18" charset="0"/>
                <a:ea typeface="+mn-lt"/>
                <a:cs typeface="Times New Roman" panose="02020603050405020304" pitchFamily="18" charset="0"/>
              </a:rPr>
              <a:t>.</a:t>
            </a:r>
            <a:endParaRPr lang="en-US" sz="2500" dirty="0">
              <a:latin typeface="Times New Roman" panose="02020603050405020304" pitchFamily="18" charset="0"/>
              <a:cs typeface="Times New Roman" panose="02020603050405020304" pitchFamily="18" charset="0"/>
            </a:endParaRPr>
          </a:p>
          <a:p>
            <a:pPr>
              <a:buNone/>
            </a:pPr>
            <a:r>
              <a:rPr lang="en-US" sz="2500" b="1" dirty="0">
                <a:latin typeface="Times New Roman" panose="02020603050405020304" pitchFamily="18" charset="0"/>
                <a:ea typeface="+mn-lt"/>
                <a:cs typeface="Times New Roman" panose="02020603050405020304" pitchFamily="18" charset="0"/>
              </a:rPr>
              <a:t>Lợi </a:t>
            </a:r>
            <a:r>
              <a:rPr lang="en-US" sz="2500" b="1" dirty="0" err="1">
                <a:latin typeface="Times New Roman" panose="02020603050405020304" pitchFamily="18" charset="0"/>
                <a:ea typeface="+mn-lt"/>
                <a:cs typeface="Times New Roman" panose="02020603050405020304" pitchFamily="18" charset="0"/>
              </a:rPr>
              <a:t>ích</a:t>
            </a:r>
            <a:r>
              <a:rPr lang="en-US" sz="2500" b="1" dirty="0">
                <a:latin typeface="Times New Roman" panose="02020603050405020304" pitchFamily="18" charset="0"/>
                <a:ea typeface="+mn-lt"/>
                <a:cs typeface="Times New Roman" panose="02020603050405020304" pitchFamily="18" charset="0"/>
              </a:rPr>
              <a: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Dễ</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dàng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mở</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rộng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và</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tích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hợp</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với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hạ</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tầng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công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nghệ</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hiện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tại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của</a:t>
            </a:r>
            <a:r>
              <a:rPr lang="en-US" sz="2500" dirty="0">
                <a:latin typeface="Times New Roman" panose="02020603050405020304" pitchFamily="18" charset="0"/>
                <a:ea typeface="+mn-lt"/>
                <a:cs typeface="Times New Roman" panose="02020603050405020304" pitchFamily="18" charset="0"/>
              </a:rPr>
              <a:t> Việt Nam .</a:t>
            </a:r>
            <a:endParaRPr lang="en-US" sz="2500" dirty="0">
              <a:latin typeface="Times New Roman" panose="02020603050405020304" pitchFamily="18" charset="0"/>
              <a:cs typeface="Times New Roman" panose="02020603050405020304" pitchFamily="18" charset="0"/>
            </a:endParaRPr>
          </a:p>
          <a:p>
            <a:pPr>
              <a:buNone/>
            </a:pPr>
            <a:r>
              <a:rPr lang="en-US" sz="2500" b="1" dirty="0">
                <a:latin typeface="Times New Roman" panose="02020603050405020304" pitchFamily="18" charset="0"/>
                <a:cs typeface="Times New Roman" panose="02020603050405020304" pitchFamily="18" charset="0"/>
              </a:rPr>
              <a:t>3. </a:t>
            </a:r>
            <a:r>
              <a:rPr lang="en-US" sz="2500" b="1" dirty="0" err="1">
                <a:latin typeface="Times New Roman" panose="02020603050405020304" pitchFamily="18" charset="0"/>
                <a:cs typeface="Times New Roman" panose="02020603050405020304" pitchFamily="18" charset="0"/>
              </a:rPr>
              <a:t>Giải</a:t>
            </a:r>
            <a:r>
              <a:rPr lang="en-US" sz="2500" b="1" dirty="0">
                <a:latin typeface="Times New Roman" panose="02020603050405020304" pitchFamily="18" charset="0"/>
                <a:cs typeface="Times New Roman" panose="02020603050405020304" pitchFamily="18" charset="0"/>
              </a:rPr>
              <a:t> Pháp </a:t>
            </a:r>
            <a:r>
              <a:rPr lang="en-US" sz="2500" b="1" dirty="0" err="1">
                <a:latin typeface="Times New Roman" panose="02020603050405020304" pitchFamily="18" charset="0"/>
                <a:cs typeface="Times New Roman" panose="02020603050405020304" pitchFamily="18" charset="0"/>
              </a:rPr>
              <a:t>Được</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Thiết</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Kế</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Riêng</a:t>
            </a:r>
            <a:r>
              <a:rPr lang="en-US" sz="2500" b="1" dirty="0">
                <a:latin typeface="Times New Roman" panose="02020603050405020304" pitchFamily="18" charset="0"/>
                <a:cs typeface="Times New Roman" panose="02020603050405020304" pitchFamily="18" charset="0"/>
              </a:rPr>
              <a:t> Cho Thị Trường Việt Nam</a:t>
            </a:r>
          </a:p>
          <a:p>
            <a:pPr>
              <a:buFont typeface="Calibri" panose="020B0604020202020204" pitchFamily="34" charset="0"/>
              <a:buChar char="-"/>
            </a:pPr>
            <a:r>
              <a:rPr lang="en-US" sz="2500" dirty="0" err="1">
                <a:latin typeface="Times New Roman" panose="02020603050405020304" pitchFamily="18" charset="0"/>
                <a:cs typeface="Times New Roman" panose="02020603050405020304" pitchFamily="18" charset="0"/>
              </a:rPr>
              <a:t>Tùy</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Biến</a:t>
            </a:r>
            <a:r>
              <a:rPr lang="en-US" sz="2500" dirty="0">
                <a:latin typeface="Times New Roman" panose="02020603050405020304" pitchFamily="18" charset="0"/>
                <a:cs typeface="Times New Roman" panose="02020603050405020304" pitchFamily="18" charset="0"/>
              </a:rPr>
              <a:t> Linh </a:t>
            </a:r>
            <a:r>
              <a:rPr lang="en-US" sz="2500" dirty="0" err="1">
                <a:latin typeface="Times New Roman" panose="02020603050405020304" pitchFamily="18" charset="0"/>
                <a:cs typeface="Times New Roman" panose="02020603050405020304" pitchFamily="18" charset="0"/>
              </a:rPr>
              <a:t>Hoạt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mềm</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và</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phần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cứng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được</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điều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chỉnh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theo</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yêu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cầu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cụ</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thể</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của</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từng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khách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hàng</a:t>
            </a:r>
            <a:endParaRPr lang="en-US" sz="2500" dirty="0">
              <a:latin typeface="Times New Roman" panose="02020603050405020304" pitchFamily="18" charset="0"/>
              <a:ea typeface="+mn-lt"/>
              <a:cs typeface="Times New Roman" panose="02020603050405020304" pitchFamily="18" charset="0"/>
            </a:endParaRPr>
          </a:p>
          <a:p>
            <a:pPr>
              <a:buFont typeface="Calibri" panose="020B0604020202020204" pitchFamily="34" charset="0"/>
              <a:buChar char="-"/>
            </a:pPr>
            <a:r>
              <a:rPr lang="en-US" sz="2500" dirty="0">
                <a:latin typeface="Times New Roman" panose="02020603050405020304" pitchFamily="18" charset="0"/>
                <a:ea typeface="+mn-lt"/>
                <a:cs typeface="Times New Roman" panose="02020603050405020304" pitchFamily="18" charset="0"/>
              </a:rPr>
              <a:t>AI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Tối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Ưu</a:t>
            </a:r>
            <a:r>
              <a:rPr lang="en-US" sz="2500" dirty="0">
                <a:latin typeface="Times New Roman" panose="02020603050405020304" pitchFamily="18" charset="0"/>
                <a:cs typeface="Times New Roman" panose="02020603050405020304" pitchFamily="18" charset="0"/>
              </a:rPr>
              <a:t> Cho Việt Nam:</a:t>
            </a:r>
            <a:r>
              <a:rPr lang="en-US" sz="2500" dirty="0">
                <a:latin typeface="Times New Roman" panose="02020603050405020304" pitchFamily="18" charset="0"/>
                <a:ea typeface="+mn-lt"/>
                <a:cs typeface="Times New Roman" panose="02020603050405020304" pitchFamily="18" charset="0"/>
              </a:rPr>
              <a:t> Công </a:t>
            </a:r>
            <a:r>
              <a:rPr lang="en-US" sz="2500" dirty="0" err="1">
                <a:latin typeface="Times New Roman" panose="02020603050405020304" pitchFamily="18" charset="0"/>
                <a:ea typeface="+mn-lt"/>
                <a:cs typeface="Times New Roman" panose="02020603050405020304" pitchFamily="18" charset="0"/>
              </a:rPr>
              <a:t>nghệ</a:t>
            </a:r>
            <a:r>
              <a:rPr lang="en-US" sz="2500" dirty="0">
                <a:latin typeface="Times New Roman" panose="02020603050405020304" pitchFamily="18" charset="0"/>
                <a:ea typeface="+mn-lt"/>
                <a:cs typeface="Times New Roman" panose="02020603050405020304" pitchFamily="18" charset="0"/>
              </a:rPr>
              <a:t> AI </a:t>
            </a:r>
            <a:r>
              <a:rPr lang="en-US" sz="2500" dirty="0" err="1">
                <a:latin typeface="Times New Roman" panose="02020603050405020304" pitchFamily="18" charset="0"/>
                <a:ea typeface="+mn-lt"/>
                <a:cs typeface="Times New Roman" panose="02020603050405020304" pitchFamily="18" charset="0"/>
              </a:rPr>
              <a:t>được</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huấn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luyện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trên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dữ</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liệu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người</a:t>
            </a:r>
            <a:r>
              <a:rPr lang="en-US" sz="2500" dirty="0">
                <a:latin typeface="Times New Roman" panose="02020603050405020304" pitchFamily="18" charset="0"/>
                <a:ea typeface="+mn-lt"/>
                <a:cs typeface="Times New Roman" panose="02020603050405020304" pitchFamily="18" charset="0"/>
              </a:rPr>
              <a:t> Việt, </a:t>
            </a:r>
            <a:r>
              <a:rPr lang="en-US" sz="2500" dirty="0" err="1">
                <a:latin typeface="Times New Roman" panose="02020603050405020304" pitchFamily="18" charset="0"/>
                <a:ea typeface="+mn-lt"/>
                <a:cs typeface="Times New Roman" panose="02020603050405020304" pitchFamily="18" charset="0"/>
              </a:rPr>
              <a:t>đảm</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bảo</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độ</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chính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xác</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cao</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nhất</a:t>
            </a:r>
            <a:endParaRPr lang="en-US" sz="2500" dirty="0">
              <a:latin typeface="Times New Roman" panose="02020603050405020304" pitchFamily="18" charset="0"/>
              <a:ea typeface="+mn-lt"/>
              <a:cs typeface="Times New Roman" panose="02020603050405020304" pitchFamily="18" charset="0"/>
            </a:endParaRPr>
          </a:p>
          <a:p>
            <a:pPr>
              <a:buFont typeface="Calibri" panose="020B0604020202020204" pitchFamily="34" charset="0"/>
              <a:buChar char="-"/>
            </a:pPr>
            <a:r>
              <a:rPr lang="en-US" sz="2500" dirty="0" err="1">
                <a:latin typeface="Times New Roman" panose="02020603050405020304" pitchFamily="18" charset="0"/>
                <a:ea typeface="+mn-lt"/>
                <a:cs typeface="Times New Roman" panose="02020603050405020304" pitchFamily="18" charset="0"/>
              </a:rPr>
              <a:t>Hỗ</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Trợ</a:t>
            </a:r>
            <a:r>
              <a:rPr lang="en-US" sz="2500" dirty="0">
                <a:latin typeface="Times New Roman" panose="02020603050405020304" pitchFamily="18" charset="0"/>
                <a:cs typeface="Times New Roman" panose="02020603050405020304" pitchFamily="18" charset="0"/>
              </a:rPr>
              <a:t> Nhanh </a:t>
            </a:r>
            <a:r>
              <a:rPr lang="en-US" sz="2500" dirty="0" err="1">
                <a:latin typeface="Times New Roman" panose="02020603050405020304" pitchFamily="18" charset="0"/>
                <a:cs typeface="Times New Roman" panose="02020603050405020304" pitchFamily="18" charset="0"/>
              </a:rPr>
              <a:t>Chóng</a:t>
            </a:r>
            <a:r>
              <a:rPr lang="en-US" sz="2500" dirty="0">
                <a:latin typeface="Times New Roman" panose="02020603050405020304" pitchFamily="18" charset="0"/>
                <a:cs typeface="Times New Roman" panose="02020603050405020304" pitchFamily="18" charset="0"/>
              </a:rPr>
              <a:t>:</a:t>
            </a:r>
          </a:p>
          <a:p>
            <a:pPr marL="0" indent="0">
              <a:buNone/>
            </a:pP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Đội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ngũ</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kỹ</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sư</a:t>
            </a:r>
            <a:r>
              <a:rPr lang="en-US" sz="2500" dirty="0">
                <a:latin typeface="Times New Roman" panose="02020603050405020304" pitchFamily="18" charset="0"/>
                <a:ea typeface="+mn-lt"/>
                <a:cs typeface="Times New Roman" panose="02020603050405020304" pitchFamily="18" charset="0"/>
              </a:rPr>
              <a:t> Việt Nam </a:t>
            </a:r>
            <a:r>
              <a:rPr lang="en-US" sz="2500" dirty="0" err="1">
                <a:latin typeface="Times New Roman" panose="02020603050405020304" pitchFamily="18" charset="0"/>
                <a:ea typeface="+mn-lt"/>
                <a:cs typeface="Times New Roman" panose="02020603050405020304" pitchFamily="18" charset="0"/>
              </a:rPr>
              <a:t>sẵn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sàng</a:t>
            </a:r>
            <a:r>
              <a:rPr lang="en-US" sz="2500" dirty="0">
                <a:latin typeface="Times New Roman" panose="02020603050405020304" pitchFamily="18" charset="0"/>
                <a:ea typeface="+mn-lt"/>
                <a:cs typeface="Times New Roman" panose="02020603050405020304" pitchFamily="18" charset="0"/>
              </a:rPr>
              <a:t> 24/7</a:t>
            </a:r>
            <a:endParaRPr lang="en-US" sz="2500" dirty="0">
              <a:latin typeface="Times New Roman" panose="02020603050405020304" pitchFamily="18" charset="0"/>
              <a:cs typeface="Times New Roman" panose="02020603050405020304" pitchFamily="18" charset="0"/>
            </a:endParaRPr>
          </a:p>
          <a:p>
            <a:pPr marL="0" indent="0">
              <a:buNone/>
            </a:pPr>
            <a:r>
              <a:rPr lang="en-US" sz="2500" dirty="0">
                <a:latin typeface="Times New Roman" panose="02020603050405020304" pitchFamily="18" charset="0"/>
                <a:ea typeface="+mn-lt"/>
                <a:cs typeface="Times New Roman" panose="02020603050405020304" pitchFamily="18" charset="0"/>
              </a:rPr>
              <a:t>+ Bảo </a:t>
            </a:r>
            <a:r>
              <a:rPr lang="en-US" sz="2500" dirty="0" err="1">
                <a:latin typeface="Times New Roman" panose="02020603050405020304" pitchFamily="18" charset="0"/>
                <a:ea typeface="+mn-lt"/>
                <a:cs typeface="Times New Roman" panose="02020603050405020304" pitchFamily="18" charset="0"/>
              </a:rPr>
              <a:t>hành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và</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xử</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lý</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sự</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cố</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nhanh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chóng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không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phụ</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thuộc</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vào</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nước</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ngoài</a:t>
            </a:r>
            <a:endParaRPr lang="en-US" sz="2500" dirty="0">
              <a:latin typeface="Times New Roman" panose="02020603050405020304" pitchFamily="18" charset="0"/>
              <a:ea typeface="+mn-lt"/>
              <a:cs typeface="Times New Roman" panose="02020603050405020304" pitchFamily="18" charset="0"/>
            </a:endParaRPr>
          </a:p>
          <a:p>
            <a:pPr marL="0" indent="0">
              <a:buNone/>
            </a:pPr>
            <a:r>
              <a:rPr lang="en-US" sz="2500" b="1" dirty="0">
                <a:latin typeface="Times New Roman" panose="02020603050405020304" pitchFamily="18" charset="0"/>
                <a:ea typeface="+mn-lt"/>
                <a:cs typeface="Times New Roman" panose="02020603050405020304" pitchFamily="18" charset="0"/>
              </a:rPr>
              <a:t>Lợi </a:t>
            </a:r>
            <a:r>
              <a:rPr lang="en-US" sz="2500" b="1" dirty="0" err="1">
                <a:latin typeface="Times New Roman" panose="02020603050405020304" pitchFamily="18" charset="0"/>
                <a:ea typeface="+mn-lt"/>
                <a:cs typeface="Times New Roman" panose="02020603050405020304" pitchFamily="18" charset="0"/>
              </a:rPr>
              <a:t>ích</a:t>
            </a:r>
            <a:r>
              <a:rPr lang="en-US" sz="2500" b="1" dirty="0">
                <a:latin typeface="Times New Roman" panose="02020603050405020304" pitchFamily="18" charset="0"/>
                <a:ea typeface="+mn-lt"/>
                <a:cs typeface="Times New Roman" panose="02020603050405020304" pitchFamily="18" charset="0"/>
              </a:rPr>
              <a:t>:</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Giải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pháp</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đo</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đóng</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giày</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với</a:t>
            </a:r>
            <a:r>
              <a:rPr lang="en-US" sz="2500" dirty="0">
                <a:latin typeface="Times New Roman" panose="02020603050405020304" pitchFamily="18" charset="0"/>
                <a:ea typeface="+mn-lt"/>
                <a:cs typeface="Times New Roman" panose="02020603050405020304" pitchFamily="18" charset="0"/>
              </a:rPr>
              <a:t> chi </a:t>
            </a:r>
            <a:r>
              <a:rPr lang="en-US" sz="2500" dirty="0" err="1">
                <a:latin typeface="Times New Roman" panose="02020603050405020304" pitchFamily="18" charset="0"/>
                <a:ea typeface="+mn-lt"/>
                <a:cs typeface="Times New Roman" panose="02020603050405020304" pitchFamily="18" charset="0"/>
              </a:rPr>
              <a:t>phí</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vận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hành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tối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ưu</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và</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thời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gian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phản</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hồi</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nhanh</a:t>
            </a:r>
            <a:r>
              <a:rPr lang="en-US" sz="2500" dirty="0">
                <a:latin typeface="Times New Roman" panose="02020603050405020304" pitchFamily="18" charset="0"/>
                <a:ea typeface="+mn-lt"/>
                <a:cs typeface="Times New Roman" panose="02020603050405020304" pitchFamily="18" charset="0"/>
              </a:rPr>
              <a:t> </a:t>
            </a:r>
            <a:r>
              <a:rPr lang="en-US" sz="2500" dirty="0" err="1">
                <a:latin typeface="Times New Roman" panose="02020603050405020304" pitchFamily="18" charset="0"/>
                <a:ea typeface="+mn-lt"/>
                <a:cs typeface="Times New Roman" panose="02020603050405020304" pitchFamily="18" charset="0"/>
              </a:rPr>
              <a:t>nhất</a:t>
            </a:r>
            <a:r>
              <a:rPr lang="en-US" sz="2500" dirty="0">
                <a:latin typeface="Times New Roman" panose="02020603050405020304" pitchFamily="18" charset="0"/>
                <a:ea typeface="+mn-lt"/>
                <a:cs typeface="Times New Roman" panose="02020603050405020304" pitchFamily="18" charset="0"/>
              </a:rPr>
              <a:t>.</a:t>
            </a:r>
          </a:p>
          <a:p>
            <a:pPr marL="0" indent="0">
              <a:buNone/>
            </a:pPr>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2245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3859</Words>
  <Application>Microsoft Office PowerPoint</Application>
  <PresentationFormat>Widescreen</PresentationFormat>
  <Paragraphs>286</Paragraphs>
  <Slides>25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Calibri</vt:lpstr>
      <vt:lpstr>Segoe UI</vt:lpstr>
      <vt:lpstr>Times New Roman</vt:lpstr>
      <vt:lpstr>Wingdings</vt:lpstr>
      <vt:lpstr>Office Theme</vt:lpstr>
      <vt:lpstr>PowerPoint Presentation</vt:lpstr>
      <vt:lpstr>AI Camera xử lý tại biên được xác định là sản phẩm công nghệ chiến lược cần ưu tiên triển khai ngay trong 2025 (theo Bộ KH&amp;CN)</vt:lpstr>
      <vt:lpstr>5MP AI OUTDOOR BULLET CAMERA VB50FB1V</vt:lpstr>
      <vt:lpstr>8MP AI OUTDOOR BULLET CAMERA VB80FA1V</vt:lpstr>
      <vt:lpstr>40x OPTICAL ZOOM PTZ CAMERA VA50FA2V-40</vt:lpstr>
      <vt:lpstr>AI OUTDOOR DOME CAMERA VA50FA0V</vt:lpstr>
      <vt:lpstr>PowerPoint Presentation</vt:lpstr>
      <vt:lpstr>PowerPoint Presentation</vt:lpstr>
      <vt:lpstr>AI Camera MKVISION:  Trợ Lý Thông Minh Cho Quản Lý Trật Tự Đô Thị Xây Dựng Đô Thị  Văn Minh, An Toàn  &amp; Hiện Đại Đồng vai trò thay thế và hỗ trợ đắc lực cho cán bộ quản lý trật tự đô thị, giúp thành phố vận hành hiệu quả, minh bạch và bền vững.</vt:lpstr>
      <vt:lpstr>PowerPoint Presentation</vt:lpstr>
      <vt:lpstr>AI Camera MKVISION: Nâng Tầm Quản Lý Giao Thông Đô Thị Giải Pháp Toàn Diện Cho Giao Thông Thông Minh &amp; An Toàn Được lắp đặt tại các cửa ngõ, vào thành phố, tuyến đường chính (đường vành đai, trục xuyên tâm), giao lộ then chốt - hỗ trợ lực lượng chức năng quản lý và điều tiết giao thông hiệu quả.</vt:lpstr>
      <vt:lpstr>PowerPoint Presentation</vt:lpstr>
      <vt:lpstr>AI Camera MKVISION: Xây Dựng Trường Học An Toàn, Văn Minh, Hiện Đại Bảo Vệ Toàn Diện  Học Sinh &amp; Giáo Viên,  Hỗ Trợ Quản Lý  Thông Minh</vt:lpstr>
      <vt:lpstr>PowerPoint Presentation</vt:lpstr>
      <vt:lpstr>AI Camera MKVISION: Giải Pháp Quản Lý  Thông Minh Cho Trại Giam  &amp; Cơ Sở Cai Nghiện Nâng Cao Hiệu Quả Quản Lý, Đảm Bảo An Toàn Tuyệt Đối</vt:lpstr>
      <vt:lpstr>PowerPoint Presentation</vt:lpstr>
      <vt:lpstr>AI Camera MKVISION:  Giải Pháp An Ninh Thông Minh Cho Tòa Nhà &amp; Văn Phòng Xây Dựng Môi Trường Làm Việc An Toàn, Minh Bạch, Hiện Đại</vt:lpstr>
      <vt:lpstr>PowerPoint Presentation</vt:lpstr>
      <vt:lpstr>AI Camera MKVISION:  Giải Pháp An Ninh Cao Cấp Cho Hệ Thống Điện Lực Bảo Vệ Hạ Tầng Điện Quan Trọng 24/7</vt:lpstr>
      <vt:lpstr>PowerPoint Presentation</vt:lpstr>
      <vt:lpstr>AI Camera MKVISION: Trợ Lý Quản Lý Thông Minh Cho Nhà Máy &amp; Khu Công Nghiệp Giám Sát 24/7 - Thay Thế Cán Bộ  Quản Lý Truyền Thống</vt:lpstr>
      <vt:lpstr>PowerPoint Presentation</vt:lpstr>
      <vt:lpstr>PowerPoint Presentation</vt:lpstr>
      <vt:lpstr>PowerPoint Presentation</vt:lpstr>
      <vt:lpstr>MKV Camera: Giải Pháp An Ninh Hàng Đầu Cho Việt Nam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Trịnh Thị Phúc Ngân</dc:creator>
  <cp:lastModifiedBy>Trịnh Thị Phúc Ngân</cp:lastModifiedBy>
  <cp:revision>422</cp:revision>
  <dcterms:created xsi:type="dcterms:W3CDTF">2025-10-24T07:45:42Z</dcterms:created>
  <dcterms:modified xsi:type="dcterms:W3CDTF">2025-11-18T10:20:56Z</dcterms:modified>
</cp:coreProperties>
</file>