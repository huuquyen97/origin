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f1GeeueRXEBbhcYUY08V3QGqe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customschemas.google.com/relationships/presentationmetadata" Target="meta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7.png"/><Relationship Id="rId4" Type="http://schemas.openxmlformats.org/officeDocument/2006/relationships/image" Target="../media/image131.png"/><Relationship Id="rId11" Type="http://schemas.openxmlformats.org/officeDocument/2006/relationships/image" Target="../media/image12.png"/><Relationship Id="rId10" Type="http://schemas.openxmlformats.org/officeDocument/2006/relationships/image" Target="../media/image18.png"/><Relationship Id="rId12" Type="http://schemas.openxmlformats.org/officeDocument/2006/relationships/image" Target="../media/image5.png"/><Relationship Id="rId9" Type="http://schemas.openxmlformats.org/officeDocument/2006/relationships/image" Target="../media/image2.png"/><Relationship Id="rId5" Type="http://schemas.openxmlformats.org/officeDocument/2006/relationships/image" Target="../media/image66.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1.png"/><Relationship Id="rId4" Type="http://schemas.openxmlformats.org/officeDocument/2006/relationships/image" Target="../media/image9.png"/><Relationship Id="rId11" Type="http://schemas.openxmlformats.org/officeDocument/2006/relationships/image" Target="../media/image14.png"/><Relationship Id="rId10" Type="http://schemas.openxmlformats.org/officeDocument/2006/relationships/image" Target="../media/image10.png"/><Relationship Id="rId12"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17.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28.png"/><Relationship Id="rId13" Type="http://schemas.openxmlformats.org/officeDocument/2006/relationships/image" Target="../media/image30.png"/><Relationship Id="rId12"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4.png"/><Relationship Id="rId4" Type="http://schemas.openxmlformats.org/officeDocument/2006/relationships/image" Target="../media/image9.png"/><Relationship Id="rId9" Type="http://schemas.openxmlformats.org/officeDocument/2006/relationships/image" Target="../media/image48.png"/><Relationship Id="rId14" Type="http://schemas.openxmlformats.org/officeDocument/2006/relationships/image" Target="../media/image26.pn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19.png"/><Relationship Id="rId8" Type="http://schemas.openxmlformats.org/officeDocument/2006/relationships/image" Target="../media/image21.png"/></Relationships>
</file>

<file path=ppt/slides/_rels/slide4.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43.png"/><Relationship Id="rId13" Type="http://schemas.openxmlformats.org/officeDocument/2006/relationships/image" Target="../media/image49.png"/><Relationship Id="rId12"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8.png"/><Relationship Id="rId4" Type="http://schemas.openxmlformats.org/officeDocument/2006/relationships/image" Target="../media/image9.png"/><Relationship Id="rId9" Type="http://schemas.openxmlformats.org/officeDocument/2006/relationships/image" Target="../media/image39.png"/><Relationship Id="rId15" Type="http://schemas.openxmlformats.org/officeDocument/2006/relationships/image" Target="../media/image60.png"/><Relationship Id="rId14" Type="http://schemas.openxmlformats.org/officeDocument/2006/relationships/image" Target="../media/image41.png"/><Relationship Id="rId16" Type="http://schemas.openxmlformats.org/officeDocument/2006/relationships/image" Target="../media/image51.png"/><Relationship Id="rId5" Type="http://schemas.openxmlformats.org/officeDocument/2006/relationships/image" Target="../media/image1.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32.png"/></Relationships>
</file>

<file path=ppt/slides/_rels/slide5.xml.rels><?xml version="1.0" encoding="UTF-8" standalone="yes"?><Relationships xmlns="http://schemas.openxmlformats.org/package/2006/relationships"><Relationship Id="rId20" Type="http://schemas.openxmlformats.org/officeDocument/2006/relationships/image" Target="../media/image82.png"/><Relationship Id="rId11" Type="http://schemas.openxmlformats.org/officeDocument/2006/relationships/image" Target="../media/image57.png"/><Relationship Id="rId10" Type="http://schemas.openxmlformats.org/officeDocument/2006/relationships/image" Target="../media/image50.png"/><Relationship Id="rId21" Type="http://schemas.openxmlformats.org/officeDocument/2006/relationships/image" Target="../media/image60.png"/><Relationship Id="rId13" Type="http://schemas.openxmlformats.org/officeDocument/2006/relationships/image" Target="../media/image59.png"/><Relationship Id="rId12"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4.png"/><Relationship Id="rId4" Type="http://schemas.openxmlformats.org/officeDocument/2006/relationships/image" Target="../media/image9.png"/><Relationship Id="rId9" Type="http://schemas.openxmlformats.org/officeDocument/2006/relationships/image" Target="../media/image46.png"/><Relationship Id="rId15" Type="http://schemas.openxmlformats.org/officeDocument/2006/relationships/image" Target="../media/image56.png"/><Relationship Id="rId14" Type="http://schemas.openxmlformats.org/officeDocument/2006/relationships/image" Target="../media/image52.png"/><Relationship Id="rId17" Type="http://schemas.openxmlformats.org/officeDocument/2006/relationships/image" Target="../media/image58.png"/><Relationship Id="rId16" Type="http://schemas.openxmlformats.org/officeDocument/2006/relationships/image" Target="../media/image55.png"/><Relationship Id="rId5" Type="http://schemas.openxmlformats.org/officeDocument/2006/relationships/image" Target="../media/image1.png"/><Relationship Id="rId19" Type="http://schemas.openxmlformats.org/officeDocument/2006/relationships/image" Target="../media/image64.png"/><Relationship Id="rId6" Type="http://schemas.openxmlformats.org/officeDocument/2006/relationships/image" Target="../media/image47.png"/><Relationship Id="rId18" Type="http://schemas.openxmlformats.org/officeDocument/2006/relationships/image" Target="../media/image62.png"/><Relationship Id="rId7" Type="http://schemas.openxmlformats.org/officeDocument/2006/relationships/image" Target="../media/image54.png"/><Relationship Id="rId8" Type="http://schemas.openxmlformats.org/officeDocument/2006/relationships/image" Target="../media/image53.png"/></Relationships>
</file>

<file path=ppt/slides/_rels/slide6.xml.rels><?xml version="1.0" encoding="UTF-8" standalone="yes"?><Relationships xmlns="http://schemas.openxmlformats.org/package/2006/relationships"><Relationship Id="rId20" Type="http://schemas.openxmlformats.org/officeDocument/2006/relationships/image" Target="../media/image78.png"/><Relationship Id="rId11" Type="http://schemas.openxmlformats.org/officeDocument/2006/relationships/image" Target="../media/image83.png"/><Relationship Id="rId10" Type="http://schemas.openxmlformats.org/officeDocument/2006/relationships/image" Target="../media/image72.png"/><Relationship Id="rId13" Type="http://schemas.openxmlformats.org/officeDocument/2006/relationships/image" Target="../media/image71.png"/><Relationship Id="rId12" Type="http://schemas.openxmlformats.org/officeDocument/2006/relationships/image" Target="../media/image75.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4.png"/><Relationship Id="rId4" Type="http://schemas.openxmlformats.org/officeDocument/2006/relationships/image" Target="../media/image9.png"/><Relationship Id="rId9" Type="http://schemas.openxmlformats.org/officeDocument/2006/relationships/image" Target="../media/image74.png"/><Relationship Id="rId15" Type="http://schemas.openxmlformats.org/officeDocument/2006/relationships/image" Target="../media/image91.png"/><Relationship Id="rId14" Type="http://schemas.openxmlformats.org/officeDocument/2006/relationships/image" Target="../media/image73.png"/><Relationship Id="rId17" Type="http://schemas.openxmlformats.org/officeDocument/2006/relationships/image" Target="../media/image77.png"/><Relationship Id="rId16" Type="http://schemas.openxmlformats.org/officeDocument/2006/relationships/image" Target="../media/image80.png"/><Relationship Id="rId5" Type="http://schemas.openxmlformats.org/officeDocument/2006/relationships/image" Target="../media/image1.png"/><Relationship Id="rId19" Type="http://schemas.openxmlformats.org/officeDocument/2006/relationships/image" Target="../media/image89.png"/><Relationship Id="rId6" Type="http://schemas.openxmlformats.org/officeDocument/2006/relationships/image" Target="../media/image84.png"/><Relationship Id="rId18" Type="http://schemas.openxmlformats.org/officeDocument/2006/relationships/image" Target="../media/image85.png"/><Relationship Id="rId7" Type="http://schemas.openxmlformats.org/officeDocument/2006/relationships/image" Target="../media/image70.png"/><Relationship Id="rId8" Type="http://schemas.openxmlformats.org/officeDocument/2006/relationships/image" Target="../media/image69.png"/></Relationships>
</file>

<file path=ppt/slides/_rels/slide7.xml.rels><?xml version="1.0" encoding="UTF-8" standalone="yes"?><Relationships xmlns="http://schemas.openxmlformats.org/package/2006/relationships"><Relationship Id="rId20" Type="http://schemas.openxmlformats.org/officeDocument/2006/relationships/image" Target="../media/image110.png"/><Relationship Id="rId11" Type="http://schemas.openxmlformats.org/officeDocument/2006/relationships/image" Target="../media/image94.png"/><Relationship Id="rId22" Type="http://schemas.openxmlformats.org/officeDocument/2006/relationships/image" Target="../media/image129.png"/><Relationship Id="rId10" Type="http://schemas.openxmlformats.org/officeDocument/2006/relationships/image" Target="../media/image93.png"/><Relationship Id="rId21" Type="http://schemas.openxmlformats.org/officeDocument/2006/relationships/image" Target="../media/image105.png"/><Relationship Id="rId13" Type="http://schemas.openxmlformats.org/officeDocument/2006/relationships/image" Target="../media/image95.png"/><Relationship Id="rId12" Type="http://schemas.openxmlformats.org/officeDocument/2006/relationships/image" Target="../media/image97.png"/><Relationship Id="rId23" Type="http://schemas.openxmlformats.org/officeDocument/2006/relationships/image" Target="../media/image109.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4.png"/><Relationship Id="rId4" Type="http://schemas.openxmlformats.org/officeDocument/2006/relationships/image" Target="../media/image9.png"/><Relationship Id="rId9" Type="http://schemas.openxmlformats.org/officeDocument/2006/relationships/image" Target="../media/image96.png"/><Relationship Id="rId15" Type="http://schemas.openxmlformats.org/officeDocument/2006/relationships/image" Target="../media/image100.png"/><Relationship Id="rId14" Type="http://schemas.openxmlformats.org/officeDocument/2006/relationships/image" Target="../media/image106.png"/><Relationship Id="rId17" Type="http://schemas.openxmlformats.org/officeDocument/2006/relationships/image" Target="../media/image112.png"/><Relationship Id="rId16" Type="http://schemas.openxmlformats.org/officeDocument/2006/relationships/image" Target="../media/image107.png"/><Relationship Id="rId5" Type="http://schemas.openxmlformats.org/officeDocument/2006/relationships/image" Target="../media/image1.png"/><Relationship Id="rId19" Type="http://schemas.openxmlformats.org/officeDocument/2006/relationships/image" Target="../media/image98.png"/><Relationship Id="rId6" Type="http://schemas.openxmlformats.org/officeDocument/2006/relationships/image" Target="../media/image86.png"/><Relationship Id="rId18" Type="http://schemas.openxmlformats.org/officeDocument/2006/relationships/image" Target="../media/image99.png"/><Relationship Id="rId7" Type="http://schemas.openxmlformats.org/officeDocument/2006/relationships/image" Target="../media/image101.png"/><Relationship Id="rId8" Type="http://schemas.openxmlformats.org/officeDocument/2006/relationships/image" Target="../media/image92.png"/></Relationships>
</file>

<file path=ppt/slides/_rels/slide8.xml.rels><?xml version="1.0" encoding="UTF-8" standalone="yes"?><Relationships xmlns="http://schemas.openxmlformats.org/package/2006/relationships"><Relationship Id="rId11" Type="http://schemas.openxmlformats.org/officeDocument/2006/relationships/image" Target="../media/image115.png"/><Relationship Id="rId10" Type="http://schemas.openxmlformats.org/officeDocument/2006/relationships/image" Target="../media/image126.png"/><Relationship Id="rId13" Type="http://schemas.openxmlformats.org/officeDocument/2006/relationships/image" Target="../media/image123.png"/><Relationship Id="rId12" Type="http://schemas.openxmlformats.org/officeDocument/2006/relationships/image" Target="../media/image116.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4.png"/><Relationship Id="rId4" Type="http://schemas.openxmlformats.org/officeDocument/2006/relationships/image" Target="../media/image9.png"/><Relationship Id="rId9" Type="http://schemas.openxmlformats.org/officeDocument/2006/relationships/image" Target="../media/image114.png"/><Relationship Id="rId15" Type="http://schemas.openxmlformats.org/officeDocument/2006/relationships/image" Target="../media/image121.png"/><Relationship Id="rId14" Type="http://schemas.openxmlformats.org/officeDocument/2006/relationships/image" Target="../media/image124.png"/><Relationship Id="rId17" Type="http://schemas.openxmlformats.org/officeDocument/2006/relationships/image" Target="../media/image119.png"/><Relationship Id="rId16" Type="http://schemas.openxmlformats.org/officeDocument/2006/relationships/image" Target="../media/image134.png"/><Relationship Id="rId5" Type="http://schemas.openxmlformats.org/officeDocument/2006/relationships/image" Target="../media/image1.png"/><Relationship Id="rId19" Type="http://schemas.openxmlformats.org/officeDocument/2006/relationships/image" Target="../media/image130.png"/><Relationship Id="rId6" Type="http://schemas.openxmlformats.org/officeDocument/2006/relationships/image" Target="../media/image113.png"/><Relationship Id="rId18" Type="http://schemas.openxmlformats.org/officeDocument/2006/relationships/image" Target="../media/image133.png"/><Relationship Id="rId7" Type="http://schemas.openxmlformats.org/officeDocument/2006/relationships/image" Target="../media/image120.png"/><Relationship Id="rId8" Type="http://schemas.openxmlformats.org/officeDocument/2006/relationships/image" Target="../media/image111.png"/></Relationships>
</file>

<file path=ppt/slides/_rels/slide9.xml.rels><?xml version="1.0" encoding="UTF-8" standalone="yes"?><Relationships xmlns="http://schemas.openxmlformats.org/package/2006/relationships"><Relationship Id="rId11" Type="http://schemas.openxmlformats.org/officeDocument/2006/relationships/image" Target="../media/image138.png"/><Relationship Id="rId10" Type="http://schemas.openxmlformats.org/officeDocument/2006/relationships/image" Target="../media/image146.png"/><Relationship Id="rId13" Type="http://schemas.openxmlformats.org/officeDocument/2006/relationships/image" Target="../media/image144.png"/><Relationship Id="rId12" Type="http://schemas.openxmlformats.org/officeDocument/2006/relationships/image" Target="../media/image137.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7.png"/><Relationship Id="rId4" Type="http://schemas.openxmlformats.org/officeDocument/2006/relationships/image" Target="../media/image9.png"/><Relationship Id="rId9" Type="http://schemas.openxmlformats.org/officeDocument/2006/relationships/image" Target="../media/image142.png"/><Relationship Id="rId15" Type="http://schemas.openxmlformats.org/officeDocument/2006/relationships/image" Target="../media/image155.png"/><Relationship Id="rId14" Type="http://schemas.openxmlformats.org/officeDocument/2006/relationships/image" Target="../media/image143.png"/><Relationship Id="rId17" Type="http://schemas.openxmlformats.org/officeDocument/2006/relationships/image" Target="../media/image151.png"/><Relationship Id="rId16" Type="http://schemas.openxmlformats.org/officeDocument/2006/relationships/image" Target="../media/image89.png"/><Relationship Id="rId5" Type="http://schemas.openxmlformats.org/officeDocument/2006/relationships/image" Target="../media/image1.png"/><Relationship Id="rId6" Type="http://schemas.openxmlformats.org/officeDocument/2006/relationships/image" Target="../media/image125.png"/><Relationship Id="rId7" Type="http://schemas.openxmlformats.org/officeDocument/2006/relationships/image" Target="../media/image135.png"/><Relationship Id="rId8" Type="http://schemas.openxmlformats.org/officeDocument/2006/relationships/image" Target="../media/image150.png"/></Relationships>
</file>

<file path=ppt/slides/_rels/slide10.xml.rels><?xml version="1.0" encoding="UTF-8" standalone="yes"?><Relationships xmlns="http://schemas.openxmlformats.org/package/2006/relationships"><Relationship Id="rId11" Type="http://schemas.openxmlformats.org/officeDocument/2006/relationships/image" Target="../media/image148.png"/><Relationship Id="rId10" Type="http://schemas.openxmlformats.org/officeDocument/2006/relationships/image" Target="../media/image145.png"/><Relationship Id="rId13" Type="http://schemas.openxmlformats.org/officeDocument/2006/relationships/image" Target="../media/image158.png"/><Relationship Id="rId12" Type="http://schemas.openxmlformats.org/officeDocument/2006/relationships/image" Target="../media/image159.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5.png"/><Relationship Id="rId4" Type="http://schemas.openxmlformats.org/officeDocument/2006/relationships/image" Target="../media/image9.png"/><Relationship Id="rId9" Type="http://schemas.openxmlformats.org/officeDocument/2006/relationships/image" Target="../media/image161.png"/><Relationship Id="rId15" Type="http://schemas.openxmlformats.org/officeDocument/2006/relationships/image" Target="../media/image162.png"/><Relationship Id="rId14" Type="http://schemas.openxmlformats.org/officeDocument/2006/relationships/image" Target="../media/image154.png"/><Relationship Id="rId17" Type="http://schemas.openxmlformats.org/officeDocument/2006/relationships/image" Target="../media/image173.png"/><Relationship Id="rId16" Type="http://schemas.openxmlformats.org/officeDocument/2006/relationships/image" Target="../media/image156.png"/><Relationship Id="rId5" Type="http://schemas.openxmlformats.org/officeDocument/2006/relationships/image" Target="../media/image1.png"/><Relationship Id="rId6" Type="http://schemas.openxmlformats.org/officeDocument/2006/relationships/image" Target="../media/image147.png"/><Relationship Id="rId18" Type="http://schemas.openxmlformats.org/officeDocument/2006/relationships/image" Target="../media/image89.png"/><Relationship Id="rId7" Type="http://schemas.openxmlformats.org/officeDocument/2006/relationships/image" Target="../media/image160.png"/><Relationship Id="rId8" Type="http://schemas.openxmlformats.org/officeDocument/2006/relationships/image" Target="../media/image157.png"/></Relationships>
</file>

<file path=ppt/slides/_rels/slide11.xml.rels><?xml version="1.0" encoding="UTF-8" standalone="yes"?><Relationships xmlns="http://schemas.openxmlformats.org/package/2006/relationships"><Relationship Id="rId20" Type="http://schemas.openxmlformats.org/officeDocument/2006/relationships/image" Target="../media/image185.png"/><Relationship Id="rId22" Type="http://schemas.openxmlformats.org/officeDocument/2006/relationships/image" Target="../media/image191.png"/><Relationship Id="rId21" Type="http://schemas.openxmlformats.org/officeDocument/2006/relationships/image" Target="../media/image181.png"/><Relationship Id="rId24" Type="http://schemas.openxmlformats.org/officeDocument/2006/relationships/image" Target="../media/image183.png"/><Relationship Id="rId23" Type="http://schemas.openxmlformats.org/officeDocument/2006/relationships/image" Target="../media/image200.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1.png"/><Relationship Id="rId4" Type="http://schemas.openxmlformats.org/officeDocument/2006/relationships/image" Target="../media/image9.png"/><Relationship Id="rId9" Type="http://schemas.openxmlformats.org/officeDocument/2006/relationships/image" Target="../media/image168.png"/><Relationship Id="rId26" Type="http://schemas.openxmlformats.org/officeDocument/2006/relationships/image" Target="../media/image204.png"/><Relationship Id="rId25" Type="http://schemas.openxmlformats.org/officeDocument/2006/relationships/image" Target="../media/image184.png"/><Relationship Id="rId28" Type="http://schemas.openxmlformats.org/officeDocument/2006/relationships/image" Target="../media/image189.png"/><Relationship Id="rId27" Type="http://schemas.openxmlformats.org/officeDocument/2006/relationships/image" Target="../media/image192.png"/><Relationship Id="rId5" Type="http://schemas.openxmlformats.org/officeDocument/2006/relationships/image" Target="../media/image1.png"/><Relationship Id="rId6" Type="http://schemas.openxmlformats.org/officeDocument/2006/relationships/image" Target="../media/image176.png"/><Relationship Id="rId29" Type="http://schemas.openxmlformats.org/officeDocument/2006/relationships/image" Target="../media/image180.png"/><Relationship Id="rId7" Type="http://schemas.openxmlformats.org/officeDocument/2006/relationships/image" Target="../media/image165.png"/><Relationship Id="rId8" Type="http://schemas.openxmlformats.org/officeDocument/2006/relationships/image" Target="../media/image163.png"/><Relationship Id="rId30" Type="http://schemas.openxmlformats.org/officeDocument/2006/relationships/image" Target="../media/image190.png"/><Relationship Id="rId11" Type="http://schemas.openxmlformats.org/officeDocument/2006/relationships/image" Target="../media/image167.png"/><Relationship Id="rId10" Type="http://schemas.openxmlformats.org/officeDocument/2006/relationships/image" Target="../media/image170.png"/><Relationship Id="rId13" Type="http://schemas.openxmlformats.org/officeDocument/2006/relationships/image" Target="../media/image172.png"/><Relationship Id="rId12" Type="http://schemas.openxmlformats.org/officeDocument/2006/relationships/image" Target="../media/image177.png"/><Relationship Id="rId15" Type="http://schemas.openxmlformats.org/officeDocument/2006/relationships/image" Target="../media/image195.png"/><Relationship Id="rId14" Type="http://schemas.openxmlformats.org/officeDocument/2006/relationships/image" Target="../media/image221.png"/><Relationship Id="rId17" Type="http://schemas.openxmlformats.org/officeDocument/2006/relationships/image" Target="../media/image174.png"/><Relationship Id="rId16" Type="http://schemas.openxmlformats.org/officeDocument/2006/relationships/image" Target="../media/image175.png"/><Relationship Id="rId19" Type="http://schemas.openxmlformats.org/officeDocument/2006/relationships/image" Target="../media/image179.png"/><Relationship Id="rId18" Type="http://schemas.openxmlformats.org/officeDocument/2006/relationships/image" Target="../media/image1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8.png"/><Relationship Id="rId4" Type="http://schemas.openxmlformats.org/officeDocument/2006/relationships/image" Target="../media/image9.png"/><Relationship Id="rId9" Type="http://schemas.openxmlformats.org/officeDocument/2006/relationships/image" Target="../media/image208.png"/><Relationship Id="rId5" Type="http://schemas.openxmlformats.org/officeDocument/2006/relationships/image" Target="../media/image1.png"/><Relationship Id="rId6" Type="http://schemas.openxmlformats.org/officeDocument/2006/relationships/image" Target="../media/image196.png"/><Relationship Id="rId7" Type="http://schemas.openxmlformats.org/officeDocument/2006/relationships/image" Target="../media/image209.png"/><Relationship Id="rId8" Type="http://schemas.openxmlformats.org/officeDocument/2006/relationships/image" Target="../media/image210.png"/><Relationship Id="rId11" Type="http://schemas.openxmlformats.org/officeDocument/2006/relationships/image" Target="../media/image194.png"/><Relationship Id="rId10" Type="http://schemas.openxmlformats.org/officeDocument/2006/relationships/image" Target="../media/image211.png"/><Relationship Id="rId13" Type="http://schemas.openxmlformats.org/officeDocument/2006/relationships/image" Target="../media/image123.png"/><Relationship Id="rId12" Type="http://schemas.openxmlformats.org/officeDocument/2006/relationships/image" Target="../media/image207.png"/><Relationship Id="rId15" Type="http://schemas.openxmlformats.org/officeDocument/2006/relationships/image" Target="../media/image213.png"/><Relationship Id="rId14" Type="http://schemas.openxmlformats.org/officeDocument/2006/relationships/image" Target="../media/image191.png"/></Relationships>
</file>

<file path=ppt/slides/_rels/slide13.xml.rels><?xml version="1.0" encoding="UTF-8" standalone="yes"?><Relationships xmlns="http://schemas.openxmlformats.org/package/2006/relationships"><Relationship Id="rId20" Type="http://schemas.openxmlformats.org/officeDocument/2006/relationships/image" Target="../media/image227.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7.png"/><Relationship Id="rId4" Type="http://schemas.openxmlformats.org/officeDocument/2006/relationships/image" Target="../media/image9.png"/><Relationship Id="rId9" Type="http://schemas.openxmlformats.org/officeDocument/2006/relationships/image" Target="../media/image215.png"/><Relationship Id="rId5" Type="http://schemas.openxmlformats.org/officeDocument/2006/relationships/image" Target="../media/image1.png"/><Relationship Id="rId6" Type="http://schemas.openxmlformats.org/officeDocument/2006/relationships/image" Target="../media/image214.png"/><Relationship Id="rId7" Type="http://schemas.openxmlformats.org/officeDocument/2006/relationships/image" Target="../media/image205.png"/><Relationship Id="rId8" Type="http://schemas.openxmlformats.org/officeDocument/2006/relationships/image" Target="../media/image216.png"/><Relationship Id="rId11" Type="http://schemas.openxmlformats.org/officeDocument/2006/relationships/image" Target="../media/image218.png"/><Relationship Id="rId10" Type="http://schemas.openxmlformats.org/officeDocument/2006/relationships/image" Target="../media/image229.png"/><Relationship Id="rId13" Type="http://schemas.openxmlformats.org/officeDocument/2006/relationships/image" Target="../media/image223.png"/><Relationship Id="rId12" Type="http://schemas.openxmlformats.org/officeDocument/2006/relationships/image" Target="../media/image233.png"/><Relationship Id="rId15" Type="http://schemas.openxmlformats.org/officeDocument/2006/relationships/image" Target="../media/image226.png"/><Relationship Id="rId14" Type="http://schemas.openxmlformats.org/officeDocument/2006/relationships/image" Target="../media/image219.png"/><Relationship Id="rId17" Type="http://schemas.openxmlformats.org/officeDocument/2006/relationships/image" Target="../media/image220.png"/><Relationship Id="rId16" Type="http://schemas.openxmlformats.org/officeDocument/2006/relationships/image" Target="../media/image238.png"/><Relationship Id="rId19" Type="http://schemas.openxmlformats.org/officeDocument/2006/relationships/image" Target="../media/image222.png"/><Relationship Id="rId18" Type="http://schemas.openxmlformats.org/officeDocument/2006/relationships/image" Target="../media/image2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4.png"/><Relationship Id="rId4" Type="http://schemas.openxmlformats.org/officeDocument/2006/relationships/image" Target="../media/image246.png"/><Relationship Id="rId9" Type="http://schemas.openxmlformats.org/officeDocument/2006/relationships/image" Target="../media/image232.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230.png"/><Relationship Id="rId8" Type="http://schemas.openxmlformats.org/officeDocument/2006/relationships/image" Target="../media/image231.png"/><Relationship Id="rId11" Type="http://schemas.openxmlformats.org/officeDocument/2006/relationships/image" Target="../media/image244.png"/><Relationship Id="rId10" Type="http://schemas.openxmlformats.org/officeDocument/2006/relationships/image" Target="../media/image240.png"/><Relationship Id="rId13" Type="http://schemas.openxmlformats.org/officeDocument/2006/relationships/image" Target="../media/image241.png"/><Relationship Id="rId12" Type="http://schemas.openxmlformats.org/officeDocument/2006/relationships/image" Target="../media/image23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7" name="Google Shape;17;p1"/>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18" name="Google Shape;18;p1"/>
          <p:cNvPicPr preferRelativeResize="0"/>
          <p:nvPr/>
        </p:nvPicPr>
        <p:blipFill rotWithShape="1">
          <a:blip r:embed="rId5">
            <a:alphaModFix/>
          </a:blip>
          <a:srcRect b="0" l="0" r="0" t="0"/>
          <a:stretch/>
        </p:blipFill>
        <p:spPr>
          <a:xfrm>
            <a:off x="0" y="0"/>
            <a:ext cx="12192000" cy="6858000"/>
          </a:xfrm>
          <a:prstGeom prst="rect">
            <a:avLst/>
          </a:prstGeom>
          <a:noFill/>
          <a:ln>
            <a:noFill/>
          </a:ln>
        </p:spPr>
      </p:pic>
      <p:pic>
        <p:nvPicPr>
          <p:cNvPr descr="preencoded.png" id="19" name="Google Shape;19;p1"/>
          <p:cNvPicPr preferRelativeResize="0"/>
          <p:nvPr/>
        </p:nvPicPr>
        <p:blipFill rotWithShape="1">
          <a:blip r:embed="rId6">
            <a:alphaModFix/>
          </a:blip>
          <a:srcRect b="0" l="0" r="0" t="0"/>
          <a:stretch/>
        </p:blipFill>
        <p:spPr>
          <a:xfrm>
            <a:off x="609600" y="2343150"/>
            <a:ext cx="952500" cy="76200"/>
          </a:xfrm>
          <a:prstGeom prst="rect">
            <a:avLst/>
          </a:prstGeom>
          <a:noFill/>
          <a:ln>
            <a:noFill/>
          </a:ln>
        </p:spPr>
      </p:pic>
      <p:pic>
        <p:nvPicPr>
          <p:cNvPr descr="preencoded.png" id="20" name="Google Shape;20;p1"/>
          <p:cNvPicPr preferRelativeResize="0"/>
          <p:nvPr/>
        </p:nvPicPr>
        <p:blipFill rotWithShape="1">
          <a:blip r:embed="rId7">
            <a:alphaModFix/>
          </a:blip>
          <a:srcRect b="0" l="0" r="0" t="0"/>
          <a:stretch/>
        </p:blipFill>
        <p:spPr>
          <a:xfrm>
            <a:off x="609600" y="5562600"/>
            <a:ext cx="381000" cy="381000"/>
          </a:xfrm>
          <a:prstGeom prst="rect">
            <a:avLst/>
          </a:prstGeom>
          <a:noFill/>
          <a:ln>
            <a:noFill/>
          </a:ln>
        </p:spPr>
      </p:pic>
      <p:pic>
        <p:nvPicPr>
          <p:cNvPr descr="preencoded.png" id="21" name="Google Shape;21;p1"/>
          <p:cNvPicPr preferRelativeResize="0"/>
          <p:nvPr/>
        </p:nvPicPr>
        <p:blipFill rotWithShape="1">
          <a:blip r:embed="rId8">
            <a:alphaModFix/>
          </a:blip>
          <a:srcRect b="0" l="0" r="0" t="0"/>
          <a:stretch/>
        </p:blipFill>
        <p:spPr>
          <a:xfrm>
            <a:off x="714375" y="5676900"/>
            <a:ext cx="171450" cy="152400"/>
          </a:xfrm>
          <a:prstGeom prst="rect">
            <a:avLst/>
          </a:prstGeom>
          <a:noFill/>
          <a:ln>
            <a:noFill/>
          </a:ln>
        </p:spPr>
      </p:pic>
      <p:pic>
        <p:nvPicPr>
          <p:cNvPr descr="preencoded.png" id="22" name="Google Shape;22;p1"/>
          <p:cNvPicPr preferRelativeResize="0"/>
          <p:nvPr/>
        </p:nvPicPr>
        <p:blipFill rotWithShape="1">
          <a:blip r:embed="rId9">
            <a:alphaModFix/>
          </a:blip>
          <a:srcRect b="0" l="0" r="0" t="0"/>
          <a:stretch/>
        </p:blipFill>
        <p:spPr>
          <a:xfrm>
            <a:off x="3061097" y="5562600"/>
            <a:ext cx="381000" cy="381000"/>
          </a:xfrm>
          <a:prstGeom prst="rect">
            <a:avLst/>
          </a:prstGeom>
          <a:noFill/>
          <a:ln>
            <a:noFill/>
          </a:ln>
        </p:spPr>
      </p:pic>
      <p:pic>
        <p:nvPicPr>
          <p:cNvPr descr="preencoded.png" id="23" name="Google Shape;23;p1"/>
          <p:cNvPicPr preferRelativeResize="0"/>
          <p:nvPr/>
        </p:nvPicPr>
        <p:blipFill rotWithShape="1">
          <a:blip r:embed="rId10">
            <a:alphaModFix/>
          </a:blip>
          <a:srcRect b="0" l="0" r="0" t="0"/>
          <a:stretch/>
        </p:blipFill>
        <p:spPr>
          <a:xfrm>
            <a:off x="3175397" y="5676900"/>
            <a:ext cx="152400" cy="152400"/>
          </a:xfrm>
          <a:prstGeom prst="rect">
            <a:avLst/>
          </a:prstGeom>
          <a:noFill/>
          <a:ln>
            <a:noFill/>
          </a:ln>
        </p:spPr>
      </p:pic>
      <p:pic>
        <p:nvPicPr>
          <p:cNvPr descr="preencoded.png" id="24" name="Google Shape;24;p1"/>
          <p:cNvPicPr preferRelativeResize="0"/>
          <p:nvPr/>
        </p:nvPicPr>
        <p:blipFill rotWithShape="1">
          <a:blip r:embed="rId11">
            <a:alphaModFix/>
          </a:blip>
          <a:srcRect b="0" l="0" r="0" t="0"/>
          <a:stretch/>
        </p:blipFill>
        <p:spPr>
          <a:xfrm>
            <a:off x="5385346" y="5562600"/>
            <a:ext cx="381000" cy="381000"/>
          </a:xfrm>
          <a:prstGeom prst="rect">
            <a:avLst/>
          </a:prstGeom>
          <a:noFill/>
          <a:ln>
            <a:noFill/>
          </a:ln>
        </p:spPr>
      </p:pic>
      <p:pic>
        <p:nvPicPr>
          <p:cNvPr descr="preencoded.png" id="25" name="Google Shape;25;p1"/>
          <p:cNvPicPr preferRelativeResize="0"/>
          <p:nvPr/>
        </p:nvPicPr>
        <p:blipFill rotWithShape="1">
          <a:blip r:embed="rId12">
            <a:alphaModFix/>
          </a:blip>
          <a:srcRect b="0" l="0" r="0" t="0"/>
          <a:stretch/>
        </p:blipFill>
        <p:spPr>
          <a:xfrm>
            <a:off x="5499646" y="5676900"/>
            <a:ext cx="152400" cy="152400"/>
          </a:xfrm>
          <a:prstGeom prst="rect">
            <a:avLst/>
          </a:prstGeom>
          <a:noFill/>
          <a:ln>
            <a:noFill/>
          </a:ln>
        </p:spPr>
      </p:pic>
      <p:sp>
        <p:nvSpPr>
          <p:cNvPr id="26" name="Google Shape;26;p1"/>
          <p:cNvSpPr/>
          <p:nvPr/>
        </p:nvSpPr>
        <p:spPr>
          <a:xfrm>
            <a:off x="609600" y="609600"/>
            <a:ext cx="1760756"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MK VISION</a:t>
            </a:r>
            <a:endParaRPr b="0" i="0" sz="1800" u="none" cap="none" strike="noStrike">
              <a:solidFill>
                <a:schemeClr val="dk1"/>
              </a:solidFill>
              <a:latin typeface="Calibri"/>
              <a:ea typeface="Calibri"/>
              <a:cs typeface="Calibri"/>
              <a:sym typeface="Calibri"/>
            </a:endParaRPr>
          </a:p>
        </p:txBody>
      </p:sp>
      <p:sp>
        <p:nvSpPr>
          <p:cNvPr id="27" name="Google Shape;27;p1"/>
          <p:cNvSpPr/>
          <p:nvPr/>
        </p:nvSpPr>
        <p:spPr>
          <a:xfrm>
            <a:off x="10412462" y="666750"/>
            <a:ext cx="1403925"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October 31, 2025</a:t>
            </a:r>
            <a:endParaRPr b="0" i="0" sz="1050" u="none" cap="none" strike="noStrike">
              <a:solidFill>
                <a:schemeClr val="dk1"/>
              </a:solidFill>
              <a:latin typeface="Calibri"/>
              <a:ea typeface="Calibri"/>
              <a:cs typeface="Calibri"/>
              <a:sym typeface="Calibri"/>
            </a:endParaRPr>
          </a:p>
        </p:txBody>
      </p:sp>
      <p:sp>
        <p:nvSpPr>
          <p:cNvPr id="28" name="Google Shape;28;p1"/>
          <p:cNvSpPr/>
          <p:nvPr/>
        </p:nvSpPr>
        <p:spPr>
          <a:xfrm>
            <a:off x="609600" y="2647950"/>
            <a:ext cx="10972800" cy="7143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500"/>
              <a:buFont typeface="Arial"/>
              <a:buNone/>
            </a:pPr>
            <a:r>
              <a:rPr b="1" i="0" lang="en-US" sz="4500" u="none" cap="none" strike="noStrike">
                <a:solidFill>
                  <a:srgbClr val="FFFFFF"/>
                </a:solidFill>
                <a:latin typeface="Arial"/>
                <a:ea typeface="Arial"/>
                <a:cs typeface="Arial"/>
                <a:sym typeface="Arial"/>
              </a:rPr>
              <a:t>AutoSecure</a:t>
            </a:r>
            <a:endParaRPr b="0" i="0" sz="4500" u="none" cap="none" strike="noStrike">
              <a:solidFill>
                <a:schemeClr val="dk1"/>
              </a:solidFill>
              <a:latin typeface="Calibri"/>
              <a:ea typeface="Calibri"/>
              <a:cs typeface="Calibri"/>
              <a:sym typeface="Calibri"/>
            </a:endParaRPr>
          </a:p>
        </p:txBody>
      </p:sp>
      <p:sp>
        <p:nvSpPr>
          <p:cNvPr id="29" name="Google Shape;29;p1"/>
          <p:cNvSpPr/>
          <p:nvPr/>
        </p:nvSpPr>
        <p:spPr>
          <a:xfrm>
            <a:off x="609600" y="3514725"/>
            <a:ext cx="13167360" cy="4286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Smart Fleet Management &amp; Driver Monitoring Solution</a:t>
            </a:r>
            <a:endParaRPr b="0" i="0" sz="2700" u="none" cap="none" strike="noStrike">
              <a:solidFill>
                <a:schemeClr val="dk1"/>
              </a:solidFill>
              <a:latin typeface="Calibri"/>
              <a:ea typeface="Calibri"/>
              <a:cs typeface="Calibri"/>
              <a:sym typeface="Calibri"/>
            </a:endParaRPr>
          </a:p>
        </p:txBody>
      </p:sp>
      <p:sp>
        <p:nvSpPr>
          <p:cNvPr id="30" name="Google Shape;30;p1"/>
          <p:cNvSpPr/>
          <p:nvPr/>
        </p:nvSpPr>
        <p:spPr>
          <a:xfrm>
            <a:off x="609600" y="4248150"/>
            <a:ext cx="6400800" cy="80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Comprehensive AI-powered system for optimizing fleet operations, enhancing safety standards, and enabling data-driven decision-making</a:t>
            </a:r>
            <a:endParaRPr b="0" i="0" sz="1500" u="none" cap="none" strike="noStrike">
              <a:solidFill>
                <a:schemeClr val="dk1"/>
              </a:solidFill>
              <a:latin typeface="Calibri"/>
              <a:ea typeface="Calibri"/>
              <a:cs typeface="Calibri"/>
              <a:sym typeface="Calibri"/>
            </a:endParaRPr>
          </a:p>
        </p:txBody>
      </p:sp>
      <p:sp>
        <p:nvSpPr>
          <p:cNvPr id="31" name="Google Shape;31;p1"/>
          <p:cNvSpPr/>
          <p:nvPr/>
        </p:nvSpPr>
        <p:spPr>
          <a:xfrm>
            <a:off x="1104900" y="5619750"/>
            <a:ext cx="1798796"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Driver Monitoring</a:t>
            </a:r>
            <a:endParaRPr b="0" i="0" sz="1350" u="none" cap="none" strike="noStrike">
              <a:solidFill>
                <a:schemeClr val="dk1"/>
              </a:solidFill>
              <a:latin typeface="Calibri"/>
              <a:ea typeface="Calibri"/>
              <a:cs typeface="Calibri"/>
              <a:sym typeface="Calibri"/>
            </a:endParaRPr>
          </a:p>
        </p:txBody>
      </p:sp>
      <p:sp>
        <p:nvSpPr>
          <p:cNvPr id="32" name="Google Shape;32;p1"/>
          <p:cNvSpPr/>
          <p:nvPr/>
        </p:nvSpPr>
        <p:spPr>
          <a:xfrm>
            <a:off x="3556397" y="5619750"/>
            <a:ext cx="1646099"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Vehicle Security</a:t>
            </a:r>
            <a:endParaRPr b="0" i="0" sz="1350" u="none" cap="none" strike="noStrike">
              <a:solidFill>
                <a:schemeClr val="dk1"/>
              </a:solidFill>
              <a:latin typeface="Calibri"/>
              <a:ea typeface="Calibri"/>
              <a:cs typeface="Calibri"/>
              <a:sym typeface="Calibri"/>
            </a:endParaRPr>
          </a:p>
        </p:txBody>
      </p:sp>
      <p:sp>
        <p:nvSpPr>
          <p:cNvPr id="33" name="Google Shape;33;p1"/>
          <p:cNvSpPr/>
          <p:nvPr/>
        </p:nvSpPr>
        <p:spPr>
          <a:xfrm>
            <a:off x="5880646" y="5619750"/>
            <a:ext cx="1509117"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Arial"/>
              <a:buNone/>
            </a:pPr>
            <a:r>
              <a:rPr b="0" i="0" lang="en-US" sz="1350" u="none" cap="none" strike="noStrike">
                <a:solidFill>
                  <a:srgbClr val="FFFFFF"/>
                </a:solidFill>
                <a:latin typeface="Arial"/>
                <a:ea typeface="Arial"/>
                <a:cs typeface="Arial"/>
                <a:sym typeface="Arial"/>
              </a:rPr>
              <a:t>Fleet Analytics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pic>
        <p:nvPicPr>
          <p:cNvPr descr="preencoded.png" id="39" name="Google Shape;39;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40" name="Google Shape;40;p2"/>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41" name="Google Shape;41;p2"/>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42" name="Google Shape;42;p2"/>
          <p:cNvPicPr preferRelativeResize="0"/>
          <p:nvPr/>
        </p:nvPicPr>
        <p:blipFill rotWithShape="1">
          <a:blip r:embed="rId6">
            <a:alphaModFix/>
          </a:blip>
          <a:srcRect b="0" l="0" r="0" t="0"/>
          <a:stretch/>
        </p:blipFill>
        <p:spPr>
          <a:xfrm>
            <a:off x="6096000" y="1371600"/>
            <a:ext cx="5486400" cy="1028700"/>
          </a:xfrm>
          <a:prstGeom prst="rect">
            <a:avLst/>
          </a:prstGeom>
          <a:noFill/>
          <a:ln>
            <a:noFill/>
          </a:ln>
        </p:spPr>
      </p:pic>
      <p:pic>
        <p:nvPicPr>
          <p:cNvPr descr="preencoded.png" id="43" name="Google Shape;43;p2"/>
          <p:cNvPicPr preferRelativeResize="0"/>
          <p:nvPr/>
        </p:nvPicPr>
        <p:blipFill rotWithShape="1">
          <a:blip r:embed="rId7">
            <a:alphaModFix/>
          </a:blip>
          <a:srcRect b="0" l="0" r="0" t="0"/>
          <a:stretch/>
        </p:blipFill>
        <p:spPr>
          <a:xfrm>
            <a:off x="6248400" y="1724025"/>
            <a:ext cx="285750" cy="285750"/>
          </a:xfrm>
          <a:prstGeom prst="rect">
            <a:avLst/>
          </a:prstGeom>
          <a:noFill/>
          <a:ln>
            <a:noFill/>
          </a:ln>
        </p:spPr>
      </p:pic>
      <p:pic>
        <p:nvPicPr>
          <p:cNvPr descr="preencoded.png" id="44" name="Google Shape;44;p2"/>
          <p:cNvPicPr preferRelativeResize="0"/>
          <p:nvPr/>
        </p:nvPicPr>
        <p:blipFill rotWithShape="1">
          <a:blip r:embed="rId6">
            <a:alphaModFix/>
          </a:blip>
          <a:srcRect b="0" l="0" r="0" t="0"/>
          <a:stretch/>
        </p:blipFill>
        <p:spPr>
          <a:xfrm>
            <a:off x="6096000" y="2628900"/>
            <a:ext cx="5486400" cy="1028700"/>
          </a:xfrm>
          <a:prstGeom prst="rect">
            <a:avLst/>
          </a:prstGeom>
          <a:noFill/>
          <a:ln>
            <a:noFill/>
          </a:ln>
        </p:spPr>
      </p:pic>
      <p:pic>
        <p:nvPicPr>
          <p:cNvPr descr="preencoded.png" id="45" name="Google Shape;45;p2"/>
          <p:cNvPicPr preferRelativeResize="0"/>
          <p:nvPr/>
        </p:nvPicPr>
        <p:blipFill rotWithShape="1">
          <a:blip r:embed="rId8">
            <a:alphaModFix/>
          </a:blip>
          <a:srcRect b="0" l="0" r="0" t="0"/>
          <a:stretch/>
        </p:blipFill>
        <p:spPr>
          <a:xfrm>
            <a:off x="6248400" y="2981325"/>
            <a:ext cx="323850" cy="285750"/>
          </a:xfrm>
          <a:prstGeom prst="rect">
            <a:avLst/>
          </a:prstGeom>
          <a:noFill/>
          <a:ln>
            <a:noFill/>
          </a:ln>
        </p:spPr>
      </p:pic>
      <p:pic>
        <p:nvPicPr>
          <p:cNvPr descr="preencoded.png" id="46" name="Google Shape;46;p2"/>
          <p:cNvPicPr preferRelativeResize="0"/>
          <p:nvPr/>
        </p:nvPicPr>
        <p:blipFill rotWithShape="1">
          <a:blip r:embed="rId9">
            <a:alphaModFix/>
          </a:blip>
          <a:srcRect b="0" l="0" r="0" t="0"/>
          <a:stretch/>
        </p:blipFill>
        <p:spPr>
          <a:xfrm>
            <a:off x="6096000" y="3886200"/>
            <a:ext cx="5486400" cy="1028700"/>
          </a:xfrm>
          <a:prstGeom prst="rect">
            <a:avLst/>
          </a:prstGeom>
          <a:noFill/>
          <a:ln>
            <a:noFill/>
          </a:ln>
        </p:spPr>
      </p:pic>
      <p:pic>
        <p:nvPicPr>
          <p:cNvPr descr="preencoded.png" id="47" name="Google Shape;47;p2"/>
          <p:cNvPicPr preferRelativeResize="0"/>
          <p:nvPr/>
        </p:nvPicPr>
        <p:blipFill rotWithShape="1">
          <a:blip r:embed="rId10">
            <a:alphaModFix/>
          </a:blip>
          <a:srcRect b="0" l="0" r="0" t="0"/>
          <a:stretch/>
        </p:blipFill>
        <p:spPr>
          <a:xfrm>
            <a:off x="6248400" y="4238625"/>
            <a:ext cx="285750" cy="285750"/>
          </a:xfrm>
          <a:prstGeom prst="rect">
            <a:avLst/>
          </a:prstGeom>
          <a:noFill/>
          <a:ln>
            <a:noFill/>
          </a:ln>
        </p:spPr>
      </p:pic>
      <p:pic>
        <p:nvPicPr>
          <p:cNvPr descr="preencoded.png" id="48" name="Google Shape;48;p2"/>
          <p:cNvPicPr preferRelativeResize="0"/>
          <p:nvPr/>
        </p:nvPicPr>
        <p:blipFill rotWithShape="1">
          <a:blip r:embed="rId11">
            <a:alphaModFix/>
          </a:blip>
          <a:srcRect b="0" l="0" r="0" t="0"/>
          <a:stretch/>
        </p:blipFill>
        <p:spPr>
          <a:xfrm>
            <a:off x="609600" y="6429375"/>
            <a:ext cx="133350" cy="152400"/>
          </a:xfrm>
          <a:prstGeom prst="rect">
            <a:avLst/>
          </a:prstGeom>
          <a:noFill/>
          <a:ln>
            <a:noFill/>
          </a:ln>
        </p:spPr>
      </p:pic>
      <p:pic>
        <p:nvPicPr>
          <p:cNvPr descr="preencoded.png" id="49" name="Google Shape;49;p2"/>
          <p:cNvPicPr preferRelativeResize="0"/>
          <p:nvPr/>
        </p:nvPicPr>
        <p:blipFill rotWithShape="1">
          <a:blip r:embed="rId12">
            <a:alphaModFix/>
          </a:blip>
          <a:srcRect b="0" l="0" r="0" t="0"/>
          <a:stretch/>
        </p:blipFill>
        <p:spPr>
          <a:xfrm>
            <a:off x="7297341" y="6429375"/>
            <a:ext cx="114300" cy="152400"/>
          </a:xfrm>
          <a:prstGeom prst="rect">
            <a:avLst/>
          </a:prstGeom>
          <a:noFill/>
          <a:ln>
            <a:noFill/>
          </a:ln>
        </p:spPr>
      </p:pic>
      <p:sp>
        <p:nvSpPr>
          <p:cNvPr id="50" name="Google Shape;50;p2"/>
          <p:cNvSpPr/>
          <p:nvPr/>
        </p:nvSpPr>
        <p:spPr>
          <a:xfrm>
            <a:off x="609600" y="342900"/>
            <a:ext cx="10972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Giới thiệu về MK Vision</a:t>
            </a:r>
            <a:endParaRPr b="0" i="0" sz="2700" u="none" cap="none" strike="noStrike">
              <a:solidFill>
                <a:schemeClr val="dk1"/>
              </a:solidFill>
              <a:latin typeface="Calibri"/>
              <a:ea typeface="Calibri"/>
              <a:cs typeface="Calibri"/>
              <a:sym typeface="Calibri"/>
            </a:endParaRPr>
          </a:p>
        </p:txBody>
      </p:sp>
      <p:sp>
        <p:nvSpPr>
          <p:cNvPr id="51" name="Google Shape;51;p2"/>
          <p:cNvSpPr/>
          <p:nvPr/>
        </p:nvSpPr>
        <p:spPr>
          <a:xfrm>
            <a:off x="609600" y="1371600"/>
            <a:ext cx="5181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Về chúng tôi</a:t>
            </a:r>
            <a:endParaRPr b="0" i="0" sz="1800" u="none" cap="none" strike="noStrike">
              <a:solidFill>
                <a:schemeClr val="dk1"/>
              </a:solidFill>
              <a:latin typeface="Calibri"/>
              <a:ea typeface="Calibri"/>
              <a:cs typeface="Calibri"/>
              <a:sym typeface="Calibri"/>
            </a:endParaRPr>
          </a:p>
        </p:txBody>
      </p:sp>
      <p:sp>
        <p:nvSpPr>
          <p:cNvPr id="52" name="Google Shape;52;p2"/>
          <p:cNvSpPr/>
          <p:nvPr/>
        </p:nvSpPr>
        <p:spPr>
          <a:xfrm>
            <a:off x="609600" y="1828800"/>
            <a:ext cx="5181600" cy="1393031"/>
          </a:xfrm>
          <a:prstGeom prst="rect">
            <a:avLst/>
          </a:prstGeom>
          <a:noFill/>
          <a:ln>
            <a:noFill/>
          </a:ln>
        </p:spPr>
        <p:txBody>
          <a:bodyPr anchorCtr="0" anchor="t" bIns="0" lIns="0" spcFirstLastPara="1" rIns="0" wrap="square" tIns="0">
            <a:noAutofit/>
          </a:bodyPr>
          <a:lstStyle/>
          <a:p>
            <a:pPr indent="0" lvl="0" marL="0" marR="0" rtl="0" algn="l">
              <a:lnSpc>
                <a:spcPct val="162518"/>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MK Vision là một công ty công nghệ được thành lập vào ngày 9 tháng 7 năm 2020, chuyên chuyên môn hóa vào công nghệ AI-on-Edge do các kỹ sư của họ phát triển. Chúng tôi đặt trụ sở tại Khu công nghiệp Thang Long, Binh Xuyên, Vĩnh Phúc.</a:t>
            </a:r>
            <a:endParaRPr b="0" i="0" sz="1350" u="none" cap="none" strike="noStrike">
              <a:solidFill>
                <a:schemeClr val="dk1"/>
              </a:solidFill>
              <a:latin typeface="Calibri"/>
              <a:ea typeface="Calibri"/>
              <a:cs typeface="Calibri"/>
              <a:sym typeface="Calibri"/>
            </a:endParaRPr>
          </a:p>
        </p:txBody>
      </p:sp>
      <p:sp>
        <p:nvSpPr>
          <p:cNvPr id="53" name="Google Shape;53;p2"/>
          <p:cNvSpPr/>
          <p:nvPr/>
        </p:nvSpPr>
        <p:spPr>
          <a:xfrm>
            <a:off x="609600" y="3526631"/>
            <a:ext cx="5181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Sứ mệnh</a:t>
            </a:r>
            <a:endParaRPr b="0" i="0" sz="1800" u="none" cap="none" strike="noStrike">
              <a:solidFill>
                <a:schemeClr val="dk1"/>
              </a:solidFill>
              <a:latin typeface="Calibri"/>
              <a:ea typeface="Calibri"/>
              <a:cs typeface="Calibri"/>
              <a:sym typeface="Calibri"/>
            </a:endParaRPr>
          </a:p>
        </p:txBody>
      </p:sp>
      <p:sp>
        <p:nvSpPr>
          <p:cNvPr id="54" name="Google Shape;54;p2"/>
          <p:cNvSpPr/>
          <p:nvPr/>
        </p:nvSpPr>
        <p:spPr>
          <a:xfrm>
            <a:off x="609600" y="3983831"/>
            <a:ext cx="5181600" cy="1393031"/>
          </a:xfrm>
          <a:prstGeom prst="rect">
            <a:avLst/>
          </a:prstGeom>
          <a:noFill/>
          <a:ln>
            <a:noFill/>
          </a:ln>
        </p:spPr>
        <p:txBody>
          <a:bodyPr anchorCtr="0" anchor="t" bIns="0" lIns="0" spcFirstLastPara="1" rIns="0" wrap="square" tIns="0">
            <a:noAutofit/>
          </a:bodyPr>
          <a:lstStyle/>
          <a:p>
            <a:pPr indent="0" lvl="0" marL="0" marR="0" rtl="0" algn="l">
              <a:lnSpc>
                <a:spcPct val="162518"/>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Chúng tôi tập trung vào việc nghiên cứu, phát triển và sản xuất các camera AI capable of local data analysis trên phần cứng thiết bị. Giải pháp AutoSecure của chúng tôi là một ví dụ điển hình cho ứng dụng của công nghệ này trong quản lý fleet thông minh.</a:t>
            </a:r>
            <a:endParaRPr b="0" i="0" sz="1350" u="none" cap="none" strike="noStrike">
              <a:solidFill>
                <a:schemeClr val="dk1"/>
              </a:solidFill>
              <a:latin typeface="Calibri"/>
              <a:ea typeface="Calibri"/>
              <a:cs typeface="Calibri"/>
              <a:sym typeface="Calibri"/>
            </a:endParaRPr>
          </a:p>
        </p:txBody>
      </p:sp>
      <p:sp>
        <p:nvSpPr>
          <p:cNvPr id="55" name="Google Shape;55;p2"/>
          <p:cNvSpPr/>
          <p:nvPr/>
        </p:nvSpPr>
        <p:spPr>
          <a:xfrm>
            <a:off x="6686550" y="1524000"/>
            <a:ext cx="474345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Công nghệ AI-on-Edge</a:t>
            </a:r>
            <a:endParaRPr b="0" i="0" sz="1500" u="none" cap="none" strike="noStrike">
              <a:solidFill>
                <a:schemeClr val="dk1"/>
              </a:solidFill>
              <a:latin typeface="Calibri"/>
              <a:ea typeface="Calibri"/>
              <a:cs typeface="Calibri"/>
              <a:sym typeface="Calibri"/>
            </a:endParaRPr>
          </a:p>
        </p:txBody>
      </p:sp>
      <p:sp>
        <p:nvSpPr>
          <p:cNvPr id="56" name="Google Shape;56;p2"/>
          <p:cNvSpPr/>
          <p:nvPr/>
        </p:nvSpPr>
        <p:spPr>
          <a:xfrm>
            <a:off x="6686550" y="1790700"/>
            <a:ext cx="47434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Xử lý dữ liệu locally trên thiết bị, đảm bảo tốc độ phản hồi nhanh và giảm thiểu độ trễ.</a:t>
            </a:r>
            <a:endParaRPr b="0" i="0" sz="1200" u="none" cap="none" strike="noStrike">
              <a:solidFill>
                <a:schemeClr val="dk1"/>
              </a:solidFill>
              <a:latin typeface="Calibri"/>
              <a:ea typeface="Calibri"/>
              <a:cs typeface="Calibri"/>
              <a:sym typeface="Calibri"/>
            </a:endParaRPr>
          </a:p>
        </p:txBody>
      </p:sp>
      <p:sp>
        <p:nvSpPr>
          <p:cNvPr id="57" name="Google Shape;57;p2"/>
          <p:cNvSpPr/>
          <p:nvPr/>
        </p:nvSpPr>
        <p:spPr>
          <a:xfrm>
            <a:off x="6724650" y="2781300"/>
            <a:ext cx="470535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Camera AI</a:t>
            </a:r>
            <a:endParaRPr b="0" i="0" sz="1500" u="none" cap="none" strike="noStrike">
              <a:solidFill>
                <a:schemeClr val="dk1"/>
              </a:solidFill>
              <a:latin typeface="Calibri"/>
              <a:ea typeface="Calibri"/>
              <a:cs typeface="Calibri"/>
              <a:sym typeface="Calibri"/>
            </a:endParaRPr>
          </a:p>
        </p:txBody>
      </p:sp>
      <p:sp>
        <p:nvSpPr>
          <p:cNvPr id="58" name="Google Shape;58;p2"/>
          <p:cNvSpPr/>
          <p:nvPr/>
        </p:nvSpPr>
        <p:spPr>
          <a:xfrm>
            <a:off x="6724650" y="3048000"/>
            <a:ext cx="47053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Các camera được thiết kế đặc biệt để phân tích dữ liệu video locally, phát hiện các sự kiện đáng chú ý.</a:t>
            </a:r>
            <a:endParaRPr b="0" i="0" sz="1200" u="none" cap="none" strike="noStrike">
              <a:solidFill>
                <a:schemeClr val="dk1"/>
              </a:solidFill>
              <a:latin typeface="Calibri"/>
              <a:ea typeface="Calibri"/>
              <a:cs typeface="Calibri"/>
              <a:sym typeface="Calibri"/>
            </a:endParaRPr>
          </a:p>
        </p:txBody>
      </p:sp>
      <p:sp>
        <p:nvSpPr>
          <p:cNvPr id="59" name="Google Shape;59;p2"/>
          <p:cNvSpPr/>
          <p:nvPr/>
        </p:nvSpPr>
        <p:spPr>
          <a:xfrm>
            <a:off x="6686550" y="4038600"/>
            <a:ext cx="474345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Bảo mật Thông tin</a:t>
            </a:r>
            <a:endParaRPr b="0" i="0" sz="1500" u="none" cap="none" strike="noStrike">
              <a:solidFill>
                <a:schemeClr val="dk1"/>
              </a:solidFill>
              <a:latin typeface="Calibri"/>
              <a:ea typeface="Calibri"/>
              <a:cs typeface="Calibri"/>
              <a:sym typeface="Calibri"/>
            </a:endParaRPr>
          </a:p>
        </p:txBody>
      </p:sp>
      <p:sp>
        <p:nvSpPr>
          <p:cNvPr id="60" name="Google Shape;60;p2"/>
          <p:cNvSpPr/>
          <p:nvPr/>
        </p:nvSpPr>
        <p:spPr>
          <a:xfrm>
            <a:off x="6686550" y="4305300"/>
            <a:ext cx="47434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Dữ liệu được xử lý và lưu trữ an toàn locally, bảo vệ quyền riêng tư và giảm thiểu rủi ro bảo mật.</a:t>
            </a:r>
            <a:endParaRPr b="0" i="0" sz="1200" u="none" cap="none" strike="noStrike">
              <a:solidFill>
                <a:schemeClr val="dk1"/>
              </a:solidFill>
              <a:latin typeface="Calibri"/>
              <a:ea typeface="Calibri"/>
              <a:cs typeface="Calibri"/>
              <a:sym typeface="Calibri"/>
            </a:endParaRPr>
          </a:p>
        </p:txBody>
      </p:sp>
      <p:sp>
        <p:nvSpPr>
          <p:cNvPr id="61" name="Google Shape;61;p2"/>
          <p:cNvSpPr/>
          <p:nvPr/>
        </p:nvSpPr>
        <p:spPr>
          <a:xfrm>
            <a:off x="819150" y="6400800"/>
            <a:ext cx="369778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Ngày thành lập: 9 tháng 7 năm 2020</a:t>
            </a:r>
            <a:endParaRPr b="0" i="0" sz="1200" u="none" cap="none" strike="noStrike">
              <a:solidFill>
                <a:schemeClr val="dk1"/>
              </a:solidFill>
              <a:latin typeface="Calibri"/>
              <a:ea typeface="Calibri"/>
              <a:cs typeface="Calibri"/>
              <a:sym typeface="Calibri"/>
            </a:endParaRPr>
          </a:p>
        </p:txBody>
      </p:sp>
      <p:sp>
        <p:nvSpPr>
          <p:cNvPr id="62" name="Google Shape;62;p2"/>
          <p:cNvSpPr/>
          <p:nvPr/>
        </p:nvSpPr>
        <p:spPr>
          <a:xfrm>
            <a:off x="7487841" y="6400800"/>
            <a:ext cx="514207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Khu công nghiệp Thang Long, Binh Xuyên, Vĩnh Phúc</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preencoded.png" id="68" name="Google Shape;68;p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69" name="Google Shape;69;p3"/>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70" name="Google Shape;70;p3"/>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71" name="Google Shape;71;p3"/>
          <p:cNvPicPr preferRelativeResize="0"/>
          <p:nvPr/>
        </p:nvPicPr>
        <p:blipFill rotWithShape="1">
          <a:blip r:embed="rId6">
            <a:alphaModFix/>
          </a:blip>
          <a:srcRect b="0" l="0" r="0" t="0"/>
          <a:stretch/>
        </p:blipFill>
        <p:spPr>
          <a:xfrm>
            <a:off x="609600" y="1909762"/>
            <a:ext cx="5372100" cy="1409700"/>
          </a:xfrm>
          <a:prstGeom prst="rect">
            <a:avLst/>
          </a:prstGeom>
          <a:noFill/>
          <a:ln>
            <a:noFill/>
          </a:ln>
        </p:spPr>
      </p:pic>
      <p:pic>
        <p:nvPicPr>
          <p:cNvPr descr="preencoded.png" id="72" name="Google Shape;72;p3"/>
          <p:cNvPicPr preferRelativeResize="0"/>
          <p:nvPr/>
        </p:nvPicPr>
        <p:blipFill rotWithShape="1">
          <a:blip r:embed="rId7">
            <a:alphaModFix/>
          </a:blip>
          <a:srcRect b="0" l="0" r="0" t="0"/>
          <a:stretch/>
        </p:blipFill>
        <p:spPr>
          <a:xfrm>
            <a:off x="800100" y="2100263"/>
            <a:ext cx="571500" cy="571500"/>
          </a:xfrm>
          <a:prstGeom prst="rect">
            <a:avLst/>
          </a:prstGeom>
          <a:noFill/>
          <a:ln>
            <a:noFill/>
          </a:ln>
        </p:spPr>
      </p:pic>
      <p:pic>
        <p:nvPicPr>
          <p:cNvPr descr="preencoded.png" id="73" name="Google Shape;73;p3"/>
          <p:cNvPicPr preferRelativeResize="0"/>
          <p:nvPr/>
        </p:nvPicPr>
        <p:blipFill rotWithShape="1">
          <a:blip r:embed="rId8">
            <a:alphaModFix/>
          </a:blip>
          <a:srcRect b="0" l="0" r="0" t="0"/>
          <a:stretch/>
        </p:blipFill>
        <p:spPr>
          <a:xfrm>
            <a:off x="904875" y="2214563"/>
            <a:ext cx="361950" cy="342900"/>
          </a:xfrm>
          <a:prstGeom prst="rect">
            <a:avLst/>
          </a:prstGeom>
          <a:noFill/>
          <a:ln>
            <a:noFill/>
          </a:ln>
        </p:spPr>
      </p:pic>
      <p:pic>
        <p:nvPicPr>
          <p:cNvPr descr="preencoded.png" id="74" name="Google Shape;74;p3"/>
          <p:cNvPicPr preferRelativeResize="0"/>
          <p:nvPr/>
        </p:nvPicPr>
        <p:blipFill rotWithShape="1">
          <a:blip r:embed="rId6">
            <a:alphaModFix/>
          </a:blip>
          <a:srcRect b="0" l="0" r="0" t="0"/>
          <a:stretch/>
        </p:blipFill>
        <p:spPr>
          <a:xfrm>
            <a:off x="6210300" y="1909762"/>
            <a:ext cx="5372100" cy="1409700"/>
          </a:xfrm>
          <a:prstGeom prst="rect">
            <a:avLst/>
          </a:prstGeom>
          <a:noFill/>
          <a:ln>
            <a:noFill/>
          </a:ln>
        </p:spPr>
      </p:pic>
      <p:pic>
        <p:nvPicPr>
          <p:cNvPr descr="preencoded.png" id="75" name="Google Shape;75;p3"/>
          <p:cNvPicPr preferRelativeResize="0"/>
          <p:nvPr/>
        </p:nvPicPr>
        <p:blipFill rotWithShape="1">
          <a:blip r:embed="rId9">
            <a:alphaModFix/>
          </a:blip>
          <a:srcRect b="0" l="0" r="0" t="0"/>
          <a:stretch/>
        </p:blipFill>
        <p:spPr>
          <a:xfrm>
            <a:off x="6400800" y="2100263"/>
            <a:ext cx="571500" cy="571500"/>
          </a:xfrm>
          <a:prstGeom prst="rect">
            <a:avLst/>
          </a:prstGeom>
          <a:noFill/>
          <a:ln>
            <a:noFill/>
          </a:ln>
        </p:spPr>
      </p:pic>
      <p:pic>
        <p:nvPicPr>
          <p:cNvPr descr="preencoded.png" id="76" name="Google Shape;76;p3"/>
          <p:cNvPicPr preferRelativeResize="0"/>
          <p:nvPr/>
        </p:nvPicPr>
        <p:blipFill rotWithShape="1">
          <a:blip r:embed="rId10">
            <a:alphaModFix/>
          </a:blip>
          <a:srcRect b="0" l="0" r="0" t="0"/>
          <a:stretch/>
        </p:blipFill>
        <p:spPr>
          <a:xfrm>
            <a:off x="6543675" y="2214563"/>
            <a:ext cx="285750" cy="342900"/>
          </a:xfrm>
          <a:prstGeom prst="rect">
            <a:avLst/>
          </a:prstGeom>
          <a:noFill/>
          <a:ln>
            <a:noFill/>
          </a:ln>
        </p:spPr>
      </p:pic>
      <p:pic>
        <p:nvPicPr>
          <p:cNvPr descr="preencoded.png" id="77" name="Google Shape;77;p3"/>
          <p:cNvPicPr preferRelativeResize="0"/>
          <p:nvPr/>
        </p:nvPicPr>
        <p:blipFill rotWithShape="1">
          <a:blip r:embed="rId6">
            <a:alphaModFix/>
          </a:blip>
          <a:srcRect b="0" l="0" r="0" t="0"/>
          <a:stretch/>
        </p:blipFill>
        <p:spPr>
          <a:xfrm>
            <a:off x="609600" y="3548063"/>
            <a:ext cx="5372100" cy="1409700"/>
          </a:xfrm>
          <a:prstGeom prst="rect">
            <a:avLst/>
          </a:prstGeom>
          <a:noFill/>
          <a:ln>
            <a:noFill/>
          </a:ln>
        </p:spPr>
      </p:pic>
      <p:pic>
        <p:nvPicPr>
          <p:cNvPr descr="preencoded.png" id="78" name="Google Shape;78;p3"/>
          <p:cNvPicPr preferRelativeResize="0"/>
          <p:nvPr/>
        </p:nvPicPr>
        <p:blipFill rotWithShape="1">
          <a:blip r:embed="rId11">
            <a:alphaModFix/>
          </a:blip>
          <a:srcRect b="0" l="0" r="0" t="0"/>
          <a:stretch/>
        </p:blipFill>
        <p:spPr>
          <a:xfrm>
            <a:off x="800100" y="3738563"/>
            <a:ext cx="571500" cy="571500"/>
          </a:xfrm>
          <a:prstGeom prst="rect">
            <a:avLst/>
          </a:prstGeom>
          <a:noFill/>
          <a:ln>
            <a:noFill/>
          </a:ln>
        </p:spPr>
      </p:pic>
      <p:pic>
        <p:nvPicPr>
          <p:cNvPr descr="preencoded.png" id="79" name="Google Shape;79;p3"/>
          <p:cNvPicPr preferRelativeResize="0"/>
          <p:nvPr/>
        </p:nvPicPr>
        <p:blipFill rotWithShape="1">
          <a:blip r:embed="rId12">
            <a:alphaModFix/>
          </a:blip>
          <a:srcRect b="0" l="0" r="0" t="0"/>
          <a:stretch/>
        </p:blipFill>
        <p:spPr>
          <a:xfrm>
            <a:off x="942975" y="3852863"/>
            <a:ext cx="285750" cy="342900"/>
          </a:xfrm>
          <a:prstGeom prst="rect">
            <a:avLst/>
          </a:prstGeom>
          <a:noFill/>
          <a:ln>
            <a:noFill/>
          </a:ln>
        </p:spPr>
      </p:pic>
      <p:pic>
        <p:nvPicPr>
          <p:cNvPr descr="preencoded.png" id="80" name="Google Shape;80;p3"/>
          <p:cNvPicPr preferRelativeResize="0"/>
          <p:nvPr/>
        </p:nvPicPr>
        <p:blipFill rotWithShape="1">
          <a:blip r:embed="rId6">
            <a:alphaModFix/>
          </a:blip>
          <a:srcRect b="0" l="0" r="0" t="0"/>
          <a:stretch/>
        </p:blipFill>
        <p:spPr>
          <a:xfrm>
            <a:off x="6210300" y="3548063"/>
            <a:ext cx="5372100" cy="1409700"/>
          </a:xfrm>
          <a:prstGeom prst="rect">
            <a:avLst/>
          </a:prstGeom>
          <a:noFill/>
          <a:ln>
            <a:noFill/>
          </a:ln>
        </p:spPr>
      </p:pic>
      <p:pic>
        <p:nvPicPr>
          <p:cNvPr descr="preencoded.png" id="81" name="Google Shape;81;p3"/>
          <p:cNvPicPr preferRelativeResize="0"/>
          <p:nvPr/>
        </p:nvPicPr>
        <p:blipFill rotWithShape="1">
          <a:blip r:embed="rId13">
            <a:alphaModFix/>
          </a:blip>
          <a:srcRect b="0" l="0" r="0" t="0"/>
          <a:stretch/>
        </p:blipFill>
        <p:spPr>
          <a:xfrm>
            <a:off x="6400800" y="3738563"/>
            <a:ext cx="571500" cy="571500"/>
          </a:xfrm>
          <a:prstGeom prst="rect">
            <a:avLst/>
          </a:prstGeom>
          <a:noFill/>
          <a:ln>
            <a:noFill/>
          </a:ln>
        </p:spPr>
      </p:pic>
      <p:pic>
        <p:nvPicPr>
          <p:cNvPr descr="preencoded.png" id="82" name="Google Shape;82;p3"/>
          <p:cNvPicPr preferRelativeResize="0"/>
          <p:nvPr/>
        </p:nvPicPr>
        <p:blipFill rotWithShape="1">
          <a:blip r:embed="rId14">
            <a:alphaModFix/>
          </a:blip>
          <a:srcRect b="0" l="0" r="0" t="0"/>
          <a:stretch/>
        </p:blipFill>
        <p:spPr>
          <a:xfrm>
            <a:off x="6543675" y="3852863"/>
            <a:ext cx="285750" cy="342900"/>
          </a:xfrm>
          <a:prstGeom prst="rect">
            <a:avLst/>
          </a:prstGeom>
          <a:noFill/>
          <a:ln>
            <a:noFill/>
          </a:ln>
        </p:spPr>
      </p:pic>
      <p:sp>
        <p:nvSpPr>
          <p:cNvPr id="83" name="Google Shape;83;p3"/>
          <p:cNvSpPr/>
          <p:nvPr/>
        </p:nvSpPr>
        <p:spPr>
          <a:xfrm>
            <a:off x="609600" y="3429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Thách thức trong Quản lý Fleet</a:t>
            </a:r>
            <a:endParaRPr b="0" i="0" sz="2700" u="none" cap="none" strike="noStrike">
              <a:solidFill>
                <a:schemeClr val="dk1"/>
              </a:solidFill>
              <a:latin typeface="Calibri"/>
              <a:ea typeface="Calibri"/>
              <a:cs typeface="Calibri"/>
              <a:sym typeface="Calibri"/>
            </a:endParaRPr>
          </a:p>
        </p:txBody>
      </p:sp>
      <p:sp>
        <p:nvSpPr>
          <p:cNvPr id="84" name="Google Shape;84;p3"/>
          <p:cNvSpPr/>
          <p:nvPr/>
        </p:nvSpPr>
        <p:spPr>
          <a:xfrm>
            <a:off x="609600" y="1371600"/>
            <a:ext cx="13167360" cy="309563"/>
          </a:xfrm>
          <a:prstGeom prst="rect">
            <a:avLst/>
          </a:prstGeom>
          <a:noFill/>
          <a:ln>
            <a:noFill/>
          </a:ln>
        </p:spPr>
        <p:txBody>
          <a:bodyPr anchorCtr="0" anchor="t" bIns="0" lIns="0" spcFirstLastPara="1" rIns="0" wrap="square" tIns="0">
            <a:noAutofit/>
          </a:bodyPr>
          <a:lstStyle/>
          <a:p>
            <a:pPr indent="0" lvl="0" marL="0" marR="0" rtl="0" algn="l">
              <a:lnSpc>
                <a:spcPct val="162533"/>
              </a:lnSpc>
              <a:spcBef>
                <a:spcPts val="0"/>
              </a:spcBef>
              <a:spcAft>
                <a:spcPts val="0"/>
              </a:spcAft>
              <a:buClr>
                <a:srgbClr val="4B5563"/>
              </a:buClr>
              <a:buSzPts val="1500"/>
              <a:buFont typeface="Arial"/>
              <a:buNone/>
            </a:pPr>
            <a:r>
              <a:rPr b="0" i="0" lang="en-US" sz="1500" u="none" cap="none" strike="noStrike">
                <a:solidFill>
                  <a:srgbClr val="4B5563"/>
                </a:solidFill>
                <a:latin typeface="Arial"/>
                <a:ea typeface="Arial"/>
                <a:cs typeface="Arial"/>
                <a:sym typeface="Arial"/>
              </a:rPr>
              <a:t>Các công ty vận chuyển và logistics đối mặt với nhiều thách thức vận hành nghiêm trọng, bao gồm:</a:t>
            </a:r>
            <a:endParaRPr b="0" i="0" sz="1500" u="none" cap="none" strike="noStrike">
              <a:solidFill>
                <a:schemeClr val="dk1"/>
              </a:solidFill>
              <a:latin typeface="Calibri"/>
              <a:ea typeface="Calibri"/>
              <a:cs typeface="Calibri"/>
              <a:sym typeface="Calibri"/>
            </a:endParaRPr>
          </a:p>
        </p:txBody>
      </p:sp>
      <p:sp>
        <p:nvSpPr>
          <p:cNvPr id="85" name="Google Shape;85;p3"/>
          <p:cNvSpPr/>
          <p:nvPr/>
        </p:nvSpPr>
        <p:spPr>
          <a:xfrm>
            <a:off x="1524000" y="2100263"/>
            <a:ext cx="42672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An toàn tài xế</a:t>
            </a:r>
            <a:endParaRPr b="0" i="0" sz="1500" u="none" cap="none" strike="noStrike">
              <a:solidFill>
                <a:schemeClr val="dk1"/>
              </a:solidFill>
              <a:latin typeface="Calibri"/>
              <a:ea typeface="Calibri"/>
              <a:cs typeface="Calibri"/>
              <a:sym typeface="Calibri"/>
            </a:endParaRPr>
          </a:p>
        </p:txBody>
      </p:sp>
      <p:sp>
        <p:nvSpPr>
          <p:cNvPr id="86" name="Google Shape;86;p3"/>
          <p:cNvSpPr/>
          <p:nvPr/>
        </p:nvSpPr>
        <p:spPr>
          <a:xfrm>
            <a:off x="1524000" y="2443163"/>
            <a:ext cx="4267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确保司机安全，防止事故发生，是运输公司的首要任务。长时间驾驶导致疲劳，增加了事故风险。</a:t>
            </a:r>
            <a:endParaRPr b="0" i="0" sz="1200" u="none" cap="none" strike="noStrike">
              <a:solidFill>
                <a:schemeClr val="dk1"/>
              </a:solidFill>
              <a:latin typeface="Calibri"/>
              <a:ea typeface="Calibri"/>
              <a:cs typeface="Calibri"/>
              <a:sym typeface="Calibri"/>
            </a:endParaRPr>
          </a:p>
        </p:txBody>
      </p:sp>
      <p:sp>
        <p:nvSpPr>
          <p:cNvPr id="87" name="Google Shape;87;p3"/>
          <p:cNvSpPr/>
          <p:nvPr/>
        </p:nvSpPr>
        <p:spPr>
          <a:xfrm>
            <a:off x="7124700" y="2100263"/>
            <a:ext cx="51206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Tối ưu hóa tuyến đường</a:t>
            </a:r>
            <a:endParaRPr b="0" i="0" sz="1500" u="none" cap="none" strike="noStrike">
              <a:solidFill>
                <a:schemeClr val="dk1"/>
              </a:solidFill>
              <a:latin typeface="Calibri"/>
              <a:ea typeface="Calibri"/>
              <a:cs typeface="Calibri"/>
              <a:sym typeface="Calibri"/>
            </a:endParaRPr>
          </a:p>
        </p:txBody>
      </p:sp>
      <p:sp>
        <p:nvSpPr>
          <p:cNvPr id="88" name="Google Shape;88;p3"/>
          <p:cNvSpPr/>
          <p:nvPr/>
        </p:nvSpPr>
        <p:spPr>
          <a:xfrm>
            <a:off x="7124700" y="2443163"/>
            <a:ext cx="42672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Xác định các tuyến đường hiệu quả, giảm thiểu thời gian và nhiên liệu tiêu thụ, đồng thời đảm bảo việc giao hàng đúng hạn.</a:t>
            </a:r>
            <a:endParaRPr b="0" i="0" sz="1200" u="none" cap="none" strike="noStrike">
              <a:solidFill>
                <a:schemeClr val="dk1"/>
              </a:solidFill>
              <a:latin typeface="Calibri"/>
              <a:ea typeface="Calibri"/>
              <a:cs typeface="Calibri"/>
              <a:sym typeface="Calibri"/>
            </a:endParaRPr>
          </a:p>
        </p:txBody>
      </p:sp>
      <p:sp>
        <p:nvSpPr>
          <p:cNvPr id="89" name="Google Shape;89;p3"/>
          <p:cNvSpPr/>
          <p:nvPr/>
        </p:nvSpPr>
        <p:spPr>
          <a:xfrm>
            <a:off x="1524000" y="3738563"/>
            <a:ext cx="42672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Bảo vệ tài sản</a:t>
            </a:r>
            <a:endParaRPr b="0" i="0" sz="1500" u="none" cap="none" strike="noStrike">
              <a:solidFill>
                <a:schemeClr val="dk1"/>
              </a:solidFill>
              <a:latin typeface="Calibri"/>
              <a:ea typeface="Calibri"/>
              <a:cs typeface="Calibri"/>
              <a:sym typeface="Calibri"/>
            </a:endParaRPr>
          </a:p>
        </p:txBody>
      </p:sp>
      <p:sp>
        <p:nvSpPr>
          <p:cNvPr id="90" name="Google Shape;90;p3"/>
          <p:cNvSpPr/>
          <p:nvPr/>
        </p:nvSpPr>
        <p:spPr>
          <a:xfrm>
            <a:off x="1524000" y="4081463"/>
            <a:ext cx="4267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Ngăn chặn việc trộm cắp và hư hại tài sản, đặc biệt là khi phương tiện đang dừng lại hoặc đậu xe.</a:t>
            </a:r>
            <a:endParaRPr b="0" i="0" sz="1200" u="none" cap="none" strike="noStrike">
              <a:solidFill>
                <a:schemeClr val="dk1"/>
              </a:solidFill>
              <a:latin typeface="Calibri"/>
              <a:ea typeface="Calibri"/>
              <a:cs typeface="Calibri"/>
              <a:sym typeface="Calibri"/>
            </a:endParaRPr>
          </a:p>
        </p:txBody>
      </p:sp>
      <p:sp>
        <p:nvSpPr>
          <p:cNvPr id="91" name="Google Shape;91;p3"/>
          <p:cNvSpPr/>
          <p:nvPr/>
        </p:nvSpPr>
        <p:spPr>
          <a:xfrm>
            <a:off x="7124700" y="3738563"/>
            <a:ext cx="51206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Ảnh hưởng đến chi phí</a:t>
            </a:r>
            <a:endParaRPr b="0" i="0" sz="1500" u="none" cap="none" strike="noStrike">
              <a:solidFill>
                <a:schemeClr val="dk1"/>
              </a:solidFill>
              <a:latin typeface="Calibri"/>
              <a:ea typeface="Calibri"/>
              <a:cs typeface="Calibri"/>
              <a:sym typeface="Calibri"/>
            </a:endParaRPr>
          </a:p>
        </p:txBody>
      </p:sp>
      <p:sp>
        <p:nvSpPr>
          <p:cNvPr id="92" name="Google Shape;92;p3"/>
          <p:cNvSpPr/>
          <p:nvPr/>
        </p:nvSpPr>
        <p:spPr>
          <a:xfrm>
            <a:off x="7124700" y="4081463"/>
            <a:ext cx="42672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Các vấn đề này ảnh hưởng trực tiếp đến chi phí vận hành, danh tiếng dịch vụ và sự bền vững của kinh doanh.</a:t>
            </a:r>
            <a:endParaRPr b="0" i="0" sz="1200" u="none" cap="none" strike="noStrike">
              <a:solidFill>
                <a:schemeClr val="dk1"/>
              </a:solidFill>
              <a:latin typeface="Calibri"/>
              <a:ea typeface="Calibri"/>
              <a:cs typeface="Calibri"/>
              <a:sym typeface="Calibri"/>
            </a:endParaRPr>
          </a:p>
        </p:txBody>
      </p:sp>
      <p:sp>
        <p:nvSpPr>
          <p:cNvPr id="93" name="Google Shape;93;p3"/>
          <p:cNvSpPr/>
          <p:nvPr/>
        </p:nvSpPr>
        <p:spPr>
          <a:xfrm>
            <a:off x="-487680" y="6400800"/>
            <a:ext cx="1316736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B5563"/>
              </a:buClr>
              <a:buSzPts val="1200"/>
              <a:buFont typeface="Arial"/>
              <a:buNone/>
            </a:pPr>
            <a:r>
              <a:rPr b="0" i="1" lang="en-US" sz="1200" u="none" cap="none" strike="noStrike">
                <a:solidFill>
                  <a:srgbClr val="4B5563"/>
                </a:solidFill>
                <a:latin typeface="Arial"/>
                <a:ea typeface="Arial"/>
                <a:cs typeface="Arial"/>
                <a:sym typeface="Arial"/>
              </a:rPr>
              <a:t>"Cần thiết phải có giải pháp quản lý toàn diện để giải quyết các thách thức này."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preencoded.png" id="99" name="Google Shape;99;p4"/>
          <p:cNvPicPr preferRelativeResize="0"/>
          <p:nvPr/>
        </p:nvPicPr>
        <p:blipFill rotWithShape="1">
          <a:blip r:embed="rId3">
            <a:alphaModFix/>
          </a:blip>
          <a:srcRect b="0" l="0" r="0" t="0"/>
          <a:stretch/>
        </p:blipFill>
        <p:spPr>
          <a:xfrm>
            <a:off x="0" y="0"/>
            <a:ext cx="12192000" cy="7524750"/>
          </a:xfrm>
          <a:prstGeom prst="rect">
            <a:avLst/>
          </a:prstGeom>
          <a:noFill/>
          <a:ln>
            <a:noFill/>
          </a:ln>
        </p:spPr>
      </p:pic>
      <p:pic>
        <p:nvPicPr>
          <p:cNvPr descr="preencoded.png" id="100" name="Google Shape;100;p4"/>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101" name="Google Shape;101;p4"/>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102" name="Google Shape;102;p4"/>
          <p:cNvPicPr preferRelativeResize="0"/>
          <p:nvPr/>
        </p:nvPicPr>
        <p:blipFill rotWithShape="1">
          <a:blip r:embed="rId6">
            <a:alphaModFix/>
          </a:blip>
          <a:srcRect b="0" l="0" r="0" t="0"/>
          <a:stretch/>
        </p:blipFill>
        <p:spPr>
          <a:xfrm>
            <a:off x="609600" y="2914650"/>
            <a:ext cx="3505200" cy="2743200"/>
          </a:xfrm>
          <a:prstGeom prst="rect">
            <a:avLst/>
          </a:prstGeom>
          <a:noFill/>
          <a:ln>
            <a:noFill/>
          </a:ln>
        </p:spPr>
      </p:pic>
      <p:pic>
        <p:nvPicPr>
          <p:cNvPr descr="preencoded.png" id="103" name="Google Shape;103;p4"/>
          <p:cNvPicPr preferRelativeResize="0"/>
          <p:nvPr/>
        </p:nvPicPr>
        <p:blipFill rotWithShape="1">
          <a:blip r:embed="rId7">
            <a:alphaModFix/>
          </a:blip>
          <a:srcRect b="0" l="0" r="0" t="0"/>
          <a:stretch/>
        </p:blipFill>
        <p:spPr>
          <a:xfrm>
            <a:off x="838200" y="3924300"/>
            <a:ext cx="200025" cy="571500"/>
          </a:xfrm>
          <a:prstGeom prst="rect">
            <a:avLst/>
          </a:prstGeom>
          <a:noFill/>
          <a:ln>
            <a:noFill/>
          </a:ln>
        </p:spPr>
      </p:pic>
      <p:pic>
        <p:nvPicPr>
          <p:cNvPr descr="preencoded.png" id="104" name="Google Shape;104;p4"/>
          <p:cNvPicPr preferRelativeResize="0"/>
          <p:nvPr/>
        </p:nvPicPr>
        <p:blipFill rotWithShape="1">
          <a:blip r:embed="rId8">
            <a:alphaModFix/>
          </a:blip>
          <a:srcRect b="0" l="0" r="0" t="0"/>
          <a:stretch/>
        </p:blipFill>
        <p:spPr>
          <a:xfrm>
            <a:off x="838200" y="4057650"/>
            <a:ext cx="200025" cy="304800"/>
          </a:xfrm>
          <a:prstGeom prst="rect">
            <a:avLst/>
          </a:prstGeom>
          <a:noFill/>
          <a:ln>
            <a:noFill/>
          </a:ln>
        </p:spPr>
      </p:pic>
      <p:pic>
        <p:nvPicPr>
          <p:cNvPr descr="preencoded.png" id="105" name="Google Shape;105;p4"/>
          <p:cNvPicPr preferRelativeResize="0"/>
          <p:nvPr/>
        </p:nvPicPr>
        <p:blipFill rotWithShape="1">
          <a:blip r:embed="rId6">
            <a:alphaModFix/>
          </a:blip>
          <a:srcRect b="0" l="0" r="0" t="0"/>
          <a:stretch/>
        </p:blipFill>
        <p:spPr>
          <a:xfrm>
            <a:off x="4343400" y="2914650"/>
            <a:ext cx="3505200" cy="2743200"/>
          </a:xfrm>
          <a:prstGeom prst="rect">
            <a:avLst/>
          </a:prstGeom>
          <a:noFill/>
          <a:ln>
            <a:noFill/>
          </a:ln>
        </p:spPr>
      </p:pic>
      <p:pic>
        <p:nvPicPr>
          <p:cNvPr descr="preencoded.png" id="106" name="Google Shape;106;p4"/>
          <p:cNvPicPr preferRelativeResize="0"/>
          <p:nvPr/>
        </p:nvPicPr>
        <p:blipFill rotWithShape="1">
          <a:blip r:embed="rId9">
            <a:alphaModFix/>
          </a:blip>
          <a:srcRect b="0" l="0" r="0" t="0"/>
          <a:stretch/>
        </p:blipFill>
        <p:spPr>
          <a:xfrm>
            <a:off x="4572000" y="3543300"/>
            <a:ext cx="228600" cy="571500"/>
          </a:xfrm>
          <a:prstGeom prst="rect">
            <a:avLst/>
          </a:prstGeom>
          <a:noFill/>
          <a:ln>
            <a:noFill/>
          </a:ln>
        </p:spPr>
      </p:pic>
      <p:pic>
        <p:nvPicPr>
          <p:cNvPr descr="preencoded.png" id="107" name="Google Shape;107;p4"/>
          <p:cNvPicPr preferRelativeResize="0"/>
          <p:nvPr/>
        </p:nvPicPr>
        <p:blipFill rotWithShape="1">
          <a:blip r:embed="rId10">
            <a:alphaModFix/>
          </a:blip>
          <a:srcRect b="0" l="0" r="0" t="0"/>
          <a:stretch/>
        </p:blipFill>
        <p:spPr>
          <a:xfrm>
            <a:off x="4572000" y="3676650"/>
            <a:ext cx="228600" cy="304800"/>
          </a:xfrm>
          <a:prstGeom prst="rect">
            <a:avLst/>
          </a:prstGeom>
          <a:noFill/>
          <a:ln>
            <a:noFill/>
          </a:ln>
        </p:spPr>
      </p:pic>
      <p:pic>
        <p:nvPicPr>
          <p:cNvPr descr="preencoded.png" id="108" name="Google Shape;108;p4"/>
          <p:cNvPicPr preferRelativeResize="0"/>
          <p:nvPr/>
        </p:nvPicPr>
        <p:blipFill rotWithShape="1">
          <a:blip r:embed="rId6">
            <a:alphaModFix/>
          </a:blip>
          <a:srcRect b="0" l="0" r="0" t="0"/>
          <a:stretch/>
        </p:blipFill>
        <p:spPr>
          <a:xfrm>
            <a:off x="8077200" y="2914650"/>
            <a:ext cx="3505200" cy="2743200"/>
          </a:xfrm>
          <a:prstGeom prst="rect">
            <a:avLst/>
          </a:prstGeom>
          <a:noFill/>
          <a:ln>
            <a:noFill/>
          </a:ln>
        </p:spPr>
      </p:pic>
      <p:pic>
        <p:nvPicPr>
          <p:cNvPr descr="preencoded.png" id="109" name="Google Shape;109;p4"/>
          <p:cNvPicPr preferRelativeResize="0"/>
          <p:nvPr/>
        </p:nvPicPr>
        <p:blipFill rotWithShape="1">
          <a:blip r:embed="rId11">
            <a:alphaModFix/>
          </a:blip>
          <a:srcRect b="0" l="0" r="0" t="0"/>
          <a:stretch/>
        </p:blipFill>
        <p:spPr>
          <a:xfrm>
            <a:off x="8305800" y="3429000"/>
            <a:ext cx="228600" cy="571500"/>
          </a:xfrm>
          <a:prstGeom prst="rect">
            <a:avLst/>
          </a:prstGeom>
          <a:noFill/>
          <a:ln>
            <a:noFill/>
          </a:ln>
        </p:spPr>
      </p:pic>
      <p:pic>
        <p:nvPicPr>
          <p:cNvPr descr="preencoded.png" id="110" name="Google Shape;110;p4"/>
          <p:cNvPicPr preferRelativeResize="0"/>
          <p:nvPr/>
        </p:nvPicPr>
        <p:blipFill rotWithShape="1">
          <a:blip r:embed="rId12">
            <a:alphaModFix/>
          </a:blip>
          <a:srcRect b="0" l="0" r="0" t="0"/>
          <a:stretch/>
        </p:blipFill>
        <p:spPr>
          <a:xfrm>
            <a:off x="8305800" y="3562350"/>
            <a:ext cx="228600" cy="304800"/>
          </a:xfrm>
          <a:prstGeom prst="rect">
            <a:avLst/>
          </a:prstGeom>
          <a:noFill/>
          <a:ln>
            <a:noFill/>
          </a:ln>
        </p:spPr>
      </p:pic>
      <p:pic>
        <p:nvPicPr>
          <p:cNvPr descr="preencoded.png" id="111" name="Google Shape;111;p4"/>
          <p:cNvPicPr preferRelativeResize="0"/>
          <p:nvPr/>
        </p:nvPicPr>
        <p:blipFill rotWithShape="1">
          <a:blip r:embed="rId13">
            <a:alphaModFix/>
          </a:blip>
          <a:srcRect b="0" l="0" r="0" t="0"/>
          <a:stretch/>
        </p:blipFill>
        <p:spPr>
          <a:xfrm>
            <a:off x="609600" y="5962650"/>
            <a:ext cx="10972800" cy="1028700"/>
          </a:xfrm>
          <a:prstGeom prst="rect">
            <a:avLst/>
          </a:prstGeom>
          <a:noFill/>
          <a:ln>
            <a:noFill/>
          </a:ln>
        </p:spPr>
      </p:pic>
      <p:pic>
        <p:nvPicPr>
          <p:cNvPr descr="preencoded.png" id="112" name="Google Shape;112;p4"/>
          <p:cNvPicPr preferRelativeResize="0"/>
          <p:nvPr/>
        </p:nvPicPr>
        <p:blipFill rotWithShape="1">
          <a:blip r:embed="rId14">
            <a:alphaModFix/>
          </a:blip>
          <a:srcRect b="0" l="0" r="0" t="0"/>
          <a:stretch/>
        </p:blipFill>
        <p:spPr>
          <a:xfrm>
            <a:off x="762000" y="6315075"/>
            <a:ext cx="219075" cy="285750"/>
          </a:xfrm>
          <a:prstGeom prst="rect">
            <a:avLst/>
          </a:prstGeom>
          <a:noFill/>
          <a:ln>
            <a:noFill/>
          </a:ln>
        </p:spPr>
      </p:pic>
      <p:pic>
        <p:nvPicPr>
          <p:cNvPr descr="preencoded.png" id="113" name="Google Shape;113;p4"/>
          <p:cNvPicPr preferRelativeResize="0"/>
          <p:nvPr/>
        </p:nvPicPr>
        <p:blipFill rotWithShape="1">
          <a:blip r:embed="rId15">
            <a:alphaModFix/>
          </a:blip>
          <a:srcRect b="0" l="0" r="0" t="0"/>
          <a:stretch/>
        </p:blipFill>
        <p:spPr>
          <a:xfrm>
            <a:off x="609600" y="7172325"/>
            <a:ext cx="152400" cy="152400"/>
          </a:xfrm>
          <a:prstGeom prst="rect">
            <a:avLst/>
          </a:prstGeom>
          <a:noFill/>
          <a:ln>
            <a:noFill/>
          </a:ln>
        </p:spPr>
      </p:pic>
      <p:pic>
        <p:nvPicPr>
          <p:cNvPr descr="preencoded.png" id="114" name="Google Shape;114;p4"/>
          <p:cNvPicPr preferRelativeResize="0"/>
          <p:nvPr/>
        </p:nvPicPr>
        <p:blipFill rotWithShape="1">
          <a:blip r:embed="rId16">
            <a:alphaModFix/>
          </a:blip>
          <a:srcRect b="0" l="0" r="0" t="0"/>
          <a:stretch/>
        </p:blipFill>
        <p:spPr>
          <a:xfrm>
            <a:off x="9807922" y="7172325"/>
            <a:ext cx="152400" cy="152400"/>
          </a:xfrm>
          <a:prstGeom prst="rect">
            <a:avLst/>
          </a:prstGeom>
          <a:noFill/>
          <a:ln>
            <a:noFill/>
          </a:ln>
        </p:spPr>
      </p:pic>
      <p:sp>
        <p:nvSpPr>
          <p:cNvPr id="115" name="Google Shape;115;p4"/>
          <p:cNvSpPr/>
          <p:nvPr/>
        </p:nvSpPr>
        <p:spPr>
          <a:xfrm>
            <a:off x="609600" y="342900"/>
            <a:ext cx="10972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Giới thiệu AutoSecure</a:t>
            </a:r>
            <a:endParaRPr b="0" i="0" sz="2700" u="none" cap="none" strike="noStrike">
              <a:solidFill>
                <a:schemeClr val="dk1"/>
              </a:solidFill>
              <a:latin typeface="Calibri"/>
              <a:ea typeface="Calibri"/>
              <a:cs typeface="Calibri"/>
              <a:sym typeface="Calibri"/>
            </a:endParaRPr>
          </a:p>
        </p:txBody>
      </p:sp>
      <p:sp>
        <p:nvSpPr>
          <p:cNvPr id="116" name="Google Shape;116;p4"/>
          <p:cNvSpPr/>
          <p:nvPr/>
        </p:nvSpPr>
        <p:spPr>
          <a:xfrm>
            <a:off x="609600" y="1371600"/>
            <a:ext cx="10972800" cy="1238250"/>
          </a:xfrm>
          <a:prstGeom prst="rect">
            <a:avLst/>
          </a:prstGeom>
          <a:noFill/>
          <a:ln>
            <a:noFill/>
          </a:ln>
        </p:spPr>
        <p:txBody>
          <a:bodyPr anchorCtr="0" anchor="t" bIns="0" lIns="0" spcFirstLastPara="1" rIns="0" wrap="square" tIns="0">
            <a:noAutofit/>
          </a:bodyPr>
          <a:lstStyle/>
          <a:p>
            <a:pPr indent="0" lvl="0" marL="0" marR="0" rtl="0" algn="l">
              <a:lnSpc>
                <a:spcPct val="162533"/>
              </a:lnSpc>
              <a:spcBef>
                <a:spcPts val="0"/>
              </a:spcBef>
              <a:spcAft>
                <a:spcPts val="0"/>
              </a:spcAft>
              <a:buClr>
                <a:srgbClr val="374151"/>
              </a:buClr>
              <a:buSzPts val="1500"/>
              <a:buFont typeface="Arial"/>
              <a:buNone/>
            </a:pPr>
            <a:r>
              <a:rPr b="0" i="0" lang="en-US" sz="1500" u="none" cap="none" strike="noStrike">
                <a:solidFill>
                  <a:srgbClr val="374151"/>
                </a:solidFill>
                <a:latin typeface="Arial"/>
                <a:ea typeface="Arial"/>
                <a:cs typeface="Arial"/>
                <a:sym typeface="Arial"/>
              </a:rPr>
              <a:t>AutoSecure là một giải pháp quản lý fleet thông minh dựa trên công nghệ AI-on-Edge tiên tiến, giúp biến đổi toàn diện các hoạt động vận chuyển. Hệ thống này cung cấp các công cụ мас scalability, reliability và chi phí hiệu quả, được thiết kế để tối ưu hóa hoạt động fleet, cải thiện đáng kể tiêu chuẩn an toàn và trao quyền cho các doanh nghiệp với khả năng ra quyết định dựa trên dữ liệu.</a:t>
            </a:r>
            <a:endParaRPr b="0" i="0" sz="1500" u="none" cap="none" strike="noStrike">
              <a:solidFill>
                <a:schemeClr val="dk1"/>
              </a:solidFill>
              <a:latin typeface="Calibri"/>
              <a:ea typeface="Calibri"/>
              <a:cs typeface="Calibri"/>
              <a:sym typeface="Calibri"/>
            </a:endParaRPr>
          </a:p>
        </p:txBody>
      </p:sp>
      <p:sp>
        <p:nvSpPr>
          <p:cNvPr id="117" name="Google Shape;117;p4"/>
          <p:cNvSpPr/>
          <p:nvPr/>
        </p:nvSpPr>
        <p:spPr>
          <a:xfrm>
            <a:off x="1190625" y="3143250"/>
            <a:ext cx="2695575" cy="2133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Scalable </a:t>
            </a:r>
            <a:r>
              <a:rPr b="1" i="0" lang="en-US" sz="1800" u="none" cap="none" strike="noStrike">
                <a:solidFill>
                  <a:srgbClr val="4B5563"/>
                </a:solidFill>
                <a:latin typeface="Arial"/>
                <a:ea typeface="Arial"/>
                <a:cs typeface="Arial"/>
                <a:sym typeface="Arial"/>
              </a:rPr>
              <a:t>Hỗ trợ triển khai rộng rãi cho các fleet lớn với nhiều thiết bị khác nhau, từ xe tải đến xe buýt.</a:t>
            </a:r>
            <a:endParaRPr b="0" i="0" sz="1800" u="none" cap="none" strike="noStrike">
              <a:solidFill>
                <a:schemeClr val="dk1"/>
              </a:solidFill>
              <a:latin typeface="Calibri"/>
              <a:ea typeface="Calibri"/>
              <a:cs typeface="Calibri"/>
              <a:sym typeface="Calibri"/>
            </a:endParaRPr>
          </a:p>
        </p:txBody>
      </p:sp>
      <p:sp>
        <p:nvSpPr>
          <p:cNvPr id="118" name="Google Shape;118;p4"/>
          <p:cNvSpPr/>
          <p:nvPr/>
        </p:nvSpPr>
        <p:spPr>
          <a:xfrm>
            <a:off x="4953000" y="3676650"/>
            <a:ext cx="1246942"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Reliable</a:t>
            </a:r>
            <a:endParaRPr b="0" i="0" sz="1800" u="none" cap="none" strike="noStrike">
              <a:solidFill>
                <a:schemeClr val="dk1"/>
              </a:solidFill>
              <a:latin typeface="Calibri"/>
              <a:ea typeface="Calibri"/>
              <a:cs typeface="Calibri"/>
              <a:sym typeface="Calibri"/>
            </a:endParaRPr>
          </a:p>
        </p:txBody>
      </p:sp>
      <p:sp>
        <p:nvSpPr>
          <p:cNvPr id="119" name="Google Shape;119;p4"/>
          <p:cNvSpPr/>
          <p:nvPr/>
        </p:nvSpPr>
        <p:spPr>
          <a:xfrm>
            <a:off x="5992118" y="3143250"/>
            <a:ext cx="1627882" cy="1371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Xử lý dữ liệu locally trên thiết bị đảm bảo hoạt động ổn định ngay cả khi kết nối internet bị gián đoạn.</a:t>
            </a:r>
            <a:endParaRPr b="0" i="0" sz="1200" u="none" cap="none" strike="noStrike">
              <a:solidFill>
                <a:schemeClr val="dk1"/>
              </a:solidFill>
              <a:latin typeface="Calibri"/>
              <a:ea typeface="Calibri"/>
              <a:cs typeface="Calibri"/>
              <a:sym typeface="Calibri"/>
            </a:endParaRPr>
          </a:p>
        </p:txBody>
      </p:sp>
      <p:sp>
        <p:nvSpPr>
          <p:cNvPr id="120" name="Google Shape;120;p4"/>
          <p:cNvSpPr/>
          <p:nvPr/>
        </p:nvSpPr>
        <p:spPr>
          <a:xfrm>
            <a:off x="8686800" y="3409950"/>
            <a:ext cx="1122462"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Cost-effective</a:t>
            </a:r>
            <a:endParaRPr b="0" i="0" sz="1800" u="none" cap="none" strike="noStrike">
              <a:solidFill>
                <a:schemeClr val="dk1"/>
              </a:solidFill>
              <a:latin typeface="Calibri"/>
              <a:ea typeface="Calibri"/>
              <a:cs typeface="Calibri"/>
              <a:sym typeface="Calibri"/>
            </a:endParaRPr>
          </a:p>
        </p:txBody>
      </p:sp>
      <p:sp>
        <p:nvSpPr>
          <p:cNvPr id="121" name="Google Shape;121;p4"/>
          <p:cNvSpPr/>
          <p:nvPr/>
        </p:nvSpPr>
        <p:spPr>
          <a:xfrm>
            <a:off x="9809262" y="3143250"/>
            <a:ext cx="1544538" cy="1143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Giảm thiểu chi phí lưu trữ và xử lý dữ liệu云端, tối ưu hóa hiệu suất và kéo dài tuổi thọ thiết bị.</a:t>
            </a:r>
            <a:endParaRPr b="0" i="0" sz="1200" u="none" cap="none" strike="noStrike">
              <a:solidFill>
                <a:schemeClr val="dk1"/>
              </a:solidFill>
              <a:latin typeface="Calibri"/>
              <a:ea typeface="Calibri"/>
              <a:cs typeface="Calibri"/>
              <a:sym typeface="Calibri"/>
            </a:endParaRPr>
          </a:p>
        </p:txBody>
      </p:sp>
      <p:sp>
        <p:nvSpPr>
          <p:cNvPr id="122" name="Google Shape;122;p4"/>
          <p:cNvSpPr/>
          <p:nvPr/>
        </p:nvSpPr>
        <p:spPr>
          <a:xfrm>
            <a:off x="1209675" y="6115050"/>
            <a:ext cx="1022032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Tại sao AutoSecure khác biệt?</a:t>
            </a:r>
            <a:endParaRPr b="0" i="0" sz="1500" u="none" cap="none" strike="noStrike">
              <a:solidFill>
                <a:schemeClr val="dk1"/>
              </a:solidFill>
              <a:latin typeface="Calibri"/>
              <a:ea typeface="Calibri"/>
              <a:cs typeface="Calibri"/>
              <a:sym typeface="Calibri"/>
            </a:endParaRPr>
          </a:p>
        </p:txBody>
      </p:sp>
      <p:sp>
        <p:nvSpPr>
          <p:cNvPr id="123" name="Google Shape;123;p4"/>
          <p:cNvSpPr/>
          <p:nvPr/>
        </p:nvSpPr>
        <p:spPr>
          <a:xfrm>
            <a:off x="1209675" y="6381750"/>
            <a:ext cx="102203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AutoSecure xử lý dữ liệu locally trên thiết bị, đảm bảo thời gian phản hồi nhanh chóng và giảm thiểu độ trễ. Hệ thống này lý tưởng cho việc triển khai quy mô lớn trong ngành vận chuyển, nơi mà tốc độ và độ tin cậy là yếu tố then chốt.</a:t>
            </a:r>
            <a:endParaRPr b="0" i="0" sz="1200" u="none" cap="none" strike="noStrike">
              <a:solidFill>
                <a:schemeClr val="dk1"/>
              </a:solidFill>
              <a:latin typeface="Calibri"/>
              <a:ea typeface="Calibri"/>
              <a:cs typeface="Calibri"/>
              <a:sym typeface="Calibri"/>
            </a:endParaRPr>
          </a:p>
        </p:txBody>
      </p:sp>
      <p:sp>
        <p:nvSpPr>
          <p:cNvPr id="124" name="Google Shape;124;p4"/>
          <p:cNvSpPr/>
          <p:nvPr/>
        </p:nvSpPr>
        <p:spPr>
          <a:xfrm>
            <a:off x="838200" y="7143750"/>
            <a:ext cx="238315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Công nghệ AI-on-Edge</a:t>
            </a:r>
            <a:endParaRPr b="0" i="0" sz="1200" u="none" cap="none" strike="noStrike">
              <a:solidFill>
                <a:schemeClr val="dk1"/>
              </a:solidFill>
              <a:latin typeface="Calibri"/>
              <a:ea typeface="Calibri"/>
              <a:cs typeface="Calibri"/>
              <a:sym typeface="Calibri"/>
            </a:endParaRPr>
          </a:p>
        </p:txBody>
      </p:sp>
      <p:sp>
        <p:nvSpPr>
          <p:cNvPr id="125" name="Google Shape;125;p4"/>
          <p:cNvSpPr/>
          <p:nvPr/>
        </p:nvSpPr>
        <p:spPr>
          <a:xfrm>
            <a:off x="10036522" y="7143750"/>
            <a:ext cx="212937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Giải pháp toàn diện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descr="preencoded.png" id="131" name="Google Shape;131;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32" name="Google Shape;132;p5"/>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133" name="Google Shape;133;p5"/>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134" name="Google Shape;134;p5"/>
          <p:cNvPicPr preferRelativeResize="0"/>
          <p:nvPr/>
        </p:nvPicPr>
        <p:blipFill rotWithShape="1">
          <a:blip r:embed="rId6">
            <a:alphaModFix/>
          </a:blip>
          <a:srcRect b="0" l="0" r="0" t="0"/>
          <a:stretch/>
        </p:blipFill>
        <p:spPr>
          <a:xfrm>
            <a:off x="609600" y="1371600"/>
            <a:ext cx="3454301" cy="4191000"/>
          </a:xfrm>
          <a:prstGeom prst="rect">
            <a:avLst/>
          </a:prstGeom>
          <a:noFill/>
          <a:ln>
            <a:noFill/>
          </a:ln>
        </p:spPr>
      </p:pic>
      <p:pic>
        <p:nvPicPr>
          <p:cNvPr descr="preencoded.png" id="135" name="Google Shape;135;p5"/>
          <p:cNvPicPr preferRelativeResize="0"/>
          <p:nvPr/>
        </p:nvPicPr>
        <p:blipFill rotWithShape="1">
          <a:blip r:embed="rId7">
            <a:alphaModFix/>
          </a:blip>
          <a:srcRect b="0" l="0" r="0" t="0"/>
          <a:stretch/>
        </p:blipFill>
        <p:spPr>
          <a:xfrm>
            <a:off x="1955750" y="1600200"/>
            <a:ext cx="762000" cy="762000"/>
          </a:xfrm>
          <a:prstGeom prst="rect">
            <a:avLst/>
          </a:prstGeom>
          <a:noFill/>
          <a:ln>
            <a:noFill/>
          </a:ln>
        </p:spPr>
      </p:pic>
      <p:pic>
        <p:nvPicPr>
          <p:cNvPr descr="preencoded.png" id="136" name="Google Shape;136;p5"/>
          <p:cNvPicPr preferRelativeResize="0"/>
          <p:nvPr/>
        </p:nvPicPr>
        <p:blipFill rotWithShape="1">
          <a:blip r:embed="rId8">
            <a:alphaModFix/>
          </a:blip>
          <a:srcRect b="0" l="0" r="0" t="0"/>
          <a:stretch/>
        </p:blipFill>
        <p:spPr>
          <a:xfrm>
            <a:off x="2051000" y="1752600"/>
            <a:ext cx="571500" cy="457200"/>
          </a:xfrm>
          <a:prstGeom prst="rect">
            <a:avLst/>
          </a:prstGeom>
          <a:noFill/>
          <a:ln>
            <a:noFill/>
          </a:ln>
        </p:spPr>
      </p:pic>
      <p:pic>
        <p:nvPicPr>
          <p:cNvPr descr="preencoded.png" id="137" name="Google Shape;137;p5"/>
          <p:cNvPicPr preferRelativeResize="0"/>
          <p:nvPr/>
        </p:nvPicPr>
        <p:blipFill rotWithShape="1">
          <a:blip r:embed="rId9">
            <a:alphaModFix/>
          </a:blip>
          <a:srcRect b="0" l="0" r="0" t="0"/>
          <a:stretch/>
        </p:blipFill>
        <p:spPr>
          <a:xfrm>
            <a:off x="1692771" y="4991100"/>
            <a:ext cx="1287959" cy="342900"/>
          </a:xfrm>
          <a:prstGeom prst="rect">
            <a:avLst/>
          </a:prstGeom>
          <a:noFill/>
          <a:ln>
            <a:noFill/>
          </a:ln>
        </p:spPr>
      </p:pic>
      <p:pic>
        <p:nvPicPr>
          <p:cNvPr descr="preencoded.png" id="138" name="Google Shape;138;p5"/>
          <p:cNvPicPr preferRelativeResize="0"/>
          <p:nvPr/>
        </p:nvPicPr>
        <p:blipFill rotWithShape="1">
          <a:blip r:embed="rId10">
            <a:alphaModFix/>
          </a:blip>
          <a:srcRect b="0" l="0" r="0" t="0"/>
          <a:stretch/>
        </p:blipFill>
        <p:spPr>
          <a:xfrm>
            <a:off x="1845171" y="5086350"/>
            <a:ext cx="104775" cy="133350"/>
          </a:xfrm>
          <a:prstGeom prst="rect">
            <a:avLst/>
          </a:prstGeom>
          <a:noFill/>
          <a:ln>
            <a:noFill/>
          </a:ln>
        </p:spPr>
      </p:pic>
      <p:pic>
        <p:nvPicPr>
          <p:cNvPr descr="preencoded.png" id="139" name="Google Shape;139;p5"/>
          <p:cNvPicPr preferRelativeResize="0"/>
          <p:nvPr/>
        </p:nvPicPr>
        <p:blipFill rotWithShape="1">
          <a:blip r:embed="rId11">
            <a:alphaModFix/>
          </a:blip>
          <a:srcRect b="0" l="0" r="0" t="0"/>
          <a:stretch/>
        </p:blipFill>
        <p:spPr>
          <a:xfrm>
            <a:off x="4368701" y="1371600"/>
            <a:ext cx="3454450" cy="4191000"/>
          </a:xfrm>
          <a:prstGeom prst="rect">
            <a:avLst/>
          </a:prstGeom>
          <a:noFill/>
          <a:ln>
            <a:noFill/>
          </a:ln>
        </p:spPr>
      </p:pic>
      <p:pic>
        <p:nvPicPr>
          <p:cNvPr descr="preencoded.png" id="140" name="Google Shape;140;p5"/>
          <p:cNvPicPr preferRelativeResize="0"/>
          <p:nvPr/>
        </p:nvPicPr>
        <p:blipFill rotWithShape="1">
          <a:blip r:embed="rId12">
            <a:alphaModFix/>
          </a:blip>
          <a:srcRect b="0" l="0" r="0" t="0"/>
          <a:stretch/>
        </p:blipFill>
        <p:spPr>
          <a:xfrm>
            <a:off x="5714851" y="1600200"/>
            <a:ext cx="762000" cy="762000"/>
          </a:xfrm>
          <a:prstGeom prst="rect">
            <a:avLst/>
          </a:prstGeom>
          <a:noFill/>
          <a:ln>
            <a:noFill/>
          </a:ln>
        </p:spPr>
      </p:pic>
      <p:pic>
        <p:nvPicPr>
          <p:cNvPr descr="preencoded.png" id="141" name="Google Shape;141;p5"/>
          <p:cNvPicPr preferRelativeResize="0"/>
          <p:nvPr/>
        </p:nvPicPr>
        <p:blipFill rotWithShape="1">
          <a:blip r:embed="rId13">
            <a:alphaModFix/>
          </a:blip>
          <a:srcRect b="0" l="0" r="0" t="0"/>
          <a:stretch/>
        </p:blipFill>
        <p:spPr>
          <a:xfrm>
            <a:off x="5838676" y="1752600"/>
            <a:ext cx="514350" cy="457200"/>
          </a:xfrm>
          <a:prstGeom prst="rect">
            <a:avLst/>
          </a:prstGeom>
          <a:noFill/>
          <a:ln>
            <a:noFill/>
          </a:ln>
        </p:spPr>
      </p:pic>
      <p:pic>
        <p:nvPicPr>
          <p:cNvPr descr="preencoded.png" id="142" name="Google Shape;142;p5"/>
          <p:cNvPicPr preferRelativeResize="0"/>
          <p:nvPr/>
        </p:nvPicPr>
        <p:blipFill rotWithShape="1">
          <a:blip r:embed="rId14">
            <a:alphaModFix/>
          </a:blip>
          <a:srcRect b="0" l="0" r="0" t="0"/>
          <a:stretch/>
        </p:blipFill>
        <p:spPr>
          <a:xfrm>
            <a:off x="5305127" y="4991100"/>
            <a:ext cx="1581448" cy="342900"/>
          </a:xfrm>
          <a:prstGeom prst="rect">
            <a:avLst/>
          </a:prstGeom>
          <a:noFill/>
          <a:ln>
            <a:noFill/>
          </a:ln>
        </p:spPr>
      </p:pic>
      <p:pic>
        <p:nvPicPr>
          <p:cNvPr descr="preencoded.png" id="143" name="Google Shape;143;p5"/>
          <p:cNvPicPr preferRelativeResize="0"/>
          <p:nvPr/>
        </p:nvPicPr>
        <p:blipFill rotWithShape="1">
          <a:blip r:embed="rId15">
            <a:alphaModFix/>
          </a:blip>
          <a:srcRect b="0" l="0" r="0" t="0"/>
          <a:stretch/>
        </p:blipFill>
        <p:spPr>
          <a:xfrm>
            <a:off x="5457527" y="5086350"/>
            <a:ext cx="133350" cy="133350"/>
          </a:xfrm>
          <a:prstGeom prst="rect">
            <a:avLst/>
          </a:prstGeom>
          <a:noFill/>
          <a:ln>
            <a:noFill/>
          </a:ln>
        </p:spPr>
      </p:pic>
      <p:pic>
        <p:nvPicPr>
          <p:cNvPr descr="preencoded.png" id="144" name="Google Shape;144;p5"/>
          <p:cNvPicPr preferRelativeResize="0"/>
          <p:nvPr/>
        </p:nvPicPr>
        <p:blipFill rotWithShape="1">
          <a:blip r:embed="rId16">
            <a:alphaModFix/>
          </a:blip>
          <a:srcRect b="0" l="0" r="0" t="0"/>
          <a:stretch/>
        </p:blipFill>
        <p:spPr>
          <a:xfrm>
            <a:off x="8127950" y="1371600"/>
            <a:ext cx="3454301" cy="4191000"/>
          </a:xfrm>
          <a:prstGeom prst="rect">
            <a:avLst/>
          </a:prstGeom>
          <a:noFill/>
          <a:ln>
            <a:noFill/>
          </a:ln>
        </p:spPr>
      </p:pic>
      <p:pic>
        <p:nvPicPr>
          <p:cNvPr descr="preencoded.png" id="145" name="Google Shape;145;p5"/>
          <p:cNvPicPr preferRelativeResize="0"/>
          <p:nvPr/>
        </p:nvPicPr>
        <p:blipFill rotWithShape="1">
          <a:blip r:embed="rId17">
            <a:alphaModFix/>
          </a:blip>
          <a:srcRect b="0" l="0" r="0" t="0"/>
          <a:stretch/>
        </p:blipFill>
        <p:spPr>
          <a:xfrm>
            <a:off x="9474101" y="1600200"/>
            <a:ext cx="762000" cy="762000"/>
          </a:xfrm>
          <a:prstGeom prst="rect">
            <a:avLst/>
          </a:prstGeom>
          <a:noFill/>
          <a:ln>
            <a:noFill/>
          </a:ln>
        </p:spPr>
      </p:pic>
      <p:pic>
        <p:nvPicPr>
          <p:cNvPr descr="preencoded.png" id="146" name="Google Shape;146;p5"/>
          <p:cNvPicPr preferRelativeResize="0"/>
          <p:nvPr/>
        </p:nvPicPr>
        <p:blipFill rotWithShape="1">
          <a:blip r:embed="rId18">
            <a:alphaModFix/>
          </a:blip>
          <a:srcRect b="0" l="0" r="0" t="0"/>
          <a:stretch/>
        </p:blipFill>
        <p:spPr>
          <a:xfrm>
            <a:off x="9683651" y="1752600"/>
            <a:ext cx="342900" cy="457200"/>
          </a:xfrm>
          <a:prstGeom prst="rect">
            <a:avLst/>
          </a:prstGeom>
          <a:noFill/>
          <a:ln>
            <a:noFill/>
          </a:ln>
        </p:spPr>
      </p:pic>
      <p:pic>
        <p:nvPicPr>
          <p:cNvPr descr="preencoded.png" id="147" name="Google Shape;147;p5"/>
          <p:cNvPicPr preferRelativeResize="0"/>
          <p:nvPr/>
        </p:nvPicPr>
        <p:blipFill rotWithShape="1">
          <a:blip r:embed="rId19">
            <a:alphaModFix/>
          </a:blip>
          <a:srcRect b="0" l="0" r="0" t="0"/>
          <a:stretch/>
        </p:blipFill>
        <p:spPr>
          <a:xfrm>
            <a:off x="9043392" y="4991100"/>
            <a:ext cx="1623417" cy="342900"/>
          </a:xfrm>
          <a:prstGeom prst="rect">
            <a:avLst/>
          </a:prstGeom>
          <a:noFill/>
          <a:ln>
            <a:noFill/>
          </a:ln>
        </p:spPr>
      </p:pic>
      <p:pic>
        <p:nvPicPr>
          <p:cNvPr descr="preencoded.png" id="148" name="Google Shape;148;p5"/>
          <p:cNvPicPr preferRelativeResize="0"/>
          <p:nvPr/>
        </p:nvPicPr>
        <p:blipFill rotWithShape="1">
          <a:blip r:embed="rId20">
            <a:alphaModFix/>
          </a:blip>
          <a:srcRect b="0" l="0" r="0" t="0"/>
          <a:stretch/>
        </p:blipFill>
        <p:spPr>
          <a:xfrm>
            <a:off x="9195792" y="5086350"/>
            <a:ext cx="114300" cy="133350"/>
          </a:xfrm>
          <a:prstGeom prst="rect">
            <a:avLst/>
          </a:prstGeom>
          <a:noFill/>
          <a:ln>
            <a:noFill/>
          </a:ln>
        </p:spPr>
      </p:pic>
      <p:pic>
        <p:nvPicPr>
          <p:cNvPr descr="preencoded.png" id="149" name="Google Shape;149;p5"/>
          <p:cNvPicPr preferRelativeResize="0"/>
          <p:nvPr/>
        </p:nvPicPr>
        <p:blipFill rotWithShape="1">
          <a:blip r:embed="rId21">
            <a:alphaModFix/>
          </a:blip>
          <a:srcRect b="0" l="0" r="0" t="0"/>
          <a:stretch/>
        </p:blipFill>
        <p:spPr>
          <a:xfrm>
            <a:off x="609600" y="6429375"/>
            <a:ext cx="152400" cy="152400"/>
          </a:xfrm>
          <a:prstGeom prst="rect">
            <a:avLst/>
          </a:prstGeom>
          <a:noFill/>
          <a:ln>
            <a:noFill/>
          </a:ln>
        </p:spPr>
      </p:pic>
      <p:sp>
        <p:nvSpPr>
          <p:cNvPr id="150" name="Google Shape;150;p5"/>
          <p:cNvSpPr/>
          <p:nvPr/>
        </p:nvSpPr>
        <p:spPr>
          <a:xfrm>
            <a:off x="609600" y="3429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Khả năng Phần cứng của AutoSecure</a:t>
            </a:r>
            <a:endParaRPr b="0" i="0" sz="2700" u="none" cap="none" strike="noStrike">
              <a:solidFill>
                <a:schemeClr val="dk1"/>
              </a:solidFill>
              <a:latin typeface="Calibri"/>
              <a:ea typeface="Calibri"/>
              <a:cs typeface="Calibri"/>
              <a:sym typeface="Calibri"/>
            </a:endParaRPr>
          </a:p>
        </p:txBody>
      </p:sp>
      <p:sp>
        <p:nvSpPr>
          <p:cNvPr id="151" name="Google Shape;151;p5"/>
          <p:cNvSpPr/>
          <p:nvPr/>
        </p:nvSpPr>
        <p:spPr>
          <a:xfrm>
            <a:off x="538490" y="2590800"/>
            <a:ext cx="3596521"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kết nối 4G tốc độ cao</a:t>
            </a:r>
            <a:endParaRPr b="0" i="0" sz="1800" u="none" cap="none" strike="noStrike">
              <a:solidFill>
                <a:schemeClr val="dk1"/>
              </a:solidFill>
              <a:latin typeface="Calibri"/>
              <a:ea typeface="Calibri"/>
              <a:cs typeface="Calibri"/>
              <a:sym typeface="Calibri"/>
            </a:endParaRPr>
          </a:p>
        </p:txBody>
      </p:sp>
      <p:sp>
        <p:nvSpPr>
          <p:cNvPr id="152" name="Google Shape;152;p5"/>
          <p:cNvSpPr/>
          <p:nvPr/>
        </p:nvSpPr>
        <p:spPr>
          <a:xfrm>
            <a:off x="838200" y="3048000"/>
            <a:ext cx="2997101" cy="17907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Hỗ trợ truyền dữ liệu và video thời gian thực, đảm bảo truy cập ngay lập tức vào thông tin quan trọng. Kết nối ổn định cho phép hệ thống hoạt động hiệu quả ngay cả khi đang di chuyển.</a:t>
            </a:r>
            <a:endParaRPr b="0" i="0" sz="1200" u="none" cap="none" strike="noStrike">
              <a:solidFill>
                <a:schemeClr val="dk1"/>
              </a:solidFill>
              <a:latin typeface="Calibri"/>
              <a:ea typeface="Calibri"/>
              <a:cs typeface="Calibri"/>
              <a:sym typeface="Calibri"/>
            </a:endParaRPr>
          </a:p>
        </p:txBody>
      </p:sp>
      <p:sp>
        <p:nvSpPr>
          <p:cNvPr id="153" name="Google Shape;153;p5"/>
          <p:cNvSpPr/>
          <p:nvPr/>
        </p:nvSpPr>
        <p:spPr>
          <a:xfrm>
            <a:off x="2026146" y="4991100"/>
            <a:ext cx="1545550" cy="3429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Tốc độ cao</a:t>
            </a:r>
            <a:endParaRPr b="0" i="0" sz="1050" u="none" cap="none" strike="noStrike">
              <a:solidFill>
                <a:schemeClr val="dk1"/>
              </a:solidFill>
              <a:latin typeface="Calibri"/>
              <a:ea typeface="Calibri"/>
              <a:cs typeface="Calibri"/>
              <a:sym typeface="Calibri"/>
            </a:endParaRPr>
          </a:p>
        </p:txBody>
      </p:sp>
      <p:sp>
        <p:nvSpPr>
          <p:cNvPr id="154" name="Google Shape;154;p5"/>
          <p:cNvSpPr/>
          <p:nvPr/>
        </p:nvSpPr>
        <p:spPr>
          <a:xfrm>
            <a:off x="4597301" y="2590800"/>
            <a:ext cx="2997250" cy="609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Accelerometer tích hợp</a:t>
            </a:r>
            <a:endParaRPr b="0" i="0" sz="1800" u="none" cap="none" strike="noStrike">
              <a:solidFill>
                <a:schemeClr val="dk1"/>
              </a:solidFill>
              <a:latin typeface="Calibri"/>
              <a:ea typeface="Calibri"/>
              <a:cs typeface="Calibri"/>
              <a:sym typeface="Calibri"/>
            </a:endParaRPr>
          </a:p>
        </p:txBody>
      </p:sp>
      <p:sp>
        <p:nvSpPr>
          <p:cNvPr id="155" name="Google Shape;155;p5"/>
          <p:cNvSpPr/>
          <p:nvPr/>
        </p:nvSpPr>
        <p:spPr>
          <a:xfrm>
            <a:off x="4597301" y="3352800"/>
            <a:ext cx="2997250" cy="14859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Tự động khóa và bảo vệ video khi phát hiện các sự kiện nghiêm critical như phanh gấp, chuyển hướng sắc, tăng tốc nhanh hoặc va chạm. Garanti ensures continuous monitoring and data integrity.</a:t>
            </a:r>
            <a:endParaRPr b="0" i="0" sz="1200" u="none" cap="none" strike="noStrike">
              <a:solidFill>
                <a:schemeClr val="dk1"/>
              </a:solidFill>
              <a:latin typeface="Calibri"/>
              <a:ea typeface="Calibri"/>
              <a:cs typeface="Calibri"/>
              <a:sym typeface="Calibri"/>
            </a:endParaRPr>
          </a:p>
        </p:txBody>
      </p:sp>
      <p:sp>
        <p:nvSpPr>
          <p:cNvPr id="156" name="Google Shape;156;p5"/>
          <p:cNvSpPr/>
          <p:nvPr/>
        </p:nvSpPr>
        <p:spPr>
          <a:xfrm>
            <a:off x="5667077" y="4991100"/>
            <a:ext cx="1897737" cy="3429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Bảo vệ dữ liệu</a:t>
            </a:r>
            <a:endParaRPr b="0" i="0" sz="1050" u="none" cap="none" strike="noStrike">
              <a:solidFill>
                <a:schemeClr val="dk1"/>
              </a:solidFill>
              <a:latin typeface="Calibri"/>
              <a:ea typeface="Calibri"/>
              <a:cs typeface="Calibri"/>
              <a:sym typeface="Calibri"/>
            </a:endParaRPr>
          </a:p>
        </p:txBody>
      </p:sp>
      <p:sp>
        <p:nvSpPr>
          <p:cNvPr id="157" name="Google Shape;157;p5"/>
          <p:cNvSpPr/>
          <p:nvPr/>
        </p:nvSpPr>
        <p:spPr>
          <a:xfrm>
            <a:off x="8356550" y="2590800"/>
            <a:ext cx="2997101" cy="609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Theo dõi GPS thời gian thực</a:t>
            </a:r>
            <a:endParaRPr b="0" i="0" sz="1800" u="none" cap="none" strike="noStrike">
              <a:solidFill>
                <a:schemeClr val="dk1"/>
              </a:solidFill>
              <a:latin typeface="Calibri"/>
              <a:ea typeface="Calibri"/>
              <a:cs typeface="Calibri"/>
              <a:sym typeface="Calibri"/>
            </a:endParaRPr>
          </a:p>
        </p:txBody>
      </p:sp>
      <p:sp>
        <p:nvSpPr>
          <p:cNvPr id="158" name="Google Shape;158;p5"/>
          <p:cNvSpPr/>
          <p:nvPr/>
        </p:nvSpPr>
        <p:spPr>
          <a:xfrm>
            <a:off x="8356550" y="3352800"/>
            <a:ext cx="2997101" cy="14859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Cung cấp dữ liệu vị trí chính xác cho quản lý fleet hiệu quả và tối ưu hóa tuyến đường. Hệ thống theo dõi GPS đảm bảo bạn luôn biết được vị trí chính xác của phương tiện.</a:t>
            </a:r>
            <a:endParaRPr b="0" i="0" sz="1200" u="none" cap="none" strike="noStrike">
              <a:solidFill>
                <a:schemeClr val="dk1"/>
              </a:solidFill>
              <a:latin typeface="Calibri"/>
              <a:ea typeface="Calibri"/>
              <a:cs typeface="Calibri"/>
              <a:sym typeface="Calibri"/>
            </a:endParaRPr>
          </a:p>
        </p:txBody>
      </p:sp>
      <p:sp>
        <p:nvSpPr>
          <p:cNvPr id="159" name="Google Shape;159;p5"/>
          <p:cNvSpPr/>
          <p:nvPr/>
        </p:nvSpPr>
        <p:spPr>
          <a:xfrm>
            <a:off x="9386292" y="4991100"/>
            <a:ext cx="1948101" cy="3429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050"/>
              <a:buFont typeface="Arial"/>
              <a:buNone/>
            </a:pPr>
            <a:r>
              <a:rPr b="1" i="0" lang="en-US" sz="1050" u="none" cap="none" strike="noStrike">
                <a:solidFill>
                  <a:srgbClr val="FFFFFF"/>
                </a:solidFill>
                <a:latin typeface="Arial"/>
                <a:ea typeface="Arial"/>
                <a:cs typeface="Arial"/>
                <a:sym typeface="Arial"/>
              </a:rPr>
              <a:t>Vị trí chính xác</a:t>
            </a:r>
            <a:endParaRPr b="0" i="0" sz="1050" u="none" cap="none" strike="noStrike">
              <a:solidFill>
                <a:schemeClr val="dk1"/>
              </a:solidFill>
              <a:latin typeface="Calibri"/>
              <a:ea typeface="Calibri"/>
              <a:cs typeface="Calibri"/>
              <a:sym typeface="Calibri"/>
            </a:endParaRPr>
          </a:p>
        </p:txBody>
      </p:sp>
      <p:sp>
        <p:nvSpPr>
          <p:cNvPr id="160" name="Google Shape;160;p5"/>
          <p:cNvSpPr/>
          <p:nvPr/>
        </p:nvSpPr>
        <p:spPr>
          <a:xfrm>
            <a:off x="838200" y="6400800"/>
            <a:ext cx="475559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AutoSecure - Giải pháp quản lý fleet thông minh</a:t>
            </a:r>
            <a:endParaRPr b="0" i="0" sz="1200" u="none" cap="none" strike="noStrike">
              <a:solidFill>
                <a:schemeClr val="dk1"/>
              </a:solidFill>
              <a:latin typeface="Calibri"/>
              <a:ea typeface="Calibri"/>
              <a:cs typeface="Calibri"/>
              <a:sym typeface="Calibri"/>
            </a:endParaRPr>
          </a:p>
        </p:txBody>
      </p:sp>
      <p:sp>
        <p:nvSpPr>
          <p:cNvPr id="161" name="Google Shape;161;p5"/>
          <p:cNvSpPr/>
          <p:nvPr/>
        </p:nvSpPr>
        <p:spPr>
          <a:xfrm>
            <a:off x="11208544" y="6419850"/>
            <a:ext cx="448628" cy="18097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1" i="0" lang="en-US" sz="1200" u="none" cap="none" strike="noStrike">
                <a:solidFill>
                  <a:srgbClr val="6B7280"/>
                </a:solidFill>
                <a:latin typeface="Arial"/>
                <a:ea typeface="Arial"/>
                <a:cs typeface="Arial"/>
                <a:sym typeface="Arial"/>
              </a:rPr>
              <a:t>5/14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preencoded.png" id="167" name="Google Shape;167;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68" name="Google Shape;168;p6"/>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169" name="Google Shape;169;p6"/>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170" name="Google Shape;170;p6"/>
          <p:cNvPicPr preferRelativeResize="0"/>
          <p:nvPr/>
        </p:nvPicPr>
        <p:blipFill rotWithShape="1">
          <a:blip r:embed="rId6">
            <a:alphaModFix/>
          </a:blip>
          <a:srcRect b="0" l="0" r="0" t="0"/>
          <a:stretch/>
        </p:blipFill>
        <p:spPr>
          <a:xfrm>
            <a:off x="609600" y="2605088"/>
            <a:ext cx="5334000" cy="1409700"/>
          </a:xfrm>
          <a:prstGeom prst="rect">
            <a:avLst/>
          </a:prstGeom>
          <a:noFill/>
          <a:ln>
            <a:noFill/>
          </a:ln>
        </p:spPr>
      </p:pic>
      <p:pic>
        <p:nvPicPr>
          <p:cNvPr descr="preencoded.png" id="171" name="Google Shape;171;p6"/>
          <p:cNvPicPr preferRelativeResize="0"/>
          <p:nvPr/>
        </p:nvPicPr>
        <p:blipFill rotWithShape="1">
          <a:blip r:embed="rId7">
            <a:alphaModFix/>
          </a:blip>
          <a:srcRect b="0" l="0" r="0" t="0"/>
          <a:stretch/>
        </p:blipFill>
        <p:spPr>
          <a:xfrm>
            <a:off x="800100" y="2795588"/>
            <a:ext cx="571500" cy="571500"/>
          </a:xfrm>
          <a:prstGeom prst="rect">
            <a:avLst/>
          </a:prstGeom>
          <a:noFill/>
          <a:ln>
            <a:noFill/>
          </a:ln>
        </p:spPr>
      </p:pic>
      <p:pic>
        <p:nvPicPr>
          <p:cNvPr descr="preencoded.png" id="172" name="Google Shape;172;p6"/>
          <p:cNvPicPr preferRelativeResize="0"/>
          <p:nvPr/>
        </p:nvPicPr>
        <p:blipFill rotWithShape="1">
          <a:blip r:embed="rId8">
            <a:alphaModFix/>
          </a:blip>
          <a:srcRect b="0" l="0" r="0" t="0"/>
          <a:stretch/>
        </p:blipFill>
        <p:spPr>
          <a:xfrm>
            <a:off x="971550" y="2967038"/>
            <a:ext cx="228600" cy="228600"/>
          </a:xfrm>
          <a:prstGeom prst="rect">
            <a:avLst/>
          </a:prstGeom>
          <a:noFill/>
          <a:ln>
            <a:noFill/>
          </a:ln>
        </p:spPr>
      </p:pic>
      <p:pic>
        <p:nvPicPr>
          <p:cNvPr descr="preencoded.png" id="173" name="Google Shape;173;p6"/>
          <p:cNvPicPr preferRelativeResize="0"/>
          <p:nvPr/>
        </p:nvPicPr>
        <p:blipFill rotWithShape="1">
          <a:blip r:embed="rId6">
            <a:alphaModFix/>
          </a:blip>
          <a:srcRect b="0" l="0" r="0" t="0"/>
          <a:stretch/>
        </p:blipFill>
        <p:spPr>
          <a:xfrm>
            <a:off x="6248400" y="2605088"/>
            <a:ext cx="5334000" cy="1409700"/>
          </a:xfrm>
          <a:prstGeom prst="rect">
            <a:avLst/>
          </a:prstGeom>
          <a:noFill/>
          <a:ln>
            <a:noFill/>
          </a:ln>
        </p:spPr>
      </p:pic>
      <p:pic>
        <p:nvPicPr>
          <p:cNvPr descr="preencoded.png" id="174" name="Google Shape;174;p6"/>
          <p:cNvPicPr preferRelativeResize="0"/>
          <p:nvPr/>
        </p:nvPicPr>
        <p:blipFill rotWithShape="1">
          <a:blip r:embed="rId9">
            <a:alphaModFix/>
          </a:blip>
          <a:srcRect b="0" l="0" r="0" t="0"/>
          <a:stretch/>
        </p:blipFill>
        <p:spPr>
          <a:xfrm>
            <a:off x="6438900" y="2795588"/>
            <a:ext cx="571500" cy="571500"/>
          </a:xfrm>
          <a:prstGeom prst="rect">
            <a:avLst/>
          </a:prstGeom>
          <a:noFill/>
          <a:ln>
            <a:noFill/>
          </a:ln>
        </p:spPr>
      </p:pic>
      <p:pic>
        <p:nvPicPr>
          <p:cNvPr descr="preencoded.png" id="175" name="Google Shape;175;p6"/>
          <p:cNvPicPr preferRelativeResize="0"/>
          <p:nvPr/>
        </p:nvPicPr>
        <p:blipFill rotWithShape="1">
          <a:blip r:embed="rId10">
            <a:alphaModFix/>
          </a:blip>
          <a:srcRect b="0" l="0" r="0" t="0"/>
          <a:stretch/>
        </p:blipFill>
        <p:spPr>
          <a:xfrm>
            <a:off x="6610350" y="2967038"/>
            <a:ext cx="228600" cy="228600"/>
          </a:xfrm>
          <a:prstGeom prst="rect">
            <a:avLst/>
          </a:prstGeom>
          <a:noFill/>
          <a:ln>
            <a:noFill/>
          </a:ln>
        </p:spPr>
      </p:pic>
      <p:pic>
        <p:nvPicPr>
          <p:cNvPr descr="preencoded.png" id="176" name="Google Shape;176;p6"/>
          <p:cNvPicPr preferRelativeResize="0"/>
          <p:nvPr/>
        </p:nvPicPr>
        <p:blipFill rotWithShape="1">
          <a:blip r:embed="rId11">
            <a:alphaModFix/>
          </a:blip>
          <a:srcRect b="0" l="0" r="0" t="0"/>
          <a:stretch/>
        </p:blipFill>
        <p:spPr>
          <a:xfrm>
            <a:off x="609600" y="4319588"/>
            <a:ext cx="10972800" cy="1714500"/>
          </a:xfrm>
          <a:prstGeom prst="rect">
            <a:avLst/>
          </a:prstGeom>
          <a:noFill/>
          <a:ln>
            <a:noFill/>
          </a:ln>
        </p:spPr>
      </p:pic>
      <p:pic>
        <p:nvPicPr>
          <p:cNvPr descr="preencoded.png" id="177" name="Google Shape;177;p6"/>
          <p:cNvPicPr preferRelativeResize="0"/>
          <p:nvPr/>
        </p:nvPicPr>
        <p:blipFill rotWithShape="1">
          <a:blip r:embed="rId12">
            <a:alphaModFix/>
          </a:blip>
          <a:srcRect b="0" l="0" r="0" t="0"/>
          <a:stretch/>
        </p:blipFill>
        <p:spPr>
          <a:xfrm>
            <a:off x="1866900" y="5005388"/>
            <a:ext cx="457200" cy="457200"/>
          </a:xfrm>
          <a:prstGeom prst="rect">
            <a:avLst/>
          </a:prstGeom>
          <a:noFill/>
          <a:ln>
            <a:noFill/>
          </a:ln>
        </p:spPr>
      </p:pic>
      <p:pic>
        <p:nvPicPr>
          <p:cNvPr descr="preencoded.png" id="178" name="Google Shape;178;p6"/>
          <p:cNvPicPr preferRelativeResize="0"/>
          <p:nvPr/>
        </p:nvPicPr>
        <p:blipFill rotWithShape="1">
          <a:blip r:embed="rId13">
            <a:alphaModFix/>
          </a:blip>
          <a:srcRect b="0" l="0" r="0" t="0"/>
          <a:stretch/>
        </p:blipFill>
        <p:spPr>
          <a:xfrm>
            <a:off x="1976438" y="5100638"/>
            <a:ext cx="238125" cy="266700"/>
          </a:xfrm>
          <a:prstGeom prst="rect">
            <a:avLst/>
          </a:prstGeom>
          <a:noFill/>
          <a:ln>
            <a:noFill/>
          </a:ln>
        </p:spPr>
      </p:pic>
      <p:pic>
        <p:nvPicPr>
          <p:cNvPr descr="preencoded.png" id="179" name="Google Shape;179;p6"/>
          <p:cNvPicPr preferRelativeResize="0"/>
          <p:nvPr/>
        </p:nvPicPr>
        <p:blipFill rotWithShape="1">
          <a:blip r:embed="rId14">
            <a:alphaModFix/>
          </a:blip>
          <a:srcRect b="0" l="0" r="0" t="0"/>
          <a:stretch/>
        </p:blipFill>
        <p:spPr>
          <a:xfrm>
            <a:off x="4533900" y="5005388"/>
            <a:ext cx="457200" cy="457200"/>
          </a:xfrm>
          <a:prstGeom prst="rect">
            <a:avLst/>
          </a:prstGeom>
          <a:noFill/>
          <a:ln>
            <a:noFill/>
          </a:ln>
        </p:spPr>
      </p:pic>
      <p:pic>
        <p:nvPicPr>
          <p:cNvPr descr="preencoded.png" id="180" name="Google Shape;180;p6"/>
          <p:cNvPicPr preferRelativeResize="0"/>
          <p:nvPr/>
        </p:nvPicPr>
        <p:blipFill rotWithShape="1">
          <a:blip r:embed="rId15">
            <a:alphaModFix/>
          </a:blip>
          <a:srcRect b="0" l="0" r="0" t="0"/>
          <a:stretch/>
        </p:blipFill>
        <p:spPr>
          <a:xfrm>
            <a:off x="4643438" y="5100638"/>
            <a:ext cx="238125" cy="266700"/>
          </a:xfrm>
          <a:prstGeom prst="rect">
            <a:avLst/>
          </a:prstGeom>
          <a:noFill/>
          <a:ln>
            <a:noFill/>
          </a:ln>
        </p:spPr>
      </p:pic>
      <p:pic>
        <p:nvPicPr>
          <p:cNvPr descr="preencoded.png" id="181" name="Google Shape;181;p6"/>
          <p:cNvPicPr preferRelativeResize="0"/>
          <p:nvPr/>
        </p:nvPicPr>
        <p:blipFill rotWithShape="1">
          <a:blip r:embed="rId16">
            <a:alphaModFix/>
          </a:blip>
          <a:srcRect b="0" l="0" r="0" t="0"/>
          <a:stretch/>
        </p:blipFill>
        <p:spPr>
          <a:xfrm>
            <a:off x="7200900" y="5005388"/>
            <a:ext cx="457200" cy="457200"/>
          </a:xfrm>
          <a:prstGeom prst="rect">
            <a:avLst/>
          </a:prstGeom>
          <a:noFill/>
          <a:ln>
            <a:noFill/>
          </a:ln>
        </p:spPr>
      </p:pic>
      <p:pic>
        <p:nvPicPr>
          <p:cNvPr descr="preencoded.png" id="182" name="Google Shape;182;p6"/>
          <p:cNvPicPr preferRelativeResize="0"/>
          <p:nvPr/>
        </p:nvPicPr>
        <p:blipFill rotWithShape="1">
          <a:blip r:embed="rId17">
            <a:alphaModFix/>
          </a:blip>
          <a:srcRect b="0" l="0" r="0" t="0"/>
          <a:stretch/>
        </p:blipFill>
        <p:spPr>
          <a:xfrm>
            <a:off x="7319963" y="5100638"/>
            <a:ext cx="219075" cy="266700"/>
          </a:xfrm>
          <a:prstGeom prst="rect">
            <a:avLst/>
          </a:prstGeom>
          <a:noFill/>
          <a:ln>
            <a:noFill/>
          </a:ln>
        </p:spPr>
      </p:pic>
      <p:pic>
        <p:nvPicPr>
          <p:cNvPr descr="preencoded.png" id="183" name="Google Shape;183;p6"/>
          <p:cNvPicPr preferRelativeResize="0"/>
          <p:nvPr/>
        </p:nvPicPr>
        <p:blipFill rotWithShape="1">
          <a:blip r:embed="rId12">
            <a:alphaModFix/>
          </a:blip>
          <a:srcRect b="0" l="0" r="0" t="0"/>
          <a:stretch/>
        </p:blipFill>
        <p:spPr>
          <a:xfrm>
            <a:off x="9867900" y="5005388"/>
            <a:ext cx="457200" cy="457200"/>
          </a:xfrm>
          <a:prstGeom prst="rect">
            <a:avLst/>
          </a:prstGeom>
          <a:noFill/>
          <a:ln>
            <a:noFill/>
          </a:ln>
        </p:spPr>
      </p:pic>
      <p:pic>
        <p:nvPicPr>
          <p:cNvPr descr="preencoded.png" id="184" name="Google Shape;184;p6"/>
          <p:cNvPicPr preferRelativeResize="0"/>
          <p:nvPr/>
        </p:nvPicPr>
        <p:blipFill rotWithShape="1">
          <a:blip r:embed="rId18">
            <a:alphaModFix/>
          </a:blip>
          <a:srcRect b="0" l="0" r="0" t="0"/>
          <a:stretch/>
        </p:blipFill>
        <p:spPr>
          <a:xfrm>
            <a:off x="9986963" y="5100638"/>
            <a:ext cx="219075" cy="266700"/>
          </a:xfrm>
          <a:prstGeom prst="rect">
            <a:avLst/>
          </a:prstGeom>
          <a:noFill/>
          <a:ln>
            <a:noFill/>
          </a:ln>
        </p:spPr>
      </p:pic>
      <p:pic>
        <p:nvPicPr>
          <p:cNvPr descr="preencoded.png" id="185" name="Google Shape;185;p6"/>
          <p:cNvPicPr preferRelativeResize="0"/>
          <p:nvPr/>
        </p:nvPicPr>
        <p:blipFill rotWithShape="1">
          <a:blip r:embed="rId19">
            <a:alphaModFix/>
          </a:blip>
          <a:srcRect b="0" l="0" r="0" t="0"/>
          <a:stretch/>
        </p:blipFill>
        <p:spPr>
          <a:xfrm>
            <a:off x="609600" y="6505575"/>
            <a:ext cx="152400" cy="152400"/>
          </a:xfrm>
          <a:prstGeom prst="rect">
            <a:avLst/>
          </a:prstGeom>
          <a:noFill/>
          <a:ln>
            <a:noFill/>
          </a:ln>
        </p:spPr>
      </p:pic>
      <p:pic>
        <p:nvPicPr>
          <p:cNvPr descr="preencoded.png" id="186" name="Google Shape;186;p6"/>
          <p:cNvPicPr preferRelativeResize="0"/>
          <p:nvPr/>
        </p:nvPicPr>
        <p:blipFill rotWithShape="1">
          <a:blip r:embed="rId20">
            <a:alphaModFix/>
          </a:blip>
          <a:srcRect b="0" l="0" r="0" t="0"/>
          <a:stretch/>
        </p:blipFill>
        <p:spPr>
          <a:xfrm>
            <a:off x="9080004" y="6505575"/>
            <a:ext cx="152400" cy="152400"/>
          </a:xfrm>
          <a:prstGeom prst="rect">
            <a:avLst/>
          </a:prstGeom>
          <a:noFill/>
          <a:ln>
            <a:noFill/>
          </a:ln>
        </p:spPr>
      </p:pic>
      <p:sp>
        <p:nvSpPr>
          <p:cNvPr id="187" name="Google Shape;187;p6"/>
          <p:cNvSpPr/>
          <p:nvPr/>
        </p:nvSpPr>
        <p:spPr>
          <a:xfrm>
            <a:off x="609600" y="3429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Hệ thống Giám sát Tài xế (DMS)</a:t>
            </a:r>
            <a:endParaRPr b="0" i="0" sz="2700" u="none" cap="none" strike="noStrike">
              <a:solidFill>
                <a:schemeClr val="dk1"/>
              </a:solidFill>
              <a:latin typeface="Calibri"/>
              <a:ea typeface="Calibri"/>
              <a:cs typeface="Calibri"/>
              <a:sym typeface="Calibri"/>
            </a:endParaRPr>
          </a:p>
        </p:txBody>
      </p:sp>
      <p:sp>
        <p:nvSpPr>
          <p:cNvPr id="188" name="Google Shape;188;p6"/>
          <p:cNvSpPr/>
          <p:nvPr/>
        </p:nvSpPr>
        <p:spPr>
          <a:xfrm>
            <a:off x="609600" y="1371600"/>
            <a:ext cx="10972800" cy="928688"/>
          </a:xfrm>
          <a:prstGeom prst="rect">
            <a:avLst/>
          </a:prstGeom>
          <a:noFill/>
          <a:ln>
            <a:noFill/>
          </a:ln>
        </p:spPr>
        <p:txBody>
          <a:bodyPr anchorCtr="0" anchor="t" bIns="0" lIns="0" spcFirstLastPara="1" rIns="0" wrap="square" tIns="0">
            <a:noAutofit/>
          </a:bodyPr>
          <a:lstStyle/>
          <a:p>
            <a:pPr indent="0" lvl="0" marL="0" marR="0" rtl="0" algn="l">
              <a:lnSpc>
                <a:spcPct val="162533"/>
              </a:lnSpc>
              <a:spcBef>
                <a:spcPts val="0"/>
              </a:spcBef>
              <a:spcAft>
                <a:spcPts val="0"/>
              </a:spcAft>
              <a:buClr>
                <a:srgbClr val="374151"/>
              </a:buClr>
              <a:buSzPts val="1500"/>
              <a:buFont typeface="Arial"/>
              <a:buNone/>
            </a:pPr>
            <a:r>
              <a:rPr b="0" i="0" lang="en-US" sz="1500" u="none" cap="none" strike="noStrike">
                <a:solidFill>
                  <a:srgbClr val="374151"/>
                </a:solidFill>
                <a:latin typeface="Arial"/>
                <a:ea typeface="Arial"/>
                <a:cs typeface="Arial"/>
                <a:sym typeface="Arial"/>
              </a:rPr>
              <a:t>Hệ thống Giám sát Tài xế (DMS) là thành phần cốt lõi của AutoSecure, sử dụng chip AI và camera để giám sát hành vi của tài xế thời gian thực. Hệ thống hoạt động như một "trợ lý an toàn", tự động cảnh báo và ghi lại các sự kiện khi phát hiện thấy các hành vi nguy hiểm.</a:t>
            </a:r>
            <a:endParaRPr b="0" i="0" sz="1500" u="none" cap="none" strike="noStrike">
              <a:solidFill>
                <a:schemeClr val="dk1"/>
              </a:solidFill>
              <a:latin typeface="Calibri"/>
              <a:ea typeface="Calibri"/>
              <a:cs typeface="Calibri"/>
              <a:sym typeface="Calibri"/>
            </a:endParaRPr>
          </a:p>
        </p:txBody>
      </p:sp>
      <p:sp>
        <p:nvSpPr>
          <p:cNvPr id="189" name="Google Shape;189;p6"/>
          <p:cNvSpPr/>
          <p:nvPr/>
        </p:nvSpPr>
        <p:spPr>
          <a:xfrm>
            <a:off x="1524000" y="2795588"/>
            <a:ext cx="507492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Công nghệ AI Tiên tiến</a:t>
            </a:r>
            <a:endParaRPr b="0" i="0" sz="1500" u="none" cap="none" strike="noStrike">
              <a:solidFill>
                <a:schemeClr val="dk1"/>
              </a:solidFill>
              <a:latin typeface="Calibri"/>
              <a:ea typeface="Calibri"/>
              <a:cs typeface="Calibri"/>
              <a:sym typeface="Calibri"/>
            </a:endParaRPr>
          </a:p>
        </p:txBody>
      </p:sp>
      <p:sp>
        <p:nvSpPr>
          <p:cNvPr id="190" name="Google Shape;190;p6"/>
          <p:cNvSpPr/>
          <p:nvPr/>
        </p:nvSpPr>
        <p:spPr>
          <a:xfrm>
            <a:off x="1524000" y="3138488"/>
            <a:ext cx="42291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Sử dụng chip AI để phân tích hành vi tài xế thời gian thực, phát hiện các hành vi nguy hiểm và tự động lưu trữ video khi sự kiện xảy ra.</a:t>
            </a:r>
            <a:endParaRPr b="0" i="0" sz="1200" u="none" cap="none" strike="noStrike">
              <a:solidFill>
                <a:schemeClr val="dk1"/>
              </a:solidFill>
              <a:latin typeface="Calibri"/>
              <a:ea typeface="Calibri"/>
              <a:cs typeface="Calibri"/>
              <a:sym typeface="Calibri"/>
            </a:endParaRPr>
          </a:p>
        </p:txBody>
      </p:sp>
      <p:sp>
        <p:nvSpPr>
          <p:cNvPr id="191" name="Google Shape;191;p6"/>
          <p:cNvSpPr/>
          <p:nvPr/>
        </p:nvSpPr>
        <p:spPr>
          <a:xfrm>
            <a:off x="7162800" y="2795588"/>
            <a:ext cx="4229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Chức năng An toàn</a:t>
            </a:r>
            <a:endParaRPr b="0" i="0" sz="1500" u="none" cap="none" strike="noStrike">
              <a:solidFill>
                <a:schemeClr val="dk1"/>
              </a:solidFill>
              <a:latin typeface="Calibri"/>
              <a:ea typeface="Calibri"/>
              <a:cs typeface="Calibri"/>
              <a:sym typeface="Calibri"/>
            </a:endParaRPr>
          </a:p>
        </p:txBody>
      </p:sp>
      <p:sp>
        <p:nvSpPr>
          <p:cNvPr id="192" name="Google Shape;192;p6"/>
          <p:cNvSpPr/>
          <p:nvPr/>
        </p:nvSpPr>
        <p:spPr>
          <a:xfrm>
            <a:off x="7162800" y="3138488"/>
            <a:ext cx="42291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Hệ thống hoạt động như một "trợ lý an toàn", tự động cảnh báo và ghi lại các sự kiện khi phát hiện thấy các hành vi nguy hiểm.</a:t>
            </a:r>
            <a:endParaRPr b="0" i="0" sz="1200" u="none" cap="none" strike="noStrike">
              <a:solidFill>
                <a:schemeClr val="dk1"/>
              </a:solidFill>
              <a:latin typeface="Calibri"/>
              <a:ea typeface="Calibri"/>
              <a:cs typeface="Calibri"/>
              <a:sym typeface="Calibri"/>
            </a:endParaRPr>
          </a:p>
        </p:txBody>
      </p:sp>
      <p:sp>
        <p:nvSpPr>
          <p:cNvPr id="193" name="Google Shape;193;p6"/>
          <p:cNvSpPr/>
          <p:nvPr/>
        </p:nvSpPr>
        <p:spPr>
          <a:xfrm>
            <a:off x="838200" y="4548188"/>
            <a:ext cx="105156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Ứng dụng cho các loại hình vận chuyển</a:t>
            </a:r>
            <a:endParaRPr b="0" i="0" sz="1800" u="none" cap="none" strike="noStrike">
              <a:solidFill>
                <a:schemeClr val="dk1"/>
              </a:solidFill>
              <a:latin typeface="Calibri"/>
              <a:ea typeface="Calibri"/>
              <a:cs typeface="Calibri"/>
              <a:sym typeface="Calibri"/>
            </a:endParaRPr>
          </a:p>
        </p:txBody>
      </p:sp>
      <p:sp>
        <p:nvSpPr>
          <p:cNvPr id="194" name="Google Shape;194;p6"/>
          <p:cNvSpPr/>
          <p:nvPr/>
        </p:nvSpPr>
        <p:spPr>
          <a:xfrm>
            <a:off x="1185758" y="5576888"/>
            <a:ext cx="1819335"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Vận chuyển dài hạn</a:t>
            </a:r>
            <a:endParaRPr b="0" i="0" sz="1200" u="none" cap="none" strike="noStrike">
              <a:solidFill>
                <a:schemeClr val="dk1"/>
              </a:solidFill>
              <a:latin typeface="Calibri"/>
              <a:ea typeface="Calibri"/>
              <a:cs typeface="Calibri"/>
              <a:sym typeface="Calibri"/>
            </a:endParaRPr>
          </a:p>
        </p:txBody>
      </p:sp>
      <p:sp>
        <p:nvSpPr>
          <p:cNvPr id="195" name="Google Shape;195;p6"/>
          <p:cNvSpPr/>
          <p:nvPr/>
        </p:nvSpPr>
        <p:spPr>
          <a:xfrm>
            <a:off x="4185300" y="5576888"/>
            <a:ext cx="1154251"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Xe container</a:t>
            </a:r>
            <a:endParaRPr b="0" i="0" sz="1200" u="none" cap="none" strike="noStrike">
              <a:solidFill>
                <a:schemeClr val="dk1"/>
              </a:solidFill>
              <a:latin typeface="Calibri"/>
              <a:ea typeface="Calibri"/>
              <a:cs typeface="Calibri"/>
              <a:sym typeface="Calibri"/>
            </a:endParaRPr>
          </a:p>
        </p:txBody>
      </p:sp>
      <p:sp>
        <p:nvSpPr>
          <p:cNvPr id="196" name="Google Shape;196;p6"/>
          <p:cNvSpPr/>
          <p:nvPr/>
        </p:nvSpPr>
        <p:spPr>
          <a:xfrm>
            <a:off x="7114118" y="5576888"/>
            <a:ext cx="630615"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Xe taxi</a:t>
            </a:r>
            <a:endParaRPr b="0" i="0" sz="1200" u="none" cap="none" strike="noStrike">
              <a:solidFill>
                <a:schemeClr val="dk1"/>
              </a:solidFill>
              <a:latin typeface="Calibri"/>
              <a:ea typeface="Calibri"/>
              <a:cs typeface="Calibri"/>
              <a:sym typeface="Calibri"/>
            </a:endParaRPr>
          </a:p>
        </p:txBody>
      </p:sp>
      <p:sp>
        <p:nvSpPr>
          <p:cNvPr id="197" name="Google Shape;197;p6"/>
          <p:cNvSpPr/>
          <p:nvPr/>
        </p:nvSpPr>
        <p:spPr>
          <a:xfrm>
            <a:off x="9677355" y="5576888"/>
            <a:ext cx="83814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Xe khách</a:t>
            </a:r>
            <a:endParaRPr b="0" i="0" sz="1200" u="none" cap="none" strike="noStrike">
              <a:solidFill>
                <a:schemeClr val="dk1"/>
              </a:solidFill>
              <a:latin typeface="Calibri"/>
              <a:ea typeface="Calibri"/>
              <a:cs typeface="Calibri"/>
              <a:sym typeface="Calibri"/>
            </a:endParaRPr>
          </a:p>
        </p:txBody>
      </p:sp>
      <p:sp>
        <p:nvSpPr>
          <p:cNvPr id="198" name="Google Shape;198;p6"/>
          <p:cNvSpPr/>
          <p:nvPr/>
        </p:nvSpPr>
        <p:spPr>
          <a:xfrm>
            <a:off x="838200" y="6477000"/>
            <a:ext cx="518600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DMS là một phần thiết yếu của giải pháp AutoSecure</a:t>
            </a:r>
            <a:endParaRPr b="0" i="0" sz="1200" u="none" cap="none" strike="noStrike">
              <a:solidFill>
                <a:schemeClr val="dk1"/>
              </a:solidFill>
              <a:latin typeface="Calibri"/>
              <a:ea typeface="Calibri"/>
              <a:cs typeface="Calibri"/>
              <a:sym typeface="Calibri"/>
            </a:endParaRPr>
          </a:p>
        </p:txBody>
      </p:sp>
      <p:sp>
        <p:nvSpPr>
          <p:cNvPr id="199" name="Google Shape;199;p6"/>
          <p:cNvSpPr/>
          <p:nvPr/>
        </p:nvSpPr>
        <p:spPr>
          <a:xfrm>
            <a:off x="9308604" y="6477000"/>
            <a:ext cx="300287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Thời gian phản hồi: Thực thời</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preencoded.png" id="205" name="Google Shape;205;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06" name="Google Shape;206;p7"/>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207" name="Google Shape;207;p7"/>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208" name="Google Shape;208;p7"/>
          <p:cNvPicPr preferRelativeResize="0"/>
          <p:nvPr/>
        </p:nvPicPr>
        <p:blipFill rotWithShape="1">
          <a:blip r:embed="rId6">
            <a:alphaModFix/>
          </a:blip>
          <a:srcRect b="0" l="0" r="0" t="0"/>
          <a:stretch/>
        </p:blipFill>
        <p:spPr>
          <a:xfrm>
            <a:off x="609600" y="1371600"/>
            <a:ext cx="5372100" cy="1028700"/>
          </a:xfrm>
          <a:prstGeom prst="rect">
            <a:avLst/>
          </a:prstGeom>
          <a:noFill/>
          <a:ln>
            <a:noFill/>
          </a:ln>
        </p:spPr>
      </p:pic>
      <p:pic>
        <p:nvPicPr>
          <p:cNvPr descr="preencoded.png" id="209" name="Google Shape;209;p7"/>
          <p:cNvPicPr preferRelativeResize="0"/>
          <p:nvPr/>
        </p:nvPicPr>
        <p:blipFill rotWithShape="1">
          <a:blip r:embed="rId7">
            <a:alphaModFix/>
          </a:blip>
          <a:srcRect b="0" l="0" r="0" t="0"/>
          <a:stretch/>
        </p:blipFill>
        <p:spPr>
          <a:xfrm>
            <a:off x="762000" y="1600200"/>
            <a:ext cx="415082" cy="571500"/>
          </a:xfrm>
          <a:prstGeom prst="rect">
            <a:avLst/>
          </a:prstGeom>
          <a:noFill/>
          <a:ln>
            <a:noFill/>
          </a:ln>
        </p:spPr>
      </p:pic>
      <p:pic>
        <p:nvPicPr>
          <p:cNvPr descr="preencoded.png" id="210" name="Google Shape;210;p7"/>
          <p:cNvPicPr preferRelativeResize="0"/>
          <p:nvPr/>
        </p:nvPicPr>
        <p:blipFill rotWithShape="1">
          <a:blip r:embed="rId8">
            <a:alphaModFix/>
          </a:blip>
          <a:srcRect b="0" l="0" r="0" t="0"/>
          <a:stretch/>
        </p:blipFill>
        <p:spPr>
          <a:xfrm>
            <a:off x="788491" y="1714500"/>
            <a:ext cx="361950" cy="342900"/>
          </a:xfrm>
          <a:prstGeom prst="rect">
            <a:avLst/>
          </a:prstGeom>
          <a:noFill/>
          <a:ln>
            <a:noFill/>
          </a:ln>
        </p:spPr>
      </p:pic>
      <p:pic>
        <p:nvPicPr>
          <p:cNvPr descr="preencoded.png" id="211" name="Google Shape;211;p7"/>
          <p:cNvPicPr preferRelativeResize="0"/>
          <p:nvPr/>
        </p:nvPicPr>
        <p:blipFill rotWithShape="1">
          <a:blip r:embed="rId6">
            <a:alphaModFix/>
          </a:blip>
          <a:srcRect b="0" l="0" r="0" t="0"/>
          <a:stretch/>
        </p:blipFill>
        <p:spPr>
          <a:xfrm>
            <a:off x="6210300" y="1371600"/>
            <a:ext cx="5372100" cy="1028700"/>
          </a:xfrm>
          <a:prstGeom prst="rect">
            <a:avLst/>
          </a:prstGeom>
          <a:noFill/>
          <a:ln>
            <a:noFill/>
          </a:ln>
        </p:spPr>
      </p:pic>
      <p:pic>
        <p:nvPicPr>
          <p:cNvPr descr="preencoded.png" id="212" name="Google Shape;212;p7"/>
          <p:cNvPicPr preferRelativeResize="0"/>
          <p:nvPr/>
        </p:nvPicPr>
        <p:blipFill rotWithShape="1">
          <a:blip r:embed="rId9">
            <a:alphaModFix/>
          </a:blip>
          <a:srcRect b="0" l="0" r="0" t="0"/>
          <a:stretch/>
        </p:blipFill>
        <p:spPr>
          <a:xfrm>
            <a:off x="6362700" y="1600200"/>
            <a:ext cx="403920" cy="571500"/>
          </a:xfrm>
          <a:prstGeom prst="rect">
            <a:avLst/>
          </a:prstGeom>
          <a:noFill/>
          <a:ln>
            <a:noFill/>
          </a:ln>
        </p:spPr>
      </p:pic>
      <p:pic>
        <p:nvPicPr>
          <p:cNvPr descr="preencoded.png" id="213" name="Google Shape;213;p7"/>
          <p:cNvPicPr preferRelativeResize="0"/>
          <p:nvPr/>
        </p:nvPicPr>
        <p:blipFill rotWithShape="1">
          <a:blip r:embed="rId10">
            <a:alphaModFix/>
          </a:blip>
          <a:srcRect b="0" l="0" r="0" t="0"/>
          <a:stretch/>
        </p:blipFill>
        <p:spPr>
          <a:xfrm>
            <a:off x="6383685" y="1714500"/>
            <a:ext cx="361950" cy="342900"/>
          </a:xfrm>
          <a:prstGeom prst="rect">
            <a:avLst/>
          </a:prstGeom>
          <a:noFill/>
          <a:ln>
            <a:noFill/>
          </a:ln>
        </p:spPr>
      </p:pic>
      <p:pic>
        <p:nvPicPr>
          <p:cNvPr descr="preencoded.png" id="214" name="Google Shape;214;p7"/>
          <p:cNvPicPr preferRelativeResize="0"/>
          <p:nvPr/>
        </p:nvPicPr>
        <p:blipFill rotWithShape="1">
          <a:blip r:embed="rId6">
            <a:alphaModFix/>
          </a:blip>
          <a:srcRect b="0" l="0" r="0" t="0"/>
          <a:stretch/>
        </p:blipFill>
        <p:spPr>
          <a:xfrm>
            <a:off x="609600" y="2628900"/>
            <a:ext cx="5372100" cy="1028700"/>
          </a:xfrm>
          <a:prstGeom prst="rect">
            <a:avLst/>
          </a:prstGeom>
          <a:noFill/>
          <a:ln>
            <a:noFill/>
          </a:ln>
        </p:spPr>
      </p:pic>
      <p:pic>
        <p:nvPicPr>
          <p:cNvPr descr="preencoded.png" id="215" name="Google Shape;215;p7"/>
          <p:cNvPicPr preferRelativeResize="0"/>
          <p:nvPr/>
        </p:nvPicPr>
        <p:blipFill rotWithShape="1">
          <a:blip r:embed="rId11">
            <a:alphaModFix/>
          </a:blip>
          <a:srcRect b="0" l="0" r="0" t="0"/>
          <a:stretch/>
        </p:blipFill>
        <p:spPr>
          <a:xfrm>
            <a:off x="762000" y="2857500"/>
            <a:ext cx="410170" cy="571500"/>
          </a:xfrm>
          <a:prstGeom prst="rect">
            <a:avLst/>
          </a:prstGeom>
          <a:noFill/>
          <a:ln>
            <a:noFill/>
          </a:ln>
        </p:spPr>
      </p:pic>
      <p:pic>
        <p:nvPicPr>
          <p:cNvPr descr="preencoded.png" id="216" name="Google Shape;216;p7"/>
          <p:cNvPicPr preferRelativeResize="0"/>
          <p:nvPr/>
        </p:nvPicPr>
        <p:blipFill rotWithShape="1">
          <a:blip r:embed="rId12">
            <a:alphaModFix/>
          </a:blip>
          <a:srcRect b="0" l="0" r="0" t="0"/>
          <a:stretch/>
        </p:blipFill>
        <p:spPr>
          <a:xfrm>
            <a:off x="824210" y="2971800"/>
            <a:ext cx="285750" cy="342900"/>
          </a:xfrm>
          <a:prstGeom prst="rect">
            <a:avLst/>
          </a:prstGeom>
          <a:noFill/>
          <a:ln>
            <a:noFill/>
          </a:ln>
        </p:spPr>
      </p:pic>
      <p:pic>
        <p:nvPicPr>
          <p:cNvPr descr="preencoded.png" id="217" name="Google Shape;217;p7"/>
          <p:cNvPicPr preferRelativeResize="0"/>
          <p:nvPr/>
        </p:nvPicPr>
        <p:blipFill rotWithShape="1">
          <a:blip r:embed="rId6">
            <a:alphaModFix/>
          </a:blip>
          <a:srcRect b="0" l="0" r="0" t="0"/>
          <a:stretch/>
        </p:blipFill>
        <p:spPr>
          <a:xfrm>
            <a:off x="6210300" y="2628900"/>
            <a:ext cx="5372100" cy="1028700"/>
          </a:xfrm>
          <a:prstGeom prst="rect">
            <a:avLst/>
          </a:prstGeom>
          <a:noFill/>
          <a:ln>
            <a:noFill/>
          </a:ln>
        </p:spPr>
      </p:pic>
      <p:pic>
        <p:nvPicPr>
          <p:cNvPr descr="preencoded.png" id="218" name="Google Shape;218;p7"/>
          <p:cNvPicPr preferRelativeResize="0"/>
          <p:nvPr/>
        </p:nvPicPr>
        <p:blipFill rotWithShape="1">
          <a:blip r:embed="rId13">
            <a:alphaModFix/>
          </a:blip>
          <a:srcRect b="0" l="0" r="0" t="0"/>
          <a:stretch/>
        </p:blipFill>
        <p:spPr>
          <a:xfrm>
            <a:off x="6362700" y="2857500"/>
            <a:ext cx="563761" cy="571500"/>
          </a:xfrm>
          <a:prstGeom prst="rect">
            <a:avLst/>
          </a:prstGeom>
          <a:noFill/>
          <a:ln>
            <a:noFill/>
          </a:ln>
        </p:spPr>
      </p:pic>
      <p:pic>
        <p:nvPicPr>
          <p:cNvPr descr="preencoded.png" id="219" name="Google Shape;219;p7"/>
          <p:cNvPicPr preferRelativeResize="0"/>
          <p:nvPr/>
        </p:nvPicPr>
        <p:blipFill rotWithShape="1">
          <a:blip r:embed="rId14">
            <a:alphaModFix/>
          </a:blip>
          <a:srcRect b="0" l="0" r="0" t="0"/>
          <a:stretch/>
        </p:blipFill>
        <p:spPr>
          <a:xfrm>
            <a:off x="6535043" y="2971800"/>
            <a:ext cx="219075" cy="342900"/>
          </a:xfrm>
          <a:prstGeom prst="rect">
            <a:avLst/>
          </a:prstGeom>
          <a:noFill/>
          <a:ln>
            <a:noFill/>
          </a:ln>
        </p:spPr>
      </p:pic>
      <p:pic>
        <p:nvPicPr>
          <p:cNvPr descr="preencoded.png" id="220" name="Google Shape;220;p7"/>
          <p:cNvPicPr preferRelativeResize="0"/>
          <p:nvPr/>
        </p:nvPicPr>
        <p:blipFill rotWithShape="1">
          <a:blip r:embed="rId15">
            <a:alphaModFix/>
          </a:blip>
          <a:srcRect b="0" l="0" r="0" t="0"/>
          <a:stretch/>
        </p:blipFill>
        <p:spPr>
          <a:xfrm>
            <a:off x="609600" y="3886200"/>
            <a:ext cx="5372100" cy="1028700"/>
          </a:xfrm>
          <a:prstGeom prst="rect">
            <a:avLst/>
          </a:prstGeom>
          <a:noFill/>
          <a:ln>
            <a:noFill/>
          </a:ln>
        </p:spPr>
      </p:pic>
      <p:pic>
        <p:nvPicPr>
          <p:cNvPr descr="preencoded.png" id="221" name="Google Shape;221;p7"/>
          <p:cNvPicPr preferRelativeResize="0"/>
          <p:nvPr/>
        </p:nvPicPr>
        <p:blipFill rotWithShape="1">
          <a:blip r:embed="rId16">
            <a:alphaModFix/>
          </a:blip>
          <a:srcRect b="0" l="0" r="0" t="0"/>
          <a:stretch/>
        </p:blipFill>
        <p:spPr>
          <a:xfrm>
            <a:off x="762000" y="4114800"/>
            <a:ext cx="379214" cy="571500"/>
          </a:xfrm>
          <a:prstGeom prst="rect">
            <a:avLst/>
          </a:prstGeom>
          <a:noFill/>
          <a:ln>
            <a:noFill/>
          </a:ln>
        </p:spPr>
      </p:pic>
      <p:pic>
        <p:nvPicPr>
          <p:cNvPr descr="preencoded.png" id="222" name="Google Shape;222;p7"/>
          <p:cNvPicPr preferRelativeResize="0"/>
          <p:nvPr/>
        </p:nvPicPr>
        <p:blipFill rotWithShape="1">
          <a:blip r:embed="rId17">
            <a:alphaModFix/>
          </a:blip>
          <a:srcRect b="0" l="0" r="0" t="0"/>
          <a:stretch/>
        </p:blipFill>
        <p:spPr>
          <a:xfrm>
            <a:off x="770632" y="4229100"/>
            <a:ext cx="361950" cy="342900"/>
          </a:xfrm>
          <a:prstGeom prst="rect">
            <a:avLst/>
          </a:prstGeom>
          <a:noFill/>
          <a:ln>
            <a:noFill/>
          </a:ln>
        </p:spPr>
      </p:pic>
      <p:pic>
        <p:nvPicPr>
          <p:cNvPr descr="preencoded.png" id="223" name="Google Shape;223;p7"/>
          <p:cNvPicPr preferRelativeResize="0"/>
          <p:nvPr/>
        </p:nvPicPr>
        <p:blipFill rotWithShape="1">
          <a:blip r:embed="rId15">
            <a:alphaModFix/>
          </a:blip>
          <a:srcRect b="0" l="0" r="0" t="0"/>
          <a:stretch/>
        </p:blipFill>
        <p:spPr>
          <a:xfrm>
            <a:off x="6210300" y="3886200"/>
            <a:ext cx="5372100" cy="1028700"/>
          </a:xfrm>
          <a:prstGeom prst="rect">
            <a:avLst/>
          </a:prstGeom>
          <a:noFill/>
          <a:ln>
            <a:noFill/>
          </a:ln>
        </p:spPr>
      </p:pic>
      <p:pic>
        <p:nvPicPr>
          <p:cNvPr descr="preencoded.png" id="224" name="Google Shape;224;p7"/>
          <p:cNvPicPr preferRelativeResize="0"/>
          <p:nvPr/>
        </p:nvPicPr>
        <p:blipFill rotWithShape="1">
          <a:blip r:embed="rId18">
            <a:alphaModFix/>
          </a:blip>
          <a:srcRect b="0" l="0" r="0" t="0"/>
          <a:stretch/>
        </p:blipFill>
        <p:spPr>
          <a:xfrm>
            <a:off x="6362700" y="4114800"/>
            <a:ext cx="420588" cy="571500"/>
          </a:xfrm>
          <a:prstGeom prst="rect">
            <a:avLst/>
          </a:prstGeom>
          <a:noFill/>
          <a:ln>
            <a:noFill/>
          </a:ln>
        </p:spPr>
      </p:pic>
      <p:pic>
        <p:nvPicPr>
          <p:cNvPr descr="preencoded.png" id="225" name="Google Shape;225;p7"/>
          <p:cNvPicPr preferRelativeResize="0"/>
          <p:nvPr/>
        </p:nvPicPr>
        <p:blipFill rotWithShape="1">
          <a:blip r:embed="rId19">
            <a:alphaModFix/>
          </a:blip>
          <a:srcRect b="0" l="0" r="0" t="0"/>
          <a:stretch/>
        </p:blipFill>
        <p:spPr>
          <a:xfrm>
            <a:off x="6392019" y="4229100"/>
            <a:ext cx="361950" cy="342900"/>
          </a:xfrm>
          <a:prstGeom prst="rect">
            <a:avLst/>
          </a:prstGeom>
          <a:noFill/>
          <a:ln>
            <a:noFill/>
          </a:ln>
        </p:spPr>
      </p:pic>
      <p:pic>
        <p:nvPicPr>
          <p:cNvPr descr="preencoded.png" id="226" name="Google Shape;226;p7"/>
          <p:cNvPicPr preferRelativeResize="0"/>
          <p:nvPr/>
        </p:nvPicPr>
        <p:blipFill rotWithShape="1">
          <a:blip r:embed="rId20">
            <a:alphaModFix/>
          </a:blip>
          <a:srcRect b="0" l="0" r="0" t="0"/>
          <a:stretch/>
        </p:blipFill>
        <p:spPr>
          <a:xfrm>
            <a:off x="609600" y="5143500"/>
            <a:ext cx="10972800" cy="762000"/>
          </a:xfrm>
          <a:prstGeom prst="rect">
            <a:avLst/>
          </a:prstGeom>
          <a:noFill/>
          <a:ln>
            <a:noFill/>
          </a:ln>
        </p:spPr>
      </p:pic>
      <p:pic>
        <p:nvPicPr>
          <p:cNvPr descr="preencoded.png" id="227" name="Google Shape;227;p7"/>
          <p:cNvPicPr preferRelativeResize="0"/>
          <p:nvPr/>
        </p:nvPicPr>
        <p:blipFill rotWithShape="1">
          <a:blip r:embed="rId21">
            <a:alphaModFix/>
          </a:blip>
          <a:srcRect b="0" l="0" r="0" t="0"/>
          <a:stretch/>
        </p:blipFill>
        <p:spPr>
          <a:xfrm>
            <a:off x="762000" y="5391150"/>
            <a:ext cx="190500" cy="266700"/>
          </a:xfrm>
          <a:prstGeom prst="rect">
            <a:avLst/>
          </a:prstGeom>
          <a:noFill/>
          <a:ln>
            <a:noFill/>
          </a:ln>
        </p:spPr>
      </p:pic>
      <p:pic>
        <p:nvPicPr>
          <p:cNvPr descr="preencoded.png" id="228" name="Google Shape;228;p7"/>
          <p:cNvPicPr preferRelativeResize="0"/>
          <p:nvPr/>
        </p:nvPicPr>
        <p:blipFill rotWithShape="1">
          <a:blip r:embed="rId22">
            <a:alphaModFix/>
          </a:blip>
          <a:srcRect b="0" l="0" r="0" t="0"/>
          <a:stretch/>
        </p:blipFill>
        <p:spPr>
          <a:xfrm>
            <a:off x="609600" y="6505575"/>
            <a:ext cx="152400" cy="152400"/>
          </a:xfrm>
          <a:prstGeom prst="rect">
            <a:avLst/>
          </a:prstGeom>
          <a:noFill/>
          <a:ln>
            <a:noFill/>
          </a:ln>
        </p:spPr>
      </p:pic>
      <p:pic>
        <p:nvPicPr>
          <p:cNvPr descr="preencoded.png" id="229" name="Google Shape;229;p7"/>
          <p:cNvPicPr preferRelativeResize="0"/>
          <p:nvPr/>
        </p:nvPicPr>
        <p:blipFill rotWithShape="1">
          <a:blip r:embed="rId23">
            <a:alphaModFix/>
          </a:blip>
          <a:srcRect b="0" l="0" r="0" t="0"/>
          <a:stretch/>
        </p:blipFill>
        <p:spPr>
          <a:xfrm>
            <a:off x="9678591" y="6505575"/>
            <a:ext cx="171450" cy="152400"/>
          </a:xfrm>
          <a:prstGeom prst="rect">
            <a:avLst/>
          </a:prstGeom>
          <a:noFill/>
          <a:ln>
            <a:noFill/>
          </a:ln>
        </p:spPr>
      </p:pic>
      <p:sp>
        <p:nvSpPr>
          <p:cNvPr id="230" name="Google Shape;230;p7"/>
          <p:cNvSpPr/>
          <p:nvPr/>
        </p:nvSpPr>
        <p:spPr>
          <a:xfrm>
            <a:off x="609600" y="3429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Gi behavior lái xe được giám sát</a:t>
            </a:r>
            <a:endParaRPr b="0" i="0" sz="2700" u="none" cap="none" strike="noStrike">
              <a:solidFill>
                <a:schemeClr val="dk1"/>
              </a:solidFill>
              <a:latin typeface="Calibri"/>
              <a:ea typeface="Calibri"/>
              <a:cs typeface="Calibri"/>
              <a:sym typeface="Calibri"/>
            </a:endParaRPr>
          </a:p>
        </p:txBody>
      </p:sp>
      <p:sp>
        <p:nvSpPr>
          <p:cNvPr id="231" name="Google Shape;231;p7"/>
          <p:cNvSpPr/>
          <p:nvPr/>
        </p:nvSpPr>
        <p:spPr>
          <a:xfrm>
            <a:off x="1329482" y="1524000"/>
            <a:ext cx="4499818"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Ngủ gật</a:t>
            </a:r>
            <a:endParaRPr b="0" i="0" sz="1500" u="none" cap="none" strike="noStrike">
              <a:solidFill>
                <a:schemeClr val="dk1"/>
              </a:solidFill>
              <a:latin typeface="Calibri"/>
              <a:ea typeface="Calibri"/>
              <a:cs typeface="Calibri"/>
              <a:sym typeface="Calibri"/>
            </a:endParaRPr>
          </a:p>
        </p:txBody>
      </p:sp>
      <p:sp>
        <p:nvSpPr>
          <p:cNvPr id="232" name="Google Shape;232;p7"/>
          <p:cNvSpPr/>
          <p:nvPr/>
        </p:nvSpPr>
        <p:spPr>
          <a:xfrm>
            <a:off x="1329482" y="1790700"/>
            <a:ext cx="4499818"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Phát hiện khi lái xe ngủ gật, một trong những nguyên nhân hàng đầu gây tai nạn</a:t>
            </a:r>
            <a:endParaRPr b="0" i="0" sz="1200" u="none" cap="none" strike="noStrike">
              <a:solidFill>
                <a:schemeClr val="dk1"/>
              </a:solidFill>
              <a:latin typeface="Calibri"/>
              <a:ea typeface="Calibri"/>
              <a:cs typeface="Calibri"/>
              <a:sym typeface="Calibri"/>
            </a:endParaRPr>
          </a:p>
        </p:txBody>
      </p:sp>
      <p:sp>
        <p:nvSpPr>
          <p:cNvPr id="233" name="Google Shape;233;p7"/>
          <p:cNvSpPr/>
          <p:nvPr/>
        </p:nvSpPr>
        <p:spPr>
          <a:xfrm>
            <a:off x="6919020" y="1524000"/>
            <a:ext cx="451098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Hút thuốc</a:t>
            </a:r>
            <a:endParaRPr b="0" i="0" sz="1500" u="none" cap="none" strike="noStrike">
              <a:solidFill>
                <a:schemeClr val="dk1"/>
              </a:solidFill>
              <a:latin typeface="Calibri"/>
              <a:ea typeface="Calibri"/>
              <a:cs typeface="Calibri"/>
              <a:sym typeface="Calibri"/>
            </a:endParaRPr>
          </a:p>
        </p:txBody>
      </p:sp>
      <p:sp>
        <p:nvSpPr>
          <p:cNvPr id="234" name="Google Shape;234;p7"/>
          <p:cNvSpPr/>
          <p:nvPr/>
        </p:nvSpPr>
        <p:spPr>
          <a:xfrm>
            <a:off x="6919020" y="1790700"/>
            <a:ext cx="451098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Theo dõi việc hút thuốc trong khi lái xe, gây nguy hiểm cho bản thân và người khác</a:t>
            </a:r>
            <a:endParaRPr b="0" i="0" sz="1200" u="none" cap="none" strike="noStrike">
              <a:solidFill>
                <a:schemeClr val="dk1"/>
              </a:solidFill>
              <a:latin typeface="Calibri"/>
              <a:ea typeface="Calibri"/>
              <a:cs typeface="Calibri"/>
              <a:sym typeface="Calibri"/>
            </a:endParaRPr>
          </a:p>
        </p:txBody>
      </p:sp>
      <p:sp>
        <p:nvSpPr>
          <p:cNvPr id="235" name="Google Shape;235;p7"/>
          <p:cNvSpPr/>
          <p:nvPr/>
        </p:nvSpPr>
        <p:spPr>
          <a:xfrm>
            <a:off x="1324570" y="2781300"/>
            <a:ext cx="540567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Kiệt sức &amp; Thiếu tập trung</a:t>
            </a:r>
            <a:endParaRPr b="0" i="0" sz="1500" u="none" cap="none" strike="noStrike">
              <a:solidFill>
                <a:schemeClr val="dk1"/>
              </a:solidFill>
              <a:latin typeface="Calibri"/>
              <a:ea typeface="Calibri"/>
              <a:cs typeface="Calibri"/>
              <a:sym typeface="Calibri"/>
            </a:endParaRPr>
          </a:p>
        </p:txBody>
      </p:sp>
      <p:sp>
        <p:nvSpPr>
          <p:cNvPr id="236" name="Google Shape;236;p7"/>
          <p:cNvSpPr/>
          <p:nvPr/>
        </p:nvSpPr>
        <p:spPr>
          <a:xfrm>
            <a:off x="1324570" y="3048000"/>
            <a:ext cx="450473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Phát hiện dấu hiệu kiệt sức và thiếu tập trung, ảnh hưởng đến khả năng phản ứng</a:t>
            </a:r>
            <a:endParaRPr b="0" i="0" sz="1200" u="none" cap="none" strike="noStrike">
              <a:solidFill>
                <a:schemeClr val="dk1"/>
              </a:solidFill>
              <a:latin typeface="Calibri"/>
              <a:ea typeface="Calibri"/>
              <a:cs typeface="Calibri"/>
              <a:sym typeface="Calibri"/>
            </a:endParaRPr>
          </a:p>
        </p:txBody>
      </p:sp>
      <p:sp>
        <p:nvSpPr>
          <p:cNvPr id="237" name="Google Shape;237;p7"/>
          <p:cNvSpPr/>
          <p:nvPr/>
        </p:nvSpPr>
        <p:spPr>
          <a:xfrm>
            <a:off x="7078861" y="2781300"/>
            <a:ext cx="4351139"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Sử dụng điện thoại</a:t>
            </a:r>
            <a:endParaRPr b="0" i="0" sz="1500" u="none" cap="none" strike="noStrike">
              <a:solidFill>
                <a:schemeClr val="dk1"/>
              </a:solidFill>
              <a:latin typeface="Calibri"/>
              <a:ea typeface="Calibri"/>
              <a:cs typeface="Calibri"/>
              <a:sym typeface="Calibri"/>
            </a:endParaRPr>
          </a:p>
        </p:txBody>
      </p:sp>
      <p:sp>
        <p:nvSpPr>
          <p:cNvPr id="238" name="Google Shape;238;p7"/>
          <p:cNvSpPr/>
          <p:nvPr/>
        </p:nvSpPr>
        <p:spPr>
          <a:xfrm>
            <a:off x="7078861" y="3048000"/>
            <a:ext cx="4351139"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Nhận diện việc sử dụng điện thoại di động trong khi lái xe</a:t>
            </a:r>
            <a:endParaRPr b="0" i="0" sz="1200" u="none" cap="none" strike="noStrike">
              <a:solidFill>
                <a:schemeClr val="dk1"/>
              </a:solidFill>
              <a:latin typeface="Calibri"/>
              <a:ea typeface="Calibri"/>
              <a:cs typeface="Calibri"/>
              <a:sym typeface="Calibri"/>
            </a:endParaRPr>
          </a:p>
        </p:txBody>
      </p:sp>
      <p:sp>
        <p:nvSpPr>
          <p:cNvPr id="239" name="Google Shape;239;p7"/>
          <p:cNvSpPr/>
          <p:nvPr/>
        </p:nvSpPr>
        <p:spPr>
          <a:xfrm>
            <a:off x="1293614" y="4038600"/>
            <a:ext cx="5442823"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Không đội dây an toàn</a:t>
            </a:r>
            <a:endParaRPr b="0" i="0" sz="1500" u="none" cap="none" strike="noStrike">
              <a:solidFill>
                <a:schemeClr val="dk1"/>
              </a:solidFill>
              <a:latin typeface="Calibri"/>
              <a:ea typeface="Calibri"/>
              <a:cs typeface="Calibri"/>
              <a:sym typeface="Calibri"/>
            </a:endParaRPr>
          </a:p>
        </p:txBody>
      </p:sp>
      <p:sp>
        <p:nvSpPr>
          <p:cNvPr id="240" name="Google Shape;240;p7"/>
          <p:cNvSpPr/>
          <p:nvPr/>
        </p:nvSpPr>
        <p:spPr>
          <a:xfrm>
            <a:off x="1293614" y="4305300"/>
            <a:ext cx="4535686"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Theo dõi việc không đội dây an toàn, tăng nguy cơ thương tật nghiêm trọng trong tai nạn</a:t>
            </a:r>
            <a:endParaRPr b="0" i="0" sz="1200" u="none" cap="none" strike="noStrike">
              <a:solidFill>
                <a:schemeClr val="dk1"/>
              </a:solidFill>
              <a:latin typeface="Calibri"/>
              <a:ea typeface="Calibri"/>
              <a:cs typeface="Calibri"/>
              <a:sym typeface="Calibri"/>
            </a:endParaRPr>
          </a:p>
        </p:txBody>
      </p:sp>
      <p:sp>
        <p:nvSpPr>
          <p:cNvPr id="241" name="Google Shape;241;p7"/>
          <p:cNvSpPr/>
          <p:nvPr/>
        </p:nvSpPr>
        <p:spPr>
          <a:xfrm>
            <a:off x="6935688" y="4038600"/>
            <a:ext cx="4494312"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Phân tâm</a:t>
            </a:r>
            <a:endParaRPr b="0" i="0" sz="1500" u="none" cap="none" strike="noStrike">
              <a:solidFill>
                <a:schemeClr val="dk1"/>
              </a:solidFill>
              <a:latin typeface="Calibri"/>
              <a:ea typeface="Calibri"/>
              <a:cs typeface="Calibri"/>
              <a:sym typeface="Calibri"/>
            </a:endParaRPr>
          </a:p>
        </p:txBody>
      </p:sp>
      <p:sp>
        <p:nvSpPr>
          <p:cNvPr id="242" name="Google Shape;242;p7"/>
          <p:cNvSpPr/>
          <p:nvPr/>
        </p:nvSpPr>
        <p:spPr>
          <a:xfrm>
            <a:off x="6935688" y="4305300"/>
            <a:ext cx="4494312"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Phát hiện các hành vi phân tâm khác như xem điện thoại, chỉnh sửa cài đặt, v.v.</a:t>
            </a:r>
            <a:endParaRPr b="0" i="0" sz="1200" u="none" cap="none" strike="noStrike">
              <a:solidFill>
                <a:schemeClr val="dk1"/>
              </a:solidFill>
              <a:latin typeface="Calibri"/>
              <a:ea typeface="Calibri"/>
              <a:cs typeface="Calibri"/>
              <a:sym typeface="Calibri"/>
            </a:endParaRPr>
          </a:p>
        </p:txBody>
      </p:sp>
      <p:sp>
        <p:nvSpPr>
          <p:cNvPr id="243" name="Google Shape;243;p7"/>
          <p:cNvSpPr/>
          <p:nvPr/>
        </p:nvSpPr>
        <p:spPr>
          <a:xfrm>
            <a:off x="1066800" y="5295900"/>
            <a:ext cx="10363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i="0" lang="en-US" sz="1200" u="none" cap="none" strike="noStrike">
                <a:solidFill>
                  <a:srgbClr val="374151"/>
                </a:solidFill>
                <a:latin typeface="Arial"/>
                <a:ea typeface="Arial"/>
                <a:cs typeface="Arial"/>
                <a:sym typeface="Arial"/>
              </a:rPr>
              <a:t>Hệ thống nhận diện người lái xe:</a:t>
            </a:r>
            <a:r>
              <a:rPr b="0" i="0" lang="en-US" sz="1200" u="none" cap="none" strike="noStrike">
                <a:solidFill>
                  <a:srgbClr val="374151"/>
                </a:solidFill>
                <a:latin typeface="Arial"/>
                <a:ea typeface="Arial"/>
                <a:cs typeface="Arial"/>
                <a:sym typeface="Arial"/>
              </a:rPr>
              <a:t> AutoSecure cũng có thể xác định danh tính người lái xe, giúp theo dõi và đánh giá hiệu suất lái xe cá nhân.</a:t>
            </a:r>
            <a:endParaRPr b="0" i="0" sz="1200" u="none" cap="none" strike="noStrike">
              <a:solidFill>
                <a:schemeClr val="dk1"/>
              </a:solidFill>
              <a:latin typeface="Calibri"/>
              <a:ea typeface="Calibri"/>
              <a:cs typeface="Calibri"/>
              <a:sym typeface="Calibri"/>
            </a:endParaRPr>
          </a:p>
        </p:txBody>
      </p:sp>
      <p:sp>
        <p:nvSpPr>
          <p:cNvPr id="244" name="Google Shape;244;p7"/>
          <p:cNvSpPr/>
          <p:nvPr/>
        </p:nvSpPr>
        <p:spPr>
          <a:xfrm>
            <a:off x="838200" y="6477000"/>
            <a:ext cx="288357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An toàn là ưu tiên hàng đầu</a:t>
            </a:r>
            <a:endParaRPr b="0" i="0" sz="1200" u="none" cap="none" strike="noStrike">
              <a:solidFill>
                <a:schemeClr val="dk1"/>
              </a:solidFill>
              <a:latin typeface="Calibri"/>
              <a:ea typeface="Calibri"/>
              <a:cs typeface="Calibri"/>
              <a:sym typeface="Calibri"/>
            </a:endParaRPr>
          </a:p>
        </p:txBody>
      </p:sp>
      <p:sp>
        <p:nvSpPr>
          <p:cNvPr id="245" name="Google Shape;245;p7"/>
          <p:cNvSpPr/>
          <p:nvPr/>
        </p:nvSpPr>
        <p:spPr>
          <a:xfrm>
            <a:off x="9926241" y="6477000"/>
            <a:ext cx="228457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Hệ thống giám sát AI</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preencoded.png" id="251" name="Google Shape;251;p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52" name="Google Shape;252;p8"/>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253" name="Google Shape;253;p8"/>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254" name="Google Shape;254;p8"/>
          <p:cNvPicPr preferRelativeResize="0"/>
          <p:nvPr/>
        </p:nvPicPr>
        <p:blipFill rotWithShape="1">
          <a:blip r:embed="rId6">
            <a:alphaModFix/>
          </a:blip>
          <a:srcRect b="0" l="0" r="0" t="0"/>
          <a:stretch/>
        </p:blipFill>
        <p:spPr>
          <a:xfrm>
            <a:off x="609600" y="1371600"/>
            <a:ext cx="3454301" cy="2819400"/>
          </a:xfrm>
          <a:prstGeom prst="rect">
            <a:avLst/>
          </a:prstGeom>
          <a:noFill/>
          <a:ln>
            <a:noFill/>
          </a:ln>
        </p:spPr>
      </p:pic>
      <p:pic>
        <p:nvPicPr>
          <p:cNvPr descr="preencoded.png" id="255" name="Google Shape;255;p8"/>
          <p:cNvPicPr preferRelativeResize="0"/>
          <p:nvPr/>
        </p:nvPicPr>
        <p:blipFill rotWithShape="1">
          <a:blip r:embed="rId7">
            <a:alphaModFix/>
          </a:blip>
          <a:srcRect b="0" l="0" r="0" t="0"/>
          <a:stretch/>
        </p:blipFill>
        <p:spPr>
          <a:xfrm>
            <a:off x="838200" y="1619250"/>
            <a:ext cx="451247" cy="571500"/>
          </a:xfrm>
          <a:prstGeom prst="rect">
            <a:avLst/>
          </a:prstGeom>
          <a:noFill/>
          <a:ln>
            <a:noFill/>
          </a:ln>
        </p:spPr>
      </p:pic>
      <p:pic>
        <p:nvPicPr>
          <p:cNvPr descr="preencoded.png" id="256" name="Google Shape;256;p8"/>
          <p:cNvPicPr preferRelativeResize="0"/>
          <p:nvPr/>
        </p:nvPicPr>
        <p:blipFill rotWithShape="1">
          <a:blip r:embed="rId8">
            <a:alphaModFix/>
          </a:blip>
          <a:srcRect b="0" l="0" r="0" t="0"/>
          <a:stretch/>
        </p:blipFill>
        <p:spPr>
          <a:xfrm>
            <a:off x="935236" y="1752600"/>
            <a:ext cx="257175" cy="304800"/>
          </a:xfrm>
          <a:prstGeom prst="rect">
            <a:avLst/>
          </a:prstGeom>
          <a:noFill/>
          <a:ln>
            <a:noFill/>
          </a:ln>
        </p:spPr>
      </p:pic>
      <p:pic>
        <p:nvPicPr>
          <p:cNvPr descr="preencoded.png" id="257" name="Google Shape;257;p8"/>
          <p:cNvPicPr preferRelativeResize="0"/>
          <p:nvPr/>
        </p:nvPicPr>
        <p:blipFill rotWithShape="1">
          <a:blip r:embed="rId9">
            <a:alphaModFix/>
          </a:blip>
          <a:srcRect b="0" l="0" r="0" t="0"/>
          <a:stretch/>
        </p:blipFill>
        <p:spPr>
          <a:xfrm>
            <a:off x="838200" y="3657600"/>
            <a:ext cx="152400" cy="152400"/>
          </a:xfrm>
          <a:prstGeom prst="rect">
            <a:avLst/>
          </a:prstGeom>
          <a:noFill/>
          <a:ln>
            <a:noFill/>
          </a:ln>
        </p:spPr>
      </p:pic>
      <p:pic>
        <p:nvPicPr>
          <p:cNvPr descr="preencoded.png" id="258" name="Google Shape;258;p8"/>
          <p:cNvPicPr preferRelativeResize="0"/>
          <p:nvPr/>
        </p:nvPicPr>
        <p:blipFill rotWithShape="1">
          <a:blip r:embed="rId10">
            <a:alphaModFix/>
          </a:blip>
          <a:srcRect b="0" l="0" r="0" t="0"/>
          <a:stretch/>
        </p:blipFill>
        <p:spPr>
          <a:xfrm>
            <a:off x="4368701" y="1371600"/>
            <a:ext cx="3454450" cy="2819400"/>
          </a:xfrm>
          <a:prstGeom prst="rect">
            <a:avLst/>
          </a:prstGeom>
          <a:noFill/>
          <a:ln>
            <a:noFill/>
          </a:ln>
        </p:spPr>
      </p:pic>
      <p:pic>
        <p:nvPicPr>
          <p:cNvPr descr="preencoded.png" id="259" name="Google Shape;259;p8"/>
          <p:cNvPicPr preferRelativeResize="0"/>
          <p:nvPr/>
        </p:nvPicPr>
        <p:blipFill rotWithShape="1">
          <a:blip r:embed="rId11">
            <a:alphaModFix/>
          </a:blip>
          <a:srcRect b="0" l="0" r="0" t="0"/>
          <a:stretch/>
        </p:blipFill>
        <p:spPr>
          <a:xfrm>
            <a:off x="4597301" y="1619250"/>
            <a:ext cx="448866" cy="571500"/>
          </a:xfrm>
          <a:prstGeom prst="rect">
            <a:avLst/>
          </a:prstGeom>
          <a:noFill/>
          <a:ln>
            <a:noFill/>
          </a:ln>
        </p:spPr>
      </p:pic>
      <p:pic>
        <p:nvPicPr>
          <p:cNvPr descr="preencoded.png" id="260" name="Google Shape;260;p8"/>
          <p:cNvPicPr preferRelativeResize="0"/>
          <p:nvPr/>
        </p:nvPicPr>
        <p:blipFill rotWithShape="1">
          <a:blip r:embed="rId12">
            <a:alphaModFix/>
          </a:blip>
          <a:srcRect b="0" l="0" r="0" t="0"/>
          <a:stretch/>
        </p:blipFill>
        <p:spPr>
          <a:xfrm>
            <a:off x="4721721" y="1752600"/>
            <a:ext cx="200025" cy="304800"/>
          </a:xfrm>
          <a:prstGeom prst="rect">
            <a:avLst/>
          </a:prstGeom>
          <a:noFill/>
          <a:ln>
            <a:noFill/>
          </a:ln>
        </p:spPr>
      </p:pic>
      <p:pic>
        <p:nvPicPr>
          <p:cNvPr descr="preencoded.png" id="261" name="Google Shape;261;p8"/>
          <p:cNvPicPr preferRelativeResize="0"/>
          <p:nvPr/>
        </p:nvPicPr>
        <p:blipFill rotWithShape="1">
          <a:blip r:embed="rId13">
            <a:alphaModFix/>
          </a:blip>
          <a:srcRect b="0" l="0" r="0" t="0"/>
          <a:stretch/>
        </p:blipFill>
        <p:spPr>
          <a:xfrm>
            <a:off x="4597301" y="3657600"/>
            <a:ext cx="152400" cy="152400"/>
          </a:xfrm>
          <a:prstGeom prst="rect">
            <a:avLst/>
          </a:prstGeom>
          <a:noFill/>
          <a:ln>
            <a:noFill/>
          </a:ln>
        </p:spPr>
      </p:pic>
      <p:pic>
        <p:nvPicPr>
          <p:cNvPr descr="preencoded.png" id="262" name="Google Shape;262;p8"/>
          <p:cNvPicPr preferRelativeResize="0"/>
          <p:nvPr/>
        </p:nvPicPr>
        <p:blipFill rotWithShape="1">
          <a:blip r:embed="rId14">
            <a:alphaModFix/>
          </a:blip>
          <a:srcRect b="0" l="0" r="0" t="0"/>
          <a:stretch/>
        </p:blipFill>
        <p:spPr>
          <a:xfrm>
            <a:off x="8127950" y="1371600"/>
            <a:ext cx="3454301" cy="2819400"/>
          </a:xfrm>
          <a:prstGeom prst="rect">
            <a:avLst/>
          </a:prstGeom>
          <a:noFill/>
          <a:ln>
            <a:noFill/>
          </a:ln>
        </p:spPr>
      </p:pic>
      <p:pic>
        <p:nvPicPr>
          <p:cNvPr descr="preencoded.png" id="263" name="Google Shape;263;p8"/>
          <p:cNvPicPr preferRelativeResize="0"/>
          <p:nvPr/>
        </p:nvPicPr>
        <p:blipFill rotWithShape="1">
          <a:blip r:embed="rId15">
            <a:alphaModFix/>
          </a:blip>
          <a:srcRect b="0" l="0" r="0" t="0"/>
          <a:stretch/>
        </p:blipFill>
        <p:spPr>
          <a:xfrm>
            <a:off x="8356550" y="1600200"/>
            <a:ext cx="571500" cy="571500"/>
          </a:xfrm>
          <a:prstGeom prst="rect">
            <a:avLst/>
          </a:prstGeom>
          <a:noFill/>
          <a:ln>
            <a:noFill/>
          </a:ln>
        </p:spPr>
      </p:pic>
      <p:pic>
        <p:nvPicPr>
          <p:cNvPr descr="preencoded.png" id="264" name="Google Shape;264;p8"/>
          <p:cNvPicPr preferRelativeResize="0"/>
          <p:nvPr/>
        </p:nvPicPr>
        <p:blipFill rotWithShape="1">
          <a:blip r:embed="rId16">
            <a:alphaModFix/>
          </a:blip>
          <a:srcRect b="0" l="0" r="0" t="0"/>
          <a:stretch/>
        </p:blipFill>
        <p:spPr>
          <a:xfrm>
            <a:off x="8499425" y="1733550"/>
            <a:ext cx="285750" cy="304800"/>
          </a:xfrm>
          <a:prstGeom prst="rect">
            <a:avLst/>
          </a:prstGeom>
          <a:noFill/>
          <a:ln>
            <a:noFill/>
          </a:ln>
        </p:spPr>
      </p:pic>
      <p:pic>
        <p:nvPicPr>
          <p:cNvPr descr="preencoded.png" id="265" name="Google Shape;265;p8"/>
          <p:cNvPicPr preferRelativeResize="0"/>
          <p:nvPr/>
        </p:nvPicPr>
        <p:blipFill rotWithShape="1">
          <a:blip r:embed="rId17">
            <a:alphaModFix/>
          </a:blip>
          <a:srcRect b="0" l="0" r="0" t="0"/>
          <a:stretch/>
        </p:blipFill>
        <p:spPr>
          <a:xfrm>
            <a:off x="8356550" y="3771900"/>
            <a:ext cx="152400" cy="152400"/>
          </a:xfrm>
          <a:prstGeom prst="rect">
            <a:avLst/>
          </a:prstGeom>
          <a:noFill/>
          <a:ln>
            <a:noFill/>
          </a:ln>
        </p:spPr>
      </p:pic>
      <p:pic>
        <p:nvPicPr>
          <p:cNvPr descr="preencoded.png" id="266" name="Google Shape;266;p8"/>
          <p:cNvPicPr preferRelativeResize="0"/>
          <p:nvPr/>
        </p:nvPicPr>
        <p:blipFill rotWithShape="1">
          <a:blip r:embed="rId18">
            <a:alphaModFix/>
          </a:blip>
          <a:srcRect b="0" l="0" r="0" t="0"/>
          <a:stretch/>
        </p:blipFill>
        <p:spPr>
          <a:xfrm>
            <a:off x="609600" y="5867400"/>
            <a:ext cx="10972800" cy="762000"/>
          </a:xfrm>
          <a:prstGeom prst="rect">
            <a:avLst/>
          </a:prstGeom>
          <a:noFill/>
          <a:ln>
            <a:noFill/>
          </a:ln>
        </p:spPr>
      </p:pic>
      <p:pic>
        <p:nvPicPr>
          <p:cNvPr descr="preencoded.png" id="267" name="Google Shape;267;p8"/>
          <p:cNvPicPr preferRelativeResize="0"/>
          <p:nvPr/>
        </p:nvPicPr>
        <p:blipFill rotWithShape="1">
          <a:blip r:embed="rId19">
            <a:alphaModFix/>
          </a:blip>
          <a:srcRect b="0" l="0" r="0" t="0"/>
          <a:stretch/>
        </p:blipFill>
        <p:spPr>
          <a:xfrm>
            <a:off x="762000" y="6115050"/>
            <a:ext cx="142875" cy="266700"/>
          </a:xfrm>
          <a:prstGeom prst="rect">
            <a:avLst/>
          </a:prstGeom>
          <a:noFill/>
          <a:ln>
            <a:noFill/>
          </a:ln>
        </p:spPr>
      </p:pic>
      <p:sp>
        <p:nvSpPr>
          <p:cNvPr id="268" name="Google Shape;268;p8"/>
          <p:cNvSpPr/>
          <p:nvPr/>
        </p:nvSpPr>
        <p:spPr>
          <a:xfrm>
            <a:off x="609600" y="342900"/>
            <a:ext cx="10972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Tính năng Bảo mật Xe</a:t>
            </a:r>
            <a:endParaRPr b="0" i="0" sz="2700" u="none" cap="none" strike="noStrike">
              <a:solidFill>
                <a:schemeClr val="dk1"/>
              </a:solidFill>
              <a:latin typeface="Calibri"/>
              <a:ea typeface="Calibri"/>
              <a:cs typeface="Calibri"/>
              <a:sym typeface="Calibri"/>
            </a:endParaRPr>
          </a:p>
        </p:txBody>
      </p:sp>
      <p:sp>
        <p:nvSpPr>
          <p:cNvPr id="269" name="Google Shape;269;p8"/>
          <p:cNvSpPr/>
          <p:nvPr/>
        </p:nvSpPr>
        <p:spPr>
          <a:xfrm>
            <a:off x="1441847" y="1600200"/>
            <a:ext cx="2393454"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Theo dõi Thời gian thực</a:t>
            </a:r>
            <a:endParaRPr b="0" i="0" sz="1800" u="none" cap="none" strike="noStrike">
              <a:solidFill>
                <a:schemeClr val="dk1"/>
              </a:solidFill>
              <a:latin typeface="Calibri"/>
              <a:ea typeface="Calibri"/>
              <a:cs typeface="Calibri"/>
              <a:sym typeface="Calibri"/>
            </a:endParaRPr>
          </a:p>
        </p:txBody>
      </p:sp>
      <p:sp>
        <p:nvSpPr>
          <p:cNvPr id="270" name="Google Shape;270;p8"/>
          <p:cNvSpPr/>
          <p:nvPr/>
        </p:nvSpPr>
        <p:spPr>
          <a:xfrm>
            <a:off x="838200" y="2362200"/>
            <a:ext cx="2997101" cy="9906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AutoSecure quan sát surroundings của xe và ghi lại các sự kiện diễn ra xung quanh xe, đảm bảo không bỏ sót bất kỳ hoạt động nào đáng ngờ.</a:t>
            </a:r>
            <a:endParaRPr b="0" i="0" sz="1200" u="none" cap="none" strike="noStrike">
              <a:solidFill>
                <a:schemeClr val="dk1"/>
              </a:solidFill>
              <a:latin typeface="Calibri"/>
              <a:ea typeface="Calibri"/>
              <a:cs typeface="Calibri"/>
              <a:sym typeface="Calibri"/>
            </a:endParaRPr>
          </a:p>
        </p:txBody>
      </p:sp>
      <p:sp>
        <p:nvSpPr>
          <p:cNvPr id="271" name="Google Shape;271;p8"/>
          <p:cNvSpPr/>
          <p:nvPr/>
        </p:nvSpPr>
        <p:spPr>
          <a:xfrm>
            <a:off x="1066800" y="3505200"/>
            <a:ext cx="2768501"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D9488"/>
              </a:buClr>
              <a:buSzPts val="1200"/>
              <a:buFont typeface="Arial"/>
              <a:buNone/>
            </a:pPr>
            <a:r>
              <a:rPr b="0" i="0" lang="en-US" sz="1200" u="none" cap="none" strike="noStrike">
                <a:solidFill>
                  <a:srgbClr val="0D9488"/>
                </a:solidFill>
                <a:latin typeface="Arial"/>
                <a:ea typeface="Arial"/>
                <a:cs typeface="Arial"/>
                <a:sym typeface="Arial"/>
              </a:rPr>
              <a:t>Hỗ trợ cả khi xe đang chạy và khi đã dừng</a:t>
            </a:r>
            <a:endParaRPr b="0" i="0" sz="1200" u="none" cap="none" strike="noStrike">
              <a:solidFill>
                <a:schemeClr val="dk1"/>
              </a:solidFill>
              <a:latin typeface="Calibri"/>
              <a:ea typeface="Calibri"/>
              <a:cs typeface="Calibri"/>
              <a:sym typeface="Calibri"/>
            </a:endParaRPr>
          </a:p>
        </p:txBody>
      </p:sp>
      <p:sp>
        <p:nvSpPr>
          <p:cNvPr id="272" name="Google Shape;272;p8"/>
          <p:cNvSpPr/>
          <p:nvPr/>
        </p:nvSpPr>
        <p:spPr>
          <a:xfrm>
            <a:off x="5198566" y="1600200"/>
            <a:ext cx="2395984"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Thông báo Ngay lập tức</a:t>
            </a:r>
            <a:endParaRPr b="0" i="0" sz="1800" u="none" cap="none" strike="noStrike">
              <a:solidFill>
                <a:schemeClr val="dk1"/>
              </a:solidFill>
              <a:latin typeface="Calibri"/>
              <a:ea typeface="Calibri"/>
              <a:cs typeface="Calibri"/>
              <a:sym typeface="Calibri"/>
            </a:endParaRPr>
          </a:p>
        </p:txBody>
      </p:sp>
      <p:sp>
        <p:nvSpPr>
          <p:cNvPr id="273" name="Google Shape;273;p8"/>
          <p:cNvSpPr/>
          <p:nvPr/>
        </p:nvSpPr>
        <p:spPr>
          <a:xfrm>
            <a:off x="4597301" y="2362200"/>
            <a:ext cx="2997250" cy="9906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Chủ xe sẽ nhận được thông báo ngay lập tức về bất kỳ sự kiện nào, cho phép can thiệp kịp thời để xử lý tình huống.</a:t>
            </a:r>
            <a:endParaRPr b="0" i="0" sz="1200" u="none" cap="none" strike="noStrike">
              <a:solidFill>
                <a:schemeClr val="dk1"/>
              </a:solidFill>
              <a:latin typeface="Calibri"/>
              <a:ea typeface="Calibri"/>
              <a:cs typeface="Calibri"/>
              <a:sym typeface="Calibri"/>
            </a:endParaRPr>
          </a:p>
        </p:txBody>
      </p:sp>
      <p:sp>
        <p:nvSpPr>
          <p:cNvPr id="274" name="Google Shape;274;p8"/>
          <p:cNvSpPr/>
          <p:nvPr/>
        </p:nvSpPr>
        <p:spPr>
          <a:xfrm>
            <a:off x="4825901" y="3505200"/>
            <a:ext cx="27686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97316"/>
              </a:buClr>
              <a:buSzPts val="1200"/>
              <a:buFont typeface="Arial"/>
              <a:buNone/>
            </a:pPr>
            <a:r>
              <a:rPr b="0" i="0" lang="en-US" sz="1200" u="none" cap="none" strike="noStrike">
                <a:solidFill>
                  <a:srgbClr val="F97316"/>
                </a:solidFill>
                <a:latin typeface="Arial"/>
                <a:ea typeface="Arial"/>
                <a:cs typeface="Arial"/>
                <a:sym typeface="Arial"/>
              </a:rPr>
              <a:t>Hệ thống cảnh báo âm thanh và visual</a:t>
            </a:r>
            <a:endParaRPr b="0" i="0" sz="1200" u="none" cap="none" strike="noStrike">
              <a:solidFill>
                <a:schemeClr val="dk1"/>
              </a:solidFill>
              <a:latin typeface="Calibri"/>
              <a:ea typeface="Calibri"/>
              <a:cs typeface="Calibri"/>
              <a:sym typeface="Calibri"/>
            </a:endParaRPr>
          </a:p>
        </p:txBody>
      </p:sp>
      <p:sp>
        <p:nvSpPr>
          <p:cNvPr id="275" name="Google Shape;275;p8"/>
          <p:cNvSpPr/>
          <p:nvPr/>
        </p:nvSpPr>
        <p:spPr>
          <a:xfrm>
            <a:off x="9080450" y="1733550"/>
            <a:ext cx="2421195"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Lưu trữ An toàn</a:t>
            </a:r>
            <a:endParaRPr b="0" i="0" sz="1800" u="none" cap="none" strike="noStrike">
              <a:solidFill>
                <a:schemeClr val="dk1"/>
              </a:solidFill>
              <a:latin typeface="Calibri"/>
              <a:ea typeface="Calibri"/>
              <a:cs typeface="Calibri"/>
              <a:sym typeface="Calibri"/>
            </a:endParaRPr>
          </a:p>
        </p:txBody>
      </p:sp>
      <p:sp>
        <p:nvSpPr>
          <p:cNvPr id="276" name="Google Shape;276;p8"/>
          <p:cNvSpPr/>
          <p:nvPr/>
        </p:nvSpPr>
        <p:spPr>
          <a:xfrm>
            <a:off x="8356550" y="2324100"/>
            <a:ext cx="2997101" cy="12573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Ngay cả khi thiết bị AutoSecure bị hư hỏng hoặc đánh cắp, video ghi lại vẫn được lưu trữ an toàn trên máy chủ, serving as bằng chứng cho lực lượng chức năng hoặc yêu cầu bảo hiểm.</a:t>
            </a:r>
            <a:endParaRPr b="0" i="0" sz="1200" u="none" cap="none" strike="noStrike">
              <a:solidFill>
                <a:schemeClr val="dk1"/>
              </a:solidFill>
              <a:latin typeface="Calibri"/>
              <a:ea typeface="Calibri"/>
              <a:cs typeface="Calibri"/>
              <a:sym typeface="Calibri"/>
            </a:endParaRPr>
          </a:p>
        </p:txBody>
      </p:sp>
      <p:sp>
        <p:nvSpPr>
          <p:cNvPr id="277" name="Google Shape;277;p8"/>
          <p:cNvSpPr/>
          <p:nvPr/>
        </p:nvSpPr>
        <p:spPr>
          <a:xfrm>
            <a:off x="8585150" y="3733800"/>
            <a:ext cx="241226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563EB"/>
              </a:buClr>
              <a:buSzPts val="1200"/>
              <a:buFont typeface="Arial"/>
              <a:buNone/>
            </a:pPr>
            <a:r>
              <a:rPr b="0" i="0" lang="en-US" sz="1200" u="none" cap="none" strike="noStrike">
                <a:solidFill>
                  <a:srgbClr val="2563EB"/>
                </a:solidFill>
                <a:latin typeface="Arial"/>
                <a:ea typeface="Arial"/>
                <a:cs typeface="Arial"/>
                <a:sym typeface="Arial"/>
              </a:rPr>
              <a:t>Mã hóa dữ liệu end-to-end</a:t>
            </a:r>
            <a:endParaRPr b="0" i="0" sz="1200" u="none" cap="none" strike="noStrike">
              <a:solidFill>
                <a:schemeClr val="dk1"/>
              </a:solidFill>
              <a:latin typeface="Calibri"/>
              <a:ea typeface="Calibri"/>
              <a:cs typeface="Calibri"/>
              <a:sym typeface="Calibri"/>
            </a:endParaRPr>
          </a:p>
        </p:txBody>
      </p:sp>
      <p:sp>
        <p:nvSpPr>
          <p:cNvPr id="278" name="Google Shape;278;p8"/>
          <p:cNvSpPr/>
          <p:nvPr/>
        </p:nvSpPr>
        <p:spPr>
          <a:xfrm>
            <a:off x="1019175" y="6019800"/>
            <a:ext cx="104108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1" i="0" lang="en-US" sz="1200" u="none" cap="none" strike="noStrike">
                <a:solidFill>
                  <a:srgbClr val="4B5563"/>
                </a:solidFill>
                <a:latin typeface="Arial"/>
                <a:ea typeface="Arial"/>
                <a:cs typeface="Arial"/>
                <a:sym typeface="Arial"/>
              </a:rPr>
              <a:t>Tính năng nổi bật:</a:t>
            </a:r>
            <a:r>
              <a:rPr b="0" i="0" lang="en-US" sz="1200" u="none" cap="none" strike="noStrike">
                <a:solidFill>
                  <a:srgbClr val="4B5563"/>
                </a:solidFill>
                <a:latin typeface="Arial"/>
                <a:ea typeface="Arial"/>
                <a:cs typeface="Arial"/>
                <a:sym typeface="Arial"/>
              </a:rPr>
              <a:t> Hệ thống bảo mật của AutoSecure cung cấp một giải pháp toàn diện cho cả việc bảo vệ tài sản và đảm bảo an toàn cho người dùng.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preencoded.png" id="284" name="Google Shape;284;p9"/>
          <p:cNvPicPr preferRelativeResize="0"/>
          <p:nvPr/>
        </p:nvPicPr>
        <p:blipFill rotWithShape="1">
          <a:blip r:embed="rId3">
            <a:alphaModFix/>
          </a:blip>
          <a:srcRect b="0" l="0" r="0" t="0"/>
          <a:stretch/>
        </p:blipFill>
        <p:spPr>
          <a:xfrm>
            <a:off x="0" y="0"/>
            <a:ext cx="12192000" cy="6972300"/>
          </a:xfrm>
          <a:prstGeom prst="rect">
            <a:avLst/>
          </a:prstGeom>
          <a:noFill/>
          <a:ln>
            <a:noFill/>
          </a:ln>
        </p:spPr>
      </p:pic>
      <p:pic>
        <p:nvPicPr>
          <p:cNvPr descr="preencoded.png" id="285" name="Google Shape;285;p9"/>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286" name="Google Shape;286;p9"/>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287" name="Google Shape;287;p9"/>
          <p:cNvPicPr preferRelativeResize="0"/>
          <p:nvPr/>
        </p:nvPicPr>
        <p:blipFill rotWithShape="1">
          <a:blip r:embed="rId6">
            <a:alphaModFix/>
          </a:blip>
          <a:srcRect b="0" l="0" r="0" t="0"/>
          <a:stretch/>
        </p:blipFill>
        <p:spPr>
          <a:xfrm>
            <a:off x="609600" y="3526631"/>
            <a:ext cx="5181600" cy="1028700"/>
          </a:xfrm>
          <a:prstGeom prst="rect">
            <a:avLst/>
          </a:prstGeom>
          <a:noFill/>
          <a:ln>
            <a:noFill/>
          </a:ln>
        </p:spPr>
      </p:pic>
      <p:pic>
        <p:nvPicPr>
          <p:cNvPr descr="preencoded.png" id="288" name="Google Shape;288;p9"/>
          <p:cNvPicPr preferRelativeResize="0"/>
          <p:nvPr/>
        </p:nvPicPr>
        <p:blipFill rotWithShape="1">
          <a:blip r:embed="rId7">
            <a:alphaModFix/>
          </a:blip>
          <a:srcRect b="0" l="0" r="0" t="0"/>
          <a:stretch/>
        </p:blipFill>
        <p:spPr>
          <a:xfrm>
            <a:off x="762000" y="3917156"/>
            <a:ext cx="257175" cy="228600"/>
          </a:xfrm>
          <a:prstGeom prst="rect">
            <a:avLst/>
          </a:prstGeom>
          <a:noFill/>
          <a:ln>
            <a:noFill/>
          </a:ln>
        </p:spPr>
      </p:pic>
      <p:pic>
        <p:nvPicPr>
          <p:cNvPr descr="preencoded.png" id="289" name="Google Shape;289;p9"/>
          <p:cNvPicPr preferRelativeResize="0"/>
          <p:nvPr/>
        </p:nvPicPr>
        <p:blipFill rotWithShape="1">
          <a:blip r:embed="rId6">
            <a:alphaModFix/>
          </a:blip>
          <a:srcRect b="0" l="0" r="0" t="0"/>
          <a:stretch/>
        </p:blipFill>
        <p:spPr>
          <a:xfrm>
            <a:off x="609600" y="4707731"/>
            <a:ext cx="5181600" cy="1028700"/>
          </a:xfrm>
          <a:prstGeom prst="rect">
            <a:avLst/>
          </a:prstGeom>
          <a:noFill/>
          <a:ln>
            <a:noFill/>
          </a:ln>
        </p:spPr>
      </p:pic>
      <p:pic>
        <p:nvPicPr>
          <p:cNvPr descr="preencoded.png" id="290" name="Google Shape;290;p9"/>
          <p:cNvPicPr preferRelativeResize="0"/>
          <p:nvPr/>
        </p:nvPicPr>
        <p:blipFill rotWithShape="1">
          <a:blip r:embed="rId8">
            <a:alphaModFix/>
          </a:blip>
          <a:srcRect b="0" l="0" r="0" t="0"/>
          <a:stretch/>
        </p:blipFill>
        <p:spPr>
          <a:xfrm>
            <a:off x="762000" y="5098256"/>
            <a:ext cx="228600" cy="228600"/>
          </a:xfrm>
          <a:prstGeom prst="rect">
            <a:avLst/>
          </a:prstGeom>
          <a:noFill/>
          <a:ln>
            <a:noFill/>
          </a:ln>
        </p:spPr>
      </p:pic>
      <p:pic>
        <p:nvPicPr>
          <p:cNvPr descr="preencoded.png" id="291" name="Google Shape;291;p9"/>
          <p:cNvPicPr preferRelativeResize="0"/>
          <p:nvPr/>
        </p:nvPicPr>
        <p:blipFill rotWithShape="1">
          <a:blip r:embed="rId9">
            <a:alphaModFix/>
          </a:blip>
          <a:srcRect b="0" l="0" r="0" t="0"/>
          <a:stretch/>
        </p:blipFill>
        <p:spPr>
          <a:xfrm>
            <a:off x="6096000" y="1371600"/>
            <a:ext cx="5486400" cy="2438400"/>
          </a:xfrm>
          <a:prstGeom prst="rect">
            <a:avLst/>
          </a:prstGeom>
          <a:noFill/>
          <a:ln>
            <a:noFill/>
          </a:ln>
        </p:spPr>
      </p:pic>
      <p:pic>
        <p:nvPicPr>
          <p:cNvPr descr="preencoded.png" id="292" name="Google Shape;292;p9"/>
          <p:cNvPicPr preferRelativeResize="0"/>
          <p:nvPr/>
        </p:nvPicPr>
        <p:blipFill rotWithShape="1">
          <a:blip r:embed="rId10">
            <a:alphaModFix/>
          </a:blip>
          <a:srcRect b="0" l="0" r="0" t="0"/>
          <a:stretch/>
        </p:blipFill>
        <p:spPr>
          <a:xfrm>
            <a:off x="6096000" y="3314700"/>
            <a:ext cx="5486400" cy="495300"/>
          </a:xfrm>
          <a:prstGeom prst="rect">
            <a:avLst/>
          </a:prstGeom>
          <a:noFill/>
          <a:ln>
            <a:noFill/>
          </a:ln>
        </p:spPr>
      </p:pic>
      <p:pic>
        <p:nvPicPr>
          <p:cNvPr descr="preencoded.png" id="293" name="Google Shape;293;p9"/>
          <p:cNvPicPr preferRelativeResize="0"/>
          <p:nvPr/>
        </p:nvPicPr>
        <p:blipFill rotWithShape="1">
          <a:blip r:embed="rId11">
            <a:alphaModFix/>
          </a:blip>
          <a:srcRect b="0" l="0" r="0" t="0"/>
          <a:stretch/>
        </p:blipFill>
        <p:spPr>
          <a:xfrm>
            <a:off x="6096000" y="4038600"/>
            <a:ext cx="5486400" cy="2247900"/>
          </a:xfrm>
          <a:prstGeom prst="rect">
            <a:avLst/>
          </a:prstGeom>
          <a:noFill/>
          <a:ln>
            <a:noFill/>
          </a:ln>
        </p:spPr>
      </p:pic>
      <p:pic>
        <p:nvPicPr>
          <p:cNvPr descr="preencoded.png" id="294" name="Google Shape;294;p9"/>
          <p:cNvPicPr preferRelativeResize="0"/>
          <p:nvPr/>
        </p:nvPicPr>
        <p:blipFill rotWithShape="1">
          <a:blip r:embed="rId12">
            <a:alphaModFix/>
          </a:blip>
          <a:srcRect b="0" l="0" r="0" t="0"/>
          <a:stretch/>
        </p:blipFill>
        <p:spPr>
          <a:xfrm>
            <a:off x="6324600" y="4752975"/>
            <a:ext cx="152400" cy="152400"/>
          </a:xfrm>
          <a:prstGeom prst="rect">
            <a:avLst/>
          </a:prstGeom>
          <a:noFill/>
          <a:ln>
            <a:noFill/>
          </a:ln>
        </p:spPr>
      </p:pic>
      <p:pic>
        <p:nvPicPr>
          <p:cNvPr descr="preencoded.png" id="295" name="Google Shape;295;p9"/>
          <p:cNvPicPr preferRelativeResize="0"/>
          <p:nvPr/>
        </p:nvPicPr>
        <p:blipFill rotWithShape="1">
          <a:blip r:embed="rId13">
            <a:alphaModFix/>
          </a:blip>
          <a:srcRect b="0" l="0" r="0" t="0"/>
          <a:stretch/>
        </p:blipFill>
        <p:spPr>
          <a:xfrm>
            <a:off x="8915400" y="4752975"/>
            <a:ext cx="190500" cy="152400"/>
          </a:xfrm>
          <a:prstGeom prst="rect">
            <a:avLst/>
          </a:prstGeom>
          <a:noFill/>
          <a:ln>
            <a:noFill/>
          </a:ln>
        </p:spPr>
      </p:pic>
      <p:pic>
        <p:nvPicPr>
          <p:cNvPr descr="preencoded.png" id="296" name="Google Shape;296;p9"/>
          <p:cNvPicPr preferRelativeResize="0"/>
          <p:nvPr/>
        </p:nvPicPr>
        <p:blipFill rotWithShape="1">
          <a:blip r:embed="rId14">
            <a:alphaModFix/>
          </a:blip>
          <a:srcRect b="0" l="0" r="0" t="0"/>
          <a:stretch/>
        </p:blipFill>
        <p:spPr>
          <a:xfrm>
            <a:off x="6324600" y="5514975"/>
            <a:ext cx="114300" cy="152400"/>
          </a:xfrm>
          <a:prstGeom prst="rect">
            <a:avLst/>
          </a:prstGeom>
          <a:noFill/>
          <a:ln>
            <a:noFill/>
          </a:ln>
        </p:spPr>
      </p:pic>
      <p:pic>
        <p:nvPicPr>
          <p:cNvPr descr="preencoded.png" id="297" name="Google Shape;297;p9"/>
          <p:cNvPicPr preferRelativeResize="0"/>
          <p:nvPr/>
        </p:nvPicPr>
        <p:blipFill rotWithShape="1">
          <a:blip r:embed="rId15">
            <a:alphaModFix/>
          </a:blip>
          <a:srcRect b="0" l="0" r="0" t="0"/>
          <a:stretch/>
        </p:blipFill>
        <p:spPr>
          <a:xfrm>
            <a:off x="8915400" y="5514975"/>
            <a:ext cx="133350" cy="152400"/>
          </a:xfrm>
          <a:prstGeom prst="rect">
            <a:avLst/>
          </a:prstGeom>
          <a:noFill/>
          <a:ln>
            <a:noFill/>
          </a:ln>
        </p:spPr>
      </p:pic>
      <p:pic>
        <p:nvPicPr>
          <p:cNvPr descr="preencoded.png" id="298" name="Google Shape;298;p9"/>
          <p:cNvPicPr preferRelativeResize="0"/>
          <p:nvPr/>
        </p:nvPicPr>
        <p:blipFill rotWithShape="1">
          <a:blip r:embed="rId16">
            <a:alphaModFix/>
          </a:blip>
          <a:srcRect b="0" l="0" r="0" t="0"/>
          <a:stretch/>
        </p:blipFill>
        <p:spPr>
          <a:xfrm>
            <a:off x="609600" y="6543675"/>
            <a:ext cx="152400" cy="152400"/>
          </a:xfrm>
          <a:prstGeom prst="rect">
            <a:avLst/>
          </a:prstGeom>
          <a:noFill/>
          <a:ln>
            <a:noFill/>
          </a:ln>
        </p:spPr>
      </p:pic>
      <p:pic>
        <p:nvPicPr>
          <p:cNvPr descr="preencoded.png" id="299" name="Google Shape;299;p9"/>
          <p:cNvPicPr preferRelativeResize="0"/>
          <p:nvPr/>
        </p:nvPicPr>
        <p:blipFill rotWithShape="1">
          <a:blip r:embed="rId17">
            <a:alphaModFix/>
          </a:blip>
          <a:srcRect b="0" l="0" r="0" t="0"/>
          <a:stretch/>
        </p:blipFill>
        <p:spPr>
          <a:xfrm>
            <a:off x="11391900" y="6543675"/>
            <a:ext cx="190500" cy="152400"/>
          </a:xfrm>
          <a:prstGeom prst="rect">
            <a:avLst/>
          </a:prstGeom>
          <a:noFill/>
          <a:ln>
            <a:noFill/>
          </a:ln>
        </p:spPr>
      </p:pic>
      <p:sp>
        <p:nvSpPr>
          <p:cNvPr id="300" name="Google Shape;300;p9"/>
          <p:cNvSpPr/>
          <p:nvPr/>
        </p:nvSpPr>
        <p:spPr>
          <a:xfrm>
            <a:off x="609600" y="3429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Giới thiệu Hệ thống Quản lý Fleet</a:t>
            </a:r>
            <a:endParaRPr b="0" i="0" sz="2700" u="none" cap="none" strike="noStrike">
              <a:solidFill>
                <a:schemeClr val="dk1"/>
              </a:solidFill>
              <a:latin typeface="Calibri"/>
              <a:ea typeface="Calibri"/>
              <a:cs typeface="Calibri"/>
              <a:sym typeface="Calibri"/>
            </a:endParaRPr>
          </a:p>
        </p:txBody>
      </p:sp>
      <p:sp>
        <p:nvSpPr>
          <p:cNvPr id="301" name="Google Shape;301;p9"/>
          <p:cNvSpPr/>
          <p:nvPr/>
        </p:nvSpPr>
        <p:spPr>
          <a:xfrm>
            <a:off x="609600" y="1371600"/>
            <a:ext cx="621792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Hệ thống Quản lý Fleet (FMS)</a:t>
            </a:r>
            <a:endParaRPr b="0" i="0" sz="1800" u="none" cap="none" strike="noStrike">
              <a:solidFill>
                <a:schemeClr val="dk1"/>
              </a:solidFill>
              <a:latin typeface="Calibri"/>
              <a:ea typeface="Calibri"/>
              <a:cs typeface="Calibri"/>
              <a:sym typeface="Calibri"/>
            </a:endParaRPr>
          </a:p>
        </p:txBody>
      </p:sp>
      <p:sp>
        <p:nvSpPr>
          <p:cNvPr id="302" name="Google Shape;302;p9"/>
          <p:cNvSpPr/>
          <p:nvPr/>
        </p:nvSpPr>
        <p:spPr>
          <a:xfrm>
            <a:off x="609600" y="1828800"/>
            <a:ext cx="5181600" cy="1393031"/>
          </a:xfrm>
          <a:prstGeom prst="rect">
            <a:avLst/>
          </a:prstGeom>
          <a:noFill/>
          <a:ln>
            <a:noFill/>
          </a:ln>
        </p:spPr>
        <p:txBody>
          <a:bodyPr anchorCtr="0" anchor="t" bIns="0" lIns="0" spcFirstLastPara="1" rIns="0" wrap="square" tIns="0">
            <a:noAutofit/>
          </a:bodyPr>
          <a:lstStyle/>
          <a:p>
            <a:pPr indent="0" lvl="0" marL="0" marR="0" rtl="0" algn="l">
              <a:lnSpc>
                <a:spcPct val="162518"/>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Hệ thống Quản lý Fleet (FMS) là thành phần phần mềm toàn diện của giải pháp AutoSecure, cung cấp nền tảng tập trung để giám sát và quản lý toàn bộ fleet. Nó giúp doanh nghiệp tối ưu hóa hoạt động, nâng cao an toàn và đưa ra quyết định dựa trên dữ liệu.</a:t>
            </a:r>
            <a:endParaRPr b="0" i="0" sz="1350" u="none" cap="none" strike="noStrike">
              <a:solidFill>
                <a:schemeClr val="dk1"/>
              </a:solidFill>
              <a:latin typeface="Calibri"/>
              <a:ea typeface="Calibri"/>
              <a:cs typeface="Calibri"/>
              <a:sym typeface="Calibri"/>
            </a:endParaRPr>
          </a:p>
        </p:txBody>
      </p:sp>
      <p:sp>
        <p:nvSpPr>
          <p:cNvPr id="303" name="Google Shape;303;p9"/>
          <p:cNvSpPr/>
          <p:nvPr/>
        </p:nvSpPr>
        <p:spPr>
          <a:xfrm>
            <a:off x="1171575" y="3679031"/>
            <a:ext cx="446722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Nền tảng tập trung</a:t>
            </a:r>
            <a:endParaRPr b="0" i="0" sz="1500" u="none" cap="none" strike="noStrike">
              <a:solidFill>
                <a:schemeClr val="dk1"/>
              </a:solidFill>
              <a:latin typeface="Calibri"/>
              <a:ea typeface="Calibri"/>
              <a:cs typeface="Calibri"/>
              <a:sym typeface="Calibri"/>
            </a:endParaRPr>
          </a:p>
        </p:txBody>
      </p:sp>
      <p:sp>
        <p:nvSpPr>
          <p:cNvPr id="304" name="Google Shape;304;p9"/>
          <p:cNvSpPr/>
          <p:nvPr/>
        </p:nvSpPr>
        <p:spPr>
          <a:xfrm>
            <a:off x="1171575" y="3945731"/>
            <a:ext cx="44672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Giao diện đơn giản nhưng hiệu quả cho phép quản lý dễ dàng toàn bộ fleet.</a:t>
            </a:r>
            <a:endParaRPr b="0" i="0" sz="1200" u="none" cap="none" strike="noStrike">
              <a:solidFill>
                <a:schemeClr val="dk1"/>
              </a:solidFill>
              <a:latin typeface="Calibri"/>
              <a:ea typeface="Calibri"/>
              <a:cs typeface="Calibri"/>
              <a:sym typeface="Calibri"/>
            </a:endParaRPr>
          </a:p>
        </p:txBody>
      </p:sp>
      <p:sp>
        <p:nvSpPr>
          <p:cNvPr id="305" name="Google Shape;305;p9"/>
          <p:cNvSpPr/>
          <p:nvPr/>
        </p:nvSpPr>
        <p:spPr>
          <a:xfrm>
            <a:off x="1143000" y="4860131"/>
            <a:ext cx="44958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Phân tích dữ liệu</a:t>
            </a:r>
            <a:endParaRPr b="0" i="0" sz="1500" u="none" cap="none" strike="noStrike">
              <a:solidFill>
                <a:schemeClr val="dk1"/>
              </a:solidFill>
              <a:latin typeface="Calibri"/>
              <a:ea typeface="Calibri"/>
              <a:cs typeface="Calibri"/>
              <a:sym typeface="Calibri"/>
            </a:endParaRPr>
          </a:p>
        </p:txBody>
      </p:sp>
      <p:sp>
        <p:nvSpPr>
          <p:cNvPr id="306" name="Google Shape;306;p9"/>
          <p:cNvSpPr/>
          <p:nvPr/>
        </p:nvSpPr>
        <p:spPr>
          <a:xfrm>
            <a:off x="1143000" y="5126831"/>
            <a:ext cx="44958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Cung cấp các công cụ phân tích để hiểu rõ hơn về hoạt động fleet và đưa ra quyết định sáng suốt.</a:t>
            </a:r>
            <a:endParaRPr b="0" i="0" sz="1200" u="none" cap="none" strike="noStrike">
              <a:solidFill>
                <a:schemeClr val="dk1"/>
              </a:solidFill>
              <a:latin typeface="Calibri"/>
              <a:ea typeface="Calibri"/>
              <a:cs typeface="Calibri"/>
              <a:sym typeface="Calibri"/>
            </a:endParaRPr>
          </a:p>
        </p:txBody>
      </p:sp>
      <p:sp>
        <p:nvSpPr>
          <p:cNvPr id="307" name="Google Shape;307;p9"/>
          <p:cNvSpPr/>
          <p:nvPr/>
        </p:nvSpPr>
        <p:spPr>
          <a:xfrm>
            <a:off x="6248400" y="3467100"/>
            <a:ext cx="6217920"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Hệ thống quản lý fleet hiện đại với giao diện trực quan</a:t>
            </a:r>
            <a:endParaRPr b="0" i="0" sz="1050" u="none" cap="none" strike="noStrike">
              <a:solidFill>
                <a:schemeClr val="dk1"/>
              </a:solidFill>
              <a:latin typeface="Calibri"/>
              <a:ea typeface="Calibri"/>
              <a:cs typeface="Calibri"/>
              <a:sym typeface="Calibri"/>
            </a:endParaRPr>
          </a:p>
        </p:txBody>
      </p:sp>
      <p:sp>
        <p:nvSpPr>
          <p:cNvPr id="308" name="Google Shape;308;p9"/>
          <p:cNvSpPr/>
          <p:nvPr/>
        </p:nvSpPr>
        <p:spPr>
          <a:xfrm>
            <a:off x="6324600" y="4267200"/>
            <a:ext cx="60350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Các chức năng chính của FMS</a:t>
            </a:r>
            <a:endParaRPr b="0" i="0" sz="1500" u="none" cap="none" strike="noStrike">
              <a:solidFill>
                <a:schemeClr val="dk1"/>
              </a:solidFill>
              <a:latin typeface="Calibri"/>
              <a:ea typeface="Calibri"/>
              <a:cs typeface="Calibri"/>
              <a:sym typeface="Calibri"/>
            </a:endParaRPr>
          </a:p>
        </p:txBody>
      </p:sp>
      <p:sp>
        <p:nvSpPr>
          <p:cNvPr id="309" name="Google Shape;309;p9"/>
          <p:cNvSpPr/>
          <p:nvPr/>
        </p:nvSpPr>
        <p:spPr>
          <a:xfrm>
            <a:off x="6591300" y="4686300"/>
            <a:ext cx="260604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Tối ưu hóa hành trình</a:t>
            </a:r>
            <a:endParaRPr b="0" i="0" sz="1200" u="none" cap="none" strike="noStrike">
              <a:solidFill>
                <a:schemeClr val="dk1"/>
              </a:solidFill>
              <a:latin typeface="Calibri"/>
              <a:ea typeface="Calibri"/>
              <a:cs typeface="Calibri"/>
              <a:sym typeface="Calibri"/>
            </a:endParaRPr>
          </a:p>
        </p:txBody>
      </p:sp>
      <p:sp>
        <p:nvSpPr>
          <p:cNvPr id="310" name="Google Shape;310;p9"/>
          <p:cNvSpPr/>
          <p:nvPr/>
        </p:nvSpPr>
        <p:spPr>
          <a:xfrm>
            <a:off x="6591300" y="4914900"/>
            <a:ext cx="2171700"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Theo dõi tuyến đường và điểm dừng nghỉ</a:t>
            </a:r>
            <a:endParaRPr b="0" i="0" sz="1050" u="none" cap="none" strike="noStrike">
              <a:solidFill>
                <a:schemeClr val="dk1"/>
              </a:solidFill>
              <a:latin typeface="Calibri"/>
              <a:ea typeface="Calibri"/>
              <a:cs typeface="Calibri"/>
              <a:sym typeface="Calibri"/>
            </a:endParaRPr>
          </a:p>
        </p:txBody>
      </p:sp>
      <p:sp>
        <p:nvSpPr>
          <p:cNvPr id="311" name="Google Shape;311;p9"/>
          <p:cNvSpPr/>
          <p:nvPr/>
        </p:nvSpPr>
        <p:spPr>
          <a:xfrm>
            <a:off x="9220200" y="4686300"/>
            <a:ext cx="256032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Quản lý tập trung</a:t>
            </a:r>
            <a:endParaRPr b="0" i="0" sz="1200" u="none" cap="none" strike="noStrike">
              <a:solidFill>
                <a:schemeClr val="dk1"/>
              </a:solidFill>
              <a:latin typeface="Calibri"/>
              <a:ea typeface="Calibri"/>
              <a:cs typeface="Calibri"/>
              <a:sym typeface="Calibri"/>
            </a:endParaRPr>
          </a:p>
        </p:txBody>
      </p:sp>
      <p:sp>
        <p:nvSpPr>
          <p:cNvPr id="312" name="Google Shape;312;p9"/>
          <p:cNvSpPr/>
          <p:nvPr/>
        </p:nvSpPr>
        <p:spPr>
          <a:xfrm>
            <a:off x="9220200" y="4914900"/>
            <a:ext cx="2133600"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Giao diện đơn giản cho việc giám sát toàn fleet</a:t>
            </a:r>
            <a:endParaRPr b="0" i="0" sz="1050" u="none" cap="none" strike="noStrike">
              <a:solidFill>
                <a:schemeClr val="dk1"/>
              </a:solidFill>
              <a:latin typeface="Calibri"/>
              <a:ea typeface="Calibri"/>
              <a:cs typeface="Calibri"/>
              <a:sym typeface="Calibri"/>
            </a:endParaRPr>
          </a:p>
        </p:txBody>
      </p:sp>
      <p:sp>
        <p:nvSpPr>
          <p:cNvPr id="313" name="Google Shape;313;p9"/>
          <p:cNvSpPr/>
          <p:nvPr/>
        </p:nvSpPr>
        <p:spPr>
          <a:xfrm>
            <a:off x="6553200" y="5448300"/>
            <a:ext cx="265176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Báo cáo &amp; phân tích</a:t>
            </a:r>
            <a:endParaRPr b="0" i="0" sz="1200" u="none" cap="none" strike="noStrike">
              <a:solidFill>
                <a:schemeClr val="dk1"/>
              </a:solidFill>
              <a:latin typeface="Calibri"/>
              <a:ea typeface="Calibri"/>
              <a:cs typeface="Calibri"/>
              <a:sym typeface="Calibri"/>
            </a:endParaRPr>
          </a:p>
        </p:txBody>
      </p:sp>
      <p:sp>
        <p:nvSpPr>
          <p:cNvPr id="314" name="Google Shape;314;p9"/>
          <p:cNvSpPr/>
          <p:nvPr/>
        </p:nvSpPr>
        <p:spPr>
          <a:xfrm>
            <a:off x="6553200" y="5676900"/>
            <a:ext cx="2209800"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Tạo báo cáo chi tiết về hoạt động fleet</a:t>
            </a:r>
            <a:endParaRPr b="0" i="0" sz="1050" u="none" cap="none" strike="noStrike">
              <a:solidFill>
                <a:schemeClr val="dk1"/>
              </a:solidFill>
              <a:latin typeface="Calibri"/>
              <a:ea typeface="Calibri"/>
              <a:cs typeface="Calibri"/>
              <a:sym typeface="Calibri"/>
            </a:endParaRPr>
          </a:p>
        </p:txBody>
      </p:sp>
      <p:sp>
        <p:nvSpPr>
          <p:cNvPr id="315" name="Google Shape;315;p9"/>
          <p:cNvSpPr/>
          <p:nvPr/>
        </p:nvSpPr>
        <p:spPr>
          <a:xfrm>
            <a:off x="9163050" y="5448300"/>
            <a:ext cx="26289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Thông báo tức thì</a:t>
            </a:r>
            <a:endParaRPr b="0" i="0" sz="1200" u="none" cap="none" strike="noStrike">
              <a:solidFill>
                <a:schemeClr val="dk1"/>
              </a:solidFill>
              <a:latin typeface="Calibri"/>
              <a:ea typeface="Calibri"/>
              <a:cs typeface="Calibri"/>
              <a:sym typeface="Calibri"/>
            </a:endParaRPr>
          </a:p>
        </p:txBody>
      </p:sp>
      <p:sp>
        <p:nvSpPr>
          <p:cNvPr id="316" name="Google Shape;316;p9"/>
          <p:cNvSpPr/>
          <p:nvPr/>
        </p:nvSpPr>
        <p:spPr>
          <a:xfrm>
            <a:off x="9163050" y="5676900"/>
            <a:ext cx="2190750"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Nhắc nhở và cảnh báo về các sự kiện quan trọng</a:t>
            </a:r>
            <a:endParaRPr b="0" i="0" sz="1050" u="none" cap="none" strike="noStrike">
              <a:solidFill>
                <a:schemeClr val="dk1"/>
              </a:solidFill>
              <a:latin typeface="Calibri"/>
              <a:ea typeface="Calibri"/>
              <a:cs typeface="Calibri"/>
              <a:sym typeface="Calibri"/>
            </a:endParaRPr>
          </a:p>
        </p:txBody>
      </p:sp>
      <p:sp>
        <p:nvSpPr>
          <p:cNvPr id="317" name="Google Shape;317;p9"/>
          <p:cNvSpPr/>
          <p:nvPr/>
        </p:nvSpPr>
        <p:spPr>
          <a:xfrm>
            <a:off x="838200" y="6515100"/>
            <a:ext cx="548961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FMS là thành phần phần mềm của giải pháp AutoSecure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preencoded.png" id="323" name="Google Shape;323;p10"/>
          <p:cNvPicPr preferRelativeResize="0"/>
          <p:nvPr/>
        </p:nvPicPr>
        <p:blipFill rotWithShape="1">
          <a:blip r:embed="rId3">
            <a:alphaModFix/>
          </a:blip>
          <a:srcRect b="0" l="0" r="0" t="0"/>
          <a:stretch/>
        </p:blipFill>
        <p:spPr>
          <a:xfrm>
            <a:off x="0" y="0"/>
            <a:ext cx="12192000" cy="7048500"/>
          </a:xfrm>
          <a:prstGeom prst="rect">
            <a:avLst/>
          </a:prstGeom>
          <a:noFill/>
          <a:ln>
            <a:noFill/>
          </a:ln>
        </p:spPr>
      </p:pic>
      <p:pic>
        <p:nvPicPr>
          <p:cNvPr descr="preencoded.png" id="324" name="Google Shape;324;p10"/>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325" name="Google Shape;325;p10"/>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326" name="Google Shape;326;p10"/>
          <p:cNvPicPr preferRelativeResize="0"/>
          <p:nvPr/>
        </p:nvPicPr>
        <p:blipFill rotWithShape="1">
          <a:blip r:embed="rId6">
            <a:alphaModFix/>
          </a:blip>
          <a:srcRect b="0" l="0" r="0" t="0"/>
          <a:stretch/>
        </p:blipFill>
        <p:spPr>
          <a:xfrm>
            <a:off x="609600" y="2714625"/>
            <a:ext cx="5181600" cy="1028700"/>
          </a:xfrm>
          <a:prstGeom prst="rect">
            <a:avLst/>
          </a:prstGeom>
          <a:noFill/>
          <a:ln>
            <a:noFill/>
          </a:ln>
        </p:spPr>
      </p:pic>
      <p:pic>
        <p:nvPicPr>
          <p:cNvPr descr="preencoded.png" id="327" name="Google Shape;327;p10"/>
          <p:cNvPicPr preferRelativeResize="0"/>
          <p:nvPr/>
        </p:nvPicPr>
        <p:blipFill rotWithShape="1">
          <a:blip r:embed="rId7">
            <a:alphaModFix/>
          </a:blip>
          <a:srcRect b="0" l="0" r="0" t="0"/>
          <a:stretch/>
        </p:blipFill>
        <p:spPr>
          <a:xfrm>
            <a:off x="762000" y="2933700"/>
            <a:ext cx="228600" cy="228600"/>
          </a:xfrm>
          <a:prstGeom prst="rect">
            <a:avLst/>
          </a:prstGeom>
          <a:noFill/>
          <a:ln>
            <a:noFill/>
          </a:ln>
        </p:spPr>
      </p:pic>
      <p:pic>
        <p:nvPicPr>
          <p:cNvPr descr="preencoded.png" id="328" name="Google Shape;328;p10"/>
          <p:cNvPicPr preferRelativeResize="0"/>
          <p:nvPr/>
        </p:nvPicPr>
        <p:blipFill rotWithShape="1">
          <a:blip r:embed="rId6">
            <a:alphaModFix/>
          </a:blip>
          <a:srcRect b="0" l="0" r="0" t="0"/>
          <a:stretch/>
        </p:blipFill>
        <p:spPr>
          <a:xfrm>
            <a:off x="609600" y="3895725"/>
            <a:ext cx="5181600" cy="1028700"/>
          </a:xfrm>
          <a:prstGeom prst="rect">
            <a:avLst/>
          </a:prstGeom>
          <a:noFill/>
          <a:ln>
            <a:noFill/>
          </a:ln>
        </p:spPr>
      </p:pic>
      <p:pic>
        <p:nvPicPr>
          <p:cNvPr descr="preencoded.png" id="329" name="Google Shape;329;p10"/>
          <p:cNvPicPr preferRelativeResize="0"/>
          <p:nvPr/>
        </p:nvPicPr>
        <p:blipFill rotWithShape="1">
          <a:blip r:embed="rId8">
            <a:alphaModFix/>
          </a:blip>
          <a:srcRect b="0" l="0" r="0" t="0"/>
          <a:stretch/>
        </p:blipFill>
        <p:spPr>
          <a:xfrm>
            <a:off x="762000" y="4114800"/>
            <a:ext cx="257175" cy="228600"/>
          </a:xfrm>
          <a:prstGeom prst="rect">
            <a:avLst/>
          </a:prstGeom>
          <a:noFill/>
          <a:ln>
            <a:noFill/>
          </a:ln>
        </p:spPr>
      </p:pic>
      <p:pic>
        <p:nvPicPr>
          <p:cNvPr descr="preencoded.png" id="330" name="Google Shape;330;p10"/>
          <p:cNvPicPr preferRelativeResize="0"/>
          <p:nvPr/>
        </p:nvPicPr>
        <p:blipFill rotWithShape="1">
          <a:blip r:embed="rId6">
            <a:alphaModFix/>
          </a:blip>
          <a:srcRect b="0" l="0" r="0" t="0"/>
          <a:stretch/>
        </p:blipFill>
        <p:spPr>
          <a:xfrm>
            <a:off x="609600" y="5076825"/>
            <a:ext cx="5181600" cy="1028700"/>
          </a:xfrm>
          <a:prstGeom prst="rect">
            <a:avLst/>
          </a:prstGeom>
          <a:noFill/>
          <a:ln>
            <a:noFill/>
          </a:ln>
        </p:spPr>
      </p:pic>
      <p:pic>
        <p:nvPicPr>
          <p:cNvPr descr="preencoded.png" id="331" name="Google Shape;331;p10"/>
          <p:cNvPicPr preferRelativeResize="0"/>
          <p:nvPr/>
        </p:nvPicPr>
        <p:blipFill rotWithShape="1">
          <a:blip r:embed="rId9">
            <a:alphaModFix/>
          </a:blip>
          <a:srcRect b="0" l="0" r="0" t="0"/>
          <a:stretch/>
        </p:blipFill>
        <p:spPr>
          <a:xfrm>
            <a:off x="762000" y="5295900"/>
            <a:ext cx="228600" cy="228600"/>
          </a:xfrm>
          <a:prstGeom prst="rect">
            <a:avLst/>
          </a:prstGeom>
          <a:noFill/>
          <a:ln>
            <a:noFill/>
          </a:ln>
        </p:spPr>
      </p:pic>
      <p:pic>
        <p:nvPicPr>
          <p:cNvPr descr="preencoded.png" id="332" name="Google Shape;332;p10"/>
          <p:cNvPicPr preferRelativeResize="0"/>
          <p:nvPr/>
        </p:nvPicPr>
        <p:blipFill rotWithShape="1">
          <a:blip r:embed="rId10">
            <a:alphaModFix/>
          </a:blip>
          <a:srcRect b="0" l="0" r="0" t="0"/>
          <a:stretch/>
        </p:blipFill>
        <p:spPr>
          <a:xfrm>
            <a:off x="6096000" y="1371600"/>
            <a:ext cx="5486400" cy="3962400"/>
          </a:xfrm>
          <a:prstGeom prst="rect">
            <a:avLst/>
          </a:prstGeom>
          <a:noFill/>
          <a:ln>
            <a:noFill/>
          </a:ln>
        </p:spPr>
      </p:pic>
      <p:pic>
        <p:nvPicPr>
          <p:cNvPr descr="preencoded.png" id="333" name="Google Shape;333;p10"/>
          <p:cNvPicPr preferRelativeResize="0"/>
          <p:nvPr/>
        </p:nvPicPr>
        <p:blipFill rotWithShape="1">
          <a:blip r:embed="rId11">
            <a:alphaModFix/>
          </a:blip>
          <a:srcRect b="0" l="0" r="0" t="0"/>
          <a:stretch/>
        </p:blipFill>
        <p:spPr>
          <a:xfrm>
            <a:off x="6324600" y="2019300"/>
            <a:ext cx="5029200" cy="2438400"/>
          </a:xfrm>
          <a:prstGeom prst="rect">
            <a:avLst/>
          </a:prstGeom>
          <a:noFill/>
          <a:ln>
            <a:noFill/>
          </a:ln>
        </p:spPr>
      </p:pic>
      <p:pic>
        <p:nvPicPr>
          <p:cNvPr descr="preencoded.png" id="334" name="Google Shape;334;p10"/>
          <p:cNvPicPr preferRelativeResize="0"/>
          <p:nvPr/>
        </p:nvPicPr>
        <p:blipFill rotWithShape="1">
          <a:blip r:embed="rId12">
            <a:alphaModFix/>
          </a:blip>
          <a:srcRect b="0" l="0" r="0" t="0"/>
          <a:stretch/>
        </p:blipFill>
        <p:spPr>
          <a:xfrm>
            <a:off x="6324600" y="4629150"/>
            <a:ext cx="152400" cy="152400"/>
          </a:xfrm>
          <a:prstGeom prst="rect">
            <a:avLst/>
          </a:prstGeom>
          <a:noFill/>
          <a:ln>
            <a:noFill/>
          </a:ln>
        </p:spPr>
      </p:pic>
      <p:pic>
        <p:nvPicPr>
          <p:cNvPr descr="preencoded.png" id="335" name="Google Shape;335;p10"/>
          <p:cNvPicPr preferRelativeResize="0"/>
          <p:nvPr/>
        </p:nvPicPr>
        <p:blipFill rotWithShape="1">
          <a:blip r:embed="rId13">
            <a:alphaModFix/>
          </a:blip>
          <a:srcRect b="0" l="0" r="0" t="0"/>
          <a:stretch/>
        </p:blipFill>
        <p:spPr>
          <a:xfrm>
            <a:off x="8896350" y="4648200"/>
            <a:ext cx="114300" cy="114300"/>
          </a:xfrm>
          <a:prstGeom prst="rect">
            <a:avLst/>
          </a:prstGeom>
          <a:noFill/>
          <a:ln>
            <a:noFill/>
          </a:ln>
        </p:spPr>
      </p:pic>
      <p:pic>
        <p:nvPicPr>
          <p:cNvPr descr="preencoded.png" id="336" name="Google Shape;336;p10"/>
          <p:cNvPicPr preferRelativeResize="0"/>
          <p:nvPr/>
        </p:nvPicPr>
        <p:blipFill rotWithShape="1">
          <a:blip r:embed="rId14">
            <a:alphaModFix/>
          </a:blip>
          <a:srcRect b="0" l="0" r="0" t="0"/>
          <a:stretch/>
        </p:blipFill>
        <p:spPr>
          <a:xfrm>
            <a:off x="6324600" y="5000625"/>
            <a:ext cx="152400" cy="19050"/>
          </a:xfrm>
          <a:prstGeom prst="rect">
            <a:avLst/>
          </a:prstGeom>
          <a:noFill/>
          <a:ln>
            <a:noFill/>
          </a:ln>
        </p:spPr>
      </p:pic>
      <p:pic>
        <p:nvPicPr>
          <p:cNvPr descr="preencoded.png" id="337" name="Google Shape;337;p10"/>
          <p:cNvPicPr preferRelativeResize="0"/>
          <p:nvPr/>
        </p:nvPicPr>
        <p:blipFill rotWithShape="1">
          <a:blip r:embed="rId15">
            <a:alphaModFix/>
          </a:blip>
          <a:srcRect b="0" l="0" r="0" t="0"/>
          <a:stretch/>
        </p:blipFill>
        <p:spPr>
          <a:xfrm>
            <a:off x="8896350" y="4953000"/>
            <a:ext cx="114300" cy="114300"/>
          </a:xfrm>
          <a:prstGeom prst="rect">
            <a:avLst/>
          </a:prstGeom>
          <a:noFill/>
          <a:ln>
            <a:noFill/>
          </a:ln>
        </p:spPr>
      </p:pic>
      <p:pic>
        <p:nvPicPr>
          <p:cNvPr descr="preencoded.png" id="338" name="Google Shape;338;p10"/>
          <p:cNvPicPr preferRelativeResize="0"/>
          <p:nvPr/>
        </p:nvPicPr>
        <p:blipFill rotWithShape="1">
          <a:blip r:embed="rId16">
            <a:alphaModFix/>
          </a:blip>
          <a:srcRect b="0" l="0" r="0" t="0"/>
          <a:stretch/>
        </p:blipFill>
        <p:spPr>
          <a:xfrm>
            <a:off x="6096000" y="5486400"/>
            <a:ext cx="5486400" cy="876300"/>
          </a:xfrm>
          <a:prstGeom prst="rect">
            <a:avLst/>
          </a:prstGeom>
          <a:noFill/>
          <a:ln>
            <a:noFill/>
          </a:ln>
        </p:spPr>
      </p:pic>
      <p:pic>
        <p:nvPicPr>
          <p:cNvPr descr="preencoded.png" id="339" name="Google Shape;339;p10"/>
          <p:cNvPicPr preferRelativeResize="0"/>
          <p:nvPr/>
        </p:nvPicPr>
        <p:blipFill rotWithShape="1">
          <a:blip r:embed="rId17">
            <a:alphaModFix/>
          </a:blip>
          <a:srcRect b="0" l="0" r="0" t="0"/>
          <a:stretch/>
        </p:blipFill>
        <p:spPr>
          <a:xfrm>
            <a:off x="6248400" y="6019800"/>
            <a:ext cx="152400" cy="152400"/>
          </a:xfrm>
          <a:prstGeom prst="rect">
            <a:avLst/>
          </a:prstGeom>
          <a:noFill/>
          <a:ln>
            <a:noFill/>
          </a:ln>
        </p:spPr>
      </p:pic>
      <p:pic>
        <p:nvPicPr>
          <p:cNvPr descr="preencoded.png" id="340" name="Google Shape;340;p10"/>
          <p:cNvPicPr preferRelativeResize="0"/>
          <p:nvPr/>
        </p:nvPicPr>
        <p:blipFill rotWithShape="1">
          <a:blip r:embed="rId17">
            <a:alphaModFix/>
          </a:blip>
          <a:srcRect b="0" l="0" r="0" t="0"/>
          <a:stretch/>
        </p:blipFill>
        <p:spPr>
          <a:xfrm>
            <a:off x="9445972" y="6019800"/>
            <a:ext cx="152400" cy="152400"/>
          </a:xfrm>
          <a:prstGeom prst="rect">
            <a:avLst/>
          </a:prstGeom>
          <a:noFill/>
          <a:ln>
            <a:noFill/>
          </a:ln>
        </p:spPr>
      </p:pic>
      <p:pic>
        <p:nvPicPr>
          <p:cNvPr descr="preencoded.png" id="341" name="Google Shape;341;p10"/>
          <p:cNvPicPr preferRelativeResize="0"/>
          <p:nvPr/>
        </p:nvPicPr>
        <p:blipFill rotWithShape="1">
          <a:blip r:embed="rId18">
            <a:alphaModFix/>
          </a:blip>
          <a:srcRect b="0" l="0" r="0" t="0"/>
          <a:stretch/>
        </p:blipFill>
        <p:spPr>
          <a:xfrm>
            <a:off x="609600" y="6619875"/>
            <a:ext cx="152400" cy="152400"/>
          </a:xfrm>
          <a:prstGeom prst="rect">
            <a:avLst/>
          </a:prstGeom>
          <a:noFill/>
          <a:ln>
            <a:noFill/>
          </a:ln>
        </p:spPr>
      </p:pic>
      <p:sp>
        <p:nvSpPr>
          <p:cNvPr id="342" name="Google Shape;342;p10"/>
          <p:cNvSpPr/>
          <p:nvPr/>
        </p:nvSpPr>
        <p:spPr>
          <a:xfrm>
            <a:off x="609600" y="342900"/>
            <a:ext cx="10972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Tối ưu hóa Hành trình</a:t>
            </a:r>
            <a:endParaRPr b="0" i="0" sz="2700" u="none" cap="none" strike="noStrike">
              <a:solidFill>
                <a:schemeClr val="dk1"/>
              </a:solidFill>
              <a:latin typeface="Calibri"/>
              <a:ea typeface="Calibri"/>
              <a:cs typeface="Calibri"/>
              <a:sym typeface="Calibri"/>
            </a:endParaRPr>
          </a:p>
        </p:txBody>
      </p:sp>
      <p:sp>
        <p:nvSpPr>
          <p:cNvPr id="343" name="Google Shape;343;p10"/>
          <p:cNvSpPr/>
          <p:nvPr/>
        </p:nvSpPr>
        <p:spPr>
          <a:xfrm>
            <a:off x="609600" y="1371600"/>
            <a:ext cx="5181600" cy="1114425"/>
          </a:xfrm>
          <a:prstGeom prst="rect">
            <a:avLst/>
          </a:prstGeom>
          <a:noFill/>
          <a:ln>
            <a:noFill/>
          </a:ln>
        </p:spPr>
        <p:txBody>
          <a:bodyPr anchorCtr="0" anchor="t" bIns="0" lIns="0" spcFirstLastPara="1" rIns="0" wrap="square" tIns="0">
            <a:noAutofit/>
          </a:bodyPr>
          <a:lstStyle/>
          <a:p>
            <a:pPr indent="0" lvl="0" marL="0" marR="0" rtl="0" algn="l">
              <a:lnSpc>
                <a:spcPct val="162518"/>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Hệ thống FMS của AutoSecure theo dõi chi tiết các hành trình, quãng đường di chuyển và điểm dừng của xe. Dữ liệu này được sử dụng để tối ưu hóa hiệu suất hoạt động của fleet.</a:t>
            </a:r>
            <a:endParaRPr b="0" i="0" sz="1350" u="none" cap="none" strike="noStrike">
              <a:solidFill>
                <a:schemeClr val="dk1"/>
              </a:solidFill>
              <a:latin typeface="Calibri"/>
              <a:ea typeface="Calibri"/>
              <a:cs typeface="Calibri"/>
              <a:sym typeface="Calibri"/>
            </a:endParaRPr>
          </a:p>
        </p:txBody>
      </p:sp>
      <p:sp>
        <p:nvSpPr>
          <p:cNvPr id="344" name="Google Shape;344;p10"/>
          <p:cNvSpPr/>
          <p:nvPr/>
        </p:nvSpPr>
        <p:spPr>
          <a:xfrm>
            <a:off x="1143000" y="2867025"/>
            <a:ext cx="539496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Theo dõi Tuyến đường</a:t>
            </a:r>
            <a:endParaRPr b="0" i="0" sz="1500" u="none" cap="none" strike="noStrike">
              <a:solidFill>
                <a:schemeClr val="dk1"/>
              </a:solidFill>
              <a:latin typeface="Calibri"/>
              <a:ea typeface="Calibri"/>
              <a:cs typeface="Calibri"/>
              <a:sym typeface="Calibri"/>
            </a:endParaRPr>
          </a:p>
        </p:txBody>
      </p:sp>
      <p:sp>
        <p:nvSpPr>
          <p:cNvPr id="345" name="Google Shape;345;p10"/>
          <p:cNvSpPr/>
          <p:nvPr/>
        </p:nvSpPr>
        <p:spPr>
          <a:xfrm>
            <a:off x="1143000" y="3133725"/>
            <a:ext cx="44958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Theo dõi chính xác tuyến đường đã chỉ định và phát hiện các điểm dừng không cần thiết.</a:t>
            </a:r>
            <a:endParaRPr b="0" i="0" sz="1200" u="none" cap="none" strike="noStrike">
              <a:solidFill>
                <a:schemeClr val="dk1"/>
              </a:solidFill>
              <a:latin typeface="Calibri"/>
              <a:ea typeface="Calibri"/>
              <a:cs typeface="Calibri"/>
              <a:sym typeface="Calibri"/>
            </a:endParaRPr>
          </a:p>
        </p:txBody>
      </p:sp>
      <p:sp>
        <p:nvSpPr>
          <p:cNvPr id="346" name="Google Shape;346;p10"/>
          <p:cNvSpPr/>
          <p:nvPr/>
        </p:nvSpPr>
        <p:spPr>
          <a:xfrm>
            <a:off x="1171575" y="4048125"/>
            <a:ext cx="446722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Quản lý Quãng đường</a:t>
            </a:r>
            <a:endParaRPr b="0" i="0" sz="1500" u="none" cap="none" strike="noStrike">
              <a:solidFill>
                <a:schemeClr val="dk1"/>
              </a:solidFill>
              <a:latin typeface="Calibri"/>
              <a:ea typeface="Calibri"/>
              <a:cs typeface="Calibri"/>
              <a:sym typeface="Calibri"/>
            </a:endParaRPr>
          </a:p>
        </p:txBody>
      </p:sp>
      <p:sp>
        <p:nvSpPr>
          <p:cNvPr id="347" name="Google Shape;347;p10"/>
          <p:cNvSpPr/>
          <p:nvPr/>
        </p:nvSpPr>
        <p:spPr>
          <a:xfrm>
            <a:off x="1171575" y="4314825"/>
            <a:ext cx="44672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Theo dõi mileage để bảo trì xe định kỳ và tối ưu hóa chi phí vận hành.</a:t>
            </a:r>
            <a:endParaRPr b="0" i="0" sz="1200" u="none" cap="none" strike="noStrike">
              <a:solidFill>
                <a:schemeClr val="dk1"/>
              </a:solidFill>
              <a:latin typeface="Calibri"/>
              <a:ea typeface="Calibri"/>
              <a:cs typeface="Calibri"/>
              <a:sym typeface="Calibri"/>
            </a:endParaRPr>
          </a:p>
        </p:txBody>
      </p:sp>
      <p:sp>
        <p:nvSpPr>
          <p:cNvPr id="348" name="Google Shape;348;p10"/>
          <p:cNvSpPr/>
          <p:nvPr/>
        </p:nvSpPr>
        <p:spPr>
          <a:xfrm>
            <a:off x="1143000" y="5229225"/>
            <a:ext cx="44958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Tuân thủ Lịch trình</a:t>
            </a:r>
            <a:endParaRPr b="0" i="0" sz="1500" u="none" cap="none" strike="noStrike">
              <a:solidFill>
                <a:schemeClr val="dk1"/>
              </a:solidFill>
              <a:latin typeface="Calibri"/>
              <a:ea typeface="Calibri"/>
              <a:cs typeface="Calibri"/>
              <a:sym typeface="Calibri"/>
            </a:endParaRPr>
          </a:p>
        </p:txBody>
      </p:sp>
      <p:sp>
        <p:nvSpPr>
          <p:cNvPr id="349" name="Google Shape;349;p10"/>
          <p:cNvSpPr/>
          <p:nvPr/>
        </p:nvSpPr>
        <p:spPr>
          <a:xfrm>
            <a:off x="1143000" y="5495925"/>
            <a:ext cx="44958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Giám sát thời gian di chuyển và nghỉ ngơi để đảm bảo tuân thủ lịch trình đã đặt.</a:t>
            </a:r>
            <a:endParaRPr b="0" i="0" sz="1200" u="none" cap="none" strike="noStrike">
              <a:solidFill>
                <a:schemeClr val="dk1"/>
              </a:solidFill>
              <a:latin typeface="Calibri"/>
              <a:ea typeface="Calibri"/>
              <a:cs typeface="Calibri"/>
              <a:sym typeface="Calibri"/>
            </a:endParaRPr>
          </a:p>
        </p:txBody>
      </p:sp>
      <p:sp>
        <p:nvSpPr>
          <p:cNvPr id="350" name="Google Shape;350;p10"/>
          <p:cNvSpPr/>
          <p:nvPr/>
        </p:nvSpPr>
        <p:spPr>
          <a:xfrm>
            <a:off x="5821680" y="1600200"/>
            <a:ext cx="603504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Mô phỏng Theo dõi Hành trình</a:t>
            </a:r>
            <a:endParaRPr b="0" i="0" sz="1500" u="none" cap="none" strike="noStrike">
              <a:solidFill>
                <a:schemeClr val="dk1"/>
              </a:solidFill>
              <a:latin typeface="Calibri"/>
              <a:ea typeface="Calibri"/>
              <a:cs typeface="Calibri"/>
              <a:sym typeface="Calibri"/>
            </a:endParaRPr>
          </a:p>
        </p:txBody>
      </p:sp>
      <p:sp>
        <p:nvSpPr>
          <p:cNvPr id="351" name="Google Shape;351;p10"/>
          <p:cNvSpPr/>
          <p:nvPr/>
        </p:nvSpPr>
        <p:spPr>
          <a:xfrm>
            <a:off x="6553200" y="4610100"/>
            <a:ext cx="1533942"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374151"/>
              </a:buClr>
              <a:buSzPts val="1050"/>
              <a:buFont typeface="Arial"/>
              <a:buNone/>
            </a:pPr>
            <a:r>
              <a:rPr b="0" i="0" lang="en-US" sz="1050" u="none" cap="none" strike="noStrike">
                <a:solidFill>
                  <a:srgbClr val="374151"/>
                </a:solidFill>
                <a:latin typeface="Arial"/>
                <a:ea typeface="Arial"/>
                <a:cs typeface="Arial"/>
                <a:sym typeface="Arial"/>
              </a:rPr>
              <a:t>Tuyến đường tối ưu</a:t>
            </a:r>
            <a:endParaRPr b="0" i="0" sz="1050" u="none" cap="none" strike="noStrike">
              <a:solidFill>
                <a:schemeClr val="dk1"/>
              </a:solidFill>
              <a:latin typeface="Calibri"/>
              <a:ea typeface="Calibri"/>
              <a:cs typeface="Calibri"/>
              <a:sym typeface="Calibri"/>
            </a:endParaRPr>
          </a:p>
        </p:txBody>
      </p:sp>
      <p:sp>
        <p:nvSpPr>
          <p:cNvPr id="352" name="Google Shape;352;p10"/>
          <p:cNvSpPr/>
          <p:nvPr/>
        </p:nvSpPr>
        <p:spPr>
          <a:xfrm>
            <a:off x="9086850" y="4610100"/>
            <a:ext cx="87975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374151"/>
              </a:buClr>
              <a:buSzPts val="1050"/>
              <a:buFont typeface="Arial"/>
              <a:buNone/>
            </a:pPr>
            <a:r>
              <a:rPr b="0" i="0" lang="en-US" sz="1050" u="none" cap="none" strike="noStrike">
                <a:solidFill>
                  <a:srgbClr val="374151"/>
                </a:solidFill>
                <a:latin typeface="Arial"/>
                <a:ea typeface="Arial"/>
                <a:cs typeface="Arial"/>
                <a:sym typeface="Arial"/>
              </a:rPr>
              <a:t>Điểm dừng</a:t>
            </a:r>
            <a:endParaRPr b="0" i="0" sz="1050" u="none" cap="none" strike="noStrike">
              <a:solidFill>
                <a:schemeClr val="dk1"/>
              </a:solidFill>
              <a:latin typeface="Calibri"/>
              <a:ea typeface="Calibri"/>
              <a:cs typeface="Calibri"/>
              <a:sym typeface="Calibri"/>
            </a:endParaRPr>
          </a:p>
        </p:txBody>
      </p:sp>
      <p:sp>
        <p:nvSpPr>
          <p:cNvPr id="353" name="Google Shape;353;p10"/>
          <p:cNvSpPr/>
          <p:nvPr/>
        </p:nvSpPr>
        <p:spPr>
          <a:xfrm>
            <a:off x="6553200" y="4914900"/>
            <a:ext cx="1916490"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374151"/>
              </a:buClr>
              <a:buSzPts val="1050"/>
              <a:buFont typeface="Arial"/>
              <a:buNone/>
            </a:pPr>
            <a:r>
              <a:rPr b="0" i="0" lang="en-US" sz="1050" u="none" cap="none" strike="noStrike">
                <a:solidFill>
                  <a:srgbClr val="374151"/>
                </a:solidFill>
                <a:latin typeface="Arial"/>
                <a:ea typeface="Arial"/>
                <a:cs typeface="Arial"/>
                <a:sym typeface="Arial"/>
              </a:rPr>
              <a:t>Quãng đường di chuyển</a:t>
            </a:r>
            <a:endParaRPr b="0" i="0" sz="1050" u="none" cap="none" strike="noStrike">
              <a:solidFill>
                <a:schemeClr val="dk1"/>
              </a:solidFill>
              <a:latin typeface="Calibri"/>
              <a:ea typeface="Calibri"/>
              <a:cs typeface="Calibri"/>
              <a:sym typeface="Calibri"/>
            </a:endParaRPr>
          </a:p>
        </p:txBody>
      </p:sp>
      <p:sp>
        <p:nvSpPr>
          <p:cNvPr id="354" name="Google Shape;354;p10"/>
          <p:cNvSpPr/>
          <p:nvPr/>
        </p:nvSpPr>
        <p:spPr>
          <a:xfrm>
            <a:off x="9086850" y="4914900"/>
            <a:ext cx="64400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374151"/>
              </a:buClr>
              <a:buSzPts val="1050"/>
              <a:buFont typeface="Arial"/>
              <a:buNone/>
            </a:pPr>
            <a:r>
              <a:rPr b="0" i="0" lang="en-US" sz="1050" u="none" cap="none" strike="noStrike">
                <a:solidFill>
                  <a:srgbClr val="374151"/>
                </a:solidFill>
                <a:latin typeface="Arial"/>
                <a:ea typeface="Arial"/>
                <a:cs typeface="Arial"/>
                <a:sym typeface="Arial"/>
              </a:rPr>
              <a:t>Mốc里程</a:t>
            </a:r>
            <a:endParaRPr b="0" i="0" sz="1050" u="none" cap="none" strike="noStrike">
              <a:solidFill>
                <a:schemeClr val="dk1"/>
              </a:solidFill>
              <a:latin typeface="Calibri"/>
              <a:ea typeface="Calibri"/>
              <a:cs typeface="Calibri"/>
              <a:sym typeface="Calibri"/>
            </a:endParaRPr>
          </a:p>
        </p:txBody>
      </p:sp>
      <p:sp>
        <p:nvSpPr>
          <p:cNvPr id="355" name="Google Shape;355;p10"/>
          <p:cNvSpPr/>
          <p:nvPr/>
        </p:nvSpPr>
        <p:spPr>
          <a:xfrm>
            <a:off x="6248400" y="5638800"/>
            <a:ext cx="51816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Lợi ích Kinh doanh</a:t>
            </a:r>
            <a:endParaRPr b="0" i="0" sz="1350" u="none" cap="none" strike="noStrike">
              <a:solidFill>
                <a:schemeClr val="dk1"/>
              </a:solidFill>
              <a:latin typeface="Calibri"/>
              <a:ea typeface="Calibri"/>
              <a:cs typeface="Calibri"/>
              <a:sym typeface="Calibri"/>
            </a:endParaRPr>
          </a:p>
        </p:txBody>
      </p:sp>
      <p:sp>
        <p:nvSpPr>
          <p:cNvPr id="356" name="Google Shape;356;p10"/>
          <p:cNvSpPr/>
          <p:nvPr/>
        </p:nvSpPr>
        <p:spPr>
          <a:xfrm>
            <a:off x="6477000" y="5981700"/>
            <a:ext cx="234993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Tăng hiệu suất hoạt động</a:t>
            </a:r>
            <a:endParaRPr b="0" i="0" sz="1200" u="none" cap="none" strike="noStrike">
              <a:solidFill>
                <a:schemeClr val="dk1"/>
              </a:solidFill>
              <a:latin typeface="Calibri"/>
              <a:ea typeface="Calibri"/>
              <a:cs typeface="Calibri"/>
              <a:sym typeface="Calibri"/>
            </a:endParaRPr>
          </a:p>
        </p:txBody>
      </p:sp>
      <p:sp>
        <p:nvSpPr>
          <p:cNvPr id="357" name="Google Shape;357;p10"/>
          <p:cNvSpPr/>
          <p:nvPr/>
        </p:nvSpPr>
        <p:spPr>
          <a:xfrm>
            <a:off x="9674572" y="5981700"/>
            <a:ext cx="210651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Giảm chi phí nhiên liệu</a:t>
            </a:r>
            <a:endParaRPr b="0" i="0" sz="1200" u="none" cap="none" strike="noStrike">
              <a:solidFill>
                <a:schemeClr val="dk1"/>
              </a:solidFill>
              <a:latin typeface="Calibri"/>
              <a:ea typeface="Calibri"/>
              <a:cs typeface="Calibri"/>
              <a:sym typeface="Calibri"/>
            </a:endParaRPr>
          </a:p>
        </p:txBody>
      </p:sp>
      <p:sp>
        <p:nvSpPr>
          <p:cNvPr id="358" name="Google Shape;358;p10"/>
          <p:cNvSpPr/>
          <p:nvPr/>
        </p:nvSpPr>
        <p:spPr>
          <a:xfrm>
            <a:off x="838200" y="6591300"/>
            <a:ext cx="577625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FMS cung cấp dữ liệu chi tiết cho việc tối ưu hóa hành trình</a:t>
            </a:r>
            <a:endParaRPr b="0" i="0" sz="1200" u="none" cap="none" strike="noStrike">
              <a:solidFill>
                <a:schemeClr val="dk1"/>
              </a:solidFill>
              <a:latin typeface="Calibri"/>
              <a:ea typeface="Calibri"/>
              <a:cs typeface="Calibri"/>
              <a:sym typeface="Calibri"/>
            </a:endParaRPr>
          </a:p>
        </p:txBody>
      </p:sp>
      <p:sp>
        <p:nvSpPr>
          <p:cNvPr id="359" name="Google Shape;359;p10"/>
          <p:cNvSpPr/>
          <p:nvPr/>
        </p:nvSpPr>
        <p:spPr>
          <a:xfrm>
            <a:off x="11102578" y="6610350"/>
            <a:ext cx="575786" cy="18097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1" i="0" lang="en-US" sz="1200" u="none" cap="none" strike="noStrike">
                <a:solidFill>
                  <a:srgbClr val="6B7280"/>
                </a:solidFill>
                <a:latin typeface="Arial"/>
                <a:ea typeface="Arial"/>
                <a:cs typeface="Arial"/>
                <a:sym typeface="Arial"/>
              </a:rPr>
              <a:t>10/14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preencoded.png" id="365" name="Google Shape;365;p1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66" name="Google Shape;366;p11"/>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367" name="Google Shape;367;p11"/>
          <p:cNvPicPr preferRelativeResize="0"/>
          <p:nvPr/>
        </p:nvPicPr>
        <p:blipFill rotWithShape="1">
          <a:blip r:embed="rId5">
            <a:alphaModFix/>
          </a:blip>
          <a:srcRect b="0" l="0" r="0" t="0"/>
          <a:stretch/>
        </p:blipFill>
        <p:spPr>
          <a:xfrm>
            <a:off x="609600" y="723900"/>
            <a:ext cx="914400" cy="38100"/>
          </a:xfrm>
          <a:prstGeom prst="rect">
            <a:avLst/>
          </a:prstGeom>
          <a:noFill/>
          <a:ln>
            <a:noFill/>
          </a:ln>
        </p:spPr>
      </p:pic>
      <p:pic>
        <p:nvPicPr>
          <p:cNvPr descr="preencoded.png" id="368" name="Google Shape;368;p11"/>
          <p:cNvPicPr preferRelativeResize="0"/>
          <p:nvPr/>
        </p:nvPicPr>
        <p:blipFill rotWithShape="1">
          <a:blip r:embed="rId6">
            <a:alphaModFix/>
          </a:blip>
          <a:srcRect b="0" l="0" r="0" t="0"/>
          <a:stretch/>
        </p:blipFill>
        <p:spPr>
          <a:xfrm>
            <a:off x="609600" y="1562100"/>
            <a:ext cx="3429000" cy="1028700"/>
          </a:xfrm>
          <a:prstGeom prst="rect">
            <a:avLst/>
          </a:prstGeom>
          <a:noFill/>
          <a:ln>
            <a:noFill/>
          </a:ln>
        </p:spPr>
      </p:pic>
      <p:pic>
        <p:nvPicPr>
          <p:cNvPr descr="preencoded.png" id="369" name="Google Shape;369;p11"/>
          <p:cNvPicPr preferRelativeResize="0"/>
          <p:nvPr/>
        </p:nvPicPr>
        <p:blipFill rotWithShape="1">
          <a:blip r:embed="rId7">
            <a:alphaModFix/>
          </a:blip>
          <a:srcRect b="0" l="0" r="0" t="0"/>
          <a:stretch/>
        </p:blipFill>
        <p:spPr>
          <a:xfrm>
            <a:off x="762000" y="1952625"/>
            <a:ext cx="257175" cy="228600"/>
          </a:xfrm>
          <a:prstGeom prst="rect">
            <a:avLst/>
          </a:prstGeom>
          <a:noFill/>
          <a:ln>
            <a:noFill/>
          </a:ln>
        </p:spPr>
      </p:pic>
      <p:pic>
        <p:nvPicPr>
          <p:cNvPr descr="preencoded.png" id="370" name="Google Shape;370;p11"/>
          <p:cNvPicPr preferRelativeResize="0"/>
          <p:nvPr/>
        </p:nvPicPr>
        <p:blipFill rotWithShape="1">
          <a:blip r:embed="rId8">
            <a:alphaModFix/>
          </a:blip>
          <a:srcRect b="0" l="0" r="0" t="0"/>
          <a:stretch/>
        </p:blipFill>
        <p:spPr>
          <a:xfrm>
            <a:off x="609600" y="2743200"/>
            <a:ext cx="3429000" cy="1028700"/>
          </a:xfrm>
          <a:prstGeom prst="rect">
            <a:avLst/>
          </a:prstGeom>
          <a:noFill/>
          <a:ln>
            <a:noFill/>
          </a:ln>
        </p:spPr>
      </p:pic>
      <p:pic>
        <p:nvPicPr>
          <p:cNvPr descr="preencoded.png" id="371" name="Google Shape;371;p11"/>
          <p:cNvPicPr preferRelativeResize="0"/>
          <p:nvPr/>
        </p:nvPicPr>
        <p:blipFill rotWithShape="1">
          <a:blip r:embed="rId9">
            <a:alphaModFix/>
          </a:blip>
          <a:srcRect b="0" l="0" r="0" t="0"/>
          <a:stretch/>
        </p:blipFill>
        <p:spPr>
          <a:xfrm>
            <a:off x="762000" y="3133725"/>
            <a:ext cx="257175" cy="228600"/>
          </a:xfrm>
          <a:prstGeom prst="rect">
            <a:avLst/>
          </a:prstGeom>
          <a:noFill/>
          <a:ln>
            <a:noFill/>
          </a:ln>
        </p:spPr>
      </p:pic>
      <p:pic>
        <p:nvPicPr>
          <p:cNvPr descr="preencoded.png" id="372" name="Google Shape;372;p11"/>
          <p:cNvPicPr preferRelativeResize="0"/>
          <p:nvPr/>
        </p:nvPicPr>
        <p:blipFill rotWithShape="1">
          <a:blip r:embed="rId10">
            <a:alphaModFix/>
          </a:blip>
          <a:srcRect b="0" l="0" r="0" t="0"/>
          <a:stretch/>
        </p:blipFill>
        <p:spPr>
          <a:xfrm>
            <a:off x="609600" y="3924300"/>
            <a:ext cx="3429000" cy="1028700"/>
          </a:xfrm>
          <a:prstGeom prst="rect">
            <a:avLst/>
          </a:prstGeom>
          <a:noFill/>
          <a:ln>
            <a:noFill/>
          </a:ln>
        </p:spPr>
      </p:pic>
      <p:pic>
        <p:nvPicPr>
          <p:cNvPr descr="preencoded.png" id="373" name="Google Shape;373;p11"/>
          <p:cNvPicPr preferRelativeResize="0"/>
          <p:nvPr/>
        </p:nvPicPr>
        <p:blipFill rotWithShape="1">
          <a:blip r:embed="rId11">
            <a:alphaModFix/>
          </a:blip>
          <a:srcRect b="0" l="0" r="0" t="0"/>
          <a:stretch/>
        </p:blipFill>
        <p:spPr>
          <a:xfrm>
            <a:off x="762000" y="4314825"/>
            <a:ext cx="228600" cy="228600"/>
          </a:xfrm>
          <a:prstGeom prst="rect">
            <a:avLst/>
          </a:prstGeom>
          <a:noFill/>
          <a:ln>
            <a:noFill/>
          </a:ln>
        </p:spPr>
      </p:pic>
      <p:pic>
        <p:nvPicPr>
          <p:cNvPr descr="preencoded.png" id="374" name="Google Shape;374;p11"/>
          <p:cNvPicPr preferRelativeResize="0"/>
          <p:nvPr/>
        </p:nvPicPr>
        <p:blipFill rotWithShape="1">
          <a:blip r:embed="rId12">
            <a:alphaModFix/>
          </a:blip>
          <a:srcRect b="0" l="0" r="0" t="0"/>
          <a:stretch/>
        </p:blipFill>
        <p:spPr>
          <a:xfrm>
            <a:off x="609600" y="5105400"/>
            <a:ext cx="3429000" cy="1028700"/>
          </a:xfrm>
          <a:prstGeom prst="rect">
            <a:avLst/>
          </a:prstGeom>
          <a:noFill/>
          <a:ln>
            <a:noFill/>
          </a:ln>
        </p:spPr>
      </p:pic>
      <p:pic>
        <p:nvPicPr>
          <p:cNvPr descr="preencoded.png" id="375" name="Google Shape;375;p11"/>
          <p:cNvPicPr preferRelativeResize="0"/>
          <p:nvPr/>
        </p:nvPicPr>
        <p:blipFill rotWithShape="1">
          <a:blip r:embed="rId13">
            <a:alphaModFix/>
          </a:blip>
          <a:srcRect b="0" l="0" r="0" t="0"/>
          <a:stretch/>
        </p:blipFill>
        <p:spPr>
          <a:xfrm>
            <a:off x="762000" y="5495925"/>
            <a:ext cx="285750" cy="228600"/>
          </a:xfrm>
          <a:prstGeom prst="rect">
            <a:avLst/>
          </a:prstGeom>
          <a:noFill/>
          <a:ln>
            <a:noFill/>
          </a:ln>
        </p:spPr>
      </p:pic>
      <p:pic>
        <p:nvPicPr>
          <p:cNvPr descr="preencoded.png" id="376" name="Google Shape;376;p11"/>
          <p:cNvPicPr preferRelativeResize="0"/>
          <p:nvPr/>
        </p:nvPicPr>
        <p:blipFill rotWithShape="1">
          <a:blip r:embed="rId14">
            <a:alphaModFix/>
          </a:blip>
          <a:srcRect b="0" l="0" r="0" t="0"/>
          <a:stretch/>
        </p:blipFill>
        <p:spPr>
          <a:xfrm>
            <a:off x="4495800" y="1562100"/>
            <a:ext cx="7086600" cy="5143500"/>
          </a:xfrm>
          <a:prstGeom prst="rect">
            <a:avLst/>
          </a:prstGeom>
          <a:noFill/>
          <a:ln>
            <a:noFill/>
          </a:ln>
        </p:spPr>
      </p:pic>
      <p:pic>
        <p:nvPicPr>
          <p:cNvPr descr="preencoded.png" id="377" name="Google Shape;377;p11"/>
          <p:cNvPicPr preferRelativeResize="0"/>
          <p:nvPr/>
        </p:nvPicPr>
        <p:blipFill rotWithShape="1">
          <a:blip r:embed="rId15">
            <a:alphaModFix/>
          </a:blip>
          <a:srcRect b="0" l="0" r="0" t="0"/>
          <a:stretch/>
        </p:blipFill>
        <p:spPr>
          <a:xfrm>
            <a:off x="4495800" y="1562100"/>
            <a:ext cx="7086600" cy="609600"/>
          </a:xfrm>
          <a:prstGeom prst="rect">
            <a:avLst/>
          </a:prstGeom>
          <a:noFill/>
          <a:ln>
            <a:noFill/>
          </a:ln>
        </p:spPr>
      </p:pic>
      <p:pic>
        <p:nvPicPr>
          <p:cNvPr descr="preencoded.png" id="378" name="Google Shape;378;p11"/>
          <p:cNvPicPr preferRelativeResize="0"/>
          <p:nvPr/>
        </p:nvPicPr>
        <p:blipFill rotWithShape="1">
          <a:blip r:embed="rId16">
            <a:alphaModFix/>
          </a:blip>
          <a:srcRect b="0" l="0" r="0" t="0"/>
          <a:stretch/>
        </p:blipFill>
        <p:spPr>
          <a:xfrm>
            <a:off x="4648200" y="1714500"/>
            <a:ext cx="285750" cy="304800"/>
          </a:xfrm>
          <a:prstGeom prst="rect">
            <a:avLst/>
          </a:prstGeom>
          <a:noFill/>
          <a:ln>
            <a:noFill/>
          </a:ln>
        </p:spPr>
      </p:pic>
      <p:pic>
        <p:nvPicPr>
          <p:cNvPr descr="preencoded.png" id="379" name="Google Shape;379;p11"/>
          <p:cNvPicPr preferRelativeResize="0"/>
          <p:nvPr/>
        </p:nvPicPr>
        <p:blipFill rotWithShape="1">
          <a:blip r:embed="rId17">
            <a:alphaModFix/>
          </a:blip>
          <a:srcRect b="0" l="0" r="0" t="0"/>
          <a:stretch/>
        </p:blipFill>
        <p:spPr>
          <a:xfrm>
            <a:off x="10289977" y="1733550"/>
            <a:ext cx="171450" cy="266700"/>
          </a:xfrm>
          <a:prstGeom prst="rect">
            <a:avLst/>
          </a:prstGeom>
          <a:noFill/>
          <a:ln>
            <a:noFill/>
          </a:ln>
        </p:spPr>
      </p:pic>
      <p:pic>
        <p:nvPicPr>
          <p:cNvPr descr="preencoded.png" id="380" name="Google Shape;380;p11"/>
          <p:cNvPicPr preferRelativeResize="0"/>
          <p:nvPr/>
        </p:nvPicPr>
        <p:blipFill rotWithShape="1">
          <a:blip r:embed="rId18">
            <a:alphaModFix/>
          </a:blip>
          <a:srcRect b="0" l="0" r="0" t="0"/>
          <a:stretch/>
        </p:blipFill>
        <p:spPr>
          <a:xfrm>
            <a:off x="10613827" y="1790700"/>
            <a:ext cx="152400" cy="152400"/>
          </a:xfrm>
          <a:prstGeom prst="rect">
            <a:avLst/>
          </a:prstGeom>
          <a:noFill/>
          <a:ln>
            <a:noFill/>
          </a:ln>
        </p:spPr>
      </p:pic>
      <p:pic>
        <p:nvPicPr>
          <p:cNvPr descr="preencoded.png" id="381" name="Google Shape;381;p11"/>
          <p:cNvPicPr preferRelativeResize="0"/>
          <p:nvPr/>
        </p:nvPicPr>
        <p:blipFill rotWithShape="1">
          <a:blip r:embed="rId19">
            <a:alphaModFix/>
          </a:blip>
          <a:srcRect b="0" l="0" r="0" t="0"/>
          <a:stretch/>
        </p:blipFill>
        <p:spPr>
          <a:xfrm>
            <a:off x="4648200" y="2324100"/>
            <a:ext cx="2158901" cy="2743200"/>
          </a:xfrm>
          <a:prstGeom prst="rect">
            <a:avLst/>
          </a:prstGeom>
          <a:noFill/>
          <a:ln>
            <a:noFill/>
          </a:ln>
        </p:spPr>
      </p:pic>
      <p:pic>
        <p:nvPicPr>
          <p:cNvPr descr="preencoded.png" id="382" name="Google Shape;382;p11"/>
          <p:cNvPicPr preferRelativeResize="0"/>
          <p:nvPr/>
        </p:nvPicPr>
        <p:blipFill rotWithShape="1">
          <a:blip r:embed="rId20">
            <a:alphaModFix/>
          </a:blip>
          <a:srcRect b="0" l="0" r="0" t="0"/>
          <a:stretch/>
        </p:blipFill>
        <p:spPr>
          <a:xfrm>
            <a:off x="6502301" y="2590800"/>
            <a:ext cx="190500" cy="152400"/>
          </a:xfrm>
          <a:prstGeom prst="rect">
            <a:avLst/>
          </a:prstGeom>
          <a:noFill/>
          <a:ln>
            <a:noFill/>
          </a:ln>
        </p:spPr>
      </p:pic>
      <p:pic>
        <p:nvPicPr>
          <p:cNvPr descr="preencoded.png" id="383" name="Google Shape;383;p11"/>
          <p:cNvPicPr preferRelativeResize="0"/>
          <p:nvPr/>
        </p:nvPicPr>
        <p:blipFill rotWithShape="1">
          <a:blip r:embed="rId21">
            <a:alphaModFix/>
          </a:blip>
          <a:srcRect b="0" l="0" r="0" t="0"/>
          <a:stretch/>
        </p:blipFill>
        <p:spPr>
          <a:xfrm>
            <a:off x="6959501" y="2324100"/>
            <a:ext cx="2159050" cy="2743200"/>
          </a:xfrm>
          <a:prstGeom prst="rect">
            <a:avLst/>
          </a:prstGeom>
          <a:noFill/>
          <a:ln>
            <a:noFill/>
          </a:ln>
        </p:spPr>
      </p:pic>
      <p:pic>
        <p:nvPicPr>
          <p:cNvPr descr="preencoded.png" id="384" name="Google Shape;384;p11"/>
          <p:cNvPicPr preferRelativeResize="0"/>
          <p:nvPr/>
        </p:nvPicPr>
        <p:blipFill rotWithShape="1">
          <a:blip r:embed="rId22">
            <a:alphaModFix/>
          </a:blip>
          <a:srcRect b="0" l="0" r="0" t="0"/>
          <a:stretch/>
        </p:blipFill>
        <p:spPr>
          <a:xfrm>
            <a:off x="8851850" y="2476500"/>
            <a:ext cx="152400" cy="152400"/>
          </a:xfrm>
          <a:prstGeom prst="rect">
            <a:avLst/>
          </a:prstGeom>
          <a:noFill/>
          <a:ln>
            <a:noFill/>
          </a:ln>
        </p:spPr>
      </p:pic>
      <p:pic>
        <p:nvPicPr>
          <p:cNvPr descr="preencoded.png" id="385" name="Google Shape;385;p11"/>
          <p:cNvPicPr preferRelativeResize="0"/>
          <p:nvPr/>
        </p:nvPicPr>
        <p:blipFill rotWithShape="1">
          <a:blip r:embed="rId23">
            <a:alphaModFix/>
          </a:blip>
          <a:srcRect b="0" l="0" r="0" t="0"/>
          <a:stretch/>
        </p:blipFill>
        <p:spPr>
          <a:xfrm>
            <a:off x="9270950" y="2324100"/>
            <a:ext cx="2159050" cy="2743200"/>
          </a:xfrm>
          <a:prstGeom prst="rect">
            <a:avLst/>
          </a:prstGeom>
          <a:noFill/>
          <a:ln>
            <a:noFill/>
          </a:ln>
        </p:spPr>
      </p:pic>
      <p:pic>
        <p:nvPicPr>
          <p:cNvPr descr="preencoded.png" id="386" name="Google Shape;386;p11"/>
          <p:cNvPicPr preferRelativeResize="0"/>
          <p:nvPr/>
        </p:nvPicPr>
        <p:blipFill rotWithShape="1">
          <a:blip r:embed="rId24">
            <a:alphaModFix/>
          </a:blip>
          <a:srcRect b="0" l="0" r="0" t="0"/>
          <a:stretch/>
        </p:blipFill>
        <p:spPr>
          <a:xfrm>
            <a:off x="11163300" y="2476500"/>
            <a:ext cx="152400" cy="152400"/>
          </a:xfrm>
          <a:prstGeom prst="rect">
            <a:avLst/>
          </a:prstGeom>
          <a:noFill/>
          <a:ln>
            <a:noFill/>
          </a:ln>
        </p:spPr>
      </p:pic>
      <p:pic>
        <p:nvPicPr>
          <p:cNvPr descr="preencoded.png" id="387" name="Google Shape;387;p11"/>
          <p:cNvPicPr preferRelativeResize="0"/>
          <p:nvPr/>
        </p:nvPicPr>
        <p:blipFill rotWithShape="1">
          <a:blip r:embed="rId25">
            <a:alphaModFix/>
          </a:blip>
          <a:srcRect b="0" l="0" r="0" t="0"/>
          <a:stretch/>
        </p:blipFill>
        <p:spPr>
          <a:xfrm>
            <a:off x="9385250" y="2781300"/>
            <a:ext cx="66675" cy="133350"/>
          </a:xfrm>
          <a:prstGeom prst="rect">
            <a:avLst/>
          </a:prstGeom>
          <a:noFill/>
          <a:ln>
            <a:noFill/>
          </a:ln>
        </p:spPr>
      </p:pic>
      <p:pic>
        <p:nvPicPr>
          <p:cNvPr descr="preencoded.png" id="388" name="Google Shape;388;p11"/>
          <p:cNvPicPr preferRelativeResize="0"/>
          <p:nvPr/>
        </p:nvPicPr>
        <p:blipFill rotWithShape="1">
          <a:blip r:embed="rId25">
            <a:alphaModFix/>
          </a:blip>
          <a:srcRect b="0" l="0" r="0" t="0"/>
          <a:stretch/>
        </p:blipFill>
        <p:spPr>
          <a:xfrm>
            <a:off x="9385250" y="3238500"/>
            <a:ext cx="66675" cy="133350"/>
          </a:xfrm>
          <a:prstGeom prst="rect">
            <a:avLst/>
          </a:prstGeom>
          <a:noFill/>
          <a:ln>
            <a:noFill/>
          </a:ln>
        </p:spPr>
      </p:pic>
      <p:pic>
        <p:nvPicPr>
          <p:cNvPr descr="preencoded.png" id="389" name="Google Shape;389;p11"/>
          <p:cNvPicPr preferRelativeResize="0"/>
          <p:nvPr/>
        </p:nvPicPr>
        <p:blipFill rotWithShape="1">
          <a:blip r:embed="rId25">
            <a:alphaModFix/>
          </a:blip>
          <a:srcRect b="0" l="0" r="0" t="0"/>
          <a:stretch/>
        </p:blipFill>
        <p:spPr>
          <a:xfrm>
            <a:off x="9385250" y="3505200"/>
            <a:ext cx="66675" cy="133350"/>
          </a:xfrm>
          <a:prstGeom prst="rect">
            <a:avLst/>
          </a:prstGeom>
          <a:noFill/>
          <a:ln>
            <a:noFill/>
          </a:ln>
        </p:spPr>
      </p:pic>
      <p:pic>
        <p:nvPicPr>
          <p:cNvPr descr="preencoded.png" id="390" name="Google Shape;390;p11"/>
          <p:cNvPicPr preferRelativeResize="0"/>
          <p:nvPr/>
        </p:nvPicPr>
        <p:blipFill rotWithShape="1">
          <a:blip r:embed="rId26">
            <a:alphaModFix/>
          </a:blip>
          <a:srcRect b="0" l="0" r="0" t="0"/>
          <a:stretch/>
        </p:blipFill>
        <p:spPr>
          <a:xfrm>
            <a:off x="4648200" y="5219700"/>
            <a:ext cx="6781800" cy="1333500"/>
          </a:xfrm>
          <a:prstGeom prst="rect">
            <a:avLst/>
          </a:prstGeom>
          <a:noFill/>
          <a:ln>
            <a:noFill/>
          </a:ln>
        </p:spPr>
      </p:pic>
      <p:pic>
        <p:nvPicPr>
          <p:cNvPr descr="preencoded.png" id="391" name="Google Shape;391;p11"/>
          <p:cNvPicPr preferRelativeResize="0"/>
          <p:nvPr/>
        </p:nvPicPr>
        <p:blipFill rotWithShape="1">
          <a:blip r:embed="rId27">
            <a:alphaModFix/>
          </a:blip>
          <a:srcRect b="0" l="0" r="0" t="0"/>
          <a:stretch/>
        </p:blipFill>
        <p:spPr>
          <a:xfrm>
            <a:off x="7781925" y="5505450"/>
            <a:ext cx="514350" cy="457200"/>
          </a:xfrm>
          <a:prstGeom prst="rect">
            <a:avLst/>
          </a:prstGeom>
          <a:noFill/>
          <a:ln>
            <a:noFill/>
          </a:ln>
        </p:spPr>
      </p:pic>
      <p:pic>
        <p:nvPicPr>
          <p:cNvPr descr="preencoded.png" id="392" name="Google Shape;392;p11"/>
          <p:cNvPicPr preferRelativeResize="0"/>
          <p:nvPr/>
        </p:nvPicPr>
        <p:blipFill rotWithShape="1">
          <a:blip r:embed="rId28">
            <a:alphaModFix/>
          </a:blip>
          <a:srcRect b="0" l="0" r="0" t="0"/>
          <a:stretch/>
        </p:blipFill>
        <p:spPr>
          <a:xfrm>
            <a:off x="8732193" y="6134100"/>
            <a:ext cx="2621607" cy="342900"/>
          </a:xfrm>
          <a:prstGeom prst="rect">
            <a:avLst/>
          </a:prstGeom>
          <a:noFill/>
          <a:ln>
            <a:noFill/>
          </a:ln>
        </p:spPr>
      </p:pic>
      <p:pic>
        <p:nvPicPr>
          <p:cNvPr descr="preencoded.png" id="393" name="Google Shape;393;p11"/>
          <p:cNvPicPr preferRelativeResize="0"/>
          <p:nvPr/>
        </p:nvPicPr>
        <p:blipFill rotWithShape="1">
          <a:blip r:embed="rId29">
            <a:alphaModFix/>
          </a:blip>
          <a:srcRect b="0" l="0" r="0" t="0"/>
          <a:stretch/>
        </p:blipFill>
        <p:spPr>
          <a:xfrm>
            <a:off x="8808393" y="6248400"/>
            <a:ext cx="114300" cy="114300"/>
          </a:xfrm>
          <a:prstGeom prst="rect">
            <a:avLst/>
          </a:prstGeom>
          <a:noFill/>
          <a:ln>
            <a:noFill/>
          </a:ln>
        </p:spPr>
      </p:pic>
      <p:pic>
        <p:nvPicPr>
          <p:cNvPr descr="preencoded.png" id="394" name="Google Shape;394;p11"/>
          <p:cNvPicPr preferRelativeResize="0"/>
          <p:nvPr/>
        </p:nvPicPr>
        <p:blipFill rotWithShape="1">
          <a:blip r:embed="rId30">
            <a:alphaModFix/>
          </a:blip>
          <a:srcRect b="0" l="0" r="0" t="0"/>
          <a:stretch/>
        </p:blipFill>
        <p:spPr>
          <a:xfrm>
            <a:off x="10378827" y="6248400"/>
            <a:ext cx="114300" cy="114300"/>
          </a:xfrm>
          <a:prstGeom prst="rect">
            <a:avLst/>
          </a:prstGeom>
          <a:noFill/>
          <a:ln>
            <a:noFill/>
          </a:ln>
        </p:spPr>
      </p:pic>
      <p:sp>
        <p:nvSpPr>
          <p:cNvPr id="395" name="Google Shape;395;p11"/>
          <p:cNvSpPr/>
          <p:nvPr/>
        </p:nvSpPr>
        <p:spPr>
          <a:xfrm>
            <a:off x="609600" y="2667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Giao diện Quản lý Trung tâm</a:t>
            </a:r>
            <a:endParaRPr b="0" i="0" sz="2700" u="none" cap="none" strike="noStrike">
              <a:solidFill>
                <a:schemeClr val="dk1"/>
              </a:solidFill>
              <a:latin typeface="Calibri"/>
              <a:ea typeface="Calibri"/>
              <a:cs typeface="Calibri"/>
              <a:sym typeface="Calibri"/>
            </a:endParaRPr>
          </a:p>
        </p:txBody>
      </p:sp>
      <p:sp>
        <p:nvSpPr>
          <p:cNvPr id="396" name="Google Shape;396;p11"/>
          <p:cNvSpPr/>
          <p:nvPr/>
        </p:nvSpPr>
        <p:spPr>
          <a:xfrm>
            <a:off x="609600" y="914400"/>
            <a:ext cx="1316736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Giao diện người dùng thân thiện giúp quản lý dễ dàng giám sát toàn bộ fleet</a:t>
            </a:r>
            <a:endParaRPr b="0" i="0" sz="1350" u="none" cap="none" strike="noStrike">
              <a:solidFill>
                <a:schemeClr val="dk1"/>
              </a:solidFill>
              <a:latin typeface="Calibri"/>
              <a:ea typeface="Calibri"/>
              <a:cs typeface="Calibri"/>
              <a:sym typeface="Calibri"/>
            </a:endParaRPr>
          </a:p>
        </p:txBody>
      </p:sp>
      <p:sp>
        <p:nvSpPr>
          <p:cNvPr id="397" name="Google Shape;397;p11"/>
          <p:cNvSpPr/>
          <p:nvPr/>
        </p:nvSpPr>
        <p:spPr>
          <a:xfrm>
            <a:off x="1133475" y="1714500"/>
            <a:ext cx="330327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Bảng điều khiển</a:t>
            </a:r>
            <a:endParaRPr b="0" i="0" sz="1500" u="none" cap="none" strike="noStrike">
              <a:solidFill>
                <a:schemeClr val="dk1"/>
              </a:solidFill>
              <a:latin typeface="Calibri"/>
              <a:ea typeface="Calibri"/>
              <a:cs typeface="Calibri"/>
              <a:sym typeface="Calibri"/>
            </a:endParaRPr>
          </a:p>
        </p:txBody>
      </p:sp>
      <p:sp>
        <p:nvSpPr>
          <p:cNvPr id="398" name="Google Shape;398;p11"/>
          <p:cNvSpPr/>
          <p:nvPr/>
        </p:nvSpPr>
        <p:spPr>
          <a:xfrm>
            <a:off x="1133475" y="1981200"/>
            <a:ext cx="27527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Tổng quan nhanh chóng về trạng thái fleet</a:t>
            </a:r>
            <a:endParaRPr b="0" i="0" sz="1200" u="none" cap="none" strike="noStrike">
              <a:solidFill>
                <a:schemeClr val="dk1"/>
              </a:solidFill>
              <a:latin typeface="Calibri"/>
              <a:ea typeface="Calibri"/>
              <a:cs typeface="Calibri"/>
              <a:sym typeface="Calibri"/>
            </a:endParaRPr>
          </a:p>
        </p:txBody>
      </p:sp>
      <p:sp>
        <p:nvSpPr>
          <p:cNvPr id="399" name="Google Shape;399;p11"/>
          <p:cNvSpPr/>
          <p:nvPr/>
        </p:nvSpPr>
        <p:spPr>
          <a:xfrm>
            <a:off x="1133475" y="2895600"/>
            <a:ext cx="330327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Giám sát trực tiếp</a:t>
            </a:r>
            <a:endParaRPr b="0" i="0" sz="1500" u="none" cap="none" strike="noStrike">
              <a:solidFill>
                <a:schemeClr val="dk1"/>
              </a:solidFill>
              <a:latin typeface="Calibri"/>
              <a:ea typeface="Calibri"/>
              <a:cs typeface="Calibri"/>
              <a:sym typeface="Calibri"/>
            </a:endParaRPr>
          </a:p>
        </p:txBody>
      </p:sp>
      <p:sp>
        <p:nvSpPr>
          <p:cNvPr id="400" name="Google Shape;400;p11"/>
          <p:cNvSpPr/>
          <p:nvPr/>
        </p:nvSpPr>
        <p:spPr>
          <a:xfrm>
            <a:off x="1133475" y="3162300"/>
            <a:ext cx="27527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Theo dõi thời gian thực các phương tiện</a:t>
            </a:r>
            <a:endParaRPr b="0" i="0" sz="1200" u="none" cap="none" strike="noStrike">
              <a:solidFill>
                <a:schemeClr val="dk1"/>
              </a:solidFill>
              <a:latin typeface="Calibri"/>
              <a:ea typeface="Calibri"/>
              <a:cs typeface="Calibri"/>
              <a:sym typeface="Calibri"/>
            </a:endParaRPr>
          </a:p>
        </p:txBody>
      </p:sp>
      <p:sp>
        <p:nvSpPr>
          <p:cNvPr id="401" name="Google Shape;401;p11"/>
          <p:cNvSpPr/>
          <p:nvPr/>
        </p:nvSpPr>
        <p:spPr>
          <a:xfrm>
            <a:off x="1104900" y="4076700"/>
            <a:ext cx="333756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Sự kiện đáng chú ý</a:t>
            </a:r>
            <a:endParaRPr b="0" i="0" sz="1500" u="none" cap="none" strike="noStrike">
              <a:solidFill>
                <a:schemeClr val="dk1"/>
              </a:solidFill>
              <a:latin typeface="Calibri"/>
              <a:ea typeface="Calibri"/>
              <a:cs typeface="Calibri"/>
              <a:sym typeface="Calibri"/>
            </a:endParaRPr>
          </a:p>
        </p:txBody>
      </p:sp>
      <p:sp>
        <p:nvSpPr>
          <p:cNvPr id="402" name="Google Shape;402;p11"/>
          <p:cNvSpPr/>
          <p:nvPr/>
        </p:nvSpPr>
        <p:spPr>
          <a:xfrm>
            <a:off x="1104900" y="4343400"/>
            <a:ext cx="27813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Xem và phân tích các sự kiện quan trọng</a:t>
            </a:r>
            <a:endParaRPr b="0" i="0" sz="1200" u="none" cap="none" strike="noStrike">
              <a:solidFill>
                <a:schemeClr val="dk1"/>
              </a:solidFill>
              <a:latin typeface="Calibri"/>
              <a:ea typeface="Calibri"/>
              <a:cs typeface="Calibri"/>
              <a:sym typeface="Calibri"/>
            </a:endParaRPr>
          </a:p>
        </p:txBody>
      </p:sp>
      <p:sp>
        <p:nvSpPr>
          <p:cNvPr id="403" name="Google Shape;403;p11"/>
          <p:cNvSpPr/>
          <p:nvPr/>
        </p:nvSpPr>
        <p:spPr>
          <a:xfrm>
            <a:off x="1162050" y="5257800"/>
            <a:ext cx="326898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Đánh giá lái xe</a:t>
            </a:r>
            <a:endParaRPr b="0" i="0" sz="1500" u="none" cap="none" strike="noStrike">
              <a:solidFill>
                <a:schemeClr val="dk1"/>
              </a:solidFill>
              <a:latin typeface="Calibri"/>
              <a:ea typeface="Calibri"/>
              <a:cs typeface="Calibri"/>
              <a:sym typeface="Calibri"/>
            </a:endParaRPr>
          </a:p>
        </p:txBody>
      </p:sp>
      <p:sp>
        <p:nvSpPr>
          <p:cNvPr id="404" name="Google Shape;404;p11"/>
          <p:cNvSpPr/>
          <p:nvPr/>
        </p:nvSpPr>
        <p:spPr>
          <a:xfrm>
            <a:off x="1162050" y="5524500"/>
            <a:ext cx="27241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Phân tích hiệu suất lái xe để cải thiện an toàn</a:t>
            </a:r>
            <a:endParaRPr b="0" i="0" sz="1200" u="none" cap="none" strike="noStrike">
              <a:solidFill>
                <a:schemeClr val="dk1"/>
              </a:solidFill>
              <a:latin typeface="Calibri"/>
              <a:ea typeface="Calibri"/>
              <a:cs typeface="Calibri"/>
              <a:sym typeface="Calibri"/>
            </a:endParaRPr>
          </a:p>
        </p:txBody>
      </p:sp>
      <p:sp>
        <p:nvSpPr>
          <p:cNvPr id="405" name="Google Shape;405;p11"/>
          <p:cNvSpPr/>
          <p:nvPr/>
        </p:nvSpPr>
        <p:spPr>
          <a:xfrm>
            <a:off x="5048250" y="1733550"/>
            <a:ext cx="3878878"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Bảng điều khiển Quản lý Fleet</a:t>
            </a:r>
            <a:endParaRPr b="0" i="0" sz="1500" u="none" cap="none" strike="noStrike">
              <a:solidFill>
                <a:schemeClr val="dk1"/>
              </a:solidFill>
              <a:latin typeface="Calibri"/>
              <a:ea typeface="Calibri"/>
              <a:cs typeface="Calibri"/>
              <a:sym typeface="Calibri"/>
            </a:endParaRPr>
          </a:p>
        </p:txBody>
      </p:sp>
      <p:sp>
        <p:nvSpPr>
          <p:cNvPr id="406" name="Google Shape;406;p11"/>
          <p:cNvSpPr/>
          <p:nvPr/>
        </p:nvSpPr>
        <p:spPr>
          <a:xfrm>
            <a:off x="10402491" y="1657350"/>
            <a:ext cx="228600" cy="190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900"/>
              <a:buFont typeface="Arial"/>
              <a:buNone/>
            </a:pPr>
            <a:r>
              <a:rPr b="1" i="0" lang="en-US" sz="900" u="none" cap="none" strike="noStrike">
                <a:solidFill>
                  <a:srgbClr val="FFFFFF"/>
                </a:solidFill>
                <a:highlight>
                  <a:srgbClr val="FF6600"/>
                </a:highlight>
                <a:latin typeface="Arial"/>
                <a:ea typeface="Arial"/>
                <a:cs typeface="Arial"/>
                <a:sym typeface="Arial"/>
              </a:rPr>
              <a:t>3</a:t>
            </a:r>
            <a:endParaRPr b="0" i="0" sz="900" u="none" cap="none" strike="noStrike">
              <a:solidFill>
                <a:schemeClr val="dk1"/>
              </a:solidFill>
              <a:latin typeface="Calibri"/>
              <a:ea typeface="Calibri"/>
              <a:cs typeface="Calibri"/>
              <a:sym typeface="Calibri"/>
            </a:endParaRPr>
          </a:p>
        </p:txBody>
      </p:sp>
      <p:sp>
        <p:nvSpPr>
          <p:cNvPr id="407" name="Google Shape;407;p11"/>
          <p:cNvSpPr/>
          <p:nvPr/>
        </p:nvSpPr>
        <p:spPr>
          <a:xfrm>
            <a:off x="10842427" y="1752600"/>
            <a:ext cx="70508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Quản lý</a:t>
            </a:r>
            <a:endParaRPr b="0" i="0" sz="1200" u="none" cap="none" strike="noStrike">
              <a:solidFill>
                <a:schemeClr val="dk1"/>
              </a:solidFill>
              <a:latin typeface="Calibri"/>
              <a:ea typeface="Calibri"/>
              <a:cs typeface="Calibri"/>
              <a:sym typeface="Calibri"/>
            </a:endParaRPr>
          </a:p>
        </p:txBody>
      </p:sp>
      <p:sp>
        <p:nvSpPr>
          <p:cNvPr id="408" name="Google Shape;408;p11"/>
          <p:cNvSpPr/>
          <p:nvPr/>
        </p:nvSpPr>
        <p:spPr>
          <a:xfrm>
            <a:off x="4762500" y="2438400"/>
            <a:ext cx="1739801"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i="0" lang="en-US" sz="1200" u="none" cap="none" strike="noStrike">
                <a:solidFill>
                  <a:srgbClr val="374151"/>
                </a:solidFill>
                <a:latin typeface="Arial"/>
                <a:ea typeface="Arial"/>
                <a:cs typeface="Arial"/>
                <a:sym typeface="Arial"/>
              </a:rPr>
              <a:t>Trạng thái phương tiện</a:t>
            </a:r>
            <a:endParaRPr b="0" i="0" sz="1200" u="none" cap="none" strike="noStrike">
              <a:solidFill>
                <a:schemeClr val="dk1"/>
              </a:solidFill>
              <a:latin typeface="Calibri"/>
              <a:ea typeface="Calibri"/>
              <a:cs typeface="Calibri"/>
              <a:sym typeface="Calibri"/>
            </a:endParaRPr>
          </a:p>
        </p:txBody>
      </p:sp>
      <p:sp>
        <p:nvSpPr>
          <p:cNvPr id="409" name="Google Shape;409;p11"/>
          <p:cNvSpPr/>
          <p:nvPr/>
        </p:nvSpPr>
        <p:spPr>
          <a:xfrm>
            <a:off x="4762500" y="2971800"/>
            <a:ext cx="1343382"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Đang hoạt động:</a:t>
            </a:r>
            <a:endParaRPr b="0" i="0" sz="1050" u="none" cap="none" strike="noStrike">
              <a:solidFill>
                <a:schemeClr val="dk1"/>
              </a:solidFill>
              <a:latin typeface="Calibri"/>
              <a:ea typeface="Calibri"/>
              <a:cs typeface="Calibri"/>
              <a:sym typeface="Calibri"/>
            </a:endParaRPr>
          </a:p>
        </p:txBody>
      </p:sp>
      <p:sp>
        <p:nvSpPr>
          <p:cNvPr id="410" name="Google Shape;410;p11"/>
          <p:cNvSpPr/>
          <p:nvPr/>
        </p:nvSpPr>
        <p:spPr>
          <a:xfrm>
            <a:off x="6507212" y="2971800"/>
            <a:ext cx="222706"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16A34A"/>
              </a:buClr>
              <a:buSzPts val="1050"/>
              <a:buFont typeface="Arial"/>
              <a:buNone/>
            </a:pPr>
            <a:r>
              <a:rPr b="1" i="0" lang="en-US" sz="1050" u="none" cap="none" strike="noStrike">
                <a:solidFill>
                  <a:srgbClr val="16A34A"/>
                </a:solidFill>
                <a:latin typeface="Arial"/>
                <a:ea typeface="Arial"/>
                <a:cs typeface="Arial"/>
                <a:sym typeface="Arial"/>
              </a:rPr>
              <a:t>12</a:t>
            </a:r>
            <a:endParaRPr b="0" i="0" sz="1050" u="none" cap="none" strike="noStrike">
              <a:solidFill>
                <a:schemeClr val="dk1"/>
              </a:solidFill>
              <a:latin typeface="Calibri"/>
              <a:ea typeface="Calibri"/>
              <a:cs typeface="Calibri"/>
              <a:sym typeface="Calibri"/>
            </a:endParaRPr>
          </a:p>
        </p:txBody>
      </p:sp>
      <p:sp>
        <p:nvSpPr>
          <p:cNvPr id="411" name="Google Shape;411;p11"/>
          <p:cNvSpPr/>
          <p:nvPr/>
        </p:nvSpPr>
        <p:spPr>
          <a:xfrm>
            <a:off x="4762500" y="3238500"/>
            <a:ext cx="71955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Dừng lại:</a:t>
            </a:r>
            <a:endParaRPr b="0" i="0" sz="1050" u="none" cap="none" strike="noStrike">
              <a:solidFill>
                <a:schemeClr val="dk1"/>
              </a:solidFill>
              <a:latin typeface="Calibri"/>
              <a:ea typeface="Calibri"/>
              <a:cs typeface="Calibri"/>
              <a:sym typeface="Calibri"/>
            </a:endParaRPr>
          </a:p>
        </p:txBody>
      </p:sp>
      <p:sp>
        <p:nvSpPr>
          <p:cNvPr id="412" name="Google Shape;412;p11"/>
          <p:cNvSpPr/>
          <p:nvPr/>
        </p:nvSpPr>
        <p:spPr>
          <a:xfrm>
            <a:off x="6599932" y="3238500"/>
            <a:ext cx="11144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DC2626"/>
              </a:buClr>
              <a:buSzPts val="1050"/>
              <a:buFont typeface="Arial"/>
              <a:buNone/>
            </a:pPr>
            <a:r>
              <a:rPr b="1" i="0" lang="en-US" sz="1050" u="none" cap="none" strike="noStrike">
                <a:solidFill>
                  <a:srgbClr val="DC2626"/>
                </a:solidFill>
                <a:latin typeface="Arial"/>
                <a:ea typeface="Arial"/>
                <a:cs typeface="Arial"/>
                <a:sym typeface="Arial"/>
              </a:rPr>
              <a:t>2</a:t>
            </a:r>
            <a:endParaRPr b="0" i="0" sz="1050" u="none" cap="none" strike="noStrike">
              <a:solidFill>
                <a:schemeClr val="dk1"/>
              </a:solidFill>
              <a:latin typeface="Calibri"/>
              <a:ea typeface="Calibri"/>
              <a:cs typeface="Calibri"/>
              <a:sym typeface="Calibri"/>
            </a:endParaRPr>
          </a:p>
        </p:txBody>
      </p:sp>
      <p:sp>
        <p:nvSpPr>
          <p:cNvPr id="413" name="Google Shape;413;p11"/>
          <p:cNvSpPr/>
          <p:nvPr/>
        </p:nvSpPr>
        <p:spPr>
          <a:xfrm>
            <a:off x="4762500" y="3505200"/>
            <a:ext cx="813137"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Báo động:</a:t>
            </a:r>
            <a:endParaRPr b="0" i="0" sz="1050" u="none" cap="none" strike="noStrike">
              <a:solidFill>
                <a:schemeClr val="dk1"/>
              </a:solidFill>
              <a:latin typeface="Calibri"/>
              <a:ea typeface="Calibri"/>
              <a:cs typeface="Calibri"/>
              <a:sym typeface="Calibri"/>
            </a:endParaRPr>
          </a:p>
        </p:txBody>
      </p:sp>
      <p:sp>
        <p:nvSpPr>
          <p:cNvPr id="414" name="Google Shape;414;p11"/>
          <p:cNvSpPr/>
          <p:nvPr/>
        </p:nvSpPr>
        <p:spPr>
          <a:xfrm>
            <a:off x="6599932" y="3505200"/>
            <a:ext cx="11144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CA8A04"/>
              </a:buClr>
              <a:buSzPts val="1050"/>
              <a:buFont typeface="Arial"/>
              <a:buNone/>
            </a:pPr>
            <a:r>
              <a:rPr b="1" i="0" lang="en-US" sz="1050" u="none" cap="none" strike="noStrike">
                <a:solidFill>
                  <a:srgbClr val="CA8A04"/>
                </a:solidFill>
                <a:latin typeface="Arial"/>
                <a:ea typeface="Arial"/>
                <a:cs typeface="Arial"/>
                <a:sym typeface="Arial"/>
              </a:rPr>
              <a:t>1</a:t>
            </a:r>
            <a:endParaRPr b="0" i="0" sz="1050" u="none" cap="none" strike="noStrike">
              <a:solidFill>
                <a:schemeClr val="dk1"/>
              </a:solidFill>
              <a:latin typeface="Calibri"/>
              <a:ea typeface="Calibri"/>
              <a:cs typeface="Calibri"/>
              <a:sym typeface="Calibri"/>
            </a:endParaRPr>
          </a:p>
        </p:txBody>
      </p:sp>
      <p:sp>
        <p:nvSpPr>
          <p:cNvPr id="415" name="Google Shape;415;p11"/>
          <p:cNvSpPr/>
          <p:nvPr/>
        </p:nvSpPr>
        <p:spPr>
          <a:xfrm>
            <a:off x="7073801" y="2438400"/>
            <a:ext cx="160162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i="0" lang="en-US" sz="1200" u="none" cap="none" strike="noStrike">
                <a:solidFill>
                  <a:srgbClr val="374151"/>
                </a:solidFill>
                <a:latin typeface="Arial"/>
                <a:ea typeface="Arial"/>
                <a:cs typeface="Arial"/>
                <a:sym typeface="Arial"/>
              </a:rPr>
              <a:t>Hiệu suất lái xe</a:t>
            </a:r>
            <a:endParaRPr b="0" i="0" sz="1200" u="none" cap="none" strike="noStrike">
              <a:solidFill>
                <a:schemeClr val="dk1"/>
              </a:solidFill>
              <a:latin typeface="Calibri"/>
              <a:ea typeface="Calibri"/>
              <a:cs typeface="Calibri"/>
              <a:sym typeface="Calibri"/>
            </a:endParaRPr>
          </a:p>
        </p:txBody>
      </p:sp>
      <p:sp>
        <p:nvSpPr>
          <p:cNvPr id="416" name="Google Shape;416;p11"/>
          <p:cNvSpPr/>
          <p:nvPr/>
        </p:nvSpPr>
        <p:spPr>
          <a:xfrm>
            <a:off x="7073801" y="2743200"/>
            <a:ext cx="312360"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Tốt:</a:t>
            </a:r>
            <a:endParaRPr b="0" i="0" sz="1050" u="none" cap="none" strike="noStrike">
              <a:solidFill>
                <a:schemeClr val="dk1"/>
              </a:solidFill>
              <a:latin typeface="Calibri"/>
              <a:ea typeface="Calibri"/>
              <a:cs typeface="Calibri"/>
              <a:sym typeface="Calibri"/>
            </a:endParaRPr>
          </a:p>
        </p:txBody>
      </p:sp>
      <p:sp>
        <p:nvSpPr>
          <p:cNvPr id="417" name="Google Shape;417;p11"/>
          <p:cNvSpPr/>
          <p:nvPr/>
        </p:nvSpPr>
        <p:spPr>
          <a:xfrm>
            <a:off x="8685014" y="2743200"/>
            <a:ext cx="38308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16A34A"/>
              </a:buClr>
              <a:buSzPts val="1050"/>
              <a:buFont typeface="Arial"/>
              <a:buNone/>
            </a:pPr>
            <a:r>
              <a:rPr b="1" i="0" lang="en-US" sz="1050" u="none" cap="none" strike="noStrike">
                <a:solidFill>
                  <a:srgbClr val="16A34A"/>
                </a:solidFill>
                <a:latin typeface="Arial"/>
                <a:ea typeface="Arial"/>
                <a:cs typeface="Arial"/>
                <a:sym typeface="Arial"/>
              </a:rPr>
              <a:t>78%</a:t>
            </a:r>
            <a:endParaRPr b="0" i="0" sz="1050" u="none" cap="none" strike="noStrike">
              <a:solidFill>
                <a:schemeClr val="dk1"/>
              </a:solidFill>
              <a:latin typeface="Calibri"/>
              <a:ea typeface="Calibri"/>
              <a:cs typeface="Calibri"/>
              <a:sym typeface="Calibri"/>
            </a:endParaRPr>
          </a:p>
        </p:txBody>
      </p:sp>
      <p:sp>
        <p:nvSpPr>
          <p:cNvPr id="418" name="Google Shape;418;p11"/>
          <p:cNvSpPr/>
          <p:nvPr/>
        </p:nvSpPr>
        <p:spPr>
          <a:xfrm>
            <a:off x="7073801" y="3009900"/>
            <a:ext cx="898148"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Trung bình:</a:t>
            </a:r>
            <a:endParaRPr b="0" i="0" sz="1050" u="none" cap="none" strike="noStrike">
              <a:solidFill>
                <a:schemeClr val="dk1"/>
              </a:solidFill>
              <a:latin typeface="Calibri"/>
              <a:ea typeface="Calibri"/>
              <a:cs typeface="Calibri"/>
              <a:sym typeface="Calibri"/>
            </a:endParaRPr>
          </a:p>
        </p:txBody>
      </p:sp>
      <p:sp>
        <p:nvSpPr>
          <p:cNvPr id="419" name="Google Shape;419;p11"/>
          <p:cNvSpPr/>
          <p:nvPr/>
        </p:nvSpPr>
        <p:spPr>
          <a:xfrm>
            <a:off x="8685014" y="3009900"/>
            <a:ext cx="38308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CA8A04"/>
              </a:buClr>
              <a:buSzPts val="1050"/>
              <a:buFont typeface="Arial"/>
              <a:buNone/>
            </a:pPr>
            <a:r>
              <a:rPr b="1" i="0" lang="en-US" sz="1050" u="none" cap="none" strike="noStrike">
                <a:solidFill>
                  <a:srgbClr val="CA8A04"/>
                </a:solidFill>
                <a:latin typeface="Arial"/>
                <a:ea typeface="Arial"/>
                <a:cs typeface="Arial"/>
                <a:sym typeface="Arial"/>
              </a:rPr>
              <a:t>15%</a:t>
            </a:r>
            <a:endParaRPr b="0" i="0" sz="1050" u="none" cap="none" strike="noStrike">
              <a:solidFill>
                <a:schemeClr val="dk1"/>
              </a:solidFill>
              <a:latin typeface="Calibri"/>
              <a:ea typeface="Calibri"/>
              <a:cs typeface="Calibri"/>
              <a:sym typeface="Calibri"/>
            </a:endParaRPr>
          </a:p>
        </p:txBody>
      </p:sp>
      <p:sp>
        <p:nvSpPr>
          <p:cNvPr id="420" name="Google Shape;420;p11"/>
          <p:cNvSpPr/>
          <p:nvPr/>
        </p:nvSpPr>
        <p:spPr>
          <a:xfrm>
            <a:off x="7073801" y="3276600"/>
            <a:ext cx="40522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Kém:</a:t>
            </a:r>
            <a:endParaRPr b="0" i="0" sz="1050" u="none" cap="none" strike="noStrike">
              <a:solidFill>
                <a:schemeClr val="dk1"/>
              </a:solidFill>
              <a:latin typeface="Calibri"/>
              <a:ea typeface="Calibri"/>
              <a:cs typeface="Calibri"/>
              <a:sym typeface="Calibri"/>
            </a:endParaRPr>
          </a:p>
        </p:txBody>
      </p:sp>
      <p:sp>
        <p:nvSpPr>
          <p:cNvPr id="421" name="Google Shape;421;p11"/>
          <p:cNvSpPr/>
          <p:nvPr/>
        </p:nvSpPr>
        <p:spPr>
          <a:xfrm>
            <a:off x="8777734" y="3276600"/>
            <a:ext cx="271820"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DC2626"/>
              </a:buClr>
              <a:buSzPts val="1050"/>
              <a:buFont typeface="Arial"/>
              <a:buNone/>
            </a:pPr>
            <a:r>
              <a:rPr b="1" i="0" lang="en-US" sz="1050" u="none" cap="none" strike="noStrike">
                <a:solidFill>
                  <a:srgbClr val="DC2626"/>
                </a:solidFill>
                <a:latin typeface="Arial"/>
                <a:ea typeface="Arial"/>
                <a:cs typeface="Arial"/>
                <a:sym typeface="Arial"/>
              </a:rPr>
              <a:t>7%</a:t>
            </a:r>
            <a:endParaRPr b="0" i="0" sz="1050" u="none" cap="none" strike="noStrike">
              <a:solidFill>
                <a:schemeClr val="dk1"/>
              </a:solidFill>
              <a:latin typeface="Calibri"/>
              <a:ea typeface="Calibri"/>
              <a:cs typeface="Calibri"/>
              <a:sym typeface="Calibri"/>
            </a:endParaRPr>
          </a:p>
        </p:txBody>
      </p:sp>
      <p:sp>
        <p:nvSpPr>
          <p:cNvPr id="422" name="Google Shape;422;p11"/>
          <p:cNvSpPr/>
          <p:nvPr/>
        </p:nvSpPr>
        <p:spPr>
          <a:xfrm>
            <a:off x="9385250" y="2438400"/>
            <a:ext cx="184148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i="0" lang="en-US" sz="1200" u="none" cap="none" strike="noStrike">
                <a:solidFill>
                  <a:srgbClr val="374151"/>
                </a:solidFill>
                <a:latin typeface="Arial"/>
                <a:ea typeface="Arial"/>
                <a:cs typeface="Arial"/>
                <a:sym typeface="Arial"/>
              </a:rPr>
              <a:t>Cảnh báo gần đây</a:t>
            </a:r>
            <a:endParaRPr b="0" i="0" sz="1200" u="none" cap="none" strike="noStrike">
              <a:solidFill>
                <a:schemeClr val="dk1"/>
              </a:solidFill>
              <a:latin typeface="Calibri"/>
              <a:ea typeface="Calibri"/>
              <a:cs typeface="Calibri"/>
              <a:sym typeface="Calibri"/>
            </a:endParaRPr>
          </a:p>
        </p:txBody>
      </p:sp>
      <p:sp>
        <p:nvSpPr>
          <p:cNvPr id="423" name="Google Shape;423;p11"/>
          <p:cNvSpPr/>
          <p:nvPr/>
        </p:nvSpPr>
        <p:spPr>
          <a:xfrm>
            <a:off x="9528125" y="2743200"/>
            <a:ext cx="1787575"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Phát hiện sử dụng điện thoại</a:t>
            </a:r>
            <a:endParaRPr b="0" i="0" sz="1050" u="none" cap="none" strike="noStrike">
              <a:solidFill>
                <a:schemeClr val="dk1"/>
              </a:solidFill>
              <a:latin typeface="Calibri"/>
              <a:ea typeface="Calibri"/>
              <a:cs typeface="Calibri"/>
              <a:sym typeface="Calibri"/>
            </a:endParaRPr>
          </a:p>
        </p:txBody>
      </p:sp>
      <p:sp>
        <p:nvSpPr>
          <p:cNvPr id="424" name="Google Shape;424;p11"/>
          <p:cNvSpPr/>
          <p:nvPr/>
        </p:nvSpPr>
        <p:spPr>
          <a:xfrm>
            <a:off x="9528125" y="3200400"/>
            <a:ext cx="1552515"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Vượt tốc độ (Xe 42)</a:t>
            </a:r>
            <a:endParaRPr b="0" i="0" sz="1050" u="none" cap="none" strike="noStrike">
              <a:solidFill>
                <a:schemeClr val="dk1"/>
              </a:solidFill>
              <a:latin typeface="Calibri"/>
              <a:ea typeface="Calibri"/>
              <a:cs typeface="Calibri"/>
              <a:sym typeface="Calibri"/>
            </a:endParaRPr>
          </a:p>
        </p:txBody>
      </p:sp>
      <p:sp>
        <p:nvSpPr>
          <p:cNvPr id="425" name="Google Shape;425;p11"/>
          <p:cNvSpPr/>
          <p:nvPr/>
        </p:nvSpPr>
        <p:spPr>
          <a:xfrm>
            <a:off x="9528125" y="3467100"/>
            <a:ext cx="1787575"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b="0" i="0" lang="en-US" sz="1050" u="none" cap="none" strike="noStrike">
                <a:solidFill>
                  <a:srgbClr val="4B5563"/>
                </a:solidFill>
                <a:latin typeface="Arial"/>
                <a:ea typeface="Arial"/>
                <a:cs typeface="Arial"/>
                <a:sym typeface="Arial"/>
              </a:rPr>
              <a:t>Đỗ xe không đúng quy định</a:t>
            </a:r>
            <a:endParaRPr b="0" i="0" sz="1050" u="none" cap="none" strike="noStrike">
              <a:solidFill>
                <a:schemeClr val="dk1"/>
              </a:solidFill>
              <a:latin typeface="Calibri"/>
              <a:ea typeface="Calibri"/>
              <a:cs typeface="Calibri"/>
              <a:sym typeface="Calibri"/>
            </a:endParaRPr>
          </a:p>
        </p:txBody>
      </p:sp>
      <p:sp>
        <p:nvSpPr>
          <p:cNvPr id="426" name="Google Shape;426;p11"/>
          <p:cNvSpPr/>
          <p:nvPr/>
        </p:nvSpPr>
        <p:spPr>
          <a:xfrm>
            <a:off x="6736259" y="6038850"/>
            <a:ext cx="2605683"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Bản đồ theo dõi phương tiện</a:t>
            </a:r>
            <a:endParaRPr b="0" i="0" sz="1200" u="none" cap="none" strike="noStrike">
              <a:solidFill>
                <a:schemeClr val="dk1"/>
              </a:solidFill>
              <a:latin typeface="Calibri"/>
              <a:ea typeface="Calibri"/>
              <a:cs typeface="Calibri"/>
              <a:sym typeface="Calibri"/>
            </a:endParaRPr>
          </a:p>
        </p:txBody>
      </p:sp>
      <p:sp>
        <p:nvSpPr>
          <p:cNvPr id="427" name="Google Shape;427;p11"/>
          <p:cNvSpPr/>
          <p:nvPr/>
        </p:nvSpPr>
        <p:spPr>
          <a:xfrm>
            <a:off x="8960793" y="6210300"/>
            <a:ext cx="1518761"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Xe đang hoạt động</a:t>
            </a:r>
            <a:endParaRPr b="0" i="0" sz="1050" u="none" cap="none" strike="noStrike">
              <a:solidFill>
                <a:schemeClr val="dk1"/>
              </a:solidFill>
              <a:latin typeface="Calibri"/>
              <a:ea typeface="Calibri"/>
              <a:cs typeface="Calibri"/>
              <a:sym typeface="Calibri"/>
            </a:endParaRPr>
          </a:p>
        </p:txBody>
      </p:sp>
      <p:sp>
        <p:nvSpPr>
          <p:cNvPr id="428" name="Google Shape;428;p11"/>
          <p:cNvSpPr/>
          <p:nvPr/>
        </p:nvSpPr>
        <p:spPr>
          <a:xfrm>
            <a:off x="10531227" y="6210300"/>
            <a:ext cx="895648"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Xe dừng lại</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descr="preencoded.png" id="434" name="Google Shape;434;p12"/>
          <p:cNvPicPr preferRelativeResize="0"/>
          <p:nvPr/>
        </p:nvPicPr>
        <p:blipFill rotWithShape="1">
          <a:blip r:embed="rId3">
            <a:alphaModFix/>
          </a:blip>
          <a:srcRect b="0" l="0" r="0" t="0"/>
          <a:stretch/>
        </p:blipFill>
        <p:spPr>
          <a:xfrm>
            <a:off x="0" y="0"/>
            <a:ext cx="12192000" cy="6877050"/>
          </a:xfrm>
          <a:prstGeom prst="rect">
            <a:avLst/>
          </a:prstGeom>
          <a:noFill/>
          <a:ln>
            <a:noFill/>
          </a:ln>
        </p:spPr>
      </p:pic>
      <p:pic>
        <p:nvPicPr>
          <p:cNvPr descr="preencoded.png" id="435" name="Google Shape;435;p12"/>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436" name="Google Shape;436;p12"/>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437" name="Google Shape;437;p12"/>
          <p:cNvPicPr preferRelativeResize="0"/>
          <p:nvPr/>
        </p:nvPicPr>
        <p:blipFill rotWithShape="1">
          <a:blip r:embed="rId6">
            <a:alphaModFix/>
          </a:blip>
          <a:srcRect b="0" l="0" r="0" t="0"/>
          <a:stretch/>
        </p:blipFill>
        <p:spPr>
          <a:xfrm>
            <a:off x="609600" y="2614613"/>
            <a:ext cx="5181600" cy="1028700"/>
          </a:xfrm>
          <a:prstGeom prst="rect">
            <a:avLst/>
          </a:prstGeom>
          <a:noFill/>
          <a:ln>
            <a:noFill/>
          </a:ln>
        </p:spPr>
      </p:pic>
      <p:pic>
        <p:nvPicPr>
          <p:cNvPr descr="preencoded.png" id="438" name="Google Shape;438;p12"/>
          <p:cNvPicPr preferRelativeResize="0"/>
          <p:nvPr/>
        </p:nvPicPr>
        <p:blipFill rotWithShape="1">
          <a:blip r:embed="rId7">
            <a:alphaModFix/>
          </a:blip>
          <a:srcRect b="0" l="0" r="0" t="0"/>
          <a:stretch/>
        </p:blipFill>
        <p:spPr>
          <a:xfrm>
            <a:off x="762000" y="3005138"/>
            <a:ext cx="228600" cy="228600"/>
          </a:xfrm>
          <a:prstGeom prst="rect">
            <a:avLst/>
          </a:prstGeom>
          <a:noFill/>
          <a:ln>
            <a:noFill/>
          </a:ln>
        </p:spPr>
      </p:pic>
      <p:pic>
        <p:nvPicPr>
          <p:cNvPr descr="preencoded.png" id="439" name="Google Shape;439;p12"/>
          <p:cNvPicPr preferRelativeResize="0"/>
          <p:nvPr/>
        </p:nvPicPr>
        <p:blipFill rotWithShape="1">
          <a:blip r:embed="rId6">
            <a:alphaModFix/>
          </a:blip>
          <a:srcRect b="0" l="0" r="0" t="0"/>
          <a:stretch/>
        </p:blipFill>
        <p:spPr>
          <a:xfrm>
            <a:off x="609600" y="3795713"/>
            <a:ext cx="5181600" cy="1028700"/>
          </a:xfrm>
          <a:prstGeom prst="rect">
            <a:avLst/>
          </a:prstGeom>
          <a:noFill/>
          <a:ln>
            <a:noFill/>
          </a:ln>
        </p:spPr>
      </p:pic>
      <p:pic>
        <p:nvPicPr>
          <p:cNvPr descr="preencoded.png" id="440" name="Google Shape;440;p12"/>
          <p:cNvPicPr preferRelativeResize="0"/>
          <p:nvPr/>
        </p:nvPicPr>
        <p:blipFill rotWithShape="1">
          <a:blip r:embed="rId8">
            <a:alphaModFix/>
          </a:blip>
          <a:srcRect b="0" l="0" r="0" t="0"/>
          <a:stretch/>
        </p:blipFill>
        <p:spPr>
          <a:xfrm>
            <a:off x="762000" y="4186238"/>
            <a:ext cx="228600" cy="228600"/>
          </a:xfrm>
          <a:prstGeom prst="rect">
            <a:avLst/>
          </a:prstGeom>
          <a:noFill/>
          <a:ln>
            <a:noFill/>
          </a:ln>
        </p:spPr>
      </p:pic>
      <p:pic>
        <p:nvPicPr>
          <p:cNvPr descr="preencoded.png" id="441" name="Google Shape;441;p12"/>
          <p:cNvPicPr preferRelativeResize="0"/>
          <p:nvPr/>
        </p:nvPicPr>
        <p:blipFill rotWithShape="1">
          <a:blip r:embed="rId9">
            <a:alphaModFix/>
          </a:blip>
          <a:srcRect b="0" l="0" r="0" t="0"/>
          <a:stretch/>
        </p:blipFill>
        <p:spPr>
          <a:xfrm>
            <a:off x="609600" y="4976813"/>
            <a:ext cx="5181600" cy="800100"/>
          </a:xfrm>
          <a:prstGeom prst="rect">
            <a:avLst/>
          </a:prstGeom>
          <a:noFill/>
          <a:ln>
            <a:noFill/>
          </a:ln>
        </p:spPr>
      </p:pic>
      <p:pic>
        <p:nvPicPr>
          <p:cNvPr descr="preencoded.png" id="442" name="Google Shape;442;p12"/>
          <p:cNvPicPr preferRelativeResize="0"/>
          <p:nvPr/>
        </p:nvPicPr>
        <p:blipFill rotWithShape="1">
          <a:blip r:embed="rId10">
            <a:alphaModFix/>
          </a:blip>
          <a:srcRect b="0" l="0" r="0" t="0"/>
          <a:stretch/>
        </p:blipFill>
        <p:spPr>
          <a:xfrm>
            <a:off x="762000" y="5253038"/>
            <a:ext cx="257175" cy="228600"/>
          </a:xfrm>
          <a:prstGeom prst="rect">
            <a:avLst/>
          </a:prstGeom>
          <a:noFill/>
          <a:ln>
            <a:noFill/>
          </a:ln>
        </p:spPr>
      </p:pic>
      <p:pic>
        <p:nvPicPr>
          <p:cNvPr descr="preencoded.png" id="443" name="Google Shape;443;p12"/>
          <p:cNvPicPr preferRelativeResize="0"/>
          <p:nvPr/>
        </p:nvPicPr>
        <p:blipFill rotWithShape="1">
          <a:blip r:embed="rId11">
            <a:alphaModFix/>
          </a:blip>
          <a:srcRect b="0" l="0" r="0" t="0"/>
          <a:stretch/>
        </p:blipFill>
        <p:spPr>
          <a:xfrm>
            <a:off x="6096000" y="1371600"/>
            <a:ext cx="5486400" cy="4819650"/>
          </a:xfrm>
          <a:prstGeom prst="rect">
            <a:avLst/>
          </a:prstGeom>
          <a:noFill/>
          <a:ln>
            <a:noFill/>
          </a:ln>
        </p:spPr>
      </p:pic>
      <p:pic>
        <p:nvPicPr>
          <p:cNvPr descr="preencoded.png" id="444" name="Google Shape;444;p12"/>
          <p:cNvPicPr preferRelativeResize="0"/>
          <p:nvPr/>
        </p:nvPicPr>
        <p:blipFill rotWithShape="1">
          <a:blip r:embed="rId12">
            <a:alphaModFix/>
          </a:blip>
          <a:srcRect b="0" l="0" r="0" t="0"/>
          <a:stretch/>
        </p:blipFill>
        <p:spPr>
          <a:xfrm>
            <a:off x="6324600" y="2057400"/>
            <a:ext cx="5029200" cy="2381250"/>
          </a:xfrm>
          <a:prstGeom prst="rect">
            <a:avLst/>
          </a:prstGeom>
          <a:noFill/>
          <a:ln>
            <a:noFill/>
          </a:ln>
        </p:spPr>
      </p:pic>
      <p:pic>
        <p:nvPicPr>
          <p:cNvPr descr="preencoded.png" id="445" name="Google Shape;445;p12"/>
          <p:cNvPicPr preferRelativeResize="0"/>
          <p:nvPr/>
        </p:nvPicPr>
        <p:blipFill rotWithShape="1">
          <a:blip r:embed="rId13">
            <a:alphaModFix/>
          </a:blip>
          <a:srcRect b="0" l="0" r="0" t="0"/>
          <a:stretch/>
        </p:blipFill>
        <p:spPr>
          <a:xfrm>
            <a:off x="6324600" y="4733925"/>
            <a:ext cx="152400" cy="152400"/>
          </a:xfrm>
          <a:prstGeom prst="rect">
            <a:avLst/>
          </a:prstGeom>
          <a:noFill/>
          <a:ln>
            <a:noFill/>
          </a:ln>
        </p:spPr>
      </p:pic>
      <p:pic>
        <p:nvPicPr>
          <p:cNvPr descr="preencoded.png" id="446" name="Google Shape;446;p12"/>
          <p:cNvPicPr preferRelativeResize="0"/>
          <p:nvPr/>
        </p:nvPicPr>
        <p:blipFill rotWithShape="1">
          <a:blip r:embed="rId13">
            <a:alphaModFix/>
          </a:blip>
          <a:srcRect b="0" l="0" r="0" t="0"/>
          <a:stretch/>
        </p:blipFill>
        <p:spPr>
          <a:xfrm>
            <a:off x="6324600" y="5343525"/>
            <a:ext cx="152400" cy="152400"/>
          </a:xfrm>
          <a:prstGeom prst="rect">
            <a:avLst/>
          </a:prstGeom>
          <a:noFill/>
          <a:ln>
            <a:noFill/>
          </a:ln>
        </p:spPr>
      </p:pic>
      <p:pic>
        <p:nvPicPr>
          <p:cNvPr descr="preencoded.png" id="447" name="Google Shape;447;p12"/>
          <p:cNvPicPr preferRelativeResize="0"/>
          <p:nvPr/>
        </p:nvPicPr>
        <p:blipFill rotWithShape="1">
          <a:blip r:embed="rId13">
            <a:alphaModFix/>
          </a:blip>
          <a:srcRect b="0" l="0" r="0" t="0"/>
          <a:stretch/>
        </p:blipFill>
        <p:spPr>
          <a:xfrm>
            <a:off x="6324600" y="5762625"/>
            <a:ext cx="152400" cy="152400"/>
          </a:xfrm>
          <a:prstGeom prst="rect">
            <a:avLst/>
          </a:prstGeom>
          <a:noFill/>
          <a:ln>
            <a:noFill/>
          </a:ln>
        </p:spPr>
      </p:pic>
      <p:pic>
        <p:nvPicPr>
          <p:cNvPr descr="preencoded.png" id="448" name="Google Shape;448;p12"/>
          <p:cNvPicPr preferRelativeResize="0"/>
          <p:nvPr/>
        </p:nvPicPr>
        <p:blipFill rotWithShape="1">
          <a:blip r:embed="rId14">
            <a:alphaModFix/>
          </a:blip>
          <a:srcRect b="0" l="0" r="0" t="0"/>
          <a:stretch/>
        </p:blipFill>
        <p:spPr>
          <a:xfrm>
            <a:off x="609600" y="6448425"/>
            <a:ext cx="152400" cy="152400"/>
          </a:xfrm>
          <a:prstGeom prst="rect">
            <a:avLst/>
          </a:prstGeom>
          <a:noFill/>
          <a:ln>
            <a:noFill/>
          </a:ln>
        </p:spPr>
      </p:pic>
      <p:pic>
        <p:nvPicPr>
          <p:cNvPr descr="preencoded.png" id="449" name="Google Shape;449;p12"/>
          <p:cNvPicPr preferRelativeResize="0"/>
          <p:nvPr/>
        </p:nvPicPr>
        <p:blipFill rotWithShape="1">
          <a:blip r:embed="rId15">
            <a:alphaModFix/>
          </a:blip>
          <a:srcRect b="0" l="0" r="0" t="0"/>
          <a:stretch/>
        </p:blipFill>
        <p:spPr>
          <a:xfrm>
            <a:off x="9186863" y="6448425"/>
            <a:ext cx="133350" cy="152400"/>
          </a:xfrm>
          <a:prstGeom prst="rect">
            <a:avLst/>
          </a:prstGeom>
          <a:noFill/>
          <a:ln>
            <a:noFill/>
          </a:ln>
        </p:spPr>
      </p:pic>
      <p:sp>
        <p:nvSpPr>
          <p:cNvPr id="450" name="Google Shape;450;p12"/>
          <p:cNvSpPr/>
          <p:nvPr/>
        </p:nvSpPr>
        <p:spPr>
          <a:xfrm>
            <a:off x="609600" y="342900"/>
            <a:ext cx="10972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Báo cáo và Phân tích</a:t>
            </a:r>
            <a:endParaRPr b="0" i="0" sz="2700" u="none" cap="none" strike="noStrike">
              <a:solidFill>
                <a:schemeClr val="dk1"/>
              </a:solidFill>
              <a:latin typeface="Calibri"/>
              <a:ea typeface="Calibri"/>
              <a:cs typeface="Calibri"/>
              <a:sym typeface="Calibri"/>
            </a:endParaRPr>
          </a:p>
        </p:txBody>
      </p:sp>
      <p:sp>
        <p:nvSpPr>
          <p:cNvPr id="451" name="Google Shape;451;p12"/>
          <p:cNvSpPr/>
          <p:nvPr/>
        </p:nvSpPr>
        <p:spPr>
          <a:xfrm>
            <a:off x="609600" y="1371600"/>
            <a:ext cx="621792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Khả năng báo cáo mạnh mẽ</a:t>
            </a:r>
            <a:endParaRPr b="0" i="0" sz="1800" u="none" cap="none" strike="noStrike">
              <a:solidFill>
                <a:schemeClr val="dk1"/>
              </a:solidFill>
              <a:latin typeface="Calibri"/>
              <a:ea typeface="Calibri"/>
              <a:cs typeface="Calibri"/>
              <a:sym typeface="Calibri"/>
            </a:endParaRPr>
          </a:p>
        </p:txBody>
      </p:sp>
      <p:sp>
        <p:nvSpPr>
          <p:cNvPr id="452" name="Google Shape;452;p12"/>
          <p:cNvSpPr/>
          <p:nvPr/>
        </p:nvSpPr>
        <p:spPr>
          <a:xfrm>
            <a:off x="609600" y="1828800"/>
            <a:ext cx="5181600" cy="557213"/>
          </a:xfrm>
          <a:prstGeom prst="rect">
            <a:avLst/>
          </a:prstGeom>
          <a:noFill/>
          <a:ln>
            <a:noFill/>
          </a:ln>
        </p:spPr>
        <p:txBody>
          <a:bodyPr anchorCtr="0" anchor="t" bIns="0" lIns="0" spcFirstLastPara="1" rIns="0" wrap="square" tIns="0">
            <a:noAutofit/>
          </a:bodyPr>
          <a:lstStyle/>
          <a:p>
            <a:pPr indent="0" lvl="0" marL="0" marR="0" rtl="0" algn="l">
              <a:lnSpc>
                <a:spcPct val="162518"/>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Hệ thống FMS cung cấp các khả năng báo cáo chi tiết giúp doanh nghiệp theo dõi hoạt động và thiết lập KPI hiệu quả.</a:t>
            </a:r>
            <a:endParaRPr b="0" i="0" sz="1350" u="none" cap="none" strike="noStrike">
              <a:solidFill>
                <a:schemeClr val="dk1"/>
              </a:solidFill>
              <a:latin typeface="Calibri"/>
              <a:ea typeface="Calibri"/>
              <a:cs typeface="Calibri"/>
              <a:sym typeface="Calibri"/>
            </a:endParaRPr>
          </a:p>
        </p:txBody>
      </p:sp>
      <p:sp>
        <p:nvSpPr>
          <p:cNvPr id="453" name="Google Shape;453;p12"/>
          <p:cNvSpPr/>
          <p:nvPr/>
        </p:nvSpPr>
        <p:spPr>
          <a:xfrm>
            <a:off x="1143000" y="2767013"/>
            <a:ext cx="539496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Báo cáo sự kiện bất thường</a:t>
            </a:r>
            <a:endParaRPr b="0" i="0" sz="1500" u="none" cap="none" strike="noStrike">
              <a:solidFill>
                <a:schemeClr val="dk1"/>
              </a:solidFill>
              <a:latin typeface="Calibri"/>
              <a:ea typeface="Calibri"/>
              <a:cs typeface="Calibri"/>
              <a:sym typeface="Calibri"/>
            </a:endParaRPr>
          </a:p>
        </p:txBody>
      </p:sp>
      <p:sp>
        <p:nvSpPr>
          <p:cNvPr id="454" name="Google Shape;454;p12"/>
          <p:cNvSpPr/>
          <p:nvPr/>
        </p:nvSpPr>
        <p:spPr>
          <a:xfrm>
            <a:off x="1143000" y="3033713"/>
            <a:ext cx="44958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Theo dõi và phân tích các sự kiện đáng chú ý để cải thiện an toàn.</a:t>
            </a:r>
            <a:endParaRPr b="0" i="0" sz="1200" u="none" cap="none" strike="noStrike">
              <a:solidFill>
                <a:schemeClr val="dk1"/>
              </a:solidFill>
              <a:latin typeface="Calibri"/>
              <a:ea typeface="Calibri"/>
              <a:cs typeface="Calibri"/>
              <a:sym typeface="Calibri"/>
            </a:endParaRPr>
          </a:p>
        </p:txBody>
      </p:sp>
      <p:sp>
        <p:nvSpPr>
          <p:cNvPr id="455" name="Google Shape;455;p12"/>
          <p:cNvSpPr/>
          <p:nvPr/>
        </p:nvSpPr>
        <p:spPr>
          <a:xfrm>
            <a:off x="1143000" y="3948112"/>
            <a:ext cx="44958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Báo cáo hành trình</a:t>
            </a:r>
            <a:endParaRPr b="0" i="0" sz="1500" u="none" cap="none" strike="noStrike">
              <a:solidFill>
                <a:schemeClr val="dk1"/>
              </a:solidFill>
              <a:latin typeface="Calibri"/>
              <a:ea typeface="Calibri"/>
              <a:cs typeface="Calibri"/>
              <a:sym typeface="Calibri"/>
            </a:endParaRPr>
          </a:p>
        </p:txBody>
      </p:sp>
      <p:sp>
        <p:nvSpPr>
          <p:cNvPr id="456" name="Google Shape;456;p12"/>
          <p:cNvSpPr/>
          <p:nvPr/>
        </p:nvSpPr>
        <p:spPr>
          <a:xfrm>
            <a:off x="1143000" y="4214813"/>
            <a:ext cx="44958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Phân tích lộ trình và thời gian di chuyển để tối ưu hóa hiệu suất.</a:t>
            </a:r>
            <a:endParaRPr b="0" i="0" sz="1200" u="none" cap="none" strike="noStrike">
              <a:solidFill>
                <a:schemeClr val="dk1"/>
              </a:solidFill>
              <a:latin typeface="Calibri"/>
              <a:ea typeface="Calibri"/>
              <a:cs typeface="Calibri"/>
              <a:sym typeface="Calibri"/>
            </a:endParaRPr>
          </a:p>
        </p:txBody>
      </p:sp>
      <p:sp>
        <p:nvSpPr>
          <p:cNvPr id="457" name="Google Shape;457;p12"/>
          <p:cNvSpPr/>
          <p:nvPr/>
        </p:nvSpPr>
        <p:spPr>
          <a:xfrm>
            <a:off x="1171575" y="5129213"/>
            <a:ext cx="4197102"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Báo cáo tổng thể</a:t>
            </a:r>
            <a:endParaRPr b="0" i="0" sz="1500" u="none" cap="none" strike="noStrike">
              <a:solidFill>
                <a:schemeClr val="dk1"/>
              </a:solidFill>
              <a:latin typeface="Calibri"/>
              <a:ea typeface="Calibri"/>
              <a:cs typeface="Calibri"/>
              <a:sym typeface="Calibri"/>
            </a:endParaRPr>
          </a:p>
        </p:txBody>
      </p:sp>
      <p:sp>
        <p:nvSpPr>
          <p:cNvPr id="458" name="Google Shape;458;p12"/>
          <p:cNvSpPr/>
          <p:nvPr/>
        </p:nvSpPr>
        <p:spPr>
          <a:xfrm>
            <a:off x="1171575" y="5395913"/>
            <a:ext cx="503652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Tổng quan toàn diện để ra quyết định dựa trên dữ liệu.</a:t>
            </a:r>
            <a:endParaRPr b="0" i="0" sz="1200" u="none" cap="none" strike="noStrike">
              <a:solidFill>
                <a:schemeClr val="dk1"/>
              </a:solidFill>
              <a:latin typeface="Calibri"/>
              <a:ea typeface="Calibri"/>
              <a:cs typeface="Calibri"/>
              <a:sym typeface="Calibri"/>
            </a:endParaRPr>
          </a:p>
        </p:txBody>
      </p:sp>
      <p:sp>
        <p:nvSpPr>
          <p:cNvPr id="459" name="Google Shape;459;p12"/>
          <p:cNvSpPr/>
          <p:nvPr/>
        </p:nvSpPr>
        <p:spPr>
          <a:xfrm>
            <a:off x="6324600" y="1600200"/>
            <a:ext cx="50292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Phân tích dữ liệu</a:t>
            </a:r>
            <a:endParaRPr b="0" i="0" sz="1800" u="none" cap="none" strike="noStrike">
              <a:solidFill>
                <a:schemeClr val="dk1"/>
              </a:solidFill>
              <a:latin typeface="Calibri"/>
              <a:ea typeface="Calibri"/>
              <a:cs typeface="Calibri"/>
              <a:sym typeface="Calibri"/>
            </a:endParaRPr>
          </a:p>
        </p:txBody>
      </p:sp>
      <p:sp>
        <p:nvSpPr>
          <p:cNvPr id="460" name="Google Shape;460;p12"/>
          <p:cNvSpPr/>
          <p:nvPr/>
        </p:nvSpPr>
        <p:spPr>
          <a:xfrm>
            <a:off x="6591300" y="4667250"/>
            <a:ext cx="47625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Lưu trữ, phân tích và báo cáo dữ liệu dựa trên hành trình, sự kiện, phương tiện hoặc tài xế</a:t>
            </a:r>
            <a:endParaRPr b="0" i="0" sz="1200" u="none" cap="none" strike="noStrike">
              <a:solidFill>
                <a:schemeClr val="dk1"/>
              </a:solidFill>
              <a:latin typeface="Calibri"/>
              <a:ea typeface="Calibri"/>
              <a:cs typeface="Calibri"/>
              <a:sym typeface="Calibri"/>
            </a:endParaRPr>
          </a:p>
        </p:txBody>
      </p:sp>
      <p:sp>
        <p:nvSpPr>
          <p:cNvPr id="461" name="Google Shape;461;p12"/>
          <p:cNvSpPr/>
          <p:nvPr/>
        </p:nvSpPr>
        <p:spPr>
          <a:xfrm>
            <a:off x="6591300" y="5276850"/>
            <a:ext cx="498490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Hỗ trợ việc thiết lập KPI cho việc giám sát phương tiện</a:t>
            </a:r>
            <a:endParaRPr b="0" i="0" sz="1200" u="none" cap="none" strike="noStrike">
              <a:solidFill>
                <a:schemeClr val="dk1"/>
              </a:solidFill>
              <a:latin typeface="Calibri"/>
              <a:ea typeface="Calibri"/>
              <a:cs typeface="Calibri"/>
              <a:sym typeface="Calibri"/>
            </a:endParaRPr>
          </a:p>
        </p:txBody>
      </p:sp>
      <p:sp>
        <p:nvSpPr>
          <p:cNvPr id="462" name="Google Shape;462;p12"/>
          <p:cNvSpPr/>
          <p:nvPr/>
        </p:nvSpPr>
        <p:spPr>
          <a:xfrm>
            <a:off x="6591300" y="5695950"/>
            <a:ext cx="555408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Cung cấp cái nhìn tổng thể để ra quyết định dựa trên dữ liệu</a:t>
            </a:r>
            <a:endParaRPr b="0" i="0" sz="1200" u="none" cap="none" strike="noStrike">
              <a:solidFill>
                <a:schemeClr val="dk1"/>
              </a:solidFill>
              <a:latin typeface="Calibri"/>
              <a:ea typeface="Calibri"/>
              <a:cs typeface="Calibri"/>
              <a:sym typeface="Calibri"/>
            </a:endParaRPr>
          </a:p>
        </p:txBody>
      </p:sp>
      <p:sp>
        <p:nvSpPr>
          <p:cNvPr id="463" name="Google Shape;463;p12"/>
          <p:cNvSpPr/>
          <p:nvPr/>
        </p:nvSpPr>
        <p:spPr>
          <a:xfrm>
            <a:off x="838200" y="6419850"/>
            <a:ext cx="344328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FMS cung cấp phân tích toàn diện</a:t>
            </a:r>
            <a:endParaRPr b="0" i="0" sz="1200" u="none" cap="none" strike="noStrike">
              <a:solidFill>
                <a:schemeClr val="dk1"/>
              </a:solidFill>
              <a:latin typeface="Calibri"/>
              <a:ea typeface="Calibri"/>
              <a:cs typeface="Calibri"/>
              <a:sym typeface="Calibri"/>
            </a:endParaRPr>
          </a:p>
        </p:txBody>
      </p:sp>
      <p:sp>
        <p:nvSpPr>
          <p:cNvPr id="464" name="Google Shape;464;p12"/>
          <p:cNvSpPr/>
          <p:nvPr/>
        </p:nvSpPr>
        <p:spPr>
          <a:xfrm>
            <a:off x="9396413" y="6419850"/>
            <a:ext cx="28746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Dữ liệu được lưu trữ an toàn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descr="preencoded.png" id="470" name="Google Shape;470;p13"/>
          <p:cNvPicPr preferRelativeResize="0"/>
          <p:nvPr/>
        </p:nvPicPr>
        <p:blipFill rotWithShape="1">
          <a:blip r:embed="rId3">
            <a:alphaModFix/>
          </a:blip>
          <a:srcRect b="0" l="0" r="0" t="0"/>
          <a:stretch/>
        </p:blipFill>
        <p:spPr>
          <a:xfrm>
            <a:off x="0" y="0"/>
            <a:ext cx="12192000" cy="6972300"/>
          </a:xfrm>
          <a:prstGeom prst="rect">
            <a:avLst/>
          </a:prstGeom>
          <a:noFill/>
          <a:ln>
            <a:noFill/>
          </a:ln>
        </p:spPr>
      </p:pic>
      <p:pic>
        <p:nvPicPr>
          <p:cNvPr descr="preencoded.png" id="471" name="Google Shape;471;p13"/>
          <p:cNvPicPr preferRelativeResize="0"/>
          <p:nvPr/>
        </p:nvPicPr>
        <p:blipFill rotWithShape="1">
          <a:blip r:embed="rId4">
            <a:alphaModFix/>
          </a:blip>
          <a:srcRect b="0" l="0" r="0" t="0"/>
          <a:stretch/>
        </p:blipFill>
        <p:spPr>
          <a:xfrm>
            <a:off x="0" y="0"/>
            <a:ext cx="12192000" cy="38100"/>
          </a:xfrm>
          <a:prstGeom prst="rect">
            <a:avLst/>
          </a:prstGeom>
          <a:noFill/>
          <a:ln>
            <a:noFill/>
          </a:ln>
        </p:spPr>
      </p:pic>
      <p:pic>
        <p:nvPicPr>
          <p:cNvPr descr="preencoded.png" id="472" name="Google Shape;472;p13"/>
          <p:cNvPicPr preferRelativeResize="0"/>
          <p:nvPr/>
        </p:nvPicPr>
        <p:blipFill rotWithShape="1">
          <a:blip r:embed="rId5">
            <a:alphaModFix/>
          </a:blip>
          <a:srcRect b="0" l="0" r="0" t="0"/>
          <a:stretch/>
        </p:blipFill>
        <p:spPr>
          <a:xfrm>
            <a:off x="609600" y="800100"/>
            <a:ext cx="914400" cy="38100"/>
          </a:xfrm>
          <a:prstGeom prst="rect">
            <a:avLst/>
          </a:prstGeom>
          <a:noFill/>
          <a:ln>
            <a:noFill/>
          </a:ln>
        </p:spPr>
      </p:pic>
      <p:pic>
        <p:nvPicPr>
          <p:cNvPr descr="preencoded.png" id="473" name="Google Shape;473;p13"/>
          <p:cNvPicPr preferRelativeResize="0"/>
          <p:nvPr/>
        </p:nvPicPr>
        <p:blipFill rotWithShape="1">
          <a:blip r:embed="rId6">
            <a:alphaModFix/>
          </a:blip>
          <a:srcRect b="0" l="0" r="0" t="0"/>
          <a:stretch/>
        </p:blipFill>
        <p:spPr>
          <a:xfrm>
            <a:off x="609600" y="1371600"/>
            <a:ext cx="5372100" cy="1638300"/>
          </a:xfrm>
          <a:prstGeom prst="rect">
            <a:avLst/>
          </a:prstGeom>
          <a:noFill/>
          <a:ln>
            <a:noFill/>
          </a:ln>
        </p:spPr>
      </p:pic>
      <p:pic>
        <p:nvPicPr>
          <p:cNvPr descr="preencoded.png" id="474" name="Google Shape;474;p13"/>
          <p:cNvPicPr preferRelativeResize="0"/>
          <p:nvPr/>
        </p:nvPicPr>
        <p:blipFill rotWithShape="1">
          <a:blip r:embed="rId7">
            <a:alphaModFix/>
          </a:blip>
          <a:srcRect b="0" l="0" r="0" t="0"/>
          <a:stretch/>
        </p:blipFill>
        <p:spPr>
          <a:xfrm>
            <a:off x="800100" y="1562100"/>
            <a:ext cx="571500" cy="571500"/>
          </a:xfrm>
          <a:prstGeom prst="rect">
            <a:avLst/>
          </a:prstGeom>
          <a:noFill/>
          <a:ln>
            <a:noFill/>
          </a:ln>
        </p:spPr>
      </p:pic>
      <p:pic>
        <p:nvPicPr>
          <p:cNvPr descr="preencoded.png" id="475" name="Google Shape;475;p13"/>
          <p:cNvPicPr preferRelativeResize="0"/>
          <p:nvPr/>
        </p:nvPicPr>
        <p:blipFill rotWithShape="1">
          <a:blip r:embed="rId8">
            <a:alphaModFix/>
          </a:blip>
          <a:srcRect b="0" l="0" r="0" t="0"/>
          <a:stretch/>
        </p:blipFill>
        <p:spPr>
          <a:xfrm>
            <a:off x="971550" y="1695450"/>
            <a:ext cx="228600" cy="304800"/>
          </a:xfrm>
          <a:prstGeom prst="rect">
            <a:avLst/>
          </a:prstGeom>
          <a:noFill/>
          <a:ln>
            <a:noFill/>
          </a:ln>
        </p:spPr>
      </p:pic>
      <p:pic>
        <p:nvPicPr>
          <p:cNvPr descr="preencoded.png" id="476" name="Google Shape;476;p13"/>
          <p:cNvPicPr preferRelativeResize="0"/>
          <p:nvPr/>
        </p:nvPicPr>
        <p:blipFill rotWithShape="1">
          <a:blip r:embed="rId6">
            <a:alphaModFix/>
          </a:blip>
          <a:srcRect b="0" l="0" r="0" t="0"/>
          <a:stretch/>
        </p:blipFill>
        <p:spPr>
          <a:xfrm>
            <a:off x="6210300" y="1371600"/>
            <a:ext cx="5372100" cy="1638300"/>
          </a:xfrm>
          <a:prstGeom prst="rect">
            <a:avLst/>
          </a:prstGeom>
          <a:noFill/>
          <a:ln>
            <a:noFill/>
          </a:ln>
        </p:spPr>
      </p:pic>
      <p:pic>
        <p:nvPicPr>
          <p:cNvPr descr="preencoded.png" id="477" name="Google Shape;477;p13"/>
          <p:cNvPicPr preferRelativeResize="0"/>
          <p:nvPr/>
        </p:nvPicPr>
        <p:blipFill rotWithShape="1">
          <a:blip r:embed="rId9">
            <a:alphaModFix/>
          </a:blip>
          <a:srcRect b="0" l="0" r="0" t="0"/>
          <a:stretch/>
        </p:blipFill>
        <p:spPr>
          <a:xfrm>
            <a:off x="6400800" y="1562100"/>
            <a:ext cx="571500" cy="571500"/>
          </a:xfrm>
          <a:prstGeom prst="rect">
            <a:avLst/>
          </a:prstGeom>
          <a:noFill/>
          <a:ln>
            <a:noFill/>
          </a:ln>
        </p:spPr>
      </p:pic>
      <p:pic>
        <p:nvPicPr>
          <p:cNvPr descr="preencoded.png" id="478" name="Google Shape;478;p13"/>
          <p:cNvPicPr preferRelativeResize="0"/>
          <p:nvPr/>
        </p:nvPicPr>
        <p:blipFill rotWithShape="1">
          <a:blip r:embed="rId10">
            <a:alphaModFix/>
          </a:blip>
          <a:srcRect b="0" l="0" r="0" t="0"/>
          <a:stretch/>
        </p:blipFill>
        <p:spPr>
          <a:xfrm>
            <a:off x="6572250" y="1695450"/>
            <a:ext cx="228600" cy="304800"/>
          </a:xfrm>
          <a:prstGeom prst="rect">
            <a:avLst/>
          </a:prstGeom>
          <a:noFill/>
          <a:ln>
            <a:noFill/>
          </a:ln>
        </p:spPr>
      </p:pic>
      <p:pic>
        <p:nvPicPr>
          <p:cNvPr descr="preencoded.png" id="479" name="Google Shape;479;p13"/>
          <p:cNvPicPr preferRelativeResize="0"/>
          <p:nvPr/>
        </p:nvPicPr>
        <p:blipFill rotWithShape="1">
          <a:blip r:embed="rId11">
            <a:alphaModFix/>
          </a:blip>
          <a:srcRect b="0" l="0" r="0" t="0"/>
          <a:stretch/>
        </p:blipFill>
        <p:spPr>
          <a:xfrm>
            <a:off x="609600" y="3238500"/>
            <a:ext cx="5372100" cy="1638300"/>
          </a:xfrm>
          <a:prstGeom prst="rect">
            <a:avLst/>
          </a:prstGeom>
          <a:noFill/>
          <a:ln>
            <a:noFill/>
          </a:ln>
        </p:spPr>
      </p:pic>
      <p:pic>
        <p:nvPicPr>
          <p:cNvPr descr="preencoded.png" id="480" name="Google Shape;480;p13"/>
          <p:cNvPicPr preferRelativeResize="0"/>
          <p:nvPr/>
        </p:nvPicPr>
        <p:blipFill rotWithShape="1">
          <a:blip r:embed="rId12">
            <a:alphaModFix/>
          </a:blip>
          <a:srcRect b="0" l="0" r="0" t="0"/>
          <a:stretch/>
        </p:blipFill>
        <p:spPr>
          <a:xfrm>
            <a:off x="800100" y="3429000"/>
            <a:ext cx="571500" cy="571500"/>
          </a:xfrm>
          <a:prstGeom prst="rect">
            <a:avLst/>
          </a:prstGeom>
          <a:noFill/>
          <a:ln>
            <a:noFill/>
          </a:ln>
        </p:spPr>
      </p:pic>
      <p:pic>
        <p:nvPicPr>
          <p:cNvPr descr="preencoded.png" id="481" name="Google Shape;481;p13"/>
          <p:cNvPicPr preferRelativeResize="0"/>
          <p:nvPr/>
        </p:nvPicPr>
        <p:blipFill rotWithShape="1">
          <a:blip r:embed="rId13">
            <a:alphaModFix/>
          </a:blip>
          <a:srcRect b="0" l="0" r="0" t="0"/>
          <a:stretch/>
        </p:blipFill>
        <p:spPr>
          <a:xfrm>
            <a:off x="971550" y="3562350"/>
            <a:ext cx="228600" cy="304800"/>
          </a:xfrm>
          <a:prstGeom prst="rect">
            <a:avLst/>
          </a:prstGeom>
          <a:noFill/>
          <a:ln>
            <a:noFill/>
          </a:ln>
        </p:spPr>
      </p:pic>
      <p:pic>
        <p:nvPicPr>
          <p:cNvPr descr="preencoded.png" id="482" name="Google Shape;482;p13"/>
          <p:cNvPicPr preferRelativeResize="0"/>
          <p:nvPr/>
        </p:nvPicPr>
        <p:blipFill rotWithShape="1">
          <a:blip r:embed="rId11">
            <a:alphaModFix/>
          </a:blip>
          <a:srcRect b="0" l="0" r="0" t="0"/>
          <a:stretch/>
        </p:blipFill>
        <p:spPr>
          <a:xfrm>
            <a:off x="6210300" y="3238500"/>
            <a:ext cx="5372100" cy="1638300"/>
          </a:xfrm>
          <a:prstGeom prst="rect">
            <a:avLst/>
          </a:prstGeom>
          <a:noFill/>
          <a:ln>
            <a:noFill/>
          </a:ln>
        </p:spPr>
      </p:pic>
      <p:pic>
        <p:nvPicPr>
          <p:cNvPr descr="preencoded.png" id="483" name="Google Shape;483;p13"/>
          <p:cNvPicPr preferRelativeResize="0"/>
          <p:nvPr/>
        </p:nvPicPr>
        <p:blipFill rotWithShape="1">
          <a:blip r:embed="rId14">
            <a:alphaModFix/>
          </a:blip>
          <a:srcRect b="0" l="0" r="0" t="0"/>
          <a:stretch/>
        </p:blipFill>
        <p:spPr>
          <a:xfrm>
            <a:off x="6400800" y="3429000"/>
            <a:ext cx="571500" cy="571500"/>
          </a:xfrm>
          <a:prstGeom prst="rect">
            <a:avLst/>
          </a:prstGeom>
          <a:noFill/>
          <a:ln>
            <a:noFill/>
          </a:ln>
        </p:spPr>
      </p:pic>
      <p:pic>
        <p:nvPicPr>
          <p:cNvPr descr="preencoded.png" id="484" name="Google Shape;484;p13"/>
          <p:cNvPicPr preferRelativeResize="0"/>
          <p:nvPr/>
        </p:nvPicPr>
        <p:blipFill rotWithShape="1">
          <a:blip r:embed="rId15">
            <a:alphaModFix/>
          </a:blip>
          <a:srcRect b="0" l="0" r="0" t="0"/>
          <a:stretch/>
        </p:blipFill>
        <p:spPr>
          <a:xfrm>
            <a:off x="6572250" y="3562350"/>
            <a:ext cx="228600" cy="304800"/>
          </a:xfrm>
          <a:prstGeom prst="rect">
            <a:avLst/>
          </a:prstGeom>
          <a:noFill/>
          <a:ln>
            <a:noFill/>
          </a:ln>
        </p:spPr>
      </p:pic>
      <p:pic>
        <p:nvPicPr>
          <p:cNvPr descr="preencoded.png" id="485" name="Google Shape;485;p13"/>
          <p:cNvPicPr preferRelativeResize="0"/>
          <p:nvPr/>
        </p:nvPicPr>
        <p:blipFill rotWithShape="1">
          <a:blip r:embed="rId16">
            <a:alphaModFix/>
          </a:blip>
          <a:srcRect b="0" l="0" r="0" t="0"/>
          <a:stretch/>
        </p:blipFill>
        <p:spPr>
          <a:xfrm>
            <a:off x="609600" y="5105400"/>
            <a:ext cx="10972800" cy="1181100"/>
          </a:xfrm>
          <a:prstGeom prst="rect">
            <a:avLst/>
          </a:prstGeom>
          <a:noFill/>
          <a:ln>
            <a:noFill/>
          </a:ln>
        </p:spPr>
      </p:pic>
      <p:pic>
        <p:nvPicPr>
          <p:cNvPr descr="preencoded.png" id="486" name="Google Shape;486;p13"/>
          <p:cNvPicPr preferRelativeResize="0"/>
          <p:nvPr/>
        </p:nvPicPr>
        <p:blipFill rotWithShape="1">
          <a:blip r:embed="rId17">
            <a:alphaModFix/>
          </a:blip>
          <a:srcRect b="0" l="0" r="0" t="0"/>
          <a:stretch/>
        </p:blipFill>
        <p:spPr>
          <a:xfrm>
            <a:off x="800100" y="5295900"/>
            <a:ext cx="571500" cy="571500"/>
          </a:xfrm>
          <a:prstGeom prst="rect">
            <a:avLst/>
          </a:prstGeom>
          <a:noFill/>
          <a:ln>
            <a:noFill/>
          </a:ln>
        </p:spPr>
      </p:pic>
      <p:pic>
        <p:nvPicPr>
          <p:cNvPr descr="preencoded.png" id="487" name="Google Shape;487;p13"/>
          <p:cNvPicPr preferRelativeResize="0"/>
          <p:nvPr/>
        </p:nvPicPr>
        <p:blipFill rotWithShape="1">
          <a:blip r:embed="rId18">
            <a:alphaModFix/>
          </a:blip>
          <a:srcRect b="0" l="0" r="0" t="0"/>
          <a:stretch/>
        </p:blipFill>
        <p:spPr>
          <a:xfrm>
            <a:off x="985838" y="5429250"/>
            <a:ext cx="200025" cy="304800"/>
          </a:xfrm>
          <a:prstGeom prst="rect">
            <a:avLst/>
          </a:prstGeom>
          <a:noFill/>
          <a:ln>
            <a:noFill/>
          </a:ln>
        </p:spPr>
      </p:pic>
      <p:pic>
        <p:nvPicPr>
          <p:cNvPr descr="preencoded.png" id="488" name="Google Shape;488;p13"/>
          <p:cNvPicPr preferRelativeResize="0"/>
          <p:nvPr/>
        </p:nvPicPr>
        <p:blipFill rotWithShape="1">
          <a:blip r:embed="rId19">
            <a:alphaModFix/>
          </a:blip>
          <a:srcRect b="0" l="0" r="0" t="0"/>
          <a:stretch/>
        </p:blipFill>
        <p:spPr>
          <a:xfrm>
            <a:off x="609600" y="6543675"/>
            <a:ext cx="152400" cy="152400"/>
          </a:xfrm>
          <a:prstGeom prst="rect">
            <a:avLst/>
          </a:prstGeom>
          <a:noFill/>
          <a:ln>
            <a:noFill/>
          </a:ln>
        </p:spPr>
      </p:pic>
      <p:pic>
        <p:nvPicPr>
          <p:cNvPr descr="preencoded.png" id="489" name="Google Shape;489;p13"/>
          <p:cNvPicPr preferRelativeResize="0"/>
          <p:nvPr/>
        </p:nvPicPr>
        <p:blipFill rotWithShape="1">
          <a:blip r:embed="rId20">
            <a:alphaModFix/>
          </a:blip>
          <a:srcRect b="0" l="0" r="0" t="0"/>
          <a:stretch/>
        </p:blipFill>
        <p:spPr>
          <a:xfrm>
            <a:off x="8791575" y="6543675"/>
            <a:ext cx="152400" cy="152400"/>
          </a:xfrm>
          <a:prstGeom prst="rect">
            <a:avLst/>
          </a:prstGeom>
          <a:noFill/>
          <a:ln>
            <a:noFill/>
          </a:ln>
        </p:spPr>
      </p:pic>
      <p:sp>
        <p:nvSpPr>
          <p:cNvPr id="490" name="Google Shape;490;p13"/>
          <p:cNvSpPr/>
          <p:nvPr/>
        </p:nvSpPr>
        <p:spPr>
          <a:xfrm>
            <a:off x="609600" y="342900"/>
            <a:ext cx="1316736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Tại sao nên chọn AutoSecure của MK Vision</a:t>
            </a:r>
            <a:endParaRPr b="0" i="0" sz="2700" u="none" cap="none" strike="noStrike">
              <a:solidFill>
                <a:schemeClr val="dk1"/>
              </a:solidFill>
              <a:latin typeface="Calibri"/>
              <a:ea typeface="Calibri"/>
              <a:cs typeface="Calibri"/>
              <a:sym typeface="Calibri"/>
            </a:endParaRPr>
          </a:p>
        </p:txBody>
      </p:sp>
      <p:sp>
        <p:nvSpPr>
          <p:cNvPr id="491" name="Google Shape;491;p13"/>
          <p:cNvSpPr/>
          <p:nvPr/>
        </p:nvSpPr>
        <p:spPr>
          <a:xfrm>
            <a:off x="1524000" y="1562100"/>
            <a:ext cx="42672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Tích hợp toàn diện</a:t>
            </a:r>
            <a:endParaRPr b="0" i="0" sz="1500" u="none" cap="none" strike="noStrike">
              <a:solidFill>
                <a:schemeClr val="dk1"/>
              </a:solidFill>
              <a:latin typeface="Calibri"/>
              <a:ea typeface="Calibri"/>
              <a:cs typeface="Calibri"/>
              <a:sym typeface="Calibri"/>
            </a:endParaRPr>
          </a:p>
        </p:txBody>
      </p:sp>
      <p:sp>
        <p:nvSpPr>
          <p:cNvPr id="492" name="Google Shape;492;p13"/>
          <p:cNvSpPr/>
          <p:nvPr/>
        </p:nvSpPr>
        <p:spPr>
          <a:xfrm>
            <a:off x="1524000" y="1905000"/>
            <a:ext cx="4267200" cy="914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Giải pháp AutoSecure cung cấp một hệ sinh thái liền mạch, kết hợp giữa camera AI thông minh với Hệ thống Quản lý Fleet (FMS) để giám sát và kiểm soát end-to-end.</a:t>
            </a:r>
            <a:endParaRPr b="0" i="0" sz="1200" u="none" cap="none" strike="noStrike">
              <a:solidFill>
                <a:schemeClr val="dk1"/>
              </a:solidFill>
              <a:latin typeface="Calibri"/>
              <a:ea typeface="Calibri"/>
              <a:cs typeface="Calibri"/>
              <a:sym typeface="Calibri"/>
            </a:endParaRPr>
          </a:p>
        </p:txBody>
      </p:sp>
      <p:sp>
        <p:nvSpPr>
          <p:cNvPr id="493" name="Google Shape;493;p13"/>
          <p:cNvSpPr/>
          <p:nvPr/>
        </p:nvSpPr>
        <p:spPr>
          <a:xfrm>
            <a:off x="7124700" y="1562100"/>
            <a:ext cx="51206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Công nghệ AI-on-Edge tiên tiến</a:t>
            </a:r>
            <a:endParaRPr b="0" i="0" sz="1500" u="none" cap="none" strike="noStrike">
              <a:solidFill>
                <a:schemeClr val="dk1"/>
              </a:solidFill>
              <a:latin typeface="Calibri"/>
              <a:ea typeface="Calibri"/>
              <a:cs typeface="Calibri"/>
              <a:sym typeface="Calibri"/>
            </a:endParaRPr>
          </a:p>
        </p:txBody>
      </p:sp>
      <p:sp>
        <p:nvSpPr>
          <p:cNvPr id="494" name="Google Shape;494;p13"/>
          <p:cNvSpPr/>
          <p:nvPr/>
        </p:nvSpPr>
        <p:spPr>
          <a:xfrm>
            <a:off x="7124700" y="1905000"/>
            <a:ext cx="4267200" cy="914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Leveraging công nghệ AI-on-Edge độc quyền, giải pháp xử lý dữ liệu locally trên thiết bị, đảm bảo tính khả dụng, độ tin cậy và hiệu quả về chi phí cho các triển khai quy mô lớn.</a:t>
            </a:r>
            <a:endParaRPr b="0" i="0" sz="1200" u="none" cap="none" strike="noStrike">
              <a:solidFill>
                <a:schemeClr val="dk1"/>
              </a:solidFill>
              <a:latin typeface="Calibri"/>
              <a:ea typeface="Calibri"/>
              <a:cs typeface="Calibri"/>
              <a:sym typeface="Calibri"/>
            </a:endParaRPr>
          </a:p>
        </p:txBody>
      </p:sp>
      <p:sp>
        <p:nvSpPr>
          <p:cNvPr id="495" name="Google Shape;495;p13"/>
          <p:cNvSpPr/>
          <p:nvPr/>
        </p:nvSpPr>
        <p:spPr>
          <a:xfrm>
            <a:off x="1524000" y="3429000"/>
            <a:ext cx="51206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Hai yếu tố tập trung vào an toàn</a:t>
            </a:r>
            <a:endParaRPr b="0" i="0" sz="1500" u="none" cap="none" strike="noStrike">
              <a:solidFill>
                <a:schemeClr val="dk1"/>
              </a:solidFill>
              <a:latin typeface="Calibri"/>
              <a:ea typeface="Calibri"/>
              <a:cs typeface="Calibri"/>
              <a:sym typeface="Calibri"/>
            </a:endParaRPr>
          </a:p>
        </p:txBody>
      </p:sp>
      <p:sp>
        <p:nvSpPr>
          <p:cNvPr id="496" name="Google Shape;496;p13"/>
          <p:cNvSpPr/>
          <p:nvPr/>
        </p:nvSpPr>
        <p:spPr>
          <a:xfrm>
            <a:off x="1524000" y="3771900"/>
            <a:ext cx="42672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AutoSecure ưu tiên an toàn bằng cách giám sát hoạt động của tài xế thông qua DMS và bảo vệ xe ngay cả khi dừng lại, giảm thiểu rủi ro từ tai nạn và trộm cắp.</a:t>
            </a:r>
            <a:endParaRPr b="0" i="0" sz="1200" u="none" cap="none" strike="noStrike">
              <a:solidFill>
                <a:schemeClr val="dk1"/>
              </a:solidFill>
              <a:latin typeface="Calibri"/>
              <a:ea typeface="Calibri"/>
              <a:cs typeface="Calibri"/>
              <a:sym typeface="Calibri"/>
            </a:endParaRPr>
          </a:p>
        </p:txBody>
      </p:sp>
      <p:sp>
        <p:nvSpPr>
          <p:cNvPr id="497" name="Google Shape;497;p13"/>
          <p:cNvSpPr/>
          <p:nvPr/>
        </p:nvSpPr>
        <p:spPr>
          <a:xfrm>
            <a:off x="7124700" y="3429000"/>
            <a:ext cx="51206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Phân tích dữ liệu mạnh mẽ</a:t>
            </a:r>
            <a:endParaRPr b="0" i="0" sz="1500" u="none" cap="none" strike="noStrike">
              <a:solidFill>
                <a:schemeClr val="dk1"/>
              </a:solidFill>
              <a:latin typeface="Calibri"/>
              <a:ea typeface="Calibri"/>
              <a:cs typeface="Calibri"/>
              <a:sym typeface="Calibri"/>
            </a:endParaRPr>
          </a:p>
        </p:txBody>
      </p:sp>
      <p:sp>
        <p:nvSpPr>
          <p:cNvPr id="498" name="Google Shape;498;p13"/>
          <p:cNvSpPr/>
          <p:nvPr/>
        </p:nvSpPr>
        <p:spPr>
          <a:xfrm>
            <a:off x="7124700" y="3771900"/>
            <a:ext cx="4267200" cy="914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Hệ thống FMS cung cấp báo cáo và phân tích chi tiết về các sự kiện, hành trình và hiệu suất của tài xế, giúp doanh nghiệp thiết lập KPI, tối ưu hóa tuyến đường và đưa ra quyết định dựa trên dữ liệu.</a:t>
            </a:r>
            <a:endParaRPr b="0" i="0" sz="1200" u="none" cap="none" strike="noStrike">
              <a:solidFill>
                <a:schemeClr val="dk1"/>
              </a:solidFill>
              <a:latin typeface="Calibri"/>
              <a:ea typeface="Calibri"/>
              <a:cs typeface="Calibri"/>
              <a:sym typeface="Calibri"/>
            </a:endParaRPr>
          </a:p>
        </p:txBody>
      </p:sp>
      <p:sp>
        <p:nvSpPr>
          <p:cNvPr id="499" name="Google Shape;499;p13"/>
          <p:cNvSpPr/>
          <p:nvPr/>
        </p:nvSpPr>
        <p:spPr>
          <a:xfrm>
            <a:off x="1524000" y="5295900"/>
            <a:ext cx="9867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Theo dõi thời gian thực và Cảnh báo</a:t>
            </a:r>
            <a:endParaRPr b="0" i="0" sz="1500" u="none" cap="none" strike="noStrike">
              <a:solidFill>
                <a:schemeClr val="dk1"/>
              </a:solidFill>
              <a:latin typeface="Calibri"/>
              <a:ea typeface="Calibri"/>
              <a:cs typeface="Calibri"/>
              <a:sym typeface="Calibri"/>
            </a:endParaRPr>
          </a:p>
        </p:txBody>
      </p:sp>
      <p:sp>
        <p:nvSpPr>
          <p:cNvPr id="500" name="Google Shape;500;p13"/>
          <p:cNvSpPr/>
          <p:nvPr/>
        </p:nvSpPr>
        <p:spPr>
          <a:xfrm>
            <a:off x="1524000" y="5638800"/>
            <a:ext cx="9867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Với kết nối 4G tốc độ cao và cảm biến tích hợp, AutoSecure cung cấp luồng video thời gian thực, theo dõi GPS và cảnh báo tức thì cho các sự kiện quan trọng, cho phép can thiệp và phản ứng kịp thời.</a:t>
            </a:r>
            <a:endParaRPr b="0" i="0" sz="1200" u="none" cap="none" strike="noStrike">
              <a:solidFill>
                <a:schemeClr val="dk1"/>
              </a:solidFill>
              <a:latin typeface="Calibri"/>
              <a:ea typeface="Calibri"/>
              <a:cs typeface="Calibri"/>
              <a:sym typeface="Calibri"/>
            </a:endParaRPr>
          </a:p>
        </p:txBody>
      </p:sp>
      <p:sp>
        <p:nvSpPr>
          <p:cNvPr id="501" name="Google Shape;501;p13"/>
          <p:cNvSpPr/>
          <p:nvPr/>
        </p:nvSpPr>
        <p:spPr>
          <a:xfrm>
            <a:off x="838200" y="6515100"/>
            <a:ext cx="600271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AutoSecure: Giải pháp toàn diện cho quản lý fleet thông minh</a:t>
            </a:r>
            <a:endParaRPr b="0" i="0" sz="1200" u="none" cap="none" strike="noStrike">
              <a:solidFill>
                <a:schemeClr val="dk1"/>
              </a:solidFill>
              <a:latin typeface="Calibri"/>
              <a:ea typeface="Calibri"/>
              <a:cs typeface="Calibri"/>
              <a:sym typeface="Calibri"/>
            </a:endParaRPr>
          </a:p>
        </p:txBody>
      </p:sp>
      <p:sp>
        <p:nvSpPr>
          <p:cNvPr id="502" name="Google Shape;502;p13"/>
          <p:cNvSpPr/>
          <p:nvPr/>
        </p:nvSpPr>
        <p:spPr>
          <a:xfrm>
            <a:off x="9020175" y="6515100"/>
            <a:ext cx="334899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MK Vision - Technology Company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descr="preencoded.png" id="508" name="Google Shape;508;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509" name="Google Shape;509;p14"/>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510" name="Google Shape;510;p14"/>
          <p:cNvPicPr preferRelativeResize="0"/>
          <p:nvPr/>
        </p:nvPicPr>
        <p:blipFill rotWithShape="1">
          <a:blip r:embed="rId5">
            <a:alphaModFix/>
          </a:blip>
          <a:srcRect b="0" l="0" r="0" t="0"/>
          <a:stretch/>
        </p:blipFill>
        <p:spPr>
          <a:xfrm>
            <a:off x="0" y="0"/>
            <a:ext cx="12192000" cy="38100"/>
          </a:xfrm>
          <a:prstGeom prst="rect">
            <a:avLst/>
          </a:prstGeom>
          <a:noFill/>
          <a:ln>
            <a:noFill/>
          </a:ln>
        </p:spPr>
      </p:pic>
      <p:pic>
        <p:nvPicPr>
          <p:cNvPr descr="preencoded.png" id="511" name="Google Shape;511;p14"/>
          <p:cNvPicPr preferRelativeResize="0"/>
          <p:nvPr/>
        </p:nvPicPr>
        <p:blipFill rotWithShape="1">
          <a:blip r:embed="rId6">
            <a:alphaModFix/>
          </a:blip>
          <a:srcRect b="0" l="0" r="0" t="0"/>
          <a:stretch/>
        </p:blipFill>
        <p:spPr>
          <a:xfrm>
            <a:off x="609600" y="800100"/>
            <a:ext cx="914400" cy="38100"/>
          </a:xfrm>
          <a:prstGeom prst="rect">
            <a:avLst/>
          </a:prstGeom>
          <a:noFill/>
          <a:ln>
            <a:noFill/>
          </a:ln>
        </p:spPr>
      </p:pic>
      <p:pic>
        <p:nvPicPr>
          <p:cNvPr descr="preencoded.png" id="512" name="Google Shape;512;p14"/>
          <p:cNvPicPr preferRelativeResize="0"/>
          <p:nvPr/>
        </p:nvPicPr>
        <p:blipFill rotWithShape="1">
          <a:blip r:embed="rId7">
            <a:alphaModFix/>
          </a:blip>
          <a:srcRect b="0" l="0" r="0" t="0"/>
          <a:stretch/>
        </p:blipFill>
        <p:spPr>
          <a:xfrm>
            <a:off x="609600" y="3274219"/>
            <a:ext cx="5181600" cy="1790700"/>
          </a:xfrm>
          <a:prstGeom prst="rect">
            <a:avLst/>
          </a:prstGeom>
          <a:noFill/>
          <a:ln>
            <a:noFill/>
          </a:ln>
        </p:spPr>
      </p:pic>
      <p:pic>
        <p:nvPicPr>
          <p:cNvPr descr="preencoded.png" id="513" name="Google Shape;513;p14"/>
          <p:cNvPicPr preferRelativeResize="0"/>
          <p:nvPr/>
        </p:nvPicPr>
        <p:blipFill rotWithShape="1">
          <a:blip r:embed="rId8">
            <a:alphaModFix/>
          </a:blip>
          <a:srcRect b="0" l="0" r="0" t="0"/>
          <a:stretch/>
        </p:blipFill>
        <p:spPr>
          <a:xfrm>
            <a:off x="838200" y="3960019"/>
            <a:ext cx="152400" cy="152400"/>
          </a:xfrm>
          <a:prstGeom prst="rect">
            <a:avLst/>
          </a:prstGeom>
          <a:noFill/>
          <a:ln>
            <a:noFill/>
          </a:ln>
        </p:spPr>
      </p:pic>
      <p:pic>
        <p:nvPicPr>
          <p:cNvPr descr="preencoded.png" id="514" name="Google Shape;514;p14"/>
          <p:cNvPicPr preferRelativeResize="0"/>
          <p:nvPr/>
        </p:nvPicPr>
        <p:blipFill rotWithShape="1">
          <a:blip r:embed="rId8">
            <a:alphaModFix/>
          </a:blip>
          <a:srcRect b="0" l="0" r="0" t="0"/>
          <a:stretch/>
        </p:blipFill>
        <p:spPr>
          <a:xfrm>
            <a:off x="838200" y="4302919"/>
            <a:ext cx="152400" cy="152400"/>
          </a:xfrm>
          <a:prstGeom prst="rect">
            <a:avLst/>
          </a:prstGeom>
          <a:noFill/>
          <a:ln>
            <a:noFill/>
          </a:ln>
        </p:spPr>
      </p:pic>
      <p:pic>
        <p:nvPicPr>
          <p:cNvPr descr="preencoded.png" id="515" name="Google Shape;515;p14"/>
          <p:cNvPicPr preferRelativeResize="0"/>
          <p:nvPr/>
        </p:nvPicPr>
        <p:blipFill rotWithShape="1">
          <a:blip r:embed="rId8">
            <a:alphaModFix/>
          </a:blip>
          <a:srcRect b="0" l="0" r="0" t="0"/>
          <a:stretch/>
        </p:blipFill>
        <p:spPr>
          <a:xfrm>
            <a:off x="838200" y="4645819"/>
            <a:ext cx="152400" cy="152400"/>
          </a:xfrm>
          <a:prstGeom prst="rect">
            <a:avLst/>
          </a:prstGeom>
          <a:noFill/>
          <a:ln>
            <a:noFill/>
          </a:ln>
        </p:spPr>
      </p:pic>
      <p:pic>
        <p:nvPicPr>
          <p:cNvPr descr="preencoded.png" id="516" name="Google Shape;516;p14"/>
          <p:cNvPicPr preferRelativeResize="0"/>
          <p:nvPr/>
        </p:nvPicPr>
        <p:blipFill rotWithShape="1">
          <a:blip r:embed="rId9">
            <a:alphaModFix/>
          </a:blip>
          <a:srcRect b="0" l="0" r="0" t="0"/>
          <a:stretch/>
        </p:blipFill>
        <p:spPr>
          <a:xfrm>
            <a:off x="6096000" y="1371600"/>
            <a:ext cx="5486400" cy="876300"/>
          </a:xfrm>
          <a:prstGeom prst="rect">
            <a:avLst/>
          </a:prstGeom>
          <a:noFill/>
          <a:ln>
            <a:noFill/>
          </a:ln>
        </p:spPr>
      </p:pic>
      <p:pic>
        <p:nvPicPr>
          <p:cNvPr descr="preencoded.png" id="517" name="Google Shape;517;p14"/>
          <p:cNvPicPr preferRelativeResize="0"/>
          <p:nvPr/>
        </p:nvPicPr>
        <p:blipFill rotWithShape="1">
          <a:blip r:embed="rId10">
            <a:alphaModFix/>
          </a:blip>
          <a:srcRect b="0" l="0" r="0" t="0"/>
          <a:stretch/>
        </p:blipFill>
        <p:spPr>
          <a:xfrm>
            <a:off x="6286500" y="1647825"/>
            <a:ext cx="285750" cy="285750"/>
          </a:xfrm>
          <a:prstGeom prst="rect">
            <a:avLst/>
          </a:prstGeom>
          <a:noFill/>
          <a:ln>
            <a:noFill/>
          </a:ln>
        </p:spPr>
      </p:pic>
      <p:pic>
        <p:nvPicPr>
          <p:cNvPr descr="preencoded.png" id="518" name="Google Shape;518;p14"/>
          <p:cNvPicPr preferRelativeResize="0"/>
          <p:nvPr/>
        </p:nvPicPr>
        <p:blipFill rotWithShape="1">
          <a:blip r:embed="rId9">
            <a:alphaModFix/>
          </a:blip>
          <a:srcRect b="0" l="0" r="0" t="0"/>
          <a:stretch/>
        </p:blipFill>
        <p:spPr>
          <a:xfrm>
            <a:off x="6096000" y="2476500"/>
            <a:ext cx="5486400" cy="876300"/>
          </a:xfrm>
          <a:prstGeom prst="rect">
            <a:avLst/>
          </a:prstGeom>
          <a:noFill/>
          <a:ln>
            <a:noFill/>
          </a:ln>
        </p:spPr>
      </p:pic>
      <p:pic>
        <p:nvPicPr>
          <p:cNvPr descr="preencoded.png" id="519" name="Google Shape;519;p14"/>
          <p:cNvPicPr preferRelativeResize="0"/>
          <p:nvPr/>
        </p:nvPicPr>
        <p:blipFill rotWithShape="1">
          <a:blip r:embed="rId11">
            <a:alphaModFix/>
          </a:blip>
          <a:srcRect b="0" l="0" r="0" t="0"/>
          <a:stretch/>
        </p:blipFill>
        <p:spPr>
          <a:xfrm>
            <a:off x="6286500" y="2752725"/>
            <a:ext cx="285750" cy="285750"/>
          </a:xfrm>
          <a:prstGeom prst="rect">
            <a:avLst/>
          </a:prstGeom>
          <a:noFill/>
          <a:ln>
            <a:noFill/>
          </a:ln>
        </p:spPr>
      </p:pic>
      <p:pic>
        <p:nvPicPr>
          <p:cNvPr descr="preencoded.png" id="520" name="Google Shape;520;p14"/>
          <p:cNvPicPr preferRelativeResize="0"/>
          <p:nvPr/>
        </p:nvPicPr>
        <p:blipFill rotWithShape="1">
          <a:blip r:embed="rId9">
            <a:alphaModFix/>
          </a:blip>
          <a:srcRect b="0" l="0" r="0" t="0"/>
          <a:stretch/>
        </p:blipFill>
        <p:spPr>
          <a:xfrm>
            <a:off x="6096000" y="3581400"/>
            <a:ext cx="5486400" cy="876300"/>
          </a:xfrm>
          <a:prstGeom prst="rect">
            <a:avLst/>
          </a:prstGeom>
          <a:noFill/>
          <a:ln>
            <a:noFill/>
          </a:ln>
        </p:spPr>
      </p:pic>
      <p:pic>
        <p:nvPicPr>
          <p:cNvPr descr="preencoded.png" id="521" name="Google Shape;521;p14"/>
          <p:cNvPicPr preferRelativeResize="0"/>
          <p:nvPr/>
        </p:nvPicPr>
        <p:blipFill rotWithShape="1">
          <a:blip r:embed="rId12">
            <a:alphaModFix/>
          </a:blip>
          <a:srcRect b="0" l="0" r="0" t="0"/>
          <a:stretch/>
        </p:blipFill>
        <p:spPr>
          <a:xfrm>
            <a:off x="6286500" y="3857625"/>
            <a:ext cx="285750" cy="285750"/>
          </a:xfrm>
          <a:prstGeom prst="rect">
            <a:avLst/>
          </a:prstGeom>
          <a:noFill/>
          <a:ln>
            <a:noFill/>
          </a:ln>
        </p:spPr>
      </p:pic>
      <p:pic>
        <p:nvPicPr>
          <p:cNvPr descr="preencoded.png" id="522" name="Google Shape;522;p14"/>
          <p:cNvPicPr preferRelativeResize="0"/>
          <p:nvPr/>
        </p:nvPicPr>
        <p:blipFill rotWithShape="1">
          <a:blip r:embed="rId9">
            <a:alphaModFix/>
          </a:blip>
          <a:srcRect b="0" l="0" r="0" t="0"/>
          <a:stretch/>
        </p:blipFill>
        <p:spPr>
          <a:xfrm>
            <a:off x="6096000" y="4686300"/>
            <a:ext cx="5486400" cy="876300"/>
          </a:xfrm>
          <a:prstGeom prst="rect">
            <a:avLst/>
          </a:prstGeom>
          <a:noFill/>
          <a:ln>
            <a:noFill/>
          </a:ln>
        </p:spPr>
      </p:pic>
      <p:pic>
        <p:nvPicPr>
          <p:cNvPr descr="preencoded.png" id="523" name="Google Shape;523;p14"/>
          <p:cNvPicPr preferRelativeResize="0"/>
          <p:nvPr/>
        </p:nvPicPr>
        <p:blipFill rotWithShape="1">
          <a:blip r:embed="rId13">
            <a:alphaModFix/>
          </a:blip>
          <a:srcRect b="0" l="0" r="0" t="0"/>
          <a:stretch/>
        </p:blipFill>
        <p:spPr>
          <a:xfrm>
            <a:off x="6286500" y="4962525"/>
            <a:ext cx="219075" cy="285750"/>
          </a:xfrm>
          <a:prstGeom prst="rect">
            <a:avLst/>
          </a:prstGeom>
          <a:noFill/>
          <a:ln>
            <a:noFill/>
          </a:ln>
        </p:spPr>
      </p:pic>
      <p:pic>
        <p:nvPicPr>
          <p:cNvPr descr="preencoded.png" id="524" name="Google Shape;524;p14"/>
          <p:cNvPicPr preferRelativeResize="0"/>
          <p:nvPr/>
        </p:nvPicPr>
        <p:blipFill rotWithShape="1">
          <a:blip r:embed="rId14">
            <a:alphaModFix/>
          </a:blip>
          <a:srcRect b="0" l="0" r="0" t="0"/>
          <a:stretch/>
        </p:blipFill>
        <p:spPr>
          <a:xfrm>
            <a:off x="609600" y="6429375"/>
            <a:ext cx="133350" cy="152400"/>
          </a:xfrm>
          <a:prstGeom prst="rect">
            <a:avLst/>
          </a:prstGeom>
          <a:noFill/>
          <a:ln>
            <a:noFill/>
          </a:ln>
        </p:spPr>
      </p:pic>
      <p:sp>
        <p:nvSpPr>
          <p:cNvPr id="525" name="Google Shape;525;p14"/>
          <p:cNvSpPr/>
          <p:nvPr/>
        </p:nvSpPr>
        <p:spPr>
          <a:xfrm>
            <a:off x="609600" y="342900"/>
            <a:ext cx="109728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F2937"/>
              </a:buClr>
              <a:buSzPts val="2700"/>
              <a:buFont typeface="Arial"/>
              <a:buNone/>
            </a:pPr>
            <a:r>
              <a:rPr b="1" i="0" lang="en-US" sz="2700" u="none" cap="none" strike="noStrike">
                <a:solidFill>
                  <a:srgbClr val="1F2937"/>
                </a:solidFill>
                <a:latin typeface="Arial"/>
                <a:ea typeface="Arial"/>
                <a:cs typeface="Arial"/>
                <a:sym typeface="Arial"/>
              </a:rPr>
              <a:t>Liên hệ chúng tôi</a:t>
            </a:r>
            <a:endParaRPr b="0" i="0" sz="2700" u="none" cap="none" strike="noStrike">
              <a:solidFill>
                <a:schemeClr val="dk1"/>
              </a:solidFill>
              <a:latin typeface="Calibri"/>
              <a:ea typeface="Calibri"/>
              <a:cs typeface="Calibri"/>
              <a:sym typeface="Calibri"/>
            </a:endParaRPr>
          </a:p>
        </p:txBody>
      </p:sp>
      <p:sp>
        <p:nvSpPr>
          <p:cNvPr id="526" name="Google Shape;526;p14"/>
          <p:cNvSpPr/>
          <p:nvPr/>
        </p:nvSpPr>
        <p:spPr>
          <a:xfrm>
            <a:off x="609600" y="1371600"/>
            <a:ext cx="5181600"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i="0" lang="en-US" sz="1800" u="none" cap="none" strike="noStrike">
                <a:solidFill>
                  <a:srgbClr val="374151"/>
                </a:solidFill>
                <a:latin typeface="Arial"/>
                <a:ea typeface="Arial"/>
                <a:cs typeface="Arial"/>
                <a:sym typeface="Arial"/>
              </a:rPr>
              <a:t>Giải pháp AutoSecure cho việc quản lý fleet</a:t>
            </a:r>
            <a:endParaRPr b="0" i="0" sz="1800" u="none" cap="none" strike="noStrike">
              <a:solidFill>
                <a:schemeClr val="dk1"/>
              </a:solidFill>
              <a:latin typeface="Calibri"/>
              <a:ea typeface="Calibri"/>
              <a:cs typeface="Calibri"/>
              <a:sym typeface="Calibri"/>
            </a:endParaRPr>
          </a:p>
        </p:txBody>
      </p:sp>
      <p:sp>
        <p:nvSpPr>
          <p:cNvPr id="527" name="Google Shape;527;p14"/>
          <p:cNvSpPr/>
          <p:nvPr/>
        </p:nvSpPr>
        <p:spPr>
          <a:xfrm>
            <a:off x="609600" y="2209800"/>
            <a:ext cx="5181600" cy="835819"/>
          </a:xfrm>
          <a:prstGeom prst="rect">
            <a:avLst/>
          </a:prstGeom>
          <a:noFill/>
          <a:ln>
            <a:noFill/>
          </a:ln>
        </p:spPr>
        <p:txBody>
          <a:bodyPr anchorCtr="0" anchor="t" bIns="0" lIns="0" spcFirstLastPara="1" rIns="0" wrap="square" tIns="0">
            <a:noAutofit/>
          </a:bodyPr>
          <a:lstStyle/>
          <a:p>
            <a:pPr indent="0" lvl="0" marL="0" marR="0" rtl="0" algn="l">
              <a:lnSpc>
                <a:spcPct val="162518"/>
              </a:lnSpc>
              <a:spcBef>
                <a:spcPts val="0"/>
              </a:spcBef>
              <a:spcAft>
                <a:spcPts val="0"/>
              </a:spcAft>
              <a:buClr>
                <a:srgbClr val="4B5563"/>
              </a:buClr>
              <a:buSzPts val="1350"/>
              <a:buFont typeface="Arial"/>
              <a:buNone/>
            </a:pPr>
            <a:r>
              <a:rPr b="0" i="0" lang="en-US" sz="1350" u="none" cap="none" strike="noStrike">
                <a:solidFill>
                  <a:srgbClr val="4B5563"/>
                </a:solidFill>
                <a:latin typeface="Arial"/>
                <a:ea typeface="Arial"/>
                <a:cs typeface="Arial"/>
                <a:sym typeface="Arial"/>
              </a:rPr>
              <a:t>Nếu bạn muốn tìm hiểu thêm về cách AutoSecure có thể cải thiện an toàn và hiệu quả cho hoạt động fleet của bạn, vui lòng liên hệ với chúng tôi.</a:t>
            </a:r>
            <a:endParaRPr b="0" i="0" sz="1350" u="none" cap="none" strike="noStrike">
              <a:solidFill>
                <a:schemeClr val="dk1"/>
              </a:solidFill>
              <a:latin typeface="Calibri"/>
              <a:ea typeface="Calibri"/>
              <a:cs typeface="Calibri"/>
              <a:sym typeface="Calibri"/>
            </a:endParaRPr>
          </a:p>
        </p:txBody>
      </p:sp>
      <p:sp>
        <p:nvSpPr>
          <p:cNvPr id="528" name="Google Shape;528;p14"/>
          <p:cNvSpPr/>
          <p:nvPr/>
        </p:nvSpPr>
        <p:spPr>
          <a:xfrm>
            <a:off x="838200" y="3502819"/>
            <a:ext cx="566928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Tại sao nên chọn MK Vision?</a:t>
            </a:r>
            <a:endParaRPr b="0" i="0" sz="1500" u="none" cap="none" strike="noStrike">
              <a:solidFill>
                <a:schemeClr val="dk1"/>
              </a:solidFill>
              <a:latin typeface="Calibri"/>
              <a:ea typeface="Calibri"/>
              <a:cs typeface="Calibri"/>
              <a:sym typeface="Calibri"/>
            </a:endParaRPr>
          </a:p>
        </p:txBody>
      </p:sp>
      <p:sp>
        <p:nvSpPr>
          <p:cNvPr id="529" name="Google Shape;529;p14"/>
          <p:cNvSpPr/>
          <p:nvPr/>
        </p:nvSpPr>
        <p:spPr>
          <a:xfrm>
            <a:off x="1104900" y="3921919"/>
            <a:ext cx="286893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Công nghệ AI-on-Edge tiên tiến</a:t>
            </a:r>
            <a:endParaRPr b="0" i="0" sz="1200" u="none" cap="none" strike="noStrike">
              <a:solidFill>
                <a:schemeClr val="dk1"/>
              </a:solidFill>
              <a:latin typeface="Calibri"/>
              <a:ea typeface="Calibri"/>
              <a:cs typeface="Calibri"/>
              <a:sym typeface="Calibri"/>
            </a:endParaRPr>
          </a:p>
        </p:txBody>
      </p:sp>
      <p:sp>
        <p:nvSpPr>
          <p:cNvPr id="530" name="Google Shape;530;p14"/>
          <p:cNvSpPr/>
          <p:nvPr/>
        </p:nvSpPr>
        <p:spPr>
          <a:xfrm>
            <a:off x="1104900" y="4264819"/>
            <a:ext cx="393656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Giải pháp toàn diện cho fleet management</a:t>
            </a:r>
            <a:endParaRPr b="0" i="0" sz="1200" u="none" cap="none" strike="noStrike">
              <a:solidFill>
                <a:schemeClr val="dk1"/>
              </a:solidFill>
              <a:latin typeface="Calibri"/>
              <a:ea typeface="Calibri"/>
              <a:cs typeface="Calibri"/>
              <a:sym typeface="Calibri"/>
            </a:endParaRPr>
          </a:p>
        </p:txBody>
      </p:sp>
      <p:sp>
        <p:nvSpPr>
          <p:cNvPr id="531" name="Google Shape;531;p14"/>
          <p:cNvSpPr/>
          <p:nvPr/>
        </p:nvSpPr>
        <p:spPr>
          <a:xfrm>
            <a:off x="1104900" y="4607719"/>
            <a:ext cx="27966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Hỗ trợ kỹ thuật chuyên nghiệp</a:t>
            </a:r>
            <a:endParaRPr b="0" i="0" sz="1200" u="none" cap="none" strike="noStrike">
              <a:solidFill>
                <a:schemeClr val="dk1"/>
              </a:solidFill>
              <a:latin typeface="Calibri"/>
              <a:ea typeface="Calibri"/>
              <a:cs typeface="Calibri"/>
              <a:sym typeface="Calibri"/>
            </a:endParaRPr>
          </a:p>
        </p:txBody>
      </p:sp>
      <p:sp>
        <p:nvSpPr>
          <p:cNvPr id="532" name="Google Shape;532;p14"/>
          <p:cNvSpPr/>
          <p:nvPr/>
        </p:nvSpPr>
        <p:spPr>
          <a:xfrm>
            <a:off x="6762750" y="1562100"/>
            <a:ext cx="135433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Email</a:t>
            </a:r>
            <a:endParaRPr b="0" i="0" sz="1500" u="none" cap="none" strike="noStrike">
              <a:solidFill>
                <a:schemeClr val="dk1"/>
              </a:solidFill>
              <a:latin typeface="Calibri"/>
              <a:ea typeface="Calibri"/>
              <a:cs typeface="Calibri"/>
              <a:sym typeface="Calibri"/>
            </a:endParaRPr>
          </a:p>
        </p:txBody>
      </p:sp>
      <p:sp>
        <p:nvSpPr>
          <p:cNvPr id="533" name="Google Shape;533;p14"/>
          <p:cNvSpPr/>
          <p:nvPr/>
        </p:nvSpPr>
        <p:spPr>
          <a:xfrm>
            <a:off x="6762750" y="1828800"/>
            <a:ext cx="162520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info@mkvision.vn</a:t>
            </a:r>
            <a:endParaRPr b="0" i="0" sz="1200" u="none" cap="none" strike="noStrike">
              <a:solidFill>
                <a:schemeClr val="dk1"/>
              </a:solidFill>
              <a:latin typeface="Calibri"/>
              <a:ea typeface="Calibri"/>
              <a:cs typeface="Calibri"/>
              <a:sym typeface="Calibri"/>
            </a:endParaRPr>
          </a:p>
        </p:txBody>
      </p:sp>
      <p:sp>
        <p:nvSpPr>
          <p:cNvPr id="534" name="Google Shape;534;p14"/>
          <p:cNvSpPr/>
          <p:nvPr/>
        </p:nvSpPr>
        <p:spPr>
          <a:xfrm>
            <a:off x="6762750" y="2667000"/>
            <a:ext cx="1607522"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Điện thoại</a:t>
            </a:r>
            <a:endParaRPr b="0" i="0" sz="1500" u="none" cap="none" strike="noStrike">
              <a:solidFill>
                <a:schemeClr val="dk1"/>
              </a:solidFill>
              <a:latin typeface="Calibri"/>
              <a:ea typeface="Calibri"/>
              <a:cs typeface="Calibri"/>
              <a:sym typeface="Calibri"/>
            </a:endParaRPr>
          </a:p>
        </p:txBody>
      </p:sp>
      <p:sp>
        <p:nvSpPr>
          <p:cNvPr id="535" name="Google Shape;535;p14"/>
          <p:cNvSpPr/>
          <p:nvPr/>
        </p:nvSpPr>
        <p:spPr>
          <a:xfrm>
            <a:off x="6762750" y="2933700"/>
            <a:ext cx="160752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+84 123 456 789</a:t>
            </a:r>
            <a:endParaRPr b="0" i="0" sz="1200" u="none" cap="none" strike="noStrike">
              <a:solidFill>
                <a:schemeClr val="dk1"/>
              </a:solidFill>
              <a:latin typeface="Calibri"/>
              <a:ea typeface="Calibri"/>
              <a:cs typeface="Calibri"/>
              <a:sym typeface="Calibri"/>
            </a:endParaRPr>
          </a:p>
        </p:txBody>
      </p:sp>
      <p:sp>
        <p:nvSpPr>
          <p:cNvPr id="536" name="Google Shape;536;p14"/>
          <p:cNvSpPr/>
          <p:nvPr/>
        </p:nvSpPr>
        <p:spPr>
          <a:xfrm>
            <a:off x="6762750" y="3771900"/>
            <a:ext cx="158930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Website</a:t>
            </a:r>
            <a:endParaRPr b="0" i="0" sz="1500" u="none" cap="none" strike="noStrike">
              <a:solidFill>
                <a:schemeClr val="dk1"/>
              </a:solidFill>
              <a:latin typeface="Calibri"/>
              <a:ea typeface="Calibri"/>
              <a:cs typeface="Calibri"/>
              <a:sym typeface="Calibri"/>
            </a:endParaRPr>
          </a:p>
        </p:txBody>
      </p:sp>
      <p:sp>
        <p:nvSpPr>
          <p:cNvPr id="537" name="Google Shape;537;p14"/>
          <p:cNvSpPr/>
          <p:nvPr/>
        </p:nvSpPr>
        <p:spPr>
          <a:xfrm>
            <a:off x="6762750" y="4038600"/>
            <a:ext cx="158930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www.mkvision.vn</a:t>
            </a:r>
            <a:endParaRPr b="0" i="0" sz="1200" u="none" cap="none" strike="noStrike">
              <a:solidFill>
                <a:schemeClr val="dk1"/>
              </a:solidFill>
              <a:latin typeface="Calibri"/>
              <a:ea typeface="Calibri"/>
              <a:cs typeface="Calibri"/>
              <a:sym typeface="Calibri"/>
            </a:endParaRPr>
          </a:p>
        </p:txBody>
      </p:sp>
      <p:sp>
        <p:nvSpPr>
          <p:cNvPr id="538" name="Google Shape;538;p14"/>
          <p:cNvSpPr/>
          <p:nvPr/>
        </p:nvSpPr>
        <p:spPr>
          <a:xfrm>
            <a:off x="6696075" y="4876800"/>
            <a:ext cx="404276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b="1" i="0" lang="en-US" sz="1500" u="none" cap="none" strike="noStrike">
                <a:solidFill>
                  <a:srgbClr val="374151"/>
                </a:solidFill>
                <a:latin typeface="Arial"/>
                <a:ea typeface="Arial"/>
                <a:cs typeface="Arial"/>
                <a:sym typeface="Arial"/>
              </a:rPr>
              <a:t>Địa chỉ</a:t>
            </a:r>
            <a:endParaRPr b="0" i="0" sz="1500" u="none" cap="none" strike="noStrike">
              <a:solidFill>
                <a:schemeClr val="dk1"/>
              </a:solidFill>
              <a:latin typeface="Calibri"/>
              <a:ea typeface="Calibri"/>
              <a:cs typeface="Calibri"/>
              <a:sym typeface="Calibri"/>
            </a:endParaRPr>
          </a:p>
        </p:txBody>
      </p:sp>
      <p:sp>
        <p:nvSpPr>
          <p:cNvPr id="539" name="Google Shape;539;p14"/>
          <p:cNvSpPr/>
          <p:nvPr/>
        </p:nvSpPr>
        <p:spPr>
          <a:xfrm>
            <a:off x="6696075" y="5143500"/>
            <a:ext cx="485132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B5563"/>
              </a:buClr>
              <a:buSzPts val="1200"/>
              <a:buFont typeface="Arial"/>
              <a:buNone/>
            </a:pPr>
            <a:r>
              <a:rPr b="0" i="0" lang="en-US" sz="1200" u="none" cap="none" strike="noStrike">
                <a:solidFill>
                  <a:srgbClr val="4B5563"/>
                </a:solidFill>
                <a:latin typeface="Arial"/>
                <a:ea typeface="Arial"/>
                <a:cs typeface="Arial"/>
                <a:sym typeface="Arial"/>
              </a:rPr>
              <a:t>Khu công nghiệp Thang Long, Binh Xuyen, Vinh Phuc</a:t>
            </a:r>
            <a:endParaRPr b="0" i="0" sz="1200" u="none" cap="none" strike="noStrike">
              <a:solidFill>
                <a:schemeClr val="dk1"/>
              </a:solidFill>
              <a:latin typeface="Calibri"/>
              <a:ea typeface="Calibri"/>
              <a:cs typeface="Calibri"/>
              <a:sym typeface="Calibri"/>
            </a:endParaRPr>
          </a:p>
        </p:txBody>
      </p:sp>
      <p:sp>
        <p:nvSpPr>
          <p:cNvPr id="540" name="Google Shape;540;p14"/>
          <p:cNvSpPr/>
          <p:nvPr/>
        </p:nvSpPr>
        <p:spPr>
          <a:xfrm>
            <a:off x="819150" y="6400800"/>
            <a:ext cx="374975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0" i="0" lang="en-US" sz="1200" u="none" cap="none" strike="noStrike">
                <a:solidFill>
                  <a:srgbClr val="6B7280"/>
                </a:solidFill>
                <a:latin typeface="Arial"/>
                <a:ea typeface="Arial"/>
                <a:cs typeface="Arial"/>
                <a:sym typeface="Arial"/>
              </a:rPr>
              <a:t> Ngày hiện tại: 31 tháng 10 năm 2025</a:t>
            </a:r>
            <a:endParaRPr b="0" i="0" sz="1200" u="none" cap="none" strike="noStrike">
              <a:solidFill>
                <a:schemeClr val="dk1"/>
              </a:solidFill>
              <a:latin typeface="Calibri"/>
              <a:ea typeface="Calibri"/>
              <a:cs typeface="Calibri"/>
              <a:sym typeface="Calibri"/>
            </a:endParaRPr>
          </a:p>
        </p:txBody>
      </p:sp>
      <p:sp>
        <p:nvSpPr>
          <p:cNvPr id="541" name="Google Shape;541;p14"/>
          <p:cNvSpPr/>
          <p:nvPr/>
        </p:nvSpPr>
        <p:spPr>
          <a:xfrm>
            <a:off x="10098732" y="6400800"/>
            <a:ext cx="178040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6B7280"/>
              </a:buClr>
              <a:buSzPts val="1200"/>
              <a:buFont typeface="Arial"/>
              <a:buNone/>
            </a:pPr>
            <a:r>
              <a:rPr b="1" i="0" lang="en-US" sz="1200" u="none" cap="none" strike="noStrike">
                <a:solidFill>
                  <a:srgbClr val="6B7280"/>
                </a:solidFill>
                <a:latin typeface="Arial"/>
                <a:ea typeface="Arial"/>
                <a:cs typeface="Arial"/>
                <a:sym typeface="Arial"/>
              </a:rPr>
              <a:t>MK Vision</a:t>
            </a:r>
            <a:r>
              <a:rPr b="0" i="0" lang="en-US" sz="1200" u="none" cap="none" strike="noStrike">
                <a:solidFill>
                  <a:srgbClr val="6B7280"/>
                </a:solidFill>
                <a:latin typeface="Arial"/>
                <a:ea typeface="Arial"/>
                <a:cs typeface="Arial"/>
                <a:sym typeface="Arial"/>
              </a:rPr>
              <a:t> ©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2025-10-31T07:47:05Z</dcterms:created>
  <dc:creator>PptxGenJS</dc:creator>
</cp:coreProperties>
</file>