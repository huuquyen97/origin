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5143500" cx="9144000"/>
  <p:notesSz cx="6858000" cy="9144000"/>
  <p:embeddedFontLst>
    <p:embeddedFont>
      <p:font typeface="Raleway"/>
      <p:regular r:id="rId69"/>
      <p:bold r:id="rId70"/>
      <p:italic r:id="rId71"/>
      <p:boldItalic r:id="rId72"/>
    </p:embeddedFont>
    <p:embeddedFont>
      <p:font typeface="Lato"/>
      <p:regular r:id="rId73"/>
      <p:bold r:id="rId74"/>
      <p:italic r:id="rId75"/>
      <p:boldItalic r:id="rId76"/>
    </p:embeddedFont>
    <p:embeddedFont>
      <p:font typeface="Quattrocento Sans"/>
      <p:regular r:id="rId77"/>
      <p:bold r:id="rId78"/>
      <p:italic r:id="rId79"/>
      <p:boldItalic r:id="rId80"/>
    </p:embeddedFont>
    <p:embeddedFont>
      <p:font typeface="Comfortaa"/>
      <p:regular r:id="rId81"/>
      <p:bold r:id="rId82"/>
    </p:embeddedFont>
    <p:embeddedFont>
      <p:font typeface="Gaegu"/>
      <p:regular r:id="rId83"/>
      <p:bold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85" roundtripDataSignature="AMtx7mghnCY/0AR3MjvtLejzIzm7G4jR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D674D0-BC05-497E-B484-971098258587}">
  <a:tblStyle styleId="{47D674D0-BC05-497E-B484-97109825858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1DF0685-BE52-4B8B-9BD0-9AFCDD38BCAC}"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 styleId="{D92F1402-DFF3-41FF-A413-48304889AC6C}"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Gaegu-bold.fntdata"/><Relationship Id="rId83" Type="http://schemas.openxmlformats.org/officeDocument/2006/relationships/font" Target="fonts/Gaegu-regular.fntdata"/><Relationship Id="rId42" Type="http://schemas.openxmlformats.org/officeDocument/2006/relationships/slide" Target="slides/slide36.xml"/><Relationship Id="rId41" Type="http://schemas.openxmlformats.org/officeDocument/2006/relationships/slide" Target="slides/slide35.xml"/><Relationship Id="rId85" Type="http://customschemas.google.com/relationships/presentationmetadata" Target="meta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QuattrocentoSans-boldItalic.fntdata"/><Relationship Id="rId82" Type="http://schemas.openxmlformats.org/officeDocument/2006/relationships/font" Target="fonts/Comfortaa-bold.fntdata"/><Relationship Id="rId81" Type="http://schemas.openxmlformats.org/officeDocument/2006/relationships/font" Target="fonts/Comforta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Lato-regular.fntdata"/><Relationship Id="rId72" Type="http://schemas.openxmlformats.org/officeDocument/2006/relationships/font" Target="fonts/Raleway-boldItalic.fntdata"/><Relationship Id="rId31" Type="http://schemas.openxmlformats.org/officeDocument/2006/relationships/slide" Target="slides/slide25.xml"/><Relationship Id="rId75" Type="http://schemas.openxmlformats.org/officeDocument/2006/relationships/font" Target="fonts/Lato-italic.fntdata"/><Relationship Id="rId30" Type="http://schemas.openxmlformats.org/officeDocument/2006/relationships/slide" Target="slides/slide24.xml"/><Relationship Id="rId74" Type="http://schemas.openxmlformats.org/officeDocument/2006/relationships/font" Target="fonts/Lato-bold.fntdata"/><Relationship Id="rId33" Type="http://schemas.openxmlformats.org/officeDocument/2006/relationships/slide" Target="slides/slide27.xml"/><Relationship Id="rId77" Type="http://schemas.openxmlformats.org/officeDocument/2006/relationships/font" Target="fonts/QuattrocentoSans-regular.fntdata"/><Relationship Id="rId32" Type="http://schemas.openxmlformats.org/officeDocument/2006/relationships/slide" Target="slides/slide26.xml"/><Relationship Id="rId76" Type="http://schemas.openxmlformats.org/officeDocument/2006/relationships/font" Target="fonts/Lato-boldItalic.fntdata"/><Relationship Id="rId35" Type="http://schemas.openxmlformats.org/officeDocument/2006/relationships/slide" Target="slides/slide29.xml"/><Relationship Id="rId79" Type="http://schemas.openxmlformats.org/officeDocument/2006/relationships/font" Target="fonts/QuattrocentoSans-italic.fntdata"/><Relationship Id="rId34" Type="http://schemas.openxmlformats.org/officeDocument/2006/relationships/slide" Target="slides/slide28.xml"/><Relationship Id="rId78" Type="http://schemas.openxmlformats.org/officeDocument/2006/relationships/font" Target="fonts/QuattrocentoSans-bold.fntdata"/><Relationship Id="rId71" Type="http://schemas.openxmlformats.org/officeDocument/2006/relationships/font" Target="fonts/Raleway-italic.fntdata"/><Relationship Id="rId70" Type="http://schemas.openxmlformats.org/officeDocument/2006/relationships/font" Target="fonts/Raleway-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aleway-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5" name="Google Shape;4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1" name="Google Shape;5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9" name="Google Shape;59;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DSP/SoC: Soc (System on chip) là mạch tích hợp các thành phần cần thiết của hệ thống (cpu, bus, iram, ram controller vv..) trên một chip duy nhất, đóng vai trò như bộ não của cả hệ thống.</a:t>
            </a:r>
            <a:endParaRPr/>
          </a:p>
          <a:p>
            <a:pPr indent="0" lvl="0" marL="0" rtl="0" algn="l">
              <a:lnSpc>
                <a:spcPct val="100000"/>
              </a:lnSpc>
              <a:spcBef>
                <a:spcPts val="0"/>
              </a:spcBef>
              <a:spcAft>
                <a:spcPts val="0"/>
              </a:spcAft>
              <a:buSzPts val="1400"/>
              <a:buNone/>
            </a:pPr>
            <a:r>
              <a:rPr b="1" i="1" lang="en-US"/>
              <a:t>Memory chip</a:t>
            </a:r>
            <a:r>
              <a:rPr lang="en-US"/>
              <a:t>: </a:t>
            </a:r>
            <a:endParaRPr/>
          </a:p>
          <a:p>
            <a:pPr indent="-171450" lvl="0" marL="171450" rtl="0" algn="l">
              <a:lnSpc>
                <a:spcPct val="100000"/>
              </a:lnSpc>
              <a:spcBef>
                <a:spcPts val="0"/>
              </a:spcBef>
              <a:spcAft>
                <a:spcPts val="0"/>
              </a:spcAft>
              <a:buSzPts val="1400"/>
              <a:buFont typeface="Calibri"/>
              <a:buChar char="-"/>
            </a:pPr>
            <a:r>
              <a:rPr lang="en-US"/>
              <a:t>Flash: Phần lớn Soc sẽ yêu cầu một bộ nhớ lưu trữ liên tục (flash), nơi mà toàn bộ OS hoặc chương trình khởi động có thể chạy ngay khi hệ thống được reboot</a:t>
            </a:r>
            <a:endParaRPr/>
          </a:p>
          <a:p>
            <a:pPr indent="-171450" lvl="0" marL="171450" rtl="0" algn="l">
              <a:lnSpc>
                <a:spcPct val="100000"/>
              </a:lnSpc>
              <a:spcBef>
                <a:spcPts val="0"/>
              </a:spcBef>
              <a:spcAft>
                <a:spcPts val="0"/>
              </a:spcAft>
              <a:buSzPts val="1400"/>
              <a:buFont typeface="Calibri"/>
              <a:buChar char="-"/>
            </a:pPr>
            <a:r>
              <a:rPr lang="en-US"/>
              <a:t>RAM: Random Access Memory là bộ nhớ tạm thời của máy, nơi lưu trữ thông tin hiện hành để CPU truy xuất và xử lý</a:t>
            </a:r>
            <a:endParaRPr/>
          </a:p>
          <a:p>
            <a:pPr indent="-171450" lvl="0" marL="171450" rtl="0" algn="l">
              <a:lnSpc>
                <a:spcPct val="100000"/>
              </a:lnSpc>
              <a:spcBef>
                <a:spcPts val="0"/>
              </a:spcBef>
              <a:spcAft>
                <a:spcPts val="0"/>
              </a:spcAft>
              <a:buSzPts val="1400"/>
              <a:buFont typeface="Calibri"/>
              <a:buChar char="-"/>
            </a:pPr>
            <a:r>
              <a:rPr lang="en-US"/>
              <a:t>Image Sensor: thu nhận hình ảnh từ môi trường, Global Shutter - Rolling Shutter</a:t>
            </a:r>
            <a:endParaRPr/>
          </a:p>
          <a:p>
            <a:pPr indent="-171450" lvl="0" marL="171450" rtl="0" algn="l">
              <a:lnSpc>
                <a:spcPct val="100000"/>
              </a:lnSpc>
              <a:spcBef>
                <a:spcPts val="0"/>
              </a:spcBef>
              <a:spcAft>
                <a:spcPts val="0"/>
              </a:spcAft>
              <a:buSzPts val="1400"/>
              <a:buFont typeface="Calibri"/>
              <a:buChar char="-"/>
            </a:pPr>
            <a:r>
              <a:rPr lang="en-US"/>
              <a:t>MCU: quản lý nguồn, cầu hình các chân POC</a:t>
            </a:r>
            <a:endParaRPr/>
          </a:p>
          <a:p>
            <a:pPr indent="-171450" lvl="0" marL="171450" rtl="0" algn="l">
              <a:lnSpc>
                <a:spcPct val="100000"/>
              </a:lnSpc>
              <a:spcBef>
                <a:spcPts val="0"/>
              </a:spcBef>
              <a:spcAft>
                <a:spcPts val="0"/>
              </a:spcAft>
              <a:buSzPts val="1400"/>
              <a:buFont typeface="Calibri"/>
              <a:buChar char="-"/>
            </a:pPr>
            <a:r>
              <a:rPr lang="en-US"/>
              <a:t>Các module ngoại vi khác: Led, I2C, Sensor, Alarm...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40a07d5c0a2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40a07d5c0a2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Comfortaa"/>
                <a:ea typeface="Comfortaa"/>
                <a:cs typeface="Comfortaa"/>
                <a:sym typeface="Comfortaa"/>
              </a:rPr>
              <a:t>Camera IP (Internet Protocol Camera) hoạt động từ cảm biến hình ảnh (image sensor) bằng cách chuyển đổi ánh sáng quang học thành tín hiệu số để truyền qua mạng</a:t>
            </a:r>
            <a:endParaRPr sz="1200">
              <a:solidFill>
                <a:schemeClr val="dk1"/>
              </a:solidFill>
              <a:latin typeface="Comfortaa"/>
              <a:ea typeface="Comfortaa"/>
              <a:cs typeface="Comfortaa"/>
              <a:sym typeface="Comfortaa"/>
            </a:endParaRPr>
          </a:p>
          <a:p>
            <a:pPr indent="0" lvl="0" marL="0" rtl="0" algn="l">
              <a:lnSpc>
                <a:spcPct val="100000"/>
              </a:lnSpc>
              <a:spcBef>
                <a:spcPts val="9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1. Thu nhận ánh sáng qua ống kính (Lens)</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Ánh sáng từ môi trường đi qua ống kính của camera.</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Ống kính tập trung và điều chỉnh lượng ánh sáng chiếu thẳng lên bề mặt cảm biến hình ảnh bên trong</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2. Chuyển đổi quang điện tại Cảm biến hình ảnh (CMOS/CCD)</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Hầu hết camera IP hiện đại sử dụng cảm biến CMOS (hoặc CCD cũ hơn).</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Thu giữ photon: Bề mặt cảm biến chứa hàng triệu điểm ảnh (pixels), mỗi điểm ảnh có một đi-ốt quang (photodiode). Các đi-ốt này hấp thụ các hạt ánh sáng (photon) và chuyển đổi chúng thành các điện tử (electron).</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Bộ lọc màu (Color Filter Array): Trước mỗi đi-ốt quang có một bộ lọc màu nhỏ (thường theo chuẩn RGB - Đỏ, Xanh lá, Xanh dương) để tách ánh sáng thành các thành phần màu sắc cơ bản.</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Chuyển đổi sang điện áp: Các điện tử tích tụ được chuyển đổi thành tín hiệu điện áp tại mỗi vị trí điểm ảnh</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3. Chuyển đổi tương tự sang số (ADC)</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Tín hiệu điện thu được từ cảm biến vẫn là tín hiệu tương tự (analog) dạng thô (RAW data).</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Bộ chuyển đổi tương tự sang số (ADC - Analog-to-Digital Converter) được tích hợp ngay trên chip cảm biến CMOS sẽ dịch chuyển tín hiệu điện áp này thành các giá trị số (dữ liệu nhị phân 0 và 1).</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4. Xử lý tín hiệu hình ảnh (ISP)</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Dữ liệu số thô từ cảm biến được chuyển đến Bộ xử lý tín hiệu hình ảnh (ISP - Image Signal Processor).</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Bộ phận này (hoặc ISP của camera nhúng) thực hiện hàng loạt tác vụ cải thiện chất lượng: cân bằng trắng, phơi sáng tự động, khử nhiễu, tăng độ nét và xử lý dải động rộng (WDR).</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5. Mã hóa và Truyền dẫn qua Mạng IP</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Clr>
                <a:schemeClr val="dk1"/>
              </a:buClr>
              <a:buSzPts val="1100"/>
              <a:buFont typeface="Arial"/>
              <a:buNone/>
            </a:pPr>
            <a:r>
              <a:rPr lang="en-US" sz="1200">
                <a:solidFill>
                  <a:schemeClr val="dk1"/>
                </a:solidFill>
                <a:latin typeface="Comfortaa"/>
                <a:ea typeface="Comfortaa"/>
                <a:cs typeface="Comfortaa"/>
                <a:sym typeface="Comfortaa"/>
              </a:rPr>
              <a:t>• Sau khi hình ảnh được tối ưu, bộ xử lý trung tâm hoặc chip mã hóa sẽ nén video thành các định dạng phổ biến (như H.264, H.265) để giảm dung lượng.</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None/>
            </a:pPr>
            <a:r>
              <a:rPr lang="en-US" sz="1200">
                <a:solidFill>
                  <a:schemeClr val="dk1"/>
                </a:solidFill>
                <a:latin typeface="Comfortaa"/>
                <a:ea typeface="Comfortaa"/>
                <a:cs typeface="Comfortaa"/>
                <a:sym typeface="Comfortaa"/>
              </a:rPr>
              <a:t>• Dữ liệu video đã mã hóa được đóng gói thành các gói tin mạng IP và truyền tải qua cáp Ethernet (PoE) hoặc sóng Wi-Fi tới thiết bị ghi hình (NVR) hoặc máy chủ/phần mềm giám sát qua internet</a:t>
            </a:r>
            <a:endParaRPr sz="1200">
              <a:solidFill>
                <a:schemeClr val="dk1"/>
              </a:solidFill>
              <a:latin typeface="Comfortaa"/>
              <a:ea typeface="Comfortaa"/>
              <a:cs typeface="Comfortaa"/>
              <a:sym typeface="Comfortaa"/>
            </a:endParaRPr>
          </a:p>
          <a:p>
            <a:pPr indent="0" lvl="0" marL="0" rtl="0" algn="l">
              <a:lnSpc>
                <a:spcPct val="100000"/>
              </a:lnSpc>
              <a:spcBef>
                <a:spcPts val="2100"/>
              </a:spcBef>
              <a:spcAft>
                <a:spcPts val="0"/>
              </a:spcAft>
              <a:buSzPts val="1400"/>
              <a:buNone/>
            </a:pPr>
            <a:r>
              <a:t/>
            </a:r>
            <a:endParaRPr sz="1200">
              <a:solidFill>
                <a:schemeClr val="dk1"/>
              </a:solidFill>
              <a:latin typeface="Comfortaa"/>
              <a:ea typeface="Comfortaa"/>
              <a:cs typeface="Comfortaa"/>
              <a:sym typeface="Comforta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40a07d5c0a2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40a07d5c0a2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40a07d5c0a2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40a07d5c0a2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US" sz="1200">
                <a:solidFill>
                  <a:schemeClr val="dk1"/>
                </a:solidFill>
              </a:rPr>
              <a:t>FOV (Field of View - Trường nhìn / Góc nhìn)</a:t>
            </a:r>
            <a:r>
              <a:rPr lang="en-US">
                <a:solidFill>
                  <a:schemeClr val="dk1"/>
                </a:solidFill>
              </a:rPr>
              <a:t>: </a:t>
            </a:r>
            <a:r>
              <a:rPr lang="en-US" sz="1200">
                <a:solidFill>
                  <a:schemeClr val="dk1"/>
                </a:solidFill>
              </a:rPr>
              <a:t>toàn bộ không gian, cảnh vật mà cảm biến của máy ảnh có thể ghi lại được trong một khung hình, được tính bằng độ (°)</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1500">
                <a:solidFill>
                  <a:schemeClr val="dk1"/>
                </a:solidFill>
              </a:rPr>
              <a:t>Các thành phần chính của FOV</a:t>
            </a:r>
            <a:endParaRPr sz="1500">
              <a:solidFill>
                <a:schemeClr val="dk1"/>
              </a:solidFill>
            </a:endParaRPr>
          </a:p>
          <a:p>
            <a:pPr indent="-304800" lvl="0" marL="457200" rtl="0" algn="l">
              <a:lnSpc>
                <a:spcPct val="115000"/>
              </a:lnSpc>
              <a:spcBef>
                <a:spcPts val="900"/>
              </a:spcBef>
              <a:spcAft>
                <a:spcPts val="0"/>
              </a:spcAft>
              <a:buClr>
                <a:schemeClr val="dk1"/>
              </a:buClr>
              <a:buSzPts val="1200"/>
              <a:buChar char="●"/>
            </a:pPr>
            <a:r>
              <a:rPr b="1" lang="en-US" sz="1200">
                <a:solidFill>
                  <a:schemeClr val="dk1"/>
                </a:solidFill>
              </a:rPr>
              <a:t>Ngang (HFOV):</a:t>
            </a:r>
            <a:r>
              <a:rPr lang="en-US" sz="1200">
                <a:solidFill>
                  <a:schemeClr val="dk1"/>
                </a:solidFill>
              </a:rPr>
              <a:t> Góc quét sang hai bên (trái - phải).</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Dọc (VFOV):</a:t>
            </a:r>
            <a:r>
              <a:rPr lang="en-US" sz="1200">
                <a:solidFill>
                  <a:schemeClr val="dk1"/>
                </a:solidFill>
              </a:rPr>
              <a:t> Góc quét lên xuống (trên - dưới).</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Chéo (DFOV):</a:t>
            </a:r>
            <a:r>
              <a:rPr lang="en-US" sz="1200">
                <a:solidFill>
                  <a:schemeClr val="dk1"/>
                </a:solidFill>
              </a:rPr>
              <a:t> Góc đo từ góc này sang góc đối diện của khung hình</a:t>
            </a:r>
            <a:endParaRPr sz="1200">
              <a:solidFill>
                <a:schemeClr val="dk1"/>
              </a:solidFill>
            </a:endParaRPr>
          </a:p>
          <a:p>
            <a:pPr indent="0" lvl="0" marL="0" rtl="0" algn="l">
              <a:lnSpc>
                <a:spcPct val="115000"/>
              </a:lnSpc>
              <a:spcBef>
                <a:spcPts val="2100"/>
              </a:spcBef>
              <a:spcAft>
                <a:spcPts val="0"/>
              </a:spcAft>
              <a:buNone/>
            </a:pPr>
            <a:r>
              <a:rPr lang="en-US" sz="1500">
                <a:solidFill>
                  <a:schemeClr val="dk1"/>
                </a:solidFill>
              </a:rPr>
              <a:t>Các yếu tố quyết định FOV</a:t>
            </a:r>
            <a:endParaRPr sz="1500">
              <a:solidFill>
                <a:schemeClr val="dk1"/>
              </a:solidFill>
            </a:endParaRPr>
          </a:p>
          <a:p>
            <a:pPr indent="-304800" lvl="0" marL="457200" rtl="0" algn="l">
              <a:lnSpc>
                <a:spcPct val="115000"/>
              </a:lnSpc>
              <a:spcBef>
                <a:spcPts val="900"/>
              </a:spcBef>
              <a:spcAft>
                <a:spcPts val="0"/>
              </a:spcAft>
              <a:buClr>
                <a:schemeClr val="dk1"/>
              </a:buClr>
              <a:buSzPts val="1200"/>
              <a:buChar char="●"/>
            </a:pPr>
            <a:r>
              <a:rPr b="1" lang="en-US" sz="1200">
                <a:solidFill>
                  <a:schemeClr val="dk1"/>
                </a:solidFill>
              </a:rPr>
              <a:t>Tiêu cự ống kính (Focal Length):</a:t>
            </a:r>
            <a:r>
              <a:rPr lang="en-US" sz="1200">
                <a:solidFill>
                  <a:schemeClr val="dk1"/>
                </a:solidFill>
              </a:rPr>
              <a:t> Tiêu cự càng ngắn (số mm nhỏ, ví dụ 12mm, 16mm) thì góc nhìn càng rộng. Tiêu cự càng dài (số mm lớn, ví dụ 200mm, 500mm) thì góc nhìn càng hẹp (zoom xa).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Kích thước cảm biến (Sensor Size):</a:t>
            </a:r>
            <a:r>
              <a:rPr lang="en-US" sz="1200">
                <a:solidFill>
                  <a:schemeClr val="dk1"/>
                </a:solidFill>
              </a:rPr>
              <a:t> Cảm biến lớn hơn (như Full-frame) sẽ thu được góc nhìn rộng hơn so với cảm biến nhỏ (như APS-C hoặc Crop) khi dùng cùng một ống kính</a:t>
            </a:r>
            <a:endParaRPr sz="1200">
              <a:solidFill>
                <a:schemeClr val="dk1"/>
              </a:solidFill>
            </a:endParaRPr>
          </a:p>
          <a:p>
            <a:pPr indent="0" lvl="0" marL="0" rtl="0" algn="l">
              <a:lnSpc>
                <a:spcPct val="115000"/>
              </a:lnSpc>
              <a:spcBef>
                <a:spcPts val="2100"/>
              </a:spcBef>
              <a:spcAft>
                <a:spcPts val="2100"/>
              </a:spcAft>
              <a:buNone/>
            </a:pPr>
            <a:r>
              <a:t/>
            </a:r>
            <a:endParaRPr sz="12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5152ee94080aa542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h5152ee94080aa542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0a07d5c0a2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40a07d5c0a2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thao tác điều chỉnh ống kính để làm cho chủ thể chính trong khung hình trở nên sắc nét, rõ ràng, đồng thời tạo chiều sâu và dẫn dắt ánh nhìn cho bức ảnh</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40a07d5c0a2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40a07d5c0a2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Iris: cơ chế màng chắn điều chỉnh độ mở (khẩu độ) để kiểm soát lượng ánh sáng đi vào cảm biến ảnh</a:t>
            </a:r>
            <a:endParaRPr/>
          </a:p>
          <a:p>
            <a:pPr indent="0" lvl="0" marL="0" rtl="0" algn="l">
              <a:lnSpc>
                <a:spcPct val="115000"/>
              </a:lnSpc>
              <a:spcBef>
                <a:spcPts val="1800"/>
              </a:spcBef>
              <a:spcAft>
                <a:spcPts val="0"/>
              </a:spcAft>
              <a:buClr>
                <a:schemeClr val="dk1"/>
              </a:buClr>
              <a:buSzPts val="1100"/>
              <a:buFont typeface="Arial"/>
              <a:buNone/>
            </a:pPr>
            <a:r>
              <a:rPr lang="en-US" sz="1500">
                <a:solidFill>
                  <a:schemeClr val="dk1"/>
                </a:solidFill>
              </a:rPr>
              <a:t>Các chức năng chính của Iris trên ống kính</a:t>
            </a:r>
            <a:endParaRPr sz="1500">
              <a:solidFill>
                <a:schemeClr val="dk1"/>
              </a:solidFill>
            </a:endParaRPr>
          </a:p>
          <a:p>
            <a:pPr indent="-304800" lvl="0" marL="457200" rtl="0" algn="l">
              <a:lnSpc>
                <a:spcPct val="115000"/>
              </a:lnSpc>
              <a:spcBef>
                <a:spcPts val="900"/>
              </a:spcBef>
              <a:spcAft>
                <a:spcPts val="0"/>
              </a:spcAft>
              <a:buClr>
                <a:schemeClr val="dk1"/>
              </a:buClr>
              <a:buSzPts val="1200"/>
              <a:buChar char="●"/>
            </a:pPr>
            <a:r>
              <a:rPr b="1" lang="en-US" sz="1200">
                <a:solidFill>
                  <a:schemeClr val="dk1"/>
                </a:solidFill>
              </a:rPr>
              <a:t>Kiểm soát ánh sáng:</a:t>
            </a:r>
            <a:r>
              <a:rPr lang="en-US" sz="1200">
                <a:solidFill>
                  <a:schemeClr val="dk1"/>
                </a:solidFill>
              </a:rPr>
              <a:t> Điều chỉnh to hay nhỏ vòng mở để lượng sáng chiếu lên cảm biến luôn ở mức tối ưu (tránh bị quá sáng hoặc quá tối).</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Ảnh hưởng đến độ sâu trường ảnh (DoF):</a:t>
            </a:r>
            <a:r>
              <a:rPr lang="en-US" sz="1200">
                <a:solidFill>
                  <a:schemeClr val="dk1"/>
                </a:solidFill>
              </a:rPr>
              <a:t> Khẩu độ mở lớn (iris mở rộng) làm mờ hậu cảnh (xóa phông), trong khi khẩu độ khép nhỏ (iris thu hẹp) giúp cả tiền cảnh và hậu cảnh đều rõ nét</a:t>
            </a:r>
            <a:endParaRPr sz="1200">
              <a:solidFill>
                <a:schemeClr val="dk1"/>
              </a:solidFill>
            </a:endParaRPr>
          </a:p>
          <a:p>
            <a:pPr indent="0" lvl="0" marL="0" rtl="0" algn="l">
              <a:lnSpc>
                <a:spcPct val="100000"/>
              </a:lnSpc>
              <a:spcBef>
                <a:spcPts val="210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40a07d5c0a2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40a07d5c0a2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một tấm lọc cơ học hoặc quang học được sử dụng trong camera để chặn ánh sáng hồng ngoại (IR) và chỉ cho ánh sáng khả kiến (ánh sáng mắt người nhìn thấy) đi vào cảm biến ảnh</a:t>
            </a:r>
            <a:endParaRPr/>
          </a:p>
          <a:p>
            <a:pPr indent="0" lvl="0" marL="0" rtl="0" algn="l">
              <a:lnSpc>
                <a:spcPct val="115000"/>
              </a:lnSpc>
              <a:spcBef>
                <a:spcPts val="1800"/>
              </a:spcBef>
              <a:spcAft>
                <a:spcPts val="0"/>
              </a:spcAft>
              <a:buClr>
                <a:schemeClr val="dk1"/>
              </a:buClr>
              <a:buSzPts val="1100"/>
              <a:buFont typeface="Arial"/>
              <a:buNone/>
            </a:pPr>
            <a:r>
              <a:rPr lang="en-US" sz="1500">
                <a:solidFill>
                  <a:schemeClr val="dk1"/>
                </a:solidFill>
              </a:rPr>
              <a:t>Chức năng chính</a:t>
            </a:r>
            <a:endParaRPr sz="1500">
              <a:solidFill>
                <a:schemeClr val="dk1"/>
              </a:solidFill>
            </a:endParaRPr>
          </a:p>
          <a:p>
            <a:pPr indent="-304800" lvl="0" marL="457200" rtl="0" algn="l">
              <a:lnSpc>
                <a:spcPct val="115000"/>
              </a:lnSpc>
              <a:spcBef>
                <a:spcPts val="900"/>
              </a:spcBef>
              <a:spcAft>
                <a:spcPts val="0"/>
              </a:spcAft>
              <a:buClr>
                <a:schemeClr val="dk1"/>
              </a:buClr>
              <a:buSzPts val="1200"/>
              <a:buChar char="●"/>
            </a:pPr>
            <a:r>
              <a:rPr b="1" lang="en-US" sz="1200">
                <a:solidFill>
                  <a:schemeClr val="dk1"/>
                </a:solidFill>
              </a:rPr>
              <a:t>Ban ngày:</a:t>
            </a:r>
            <a:r>
              <a:rPr lang="en-US" sz="1200">
                <a:solidFill>
                  <a:schemeClr val="dk1"/>
                </a:solidFill>
              </a:rPr>
              <a:t> Bộ lọc IR-cut che trước cảm biến để chặn tia hồng ngoại từ mặt trời. Nhờ đó, màu sắc hình ảnh hiển thị trung thực, không bị ám tím, hồng hoặc sai lệch màu sắc. -&gt; Giúp hình ảnh ban ngày có màu sắc tự nhiên đúng như mắt người nhìn thấy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Ban đêm:</a:t>
            </a:r>
            <a:r>
              <a:rPr lang="en-US" sz="1200">
                <a:solidFill>
                  <a:schemeClr val="dk1"/>
                </a:solidFill>
              </a:rPr>
              <a:t> Khi trời tối hoặc thiếu sáng, cảm biến ánh sáng kích hoạt cơ chế gạt bỏ (hoặc mở) tấm lọc IR-cut ra khỏi ống kính. Đồng thời, đèn hồng ngoại (IR LED) bật lên để camera thu nhận ánh sáng hồng ngoại và chuyển sang </a:t>
            </a:r>
            <a:r>
              <a:rPr b="1" lang="en-US" sz="1200">
                <a:solidFill>
                  <a:schemeClr val="dk1"/>
                </a:solidFill>
              </a:rPr>
              <a:t>chế độ hình ảnh đen trắng</a:t>
            </a:r>
            <a:r>
              <a:rPr lang="en-US" sz="1200">
                <a:solidFill>
                  <a:schemeClr val="dk1"/>
                </a:solidFill>
              </a:rPr>
              <a:t> (đơn sắc) rõ nét -&gt; Cho phép camera quan sát rõ trong bóng tối hoàn toàn khi kết hợp với đèn hồng ngoại</a:t>
            </a:r>
            <a:endParaRPr sz="1200">
              <a:solidFill>
                <a:schemeClr val="dk1"/>
              </a:solidFill>
            </a:endParaRPr>
          </a:p>
          <a:p>
            <a:pPr indent="0" lvl="0" marL="0" rtl="0" algn="l">
              <a:lnSpc>
                <a:spcPct val="100000"/>
              </a:lnSpc>
              <a:spcBef>
                <a:spcPts val="210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0a07d5c0a2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40a07d5c0a2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1100"/>
              <a:buNone/>
            </a:pPr>
            <a:r>
              <a:rPr lang="en-US" sz="1500">
                <a:solidFill>
                  <a:schemeClr val="dk1"/>
                </a:solidFill>
              </a:rPr>
              <a:t>Tích tụ điện tích (Charge Accumulation): </a:t>
            </a:r>
            <a:r>
              <a:rPr lang="en-US" sz="1200">
                <a:solidFill>
                  <a:schemeClr val="dk1"/>
                </a:solidFill>
              </a:rPr>
              <a:t>Đây là giai đoạn </a:t>
            </a:r>
            <a:r>
              <a:rPr b="1" lang="en-US" sz="1200">
                <a:solidFill>
                  <a:schemeClr val="dk1"/>
                </a:solidFill>
              </a:rPr>
              <a:t>hấp thụ ánh sáng</a:t>
            </a:r>
            <a:r>
              <a:rPr lang="en-US" sz="1200">
                <a:solidFill>
                  <a:schemeClr val="dk1"/>
                </a:solidFill>
              </a:rPr>
              <a:t>. Khi bạn nhấn nút chụp, màn trập mở ra, các hạt ánh sáng (photon) đi qua ống kính và đập vào bề mặt của cảm biến hình ảnh.</a:t>
            </a:r>
            <a:endParaRPr sz="1200">
              <a:solidFill>
                <a:schemeClr val="dk1"/>
              </a:solidFill>
            </a:endParaRPr>
          </a:p>
          <a:p>
            <a:pPr indent="0" lvl="0" marL="0" rtl="0" algn="l">
              <a:lnSpc>
                <a:spcPct val="115000"/>
              </a:lnSpc>
              <a:spcBef>
                <a:spcPts val="1800"/>
              </a:spcBef>
              <a:spcAft>
                <a:spcPts val="0"/>
              </a:spcAft>
              <a:buSzPts val="1100"/>
              <a:buNone/>
            </a:pPr>
            <a:r>
              <a:rPr lang="en-US" sz="1500">
                <a:solidFill>
                  <a:schemeClr val="dk1"/>
                </a:solidFill>
              </a:rPr>
              <a:t>Truyền tín hiệu (Signal Transfer):</a:t>
            </a:r>
            <a:r>
              <a:rPr lang="en-US" sz="1200">
                <a:solidFill>
                  <a:schemeClr val="dk1"/>
                </a:solidFill>
              </a:rPr>
              <a:t> Đây là giai đoạn </a:t>
            </a:r>
            <a:r>
              <a:rPr b="1" lang="en-US" sz="1200">
                <a:solidFill>
                  <a:schemeClr val="dk1"/>
                </a:solidFill>
              </a:rPr>
              <a:t>di chuyển dữ liệu</a:t>
            </a:r>
            <a:r>
              <a:rPr lang="en-US" sz="1200">
                <a:solidFill>
                  <a:schemeClr val="dk1"/>
                </a:solidFill>
              </a:rPr>
              <a:t>. Sau khi quá trình phơi sáng kết thúc, lượng điện tích (electron) đang nằm tại các giếng điện tích của từng pixel cần được đưa đến nơi xử lý mà không làm mất mát dữ liệu.</a:t>
            </a:r>
            <a:endParaRPr sz="1200">
              <a:solidFill>
                <a:schemeClr val="dk1"/>
              </a:solidFill>
            </a:endParaRPr>
          </a:p>
          <a:p>
            <a:pPr indent="0" lvl="0" marL="0" rtl="0" algn="l">
              <a:lnSpc>
                <a:spcPct val="115000"/>
              </a:lnSpc>
              <a:spcBef>
                <a:spcPts val="1800"/>
              </a:spcBef>
              <a:spcAft>
                <a:spcPts val="0"/>
              </a:spcAft>
              <a:buSzPts val="1100"/>
              <a:buNone/>
            </a:pPr>
            <a:r>
              <a:rPr lang="en-US" sz="1500">
                <a:solidFill>
                  <a:schemeClr val="dk1"/>
                </a:solidFill>
              </a:rPr>
              <a:t>3. Phát hiện và chuyển đổi tín hiệu (Signal Detection): </a:t>
            </a:r>
            <a:r>
              <a:rPr lang="en-US" sz="1200">
                <a:solidFill>
                  <a:schemeClr val="dk1"/>
                </a:solidFill>
              </a:rPr>
              <a:t>Đây là giai đoạn </a:t>
            </a:r>
            <a:r>
              <a:rPr b="1" lang="en-US" sz="1200">
                <a:solidFill>
                  <a:schemeClr val="dk1"/>
                </a:solidFill>
              </a:rPr>
              <a:t>đọc và dịch nghĩa</a:t>
            </a:r>
            <a:r>
              <a:rPr lang="en-US" sz="1200">
                <a:solidFill>
                  <a:schemeClr val="dk1"/>
                </a:solidFill>
              </a:rPr>
              <a:t>. Cảm biến tiến hành đo lường lượng điện tích đã thu được để biến nó thành một giá trị dữ liệu mà máy tính có thể hiểu được.</a:t>
            </a:r>
            <a:endParaRPr sz="1200">
              <a:solidFill>
                <a:schemeClr val="dk1"/>
              </a:solidFill>
            </a:endParaRPr>
          </a:p>
          <a:p>
            <a:pPr indent="0" lvl="0" marL="0" rtl="0" algn="l">
              <a:lnSpc>
                <a:spcPct val="100000"/>
              </a:lnSpc>
              <a:spcBef>
                <a:spcPts val="90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40a07d5c0a2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40a07d5c0a2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Rolling Shutter:</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Cảm biến ghi nhận ánh sáng và đọc dữ liệu </a:t>
            </a:r>
            <a:r>
              <a:rPr b="1" lang="en-US" sz="1200">
                <a:solidFill>
                  <a:schemeClr val="dk1"/>
                </a:solidFill>
              </a:rPr>
              <a:t>từng hàng pixel một</a:t>
            </a:r>
            <a:r>
              <a:rPr lang="en-US" sz="1200">
                <a:solidFill>
                  <a:schemeClr val="dk1"/>
                </a:solidFill>
              </a:rPr>
              <a:t> (thường từ trên xuống dưới) trong một khoảng thời gian ngắn.</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Phổ biến trên đa số cảm biến CMOS truyền thống.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Global Shutter:</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Tất cả các pixel trên cảm biến được mở và ghi nhận ánh sáng </a:t>
            </a:r>
            <a:r>
              <a:rPr b="1" lang="en-US" sz="1200">
                <a:solidFill>
                  <a:schemeClr val="dk1"/>
                </a:solidFill>
              </a:rPr>
              <a:t>cùng một lúc</a:t>
            </a:r>
            <a:r>
              <a:rPr lang="en-US" sz="1200">
                <a:solidFill>
                  <a:schemeClr val="dk1"/>
                </a:solidFill>
              </a:rPr>
              <a:t> tại một thời điểm duy nhất -&gt; việc đọc dữ liệu vẫn theo từng hàng nhưng thời gian ghi nhận dữ liệu diễn ra cùng 1 lúc</a:t>
            </a:r>
            <a:endParaRPr sz="1200">
              <a:solidFill>
                <a:schemeClr val="dk1"/>
              </a:solidFill>
            </a:endParaRPr>
          </a:p>
          <a:p>
            <a:pPr indent="0" lvl="0" marL="0" rtl="0" algn="l">
              <a:lnSpc>
                <a:spcPct val="115000"/>
              </a:lnSpc>
              <a:spcBef>
                <a:spcPts val="4200"/>
              </a:spcBef>
              <a:spcAft>
                <a:spcPts val="0"/>
              </a:spcAft>
              <a:buNone/>
            </a:pPr>
            <a:r>
              <a:t/>
            </a:r>
            <a:endParaRPr sz="1200">
              <a:solidFill>
                <a:schemeClr val="dk1"/>
              </a:solidFill>
            </a:endParaRPr>
          </a:p>
          <a:p>
            <a:pPr indent="0" lvl="0" marL="0" rtl="0" algn="l">
              <a:lnSpc>
                <a:spcPct val="100000"/>
              </a:lnSpc>
              <a:spcBef>
                <a:spcPts val="420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0a07d5c0a2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40a07d5c0a2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40a07d5c0a2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40a07d5c0a2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40a1274a87e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40a1274a87e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0a1274a87e_0_2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40a1274a87e_0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40a1274a87e_0_2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40a1274a87e_0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40a1274a87e_0_3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40a1274a87e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40a1274a87e_0_3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40a1274a87e_0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40a1274a87e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40a1274a87e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0a1274a87e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40a1274a87e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40a1274a87e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40a1274a87e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40a1274a87e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40a1274a87e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0a1274a87e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40a1274a87e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US"/>
              <a:t>1. I-frame (Intra-coded Frame - Khung hình mã hóa nội bộ)</a:t>
            </a:r>
            <a:endParaRPr b="1"/>
          </a:p>
          <a:p>
            <a:pPr indent="0" lvl="0" marL="0" rtl="0" algn="l">
              <a:spcBef>
                <a:spcPts val="0"/>
              </a:spcBef>
              <a:spcAft>
                <a:spcPts val="0"/>
              </a:spcAft>
              <a:buClr>
                <a:schemeClr val="dk1"/>
              </a:buClr>
              <a:buSzPts val="1100"/>
              <a:buFont typeface="Arial"/>
              <a:buNone/>
            </a:pPr>
            <a:r>
              <a:rPr lang="en-US"/>
              <a:t>• Bản chất: Là một bức ảnh hoàn chỉnh, độc lập (giống như một file ảnh JPG/BMP thông thường). Nó không phụ thuộc vào bất kỳ khung hình nào khác để giải mã.</a:t>
            </a:r>
            <a:endParaRPr/>
          </a:p>
          <a:p>
            <a:pPr indent="0" lvl="0" marL="0" rtl="0" algn="l">
              <a:spcBef>
                <a:spcPts val="0"/>
              </a:spcBef>
              <a:spcAft>
                <a:spcPts val="0"/>
              </a:spcAft>
              <a:buClr>
                <a:schemeClr val="dk1"/>
              </a:buClr>
              <a:buSzPts val="1100"/>
              <a:buFont typeface="Arial"/>
              <a:buNone/>
            </a:pPr>
            <a:r>
              <a:rPr lang="en-US"/>
              <a:t>• Đặc điểm:</a:t>
            </a:r>
            <a:endParaRPr/>
          </a:p>
          <a:p>
            <a:pPr indent="0" lvl="0" marL="0" rtl="0" algn="l">
              <a:spcBef>
                <a:spcPts val="0"/>
              </a:spcBef>
              <a:spcAft>
                <a:spcPts val="0"/>
              </a:spcAft>
              <a:buClr>
                <a:schemeClr val="dk1"/>
              </a:buClr>
              <a:buSzPts val="1100"/>
              <a:buFont typeface="Arial"/>
              <a:buNone/>
            </a:pPr>
            <a:r>
              <a:rPr lang="en-US"/>
              <a:t>    • Kích thước dữ liệu lớn nhất trong các loại frame.</a:t>
            </a:r>
            <a:endParaRPr/>
          </a:p>
          <a:p>
            <a:pPr indent="0" lvl="0" marL="0" rtl="0" algn="l">
              <a:spcBef>
                <a:spcPts val="0"/>
              </a:spcBef>
              <a:spcAft>
                <a:spcPts val="0"/>
              </a:spcAft>
              <a:buClr>
                <a:schemeClr val="dk1"/>
              </a:buClr>
              <a:buSzPts val="1100"/>
              <a:buFont typeface="Arial"/>
              <a:buNone/>
            </a:pPr>
            <a:r>
              <a:rPr lang="en-US"/>
              <a:t>    • Độ nén thấp nhất.</a:t>
            </a:r>
            <a:endParaRPr/>
          </a:p>
          <a:p>
            <a:pPr indent="0" lvl="0" marL="0" rtl="0" algn="l">
              <a:spcBef>
                <a:spcPts val="0"/>
              </a:spcBef>
              <a:spcAft>
                <a:spcPts val="0"/>
              </a:spcAft>
              <a:buClr>
                <a:schemeClr val="dk1"/>
              </a:buClr>
              <a:buSzPts val="1100"/>
              <a:buFont typeface="Arial"/>
              <a:buNone/>
            </a:pPr>
            <a:r>
              <a:rPr lang="en-US"/>
              <a:t>    • Làm điểm mốc (anchor) để tìm kiếm (seeking) hoặc phục hồi lỗi trong chuỗi video.</a:t>
            </a:r>
            <a:endParaRPr/>
          </a:p>
          <a:p>
            <a:pPr indent="0" lvl="0" marL="0" rtl="0" algn="l">
              <a:spcBef>
                <a:spcPts val="0"/>
              </a:spcBef>
              <a:spcAft>
                <a:spcPts val="0"/>
              </a:spcAft>
              <a:buClr>
                <a:schemeClr val="dk1"/>
              </a:buClr>
              <a:buSzPts val="1100"/>
              <a:buFont typeface="Arial"/>
              <a:buNone/>
            </a:pPr>
            <a:r>
              <a:rPr lang="en-US"/>
              <a:t>    • Thường đứng đầu mỗi nhóm khung hình gọi là GOP (Group of Pictures)</a:t>
            </a:r>
            <a:endParaRPr/>
          </a:p>
          <a:p>
            <a:pPr indent="0" lvl="0" marL="0" rtl="0" algn="l">
              <a:spcBef>
                <a:spcPts val="0"/>
              </a:spcBef>
              <a:spcAft>
                <a:spcPts val="0"/>
              </a:spcAft>
              <a:buClr>
                <a:schemeClr val="dk1"/>
              </a:buClr>
              <a:buSzPts val="1100"/>
              <a:buFont typeface="Arial"/>
              <a:buNone/>
            </a:pPr>
            <a:r>
              <a:rPr b="1" lang="en-US"/>
              <a:t>2. P-frame (Predicted Frame - Khung hình dự đoán có hướng)</a:t>
            </a:r>
            <a:endParaRPr b="1"/>
          </a:p>
          <a:p>
            <a:pPr indent="0" lvl="0" marL="0" rtl="0" algn="l">
              <a:spcBef>
                <a:spcPts val="0"/>
              </a:spcBef>
              <a:spcAft>
                <a:spcPts val="0"/>
              </a:spcAft>
              <a:buClr>
                <a:schemeClr val="dk1"/>
              </a:buClr>
              <a:buSzPts val="1100"/>
              <a:buFont typeface="Arial"/>
              <a:buNone/>
            </a:pPr>
            <a:r>
              <a:rPr lang="en-US"/>
              <a:t>• Bản chất: Là khung hình chỉ lưu trữ sự thay đổi (khác biệt) so với khung hình đứng trước nó (có thể là I-frame hoặc P-frame khác).</a:t>
            </a:r>
            <a:endParaRPr/>
          </a:p>
          <a:p>
            <a:pPr indent="0" lvl="0" marL="0" rtl="0" algn="l">
              <a:spcBef>
                <a:spcPts val="0"/>
              </a:spcBef>
              <a:spcAft>
                <a:spcPts val="0"/>
              </a:spcAft>
              <a:buClr>
                <a:schemeClr val="dk1"/>
              </a:buClr>
              <a:buSzPts val="1100"/>
              <a:buFont typeface="Arial"/>
              <a:buNone/>
            </a:pPr>
            <a:r>
              <a:rPr lang="en-US"/>
              <a:t>• Đặc điểm:</a:t>
            </a:r>
            <a:endParaRPr/>
          </a:p>
          <a:p>
            <a:pPr indent="0" lvl="0" marL="0" rtl="0" algn="l">
              <a:spcBef>
                <a:spcPts val="0"/>
              </a:spcBef>
              <a:spcAft>
                <a:spcPts val="0"/>
              </a:spcAft>
              <a:buClr>
                <a:schemeClr val="dk1"/>
              </a:buClr>
              <a:buSzPts val="1100"/>
              <a:buFont typeface="Arial"/>
              <a:buNone/>
            </a:pPr>
            <a:r>
              <a:rPr lang="en-US"/>
              <a:t>    • Sử dụng kỹ thuật ước tính chuyển động (motion vectors) để biết các khối pixel đã dịch chuyển đi đâu từ khung trước.</a:t>
            </a:r>
            <a:endParaRPr/>
          </a:p>
          <a:p>
            <a:pPr indent="0" lvl="0" marL="0" rtl="0" algn="l">
              <a:spcBef>
                <a:spcPts val="0"/>
              </a:spcBef>
              <a:spcAft>
                <a:spcPts val="0"/>
              </a:spcAft>
              <a:buClr>
                <a:schemeClr val="dk1"/>
              </a:buClr>
              <a:buSzPts val="1100"/>
              <a:buFont typeface="Arial"/>
              <a:buNone/>
            </a:pPr>
            <a:r>
              <a:rPr lang="en-US"/>
              <a:t>    • Dung lượng nhỏ hơn I-frame.</a:t>
            </a:r>
            <a:endParaRPr/>
          </a:p>
          <a:p>
            <a:pPr indent="0" lvl="0" marL="0" rtl="0" algn="l">
              <a:spcBef>
                <a:spcPts val="0"/>
              </a:spcBef>
              <a:spcAft>
                <a:spcPts val="0"/>
              </a:spcAft>
              <a:buClr>
                <a:schemeClr val="dk1"/>
              </a:buClr>
              <a:buSzPts val="1100"/>
              <a:buFont typeface="Arial"/>
              <a:buNone/>
            </a:pPr>
            <a:r>
              <a:rPr lang="en-US"/>
              <a:t>    • Phụ thuộc vào dữ liệu của các khung đứng trước để giải mã.</a:t>
            </a:r>
            <a:endParaRPr/>
          </a:p>
          <a:p>
            <a:pPr indent="0" lvl="0" marL="0" rtl="0" algn="l">
              <a:spcBef>
                <a:spcPts val="0"/>
              </a:spcBef>
              <a:spcAft>
                <a:spcPts val="0"/>
              </a:spcAft>
              <a:buClr>
                <a:schemeClr val="dk1"/>
              </a:buClr>
              <a:buSzPts val="1100"/>
              <a:buFont typeface="Arial"/>
              <a:buNone/>
            </a:pPr>
            <a:r>
              <a:rPr b="1" lang="en-US"/>
              <a:t>3. B-frame (Bi-directional Predicted Frame - Khung hình dự đoán hai chiều)</a:t>
            </a:r>
            <a:endParaRPr b="1"/>
          </a:p>
          <a:p>
            <a:pPr indent="0" lvl="0" marL="0" rtl="0" algn="l">
              <a:spcBef>
                <a:spcPts val="0"/>
              </a:spcBef>
              <a:spcAft>
                <a:spcPts val="0"/>
              </a:spcAft>
              <a:buClr>
                <a:schemeClr val="dk1"/>
              </a:buClr>
              <a:buSzPts val="1100"/>
              <a:buFont typeface="Arial"/>
              <a:buNone/>
            </a:pPr>
            <a:r>
              <a:rPr lang="en-US"/>
              <a:t>• Bản chất: Là khung hình dự đoán dựa trên cả hai phía: khung hình ở quá khứ (đứng trước) và khung hình ở tương lai (đứng sau) trong chuỗi hiển thị.</a:t>
            </a:r>
            <a:endParaRPr/>
          </a:p>
          <a:p>
            <a:pPr indent="0" lvl="0" marL="0" rtl="0" algn="l">
              <a:spcBef>
                <a:spcPts val="0"/>
              </a:spcBef>
              <a:spcAft>
                <a:spcPts val="0"/>
              </a:spcAft>
              <a:buClr>
                <a:schemeClr val="dk1"/>
              </a:buClr>
              <a:buSzPts val="1100"/>
              <a:buFont typeface="Arial"/>
              <a:buNone/>
            </a:pPr>
            <a:r>
              <a:rPr lang="en-US"/>
              <a:t>• Đặc điểm:</a:t>
            </a:r>
            <a:endParaRPr/>
          </a:p>
          <a:p>
            <a:pPr indent="0" lvl="0" marL="0" rtl="0" algn="l">
              <a:spcBef>
                <a:spcPts val="0"/>
              </a:spcBef>
              <a:spcAft>
                <a:spcPts val="0"/>
              </a:spcAft>
              <a:buClr>
                <a:schemeClr val="dk1"/>
              </a:buClr>
              <a:buSzPts val="1100"/>
              <a:buFont typeface="Arial"/>
              <a:buNone/>
            </a:pPr>
            <a:r>
              <a:rPr lang="en-US"/>
              <a:t>    • Đạt tỷ lệ nén cao nhất và có kích thước dữ liệu nhỏ nhất.</a:t>
            </a:r>
            <a:endParaRPr/>
          </a:p>
          <a:p>
            <a:pPr indent="0" lvl="0" marL="0" rtl="0" algn="l">
              <a:lnSpc>
                <a:spcPct val="100000"/>
              </a:lnSpc>
              <a:spcBef>
                <a:spcPts val="0"/>
              </a:spcBef>
              <a:spcAft>
                <a:spcPts val="0"/>
              </a:spcAft>
              <a:buSzPts val="1400"/>
              <a:buNone/>
            </a:pPr>
            <a:r>
              <a:rPr lang="en-US"/>
              <a:t>    • Giúp giảm tối đa dung lượng video, nhưng đòi hỏi thiết bị giải mã tốn nhiều tài nguyên hơn vì cần sắp xếp lại thứ tự hiển thị và lưu trữ nhiều bộ đệm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40a1274a87e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40a1274a87e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Mọi IDR frame đều là I-frame, nhưng không phải I-frame nào cũng là IDR frame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40a1274a87e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40a1274a87e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40a1274a87e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40a1274a87e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40a1274a87e_0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40a1274a87e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befa5b34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fbefa5b34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40a07d5c0a2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40a07d5c0a2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Adaptive bitrate: dựa vào chất lượng network để thay đổi bitrate, resolution của luồng stream để tránh việc streaming bị dừng giật/lag </a:t>
            </a:r>
            <a:endParaRPr/>
          </a:p>
          <a:p>
            <a:pPr indent="0" lvl="0" marL="0" rtl="0" algn="l">
              <a:lnSpc>
                <a:spcPct val="100000"/>
              </a:lnSpc>
              <a:spcBef>
                <a:spcPts val="0"/>
              </a:spcBef>
              <a:spcAft>
                <a:spcPts val="0"/>
              </a:spcAft>
              <a:buSzPts val="1400"/>
              <a:buNone/>
            </a:pPr>
            <a:r>
              <a:rPr lang="en-US"/>
              <a:t>Nếu network có chất lượng mạng tốt, stream có thể sử dụng bitrate cao (2Mbps, 4Mbps) và resolution cao (HD, Full HD, 2K…)</a:t>
            </a:r>
            <a:endParaRPr/>
          </a:p>
          <a:p>
            <a:pPr indent="0" lvl="0" marL="0" rtl="0" algn="l">
              <a:lnSpc>
                <a:spcPct val="100000"/>
              </a:lnSpc>
              <a:spcBef>
                <a:spcPts val="0"/>
              </a:spcBef>
              <a:spcAft>
                <a:spcPts val="0"/>
              </a:spcAft>
              <a:buSzPts val="1400"/>
              <a:buNone/>
            </a:pPr>
            <a:r>
              <a:rPr lang="en-US"/>
              <a:t>Ngược lại, nếu nertwork có chất lượng đường truyền không đủ tốt, camera sẽ chủ động điều chỉnh bitrate thấp (300 Kbps, 500 Kbps) và resolution (SD) của stream xuống để tránh hiện tượng dừng giật.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40a07d5c0a2_0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40a07d5c0a2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40a07d5c0a2_0_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g40a07d5c0a2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40a07d5c0a2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40a07d5c0a2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befa5b342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3fbefa5b342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rPr>
              <a:t>ONVIF (Open Network Video Interface Forum) là một tiêu chuẩn giao tiếp mở toàn cầu giúp các thiết bị giám sát an ninh IP (như camera, đầu ghi NVR) từ các hãng khác nhau có thể kết nối và hoạt động đồng bộ</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befa5b342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3fbefa5b342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US" sz="1200">
                <a:solidFill>
                  <a:schemeClr val="dk1"/>
                </a:solidFill>
              </a:rPr>
              <a:t>Glass-to-glass latency</a:t>
            </a:r>
            <a:r>
              <a:rPr lang="en-US">
                <a:solidFill>
                  <a:schemeClr val="dk1"/>
                </a:solidFill>
              </a:rPr>
              <a:t> (độ trễ từ thấu kính đến màn hình) </a:t>
            </a:r>
            <a:r>
              <a:rPr lang="en-US" sz="1200">
                <a:solidFill>
                  <a:schemeClr val="dk1"/>
                </a:solidFill>
              </a:rPr>
              <a:t>là tổng thời gian tính từ khi ánh sáng đi vào ống kính camera ("thấu kính" thứ nhất) cho đến khi hình ảnh đó hiển thị lên màn hình của người xem ("thấu kính" thứ hai), bao gồm cả việc truyền dẫn và giải mã phía hiển thị.</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40a07d5c0a2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40a07d5c0a2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4899c1dda387c451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h4899c1dda387c451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6bafea1694c5d9d6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h6bafea1694c5d9d6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6bafea1694c5d9d6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h6bafea1694c5d9d6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6bafea1694c5d9d6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h6bafea1694c5d9d6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h6bafea1694c5d9d6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h6bafea1694c5d9d6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6bafea1694c5d9d6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h6bafea1694c5d9d6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1800">
                <a:solidFill>
                  <a:srgbClr val="3699FF"/>
                </a:solidFill>
                <a:highlight>
                  <a:srgbClr val="D1E6FC"/>
                </a:highlight>
              </a:rPr>
              <a:t>2D-DNR</a:t>
            </a:r>
            <a:endParaRPr sz="1800">
              <a:solidFill>
                <a:srgbClr val="3699FF"/>
              </a:solidFill>
              <a:highlight>
                <a:srgbClr val="D1E6FC"/>
              </a:highlight>
            </a:endParaRPr>
          </a:p>
          <a:p>
            <a:pPr indent="0" lvl="0" marL="0" rtl="0" algn="ctr">
              <a:lnSpc>
                <a:spcPct val="115000"/>
              </a:lnSpc>
              <a:spcBef>
                <a:spcPts val="0"/>
              </a:spcBef>
              <a:spcAft>
                <a:spcPts val="0"/>
              </a:spcAft>
              <a:buClr>
                <a:schemeClr val="dk1"/>
              </a:buClr>
              <a:buSzPts val="1100"/>
              <a:buFont typeface="Arial"/>
              <a:buNone/>
            </a:pPr>
            <a:r>
              <a:rPr lang="en-US" sz="1150">
                <a:solidFill>
                  <a:srgbClr val="1E2D80"/>
                </a:solidFill>
                <a:highlight>
                  <a:srgbClr val="D1E6FC"/>
                </a:highlight>
              </a:rPr>
              <a:t>2D-DNR is a process that compares one frame to the next and removes any oddity that does not appear in each frame. This is a temporal noise reduction method and is not sufficient for higher resolution images such as 4MP and 8MP. Although it will remove some graininess in an image, it isn’t enough to provide that clear image Montavue and customers demand. That is why 3D-DNR was developed.</a:t>
            </a:r>
            <a:endParaRPr sz="1150">
              <a:solidFill>
                <a:srgbClr val="1E2D80"/>
              </a:solidFill>
              <a:highlight>
                <a:srgbClr val="D1E6FC"/>
              </a:highlight>
            </a:endParaRPr>
          </a:p>
          <a:p>
            <a:pPr indent="0" lvl="0" marL="0" rtl="0" algn="ctr">
              <a:lnSpc>
                <a:spcPct val="115000"/>
              </a:lnSpc>
              <a:spcBef>
                <a:spcPts val="0"/>
              </a:spcBef>
              <a:spcAft>
                <a:spcPts val="0"/>
              </a:spcAft>
              <a:buClr>
                <a:schemeClr val="dk1"/>
              </a:buClr>
              <a:buSzPts val="1100"/>
              <a:buFont typeface="Arial"/>
              <a:buNone/>
            </a:pPr>
            <a:r>
              <a:rPr lang="en-US" sz="1150">
                <a:solidFill>
                  <a:srgbClr val="1E2D80"/>
                </a:solidFill>
                <a:highlight>
                  <a:srgbClr val="D1E6FC"/>
                </a:highlight>
              </a:rPr>
              <a:t> </a:t>
            </a:r>
            <a:endParaRPr sz="1150">
              <a:solidFill>
                <a:srgbClr val="1E2D80"/>
              </a:solidFill>
              <a:highlight>
                <a:srgbClr val="D1E6FC"/>
              </a:highlight>
            </a:endParaRPr>
          </a:p>
          <a:p>
            <a:pPr indent="0" lvl="0" marL="0" rtl="0" algn="ctr">
              <a:lnSpc>
                <a:spcPct val="115000"/>
              </a:lnSpc>
              <a:spcBef>
                <a:spcPts val="0"/>
              </a:spcBef>
              <a:spcAft>
                <a:spcPts val="0"/>
              </a:spcAft>
              <a:buClr>
                <a:schemeClr val="dk1"/>
              </a:buClr>
              <a:buSzPts val="1100"/>
              <a:buFont typeface="Arial"/>
              <a:buNone/>
            </a:pPr>
            <a:r>
              <a:rPr lang="en-US" sz="1800">
                <a:solidFill>
                  <a:srgbClr val="3699FF"/>
                </a:solidFill>
                <a:highlight>
                  <a:srgbClr val="D1E6FC"/>
                </a:highlight>
              </a:rPr>
              <a:t>3D-DNR</a:t>
            </a:r>
            <a:endParaRPr sz="1800">
              <a:solidFill>
                <a:srgbClr val="3699FF"/>
              </a:solidFill>
              <a:highlight>
                <a:srgbClr val="D1E6FC"/>
              </a:highlight>
            </a:endParaRPr>
          </a:p>
          <a:p>
            <a:pPr indent="0" lvl="0" marL="0" rtl="0" algn="ctr">
              <a:lnSpc>
                <a:spcPct val="115000"/>
              </a:lnSpc>
              <a:spcBef>
                <a:spcPts val="0"/>
              </a:spcBef>
              <a:spcAft>
                <a:spcPts val="0"/>
              </a:spcAft>
              <a:buClr>
                <a:schemeClr val="dk1"/>
              </a:buClr>
              <a:buSzPts val="1100"/>
              <a:buFont typeface="Arial"/>
              <a:buNone/>
            </a:pPr>
            <a:r>
              <a:rPr lang="en-US" sz="1150">
                <a:solidFill>
                  <a:srgbClr val="1E2D80"/>
                </a:solidFill>
                <a:highlight>
                  <a:srgbClr val="D1E6FC"/>
                </a:highlight>
              </a:rPr>
              <a:t>3D-DNR is different as it is “spatial noise reduction”, which compares pixels within the same frame on top of frame-to-frame comparison. 3D-DNR removes the grainy fuzzy appearances of low light images, will handle moving objects without leaving tails behind, and in low light, it makes an image clearer and sharper compared to no noise reduction or 2D-DNR. 3D-DNR is essential to producing a clear image from your security cameras on your surveillance system.</a:t>
            </a:r>
            <a:endParaRPr sz="1150">
              <a:solidFill>
                <a:srgbClr val="1E2D80"/>
              </a:solidFill>
              <a:highlight>
                <a:srgbClr val="D1E6FC"/>
              </a:highlight>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h6bafea1694c5d9d6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h6bafea1694c5d9d6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6bafea1694c5d9d6_0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h6bafea1694c5d9d6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h6bafea1694c5d9d6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h6bafea1694c5d9d6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40a07d5c0a2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g40a07d5c0a2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h4899c1dda387c451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h4899c1dda387c451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1. Privacy Mask (Tính năng che vùng riêng tư):</a:t>
            </a:r>
            <a:endParaRPr/>
          </a:p>
          <a:p>
            <a:pPr indent="0" lvl="0" marL="0" rtl="0" algn="l">
              <a:spcBef>
                <a:spcPts val="0"/>
              </a:spcBef>
              <a:spcAft>
                <a:spcPts val="0"/>
              </a:spcAft>
              <a:buClr>
                <a:schemeClr val="dk1"/>
              </a:buClr>
              <a:buSzPts val="1100"/>
              <a:buFont typeface="Arial"/>
              <a:buNone/>
            </a:pPr>
            <a:r>
              <a:rPr lang="en-US"/>
              <a:t>• Cách hoạt động: vẽ các khung hình chữ nhật để che đi một phần không gian trong tầm quét của camera -&gt; không thể khôi phục trên toàn bộ các luồng video</a:t>
            </a:r>
            <a:endParaRPr/>
          </a:p>
          <a:p>
            <a:pPr indent="0" lvl="0" marL="0" rtl="0" algn="l">
              <a:spcBef>
                <a:spcPts val="0"/>
              </a:spcBef>
              <a:spcAft>
                <a:spcPts val="0"/>
              </a:spcAft>
              <a:buClr>
                <a:schemeClr val="dk1"/>
              </a:buClr>
              <a:buSzPts val="1100"/>
              <a:buFont typeface="Arial"/>
              <a:buNone/>
            </a:pPr>
            <a:r>
              <a:rPr lang="en-US"/>
              <a:t>• Ứng dụng: Rất quan trọng khi bạn lắp camera an ninh nhà riêng nhưng góc quay lại vô tình nhìn thẳng sang cửa sổ nhà hàng xóm, hoặc camera đặt ở văn phòng nhưng quay trúng màn hình máy tính nhập liệu thông tin cá nhân của nhân viên.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2. OSD (On-Screen Display):</a:t>
            </a:r>
            <a:endParaRPr/>
          </a:p>
          <a:p>
            <a:pPr indent="0" lvl="0" marL="0" rtl="0" algn="l">
              <a:spcBef>
                <a:spcPts val="0"/>
              </a:spcBef>
              <a:spcAft>
                <a:spcPts val="0"/>
              </a:spcAft>
              <a:buClr>
                <a:schemeClr val="dk1"/>
              </a:buClr>
              <a:buSzPts val="1100"/>
              <a:buFont typeface="Arial"/>
              <a:buNone/>
            </a:pPr>
            <a:r>
              <a:rPr lang="en-US"/>
              <a:t>• Cách hoạt động: Lồng trực tiếp các lớp dữ liệu dạng văn bản/ hình ảnh lên trên luồng video thời gian thực -&gt; có thê phân tách các luồng video khác nhau</a:t>
            </a:r>
            <a:endParaRPr/>
          </a:p>
          <a:p>
            <a:pPr indent="0" lvl="0" marL="0" rtl="0" algn="l">
              <a:lnSpc>
                <a:spcPct val="100000"/>
              </a:lnSpc>
              <a:spcBef>
                <a:spcPts val="0"/>
              </a:spcBef>
              <a:spcAft>
                <a:spcPts val="0"/>
              </a:spcAft>
              <a:buSzPts val="1400"/>
              <a:buNone/>
            </a:pPr>
            <a:r>
              <a:rPr lang="en-US"/>
              <a:t>• Ứng dụng: Giúp việc quản lý hệ thống camera dễ dàng hơn. Khi xem lại video ghi hình, nhờ có OSD mà bạn biết chính xác sự việc xảy ra vào ngày nào, mấy giờ, phút giây nào và ở vị trí camera nào trong tòa nhà.</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6bafea1694c5d9d6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h6bafea1694c5d9d6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h6bafea1694c5d9d6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h6bafea1694c5d9d6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40a07d5c0a2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g40a07d5c0a2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h4899c1dda387c45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h4899c1dda387c45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4899c1dda387c451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h4899c1dda387c451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h4899c1dda387c451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h4899c1dda387c451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40a07d5c0a2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g40a07d5c0a2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h4899c1dda387c451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h4899c1dda387c451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h5152ee94080aa54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h5152ee94080aa54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5152ee94080aa542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1" name="Google Shape;641;h5152ee94080aa542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h5152ee94080aa542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h5152ee94080aa542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h5152ee94080aa542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h5152ee94080aa542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5152ee94080aa542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h5152ee94080aa542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h4899c1dda387c451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0" name="Google Shape;680;h4899c1dda387c451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9"/>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9"/>
          <p:cNvGrpSpPr/>
          <p:nvPr/>
        </p:nvGrpSpPr>
        <p:grpSpPr>
          <a:xfrm>
            <a:off x="830392" y="1191256"/>
            <a:ext cx="745763" cy="45826"/>
            <a:chOff x="4580561" y="2589004"/>
            <a:chExt cx="1064464" cy="25200"/>
          </a:xfrm>
        </p:grpSpPr>
        <p:sp>
          <p:nvSpPr>
            <p:cNvPr id="12" name="Google Shape;12;p3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9"/>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4200"/>
              <a:buNone/>
              <a:defRPr sz="4200">
                <a:solidFill>
                  <a:srgbClr val="2C2C2C"/>
                </a:solidFill>
                <a:latin typeface="Quattrocento Sans"/>
                <a:ea typeface="Quattrocento Sans"/>
                <a:cs typeface="Quattrocento Sans"/>
                <a:sym typeface="Quattrocento Sans"/>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p:txBody>
      </p:sp>
      <p:sp>
        <p:nvSpPr>
          <p:cNvPr id="15" name="Google Shape;15;p39"/>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solidFill>
                  <a:srgbClr val="424242"/>
                </a:solidFill>
                <a:latin typeface="Quattrocento Sans"/>
                <a:ea typeface="Quattrocento Sans"/>
                <a:cs typeface="Quattrocento Sans"/>
                <a:sym typeface="Quattrocento Sans"/>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39"/>
          <p:cNvPicPr preferRelativeResize="0"/>
          <p:nvPr/>
        </p:nvPicPr>
        <p:blipFill rotWithShape="1">
          <a:blip r:embed="rId2">
            <a:alphaModFix/>
          </a:blip>
          <a:srcRect b="0" l="0" r="0" t="0"/>
          <a:stretch/>
        </p:blipFill>
        <p:spPr>
          <a:xfrm>
            <a:off x="8814567" y="256876"/>
            <a:ext cx="170683" cy="2309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40"/>
          <p:cNvGrpSpPr/>
          <p:nvPr/>
        </p:nvGrpSpPr>
        <p:grpSpPr>
          <a:xfrm>
            <a:off x="830392" y="1191256"/>
            <a:ext cx="745763" cy="45826"/>
            <a:chOff x="4580561" y="2589004"/>
            <a:chExt cx="1064464" cy="25200"/>
          </a:xfrm>
        </p:grpSpPr>
        <p:sp>
          <p:nvSpPr>
            <p:cNvPr id="21" name="Google Shape;21;p4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22" name="Google Shape;22;p4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grpSp>
      <p:sp>
        <p:nvSpPr>
          <p:cNvPr id="23" name="Google Shape;23;p4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None/>
              <a:defRPr sz="2600">
                <a:solidFill>
                  <a:schemeClr val="dk2"/>
                </a:solidFill>
                <a:latin typeface="Quattrocento Sans"/>
                <a:ea typeface="Quattrocento Sans"/>
                <a:cs typeface="Quattrocento Sans"/>
                <a:sym typeface="Quattrocento Sans"/>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24" name="Google Shape;24;p4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atin typeface="Quattrocento Sans"/>
                <a:ea typeface="Quattrocento Sans"/>
                <a:cs typeface="Quattrocento Sans"/>
                <a:sym typeface="Quattrocento Sans"/>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5" name="Google Shape;25;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40"/>
          <p:cNvPicPr preferRelativeResize="0"/>
          <p:nvPr/>
        </p:nvPicPr>
        <p:blipFill rotWithShape="1">
          <a:blip r:embed="rId2">
            <a:alphaModFix/>
          </a:blip>
          <a:srcRect b="0" l="0" r="0" t="0"/>
          <a:stretch/>
        </p:blipFill>
        <p:spPr>
          <a:xfrm>
            <a:off x="8814567" y="256876"/>
            <a:ext cx="170683" cy="2309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p41"/>
          <p:cNvGrpSpPr/>
          <p:nvPr/>
        </p:nvGrpSpPr>
        <p:grpSpPr>
          <a:xfrm>
            <a:off x="830392" y="1191256"/>
            <a:ext cx="745763" cy="45827"/>
            <a:chOff x="830392" y="1191255"/>
            <a:chExt cx="745763" cy="45827"/>
          </a:xfrm>
        </p:grpSpPr>
        <p:sp>
          <p:nvSpPr>
            <p:cNvPr id="30" name="Google Shape;30;p41"/>
            <p:cNvSpPr/>
            <p:nvPr/>
          </p:nvSpPr>
          <p:spPr>
            <a:xfrm rot="-5400000">
              <a:off x="1366812" y="1027739"/>
              <a:ext cx="45826" cy="372859"/>
            </a:xfrm>
            <a:prstGeom prst="rect">
              <a:avLst/>
            </a:prstGeom>
            <a:solidFill>
              <a:srgbClr val="F582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1"/>
            <p:cNvSpPr/>
            <p:nvPr/>
          </p:nvSpPr>
          <p:spPr>
            <a:xfrm rot="-5400000">
              <a:off x="995485" y="1026163"/>
              <a:ext cx="45826" cy="376012"/>
            </a:xfrm>
            <a:prstGeom prst="rect">
              <a:avLst/>
            </a:prstGeom>
            <a:solidFill>
              <a:srgbClr val="62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 name="Google Shape;32;p4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None/>
              <a:defRPr sz="2600">
                <a:solidFill>
                  <a:srgbClr val="2C2C2C"/>
                </a:solidFill>
                <a:latin typeface="Quattrocento Sans"/>
                <a:ea typeface="Quattrocento Sans"/>
                <a:cs typeface="Quattrocento Sans"/>
                <a:sym typeface="Quattrocento Sans"/>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33" name="Google Shape;33;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pic>
        <p:nvPicPr>
          <p:cNvPr id="34" name="Google Shape;34;p41"/>
          <p:cNvPicPr preferRelativeResize="0"/>
          <p:nvPr/>
        </p:nvPicPr>
        <p:blipFill rotWithShape="1">
          <a:blip r:embed="rId2">
            <a:alphaModFix/>
          </a:blip>
          <a:srcRect b="0" l="0" r="0" t="0"/>
          <a:stretch/>
        </p:blipFill>
        <p:spPr>
          <a:xfrm>
            <a:off x="8720659" y="172720"/>
            <a:ext cx="264591" cy="29465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_MK">
    <p:spTree>
      <p:nvGrpSpPr>
        <p:cNvPr id="35" name="Shape 35"/>
        <p:cNvGrpSpPr/>
        <p:nvPr/>
      </p:nvGrpSpPr>
      <p:grpSpPr>
        <a:xfrm>
          <a:off x="0" y="0"/>
          <a:ext cx="0" cy="0"/>
          <a:chOff x="0" y="0"/>
          <a:chExt cx="0" cy="0"/>
        </a:xfrm>
      </p:grpSpPr>
      <p:sp>
        <p:nvSpPr>
          <p:cNvPr id="36" name="Google Shape;36;p4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None/>
              <a:defRPr sz="2600">
                <a:solidFill>
                  <a:srgbClr val="2C2C2C"/>
                </a:solidFill>
                <a:latin typeface="Quattrocento Sans"/>
                <a:ea typeface="Quattrocento Sans"/>
                <a:cs typeface="Quattrocento Sans"/>
                <a:sym typeface="Quattrocento Sans"/>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38" name="Google Shape;38;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pic>
        <p:nvPicPr>
          <p:cNvPr id="39" name="Google Shape;39;p42"/>
          <p:cNvPicPr preferRelativeResize="0"/>
          <p:nvPr/>
        </p:nvPicPr>
        <p:blipFill rotWithShape="1">
          <a:blip r:embed="rId2">
            <a:alphaModFix/>
          </a:blip>
          <a:srcRect b="0" l="0" r="0" t="0"/>
          <a:stretch/>
        </p:blipFill>
        <p:spPr>
          <a:xfrm>
            <a:off x="8536302" y="259080"/>
            <a:ext cx="376117" cy="228720"/>
          </a:xfrm>
          <a:prstGeom prst="rect">
            <a:avLst/>
          </a:prstGeom>
          <a:noFill/>
          <a:ln>
            <a:noFill/>
          </a:ln>
        </p:spPr>
      </p:pic>
      <p:grpSp>
        <p:nvGrpSpPr>
          <p:cNvPr id="40" name="Google Shape;40;p42"/>
          <p:cNvGrpSpPr/>
          <p:nvPr/>
        </p:nvGrpSpPr>
        <p:grpSpPr>
          <a:xfrm>
            <a:off x="830392" y="1191256"/>
            <a:ext cx="745763" cy="45827"/>
            <a:chOff x="830392" y="1191255"/>
            <a:chExt cx="745763" cy="45827"/>
          </a:xfrm>
        </p:grpSpPr>
        <p:sp>
          <p:nvSpPr>
            <p:cNvPr id="41" name="Google Shape;41;p42"/>
            <p:cNvSpPr/>
            <p:nvPr/>
          </p:nvSpPr>
          <p:spPr>
            <a:xfrm rot="-5400000">
              <a:off x="1366812" y="1027739"/>
              <a:ext cx="45826" cy="372859"/>
            </a:xfrm>
            <a:prstGeom prst="rect">
              <a:avLst/>
            </a:prstGeom>
            <a:solidFill>
              <a:srgbClr val="EECF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2"/>
            <p:cNvSpPr/>
            <p:nvPr/>
          </p:nvSpPr>
          <p:spPr>
            <a:xfrm rot="-5400000">
              <a:off x="995485" y="1026163"/>
              <a:ext cx="45826" cy="376012"/>
            </a:xfrm>
            <a:prstGeom prst="rect">
              <a:avLst/>
            </a:prstGeom>
            <a:solidFill>
              <a:srgbClr val="1D3A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Raleway"/>
              <a:buNone/>
              <a:defRPr b="1" i="0" sz="2800" u="none" cap="none" strike="noStrike">
                <a:solidFill>
                  <a:srgbClr val="2C2C2C"/>
                </a:solidFill>
                <a:latin typeface="Raleway"/>
                <a:ea typeface="Raleway"/>
                <a:cs typeface="Raleway"/>
                <a:sym typeface="Raleway"/>
              </a:defRPr>
            </a:lvl1pPr>
            <a:lvl2pPr lvl="1"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2pPr>
            <a:lvl3pPr lvl="2"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3pPr>
            <a:lvl4pPr lvl="3"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4pPr>
            <a:lvl5pPr lvl="4"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5pPr>
            <a:lvl6pPr lvl="5"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6pPr>
            <a:lvl7pPr lvl="6"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7pPr>
            <a:lvl8pPr lvl="7"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8pPr>
            <a:lvl9pPr lvl="8"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160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1600"/>
              </a:spcBef>
              <a:spcAft>
                <a:spcPts val="160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google.com/search?q=Infrared-cut+filter&amp;sca_esv=1badf32c9921710a&amp;sxsrf=AE3TifP1QeR0hftQw969qBXFg9JZUrqKCQ%3A1766688287850&amp;ei=H4ZNaeDPM6ilvr0P2P6l2AE&amp;ved=2ahUKEwiujq6RtNmRAxW8cfUHHf6ZABcQgK4QegQIARAB&amp;uact=5&amp;oq=what+is+ir+cut+filter&amp;gs_lp=Egxnd3Mtd2l6LXNlcnAiFXdoYXQgaXMgaXIgY3V0IGZpbHRlcjIIEAAYgAQYywEyCBAAGIAEGMsBMgYQABgWGB4yBhAAGBYYHjIGEAAYFhgeMgYQABgWGB4yBRAAGO8FMgUQABjvBTIIEAAYgAQYogRIpx1Q8QdY5BtwA3gBkAEAmAFgoAGYCaoBAjE0uAEDyAEA-AEBmAIRoALFCcICChAAGLADGNYEGEfCAg0QABiABBiwAxhDGIoFwgISECMY8AUYgAQYExgnGMkCGIoFwgIFEAAYgATCAgYQABgNGB6YAwCIBgGQBgqSBwQxNi4xoAetU7IHBDEzLjG4B7oJwgcGMC4xNS4yyAcggAgA&amp;sclient=gws-wiz-serp&amp;mstk=AUtExfBx20VRSKFAbuR3MEBd76TOqQx3DSbHWWRvdoZyb1bmA-oxHwQlcDTMI01L1d-HbKWGiDGuYg2S0xxuvzM6ApMUa2Hw8aUpt9e55RLzKD82LLXKRgHsqM_BC_JzBa0AiqmROx1slWS6ZgNI6F8irbH5QHl0MR9dr6p5XkeNxz_ZMLXwT_WQHNlf4yNXP72JcOSUxT-_5SBhjqLLdjpFWe6yhv8ycw3WyQk3-bWYKK9WhHfgvcyJ9niM05KBZrctmY0najl4xsI8oMrhARoF3_yg0wHuRntw0pVHzlzoqNfGbg&amp;csui=3" TargetMode="External"/><Relationship Id="rId4" Type="http://schemas.openxmlformats.org/officeDocument/2006/relationships/image" Target="../media/image17.png"/><Relationship Id="rId5" Type="http://schemas.openxmlformats.org/officeDocument/2006/relationships/image" Target="../media/image35.png"/><Relationship Id="rId6"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gif"/><Relationship Id="rId4" Type="http://schemas.openxmlformats.org/officeDocument/2006/relationships/image" Target="../media/image25.gif"/><Relationship Id="rId5" Type="http://schemas.openxmlformats.org/officeDocument/2006/relationships/image" Target="../media/image2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0.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8.pn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1.png"/><Relationship Id="rId4" Type="http://schemas.openxmlformats.org/officeDocument/2006/relationships/image" Target="../media/image57.png"/><Relationship Id="rId5"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png"/><Relationship Id="rId4" Type="http://schemas.openxmlformats.org/officeDocument/2006/relationships/image" Target="../media/image55.png"/><Relationship Id="rId5" Type="http://schemas.openxmlformats.org/officeDocument/2006/relationships/image" Target="../media/image54.png"/><Relationship Id="rId6" Type="http://schemas.openxmlformats.org/officeDocument/2006/relationships/image" Target="../media/image52.png"/><Relationship Id="rId7" Type="http://schemas.openxmlformats.org/officeDocument/2006/relationships/image" Target="../media/image5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9.png"/><Relationship Id="rId4" Type="http://schemas.openxmlformats.org/officeDocument/2006/relationships/image" Target="../media/image7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76.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70.png"/><Relationship Id="rId6" Type="http://schemas.openxmlformats.org/officeDocument/2006/relationships/image" Target="../media/image7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74.png"/><Relationship Id="rId4" Type="http://schemas.openxmlformats.org/officeDocument/2006/relationships/image" Target="../media/image77.png"/><Relationship Id="rId5" Type="http://schemas.openxmlformats.org/officeDocument/2006/relationships/image" Target="../media/image7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78.png"/><Relationship Id="rId4" Type="http://schemas.openxmlformats.org/officeDocument/2006/relationships/image" Target="../media/image7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729450" y="1307702"/>
            <a:ext cx="7688100" cy="166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4200"/>
              <a:buNone/>
            </a:pPr>
            <a:r>
              <a:rPr lang="en-US"/>
              <a:t>Camera &amp; Multimedia Overview</a:t>
            </a:r>
            <a:endParaRPr/>
          </a:p>
        </p:txBody>
      </p:sp>
      <p:sp>
        <p:nvSpPr>
          <p:cNvPr id="48" name="Google Shape;48;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SzPts val="1600"/>
              <a:buNone/>
            </a:pPr>
            <a:r>
              <a:rPr lang="en-US"/>
              <a:t>PVN Firmware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4" name="Google Shape;54;p2"/>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Content</a:t>
            </a:r>
            <a:endParaRPr/>
          </a:p>
        </p:txBody>
      </p:sp>
      <p:sp>
        <p:nvSpPr>
          <p:cNvPr id="55" name="Google Shape;55;p2"/>
          <p:cNvSpPr txBox="1"/>
          <p:nvPr>
            <p:ph idx="1" type="body"/>
          </p:nvPr>
        </p:nvSpPr>
        <p:spPr>
          <a:xfrm>
            <a:off x="1085300" y="1574700"/>
            <a:ext cx="3021000" cy="2924400"/>
          </a:xfrm>
          <a:prstGeom prst="rect">
            <a:avLst/>
          </a:prstGeom>
          <a:noFill/>
          <a:ln>
            <a:noFill/>
          </a:ln>
        </p:spPr>
        <p:txBody>
          <a:bodyPr anchorCtr="0" anchor="t" bIns="91425" lIns="91425" spcFirstLastPara="1" rIns="91425" wrap="square" tIns="91425">
            <a:noAutofit/>
          </a:bodyPr>
          <a:lstStyle/>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Product Line-up</a:t>
            </a:r>
            <a:endParaRPr sz="1500">
              <a:latin typeface="Comfortaa"/>
              <a:ea typeface="Comfortaa"/>
              <a:cs typeface="Comfortaa"/>
              <a:sym typeface="Comfortaa"/>
            </a:endParaRPr>
          </a:p>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Camera Overview</a:t>
            </a:r>
            <a:endParaRPr sz="1500">
              <a:latin typeface="Comfortaa"/>
              <a:ea typeface="Comfortaa"/>
              <a:cs typeface="Comfortaa"/>
              <a:sym typeface="Comfortaa"/>
            </a:endParaRPr>
          </a:p>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Multimedia Overview</a:t>
            </a:r>
            <a:endParaRPr sz="1500">
              <a:latin typeface="Comfortaa"/>
              <a:ea typeface="Comfortaa"/>
              <a:cs typeface="Comfortaa"/>
              <a:sym typeface="Comfortaa"/>
            </a:endParaRPr>
          </a:p>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Streaming &amp; Protocol</a:t>
            </a:r>
            <a:endParaRPr sz="1500">
              <a:latin typeface="Comfortaa"/>
              <a:ea typeface="Comfortaa"/>
              <a:cs typeface="Comfortaa"/>
              <a:sym typeface="Comfortaa"/>
            </a:endParaRPr>
          </a:p>
          <a:p>
            <a:pPr indent="-228600" lvl="0" marL="457200" rtl="0" algn="l">
              <a:lnSpc>
                <a:spcPct val="150000"/>
              </a:lnSpc>
              <a:spcBef>
                <a:spcPts val="0"/>
              </a:spcBef>
              <a:spcAft>
                <a:spcPts val="0"/>
              </a:spcAft>
              <a:buSzPts val="1300"/>
              <a:buNone/>
            </a:pPr>
            <a:r>
              <a:t/>
            </a:r>
            <a:endParaRPr sz="1500">
              <a:latin typeface="Comfortaa"/>
              <a:ea typeface="Comfortaa"/>
              <a:cs typeface="Comfortaa"/>
              <a:sym typeface="Comfortaa"/>
            </a:endParaRPr>
          </a:p>
          <a:p>
            <a:pPr indent="-228600" lvl="0" marL="457200" rtl="0" algn="l">
              <a:lnSpc>
                <a:spcPct val="114999"/>
              </a:lnSpc>
              <a:spcBef>
                <a:spcPts val="0"/>
              </a:spcBef>
              <a:spcAft>
                <a:spcPts val="0"/>
              </a:spcAft>
              <a:buSzPts val="1300"/>
              <a:buNone/>
            </a:pPr>
            <a:r>
              <a:t/>
            </a:r>
            <a:endParaRPr sz="1500">
              <a:latin typeface="Comfortaa"/>
              <a:ea typeface="Comfortaa"/>
              <a:cs typeface="Comfortaa"/>
              <a:sym typeface="Comfortaa"/>
            </a:endParaRPr>
          </a:p>
          <a:p>
            <a:pPr indent="-228600" lvl="0" marL="457200" rtl="0" algn="l">
              <a:lnSpc>
                <a:spcPct val="130000"/>
              </a:lnSpc>
              <a:spcBef>
                <a:spcPts val="0"/>
              </a:spcBef>
              <a:spcAft>
                <a:spcPts val="0"/>
              </a:spcAft>
              <a:buSzPts val="1300"/>
              <a:buNone/>
            </a:pPr>
            <a:r>
              <a:t/>
            </a:r>
            <a:endParaRPr sz="1500">
              <a:latin typeface="Comfortaa"/>
              <a:ea typeface="Comfortaa"/>
              <a:cs typeface="Comfortaa"/>
              <a:sym typeface="Comfortaa"/>
            </a:endParaRPr>
          </a:p>
        </p:txBody>
      </p:sp>
      <p:sp>
        <p:nvSpPr>
          <p:cNvPr id="56" name="Google Shape;56;p2"/>
          <p:cNvSpPr txBox="1"/>
          <p:nvPr>
            <p:ph idx="1" type="body"/>
          </p:nvPr>
        </p:nvSpPr>
        <p:spPr>
          <a:xfrm>
            <a:off x="5222300" y="1574700"/>
            <a:ext cx="3862800" cy="2924400"/>
          </a:xfrm>
          <a:prstGeom prst="rect">
            <a:avLst/>
          </a:prstGeom>
          <a:noFill/>
          <a:ln>
            <a:noFill/>
          </a:ln>
        </p:spPr>
        <p:txBody>
          <a:bodyPr anchorCtr="0" anchor="t" bIns="91425" lIns="91425" spcFirstLastPara="1" rIns="91425" wrap="square" tIns="91425">
            <a:noAutofit/>
          </a:bodyPr>
          <a:lstStyle/>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Image Quality</a:t>
            </a:r>
            <a:endParaRPr sz="1500">
              <a:latin typeface="Comfortaa"/>
              <a:ea typeface="Comfortaa"/>
              <a:cs typeface="Comfortaa"/>
              <a:sym typeface="Comfortaa"/>
            </a:endParaRPr>
          </a:p>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OSD, Privacy &amp; Event/Recording</a:t>
            </a:r>
            <a:endParaRPr sz="1500">
              <a:latin typeface="Comfortaa"/>
              <a:ea typeface="Comfortaa"/>
              <a:cs typeface="Comfortaa"/>
              <a:sym typeface="Comfortaa"/>
            </a:endParaRPr>
          </a:p>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Network configuration</a:t>
            </a:r>
            <a:endParaRPr sz="1500">
              <a:latin typeface="Comfortaa"/>
              <a:ea typeface="Comfortaa"/>
              <a:cs typeface="Comfortaa"/>
              <a:sym typeface="Comfortaa"/>
            </a:endParaRPr>
          </a:p>
          <a:p>
            <a:pPr indent="-323850" lvl="0" marL="457200" rtl="0" algn="l">
              <a:lnSpc>
                <a:spcPct val="250000"/>
              </a:lnSpc>
              <a:spcBef>
                <a:spcPts val="0"/>
              </a:spcBef>
              <a:spcAft>
                <a:spcPts val="0"/>
              </a:spcAft>
              <a:buSzPts val="1500"/>
              <a:buFont typeface="Comfortaa"/>
              <a:buChar char="●"/>
            </a:pPr>
            <a:r>
              <a:rPr lang="en-US" sz="1500">
                <a:latin typeface="Comfortaa"/>
                <a:ea typeface="Comfortaa"/>
                <a:cs typeface="Comfortaa"/>
                <a:sym typeface="Comfortaa"/>
              </a:rPr>
              <a:t>AI &amp; Smart features</a:t>
            </a:r>
            <a:endParaRPr sz="1500">
              <a:latin typeface="Comfortaa"/>
              <a:ea typeface="Comfortaa"/>
              <a:cs typeface="Comfortaa"/>
              <a:sym typeface="Comfortaa"/>
            </a:endParaRPr>
          </a:p>
          <a:p>
            <a:pPr indent="-228600" lvl="0" marL="457200" rtl="0" algn="l">
              <a:lnSpc>
                <a:spcPct val="150000"/>
              </a:lnSpc>
              <a:spcBef>
                <a:spcPts val="0"/>
              </a:spcBef>
              <a:spcAft>
                <a:spcPts val="0"/>
              </a:spcAft>
              <a:buSzPts val="1300"/>
              <a:buNone/>
            </a:pPr>
            <a:r>
              <a:t/>
            </a:r>
            <a:endParaRPr sz="1500">
              <a:latin typeface="Comfortaa"/>
              <a:ea typeface="Comfortaa"/>
              <a:cs typeface="Comfortaa"/>
              <a:sym typeface="Comfortaa"/>
            </a:endParaRPr>
          </a:p>
          <a:p>
            <a:pPr indent="-228600" lvl="0" marL="457200" rtl="0" algn="l">
              <a:lnSpc>
                <a:spcPct val="114999"/>
              </a:lnSpc>
              <a:spcBef>
                <a:spcPts val="0"/>
              </a:spcBef>
              <a:spcAft>
                <a:spcPts val="0"/>
              </a:spcAft>
              <a:buSzPts val="1300"/>
              <a:buNone/>
            </a:pPr>
            <a:r>
              <a:t/>
            </a:r>
            <a:endParaRPr sz="1500">
              <a:latin typeface="Comfortaa"/>
              <a:ea typeface="Comfortaa"/>
              <a:cs typeface="Comfortaa"/>
              <a:sym typeface="Comfortaa"/>
            </a:endParaRPr>
          </a:p>
          <a:p>
            <a:pPr indent="-228600" lvl="0" marL="457200" rtl="0" algn="l">
              <a:lnSpc>
                <a:spcPct val="130000"/>
              </a:lnSpc>
              <a:spcBef>
                <a:spcPts val="0"/>
              </a:spcBef>
              <a:spcAft>
                <a:spcPts val="0"/>
              </a:spcAft>
              <a:buSzPts val="1300"/>
              <a:buNone/>
            </a:pPr>
            <a:r>
              <a:t/>
            </a:r>
            <a:endParaRPr sz="1500">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 grey rectangular device with a black screen&#10;&#10;Description automatically generated" id="62" name="Google Shape;62;p3"/>
          <p:cNvPicPr preferRelativeResize="0"/>
          <p:nvPr/>
        </p:nvPicPr>
        <p:blipFill rotWithShape="1">
          <a:blip r:embed="rId3">
            <a:alphaModFix/>
          </a:blip>
          <a:srcRect b="0" l="0" r="0" t="0"/>
          <a:stretch/>
        </p:blipFill>
        <p:spPr>
          <a:xfrm>
            <a:off x="4728470" y="1159852"/>
            <a:ext cx="1143000" cy="1046109"/>
          </a:xfrm>
          <a:prstGeom prst="rect">
            <a:avLst/>
          </a:prstGeom>
          <a:noFill/>
          <a:ln>
            <a:noFill/>
          </a:ln>
        </p:spPr>
      </p:pic>
      <p:graphicFrame>
        <p:nvGraphicFramePr>
          <p:cNvPr id="63" name="Google Shape;63;p3"/>
          <p:cNvGraphicFramePr/>
          <p:nvPr/>
        </p:nvGraphicFramePr>
        <p:xfrm>
          <a:off x="1273905" y="2258396"/>
          <a:ext cx="3000000" cy="3000000"/>
        </p:xfrm>
        <a:graphic>
          <a:graphicData uri="http://schemas.openxmlformats.org/drawingml/2006/table">
            <a:tbl>
              <a:tblPr>
                <a:noFill/>
                <a:tableStyleId>{47D674D0-BC05-497E-B484-971098258587}</a:tableStyleId>
              </a:tblPr>
              <a:tblGrid>
                <a:gridCol w="1622725"/>
                <a:gridCol w="1622725"/>
                <a:gridCol w="1622725"/>
                <a:gridCol w="1622725"/>
              </a:tblGrid>
              <a:tr h="537775">
                <a:tc>
                  <a:txBody>
                    <a:bodyPr/>
                    <a:lstStyle/>
                    <a:p>
                      <a:pPr indent="0" lvl="0" marL="0" marR="0" rtl="0" algn="l">
                        <a:lnSpc>
                          <a:spcPct val="100000"/>
                        </a:lnSpc>
                        <a:spcBef>
                          <a:spcPts val="0"/>
                        </a:spcBef>
                        <a:spcAft>
                          <a:spcPts val="0"/>
                        </a:spcAft>
                        <a:buClr>
                          <a:srgbClr val="000000"/>
                        </a:buClr>
                        <a:buSzPts val="1600"/>
                        <a:buFont typeface="Arial"/>
                        <a:buNone/>
                      </a:pPr>
                      <a:r>
                        <a:t/>
                      </a:r>
                      <a:endParaRPr sz="1500" u="none" cap="none" strike="noStrike">
                        <a:latin typeface="Gaegu"/>
                        <a:ea typeface="Gaegu"/>
                        <a:cs typeface="Gaegu"/>
                        <a:sym typeface="Gaegu"/>
                      </a:endParaRPr>
                    </a:p>
                  </a:txBody>
                  <a:tcPr marT="45725" marB="45725" marR="91450" marL="91450">
                    <a:lnL cap="flat" cmpd="sng" w="12700">
                      <a:solidFill>
                        <a:srgbClr val="70AD47"/>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70AD4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500" u="none" cap="none" strike="noStrike">
                          <a:latin typeface="Gaegu"/>
                          <a:ea typeface="Gaegu"/>
                          <a:cs typeface="Gaegu"/>
                          <a:sym typeface="Gaegu"/>
                        </a:rPr>
                        <a:t>Body worn camera</a:t>
                      </a:r>
                      <a:endParaRPr b="1"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70AD4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500" u="none" cap="none" strike="noStrike">
                          <a:latin typeface="Gaegu"/>
                          <a:ea typeface="Gaegu"/>
                          <a:cs typeface="Gaegu"/>
                          <a:sym typeface="Gaegu"/>
                        </a:rPr>
                        <a:t>Access Control</a:t>
                      </a:r>
                      <a:endParaRPr b="1" sz="1500" u="none" cap="none" strike="noStrike">
                        <a:latin typeface="Gaegu"/>
                        <a:ea typeface="Gaegu"/>
                        <a:cs typeface="Gaegu"/>
                        <a:sym typeface="Gaegu"/>
                      </a:endParaRPr>
                    </a:p>
                    <a:p>
                      <a:pPr indent="0" lvl="0" marL="0" marR="0" rtl="0" algn="ctr">
                        <a:lnSpc>
                          <a:spcPct val="100000"/>
                        </a:lnSpc>
                        <a:spcBef>
                          <a:spcPts val="0"/>
                        </a:spcBef>
                        <a:spcAft>
                          <a:spcPts val="0"/>
                        </a:spcAft>
                        <a:buClr>
                          <a:srgbClr val="000000"/>
                        </a:buClr>
                        <a:buSzPts val="1600"/>
                        <a:buFont typeface="Arial"/>
                        <a:buNone/>
                      </a:pPr>
                      <a:r>
                        <a:rPr b="1" lang="en-US" sz="1500" u="none" cap="none" strike="noStrike">
                          <a:latin typeface="Gaegu"/>
                          <a:ea typeface="Gaegu"/>
                          <a:cs typeface="Gaegu"/>
                          <a:sym typeface="Gaegu"/>
                        </a:rPr>
                        <a:t>M6</a:t>
                      </a:r>
                      <a:endParaRPr b="1"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70AD4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500" u="none" cap="none" strike="noStrike">
                          <a:latin typeface="Gaegu"/>
                          <a:ea typeface="Gaegu"/>
                          <a:cs typeface="Gaegu"/>
                          <a:sym typeface="Gaegu"/>
                        </a:rPr>
                        <a:t>PA02/ S3/ VS8/</a:t>
                      </a:r>
                      <a:r>
                        <a:rPr b="1" lang="en-US" sz="1500">
                          <a:latin typeface="Gaegu"/>
                          <a:ea typeface="Gaegu"/>
                          <a:cs typeface="Gaegu"/>
                          <a:sym typeface="Gaegu"/>
                        </a:rPr>
                        <a:t>IK10</a:t>
                      </a:r>
                      <a:endParaRPr b="1"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70AD47"/>
                    </a:solidFill>
                  </a:tcPr>
                </a:tc>
              </a:tr>
              <a:tr h="311350">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SoC</a:t>
                      </a:r>
                      <a:endParaRPr sz="1500" u="none" cap="none" strike="noStrike">
                        <a:latin typeface="Gaegu"/>
                        <a:ea typeface="Gaegu"/>
                        <a:cs typeface="Gaegu"/>
                        <a:sym typeface="Gaegu"/>
                      </a:endParaRPr>
                    </a:p>
                  </a:txBody>
                  <a:tcPr marT="45725" marB="45725" marR="91450" marL="91450">
                    <a:lnL cap="flat" cmpd="sng" w="12700">
                      <a:solidFill>
                        <a:srgbClr val="70AD47"/>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EBF1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CV25</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EBF1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CV25</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EBF1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CV25, </a:t>
                      </a:r>
                      <a:r>
                        <a:rPr lang="en-US" sz="1500">
                          <a:solidFill>
                            <a:srgbClr val="0F1918"/>
                          </a:solidFill>
                          <a:latin typeface="Gaegu"/>
                          <a:ea typeface="Gaegu"/>
                          <a:cs typeface="Gaegu"/>
                          <a:sym typeface="Gaegu"/>
                        </a:rPr>
                        <a:t>CV72</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EBF1E8"/>
                    </a:solidFill>
                  </a:tcPr>
                </a:tc>
              </a:tr>
              <a:tr h="311350">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Resolution</a:t>
                      </a:r>
                      <a:endParaRPr sz="1500" u="none" cap="none" strike="noStrike">
                        <a:latin typeface="Gaegu"/>
                        <a:ea typeface="Gaegu"/>
                        <a:cs typeface="Gaegu"/>
                        <a:sym typeface="Gaegu"/>
                      </a:endParaRPr>
                    </a:p>
                  </a:txBody>
                  <a:tcPr marT="45725" marB="45725" marR="91450" marL="91450">
                    <a:lnL cap="flat" cmpd="sng" w="12700">
                      <a:solidFill>
                        <a:srgbClr val="70AD47"/>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2M</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2M</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5M/8M</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r>
              <a:tr h="537775">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Features</a:t>
                      </a:r>
                      <a:endParaRPr sz="1500" u="none" cap="none" strike="noStrike">
                        <a:latin typeface="Gaegu"/>
                        <a:ea typeface="Gaegu"/>
                        <a:cs typeface="Gaegu"/>
                        <a:sym typeface="Gaegu"/>
                      </a:endParaRPr>
                    </a:p>
                  </a:txBody>
                  <a:tcPr marT="45725" marB="45725" marR="91450" marL="91450">
                    <a:lnL cap="flat" cmpd="sng" w="12700">
                      <a:solidFill>
                        <a:srgbClr val="70AD47"/>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LTE, eID card reader, AI, COMS, WebRTC streaming, Recording, Snapshot</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eID card reader, AI, ACP</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500" u="none" cap="none" strike="noStrike">
                          <a:solidFill>
                            <a:srgbClr val="0F1918"/>
                          </a:solidFill>
                          <a:latin typeface="Gaegu"/>
                          <a:ea typeface="Gaegu"/>
                          <a:cs typeface="Gaegu"/>
                          <a:sym typeface="Gaegu"/>
                        </a:rPr>
                        <a:t>AI, Onvif, RTSP, WebUI, Platform Recording, Snapshot, Schedule,</a:t>
                      </a:r>
                      <a:endParaRPr sz="1500" u="none" cap="none" strike="noStrike">
                        <a:latin typeface="Gaegu"/>
                        <a:ea typeface="Gaegu"/>
                        <a:cs typeface="Gaegu"/>
                        <a:sym typeface="Gaegu"/>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FFFFFF"/>
                    </a:solidFill>
                  </a:tcPr>
                </a:tc>
              </a:tr>
            </a:tbl>
          </a:graphicData>
        </a:graphic>
      </p:graphicFrame>
      <p:pic>
        <p:nvPicPr>
          <p:cNvPr id="64" name="Google Shape;64;p3"/>
          <p:cNvPicPr preferRelativeResize="0"/>
          <p:nvPr/>
        </p:nvPicPr>
        <p:blipFill rotWithShape="1">
          <a:blip r:embed="rId4">
            <a:alphaModFix/>
          </a:blip>
          <a:srcRect b="0" l="0" r="0" t="0"/>
          <a:stretch/>
        </p:blipFill>
        <p:spPr>
          <a:xfrm>
            <a:off x="6243492" y="1125805"/>
            <a:ext cx="1217952" cy="1053189"/>
          </a:xfrm>
          <a:prstGeom prst="rect">
            <a:avLst/>
          </a:prstGeom>
          <a:noFill/>
          <a:ln>
            <a:noFill/>
          </a:ln>
        </p:spPr>
      </p:pic>
      <p:pic>
        <p:nvPicPr>
          <p:cNvPr descr="A black rectangular object with a camera lens&#10;&#10;AI-generated content may be incorrect." id="65" name="Google Shape;65;p3"/>
          <p:cNvPicPr preferRelativeResize="0"/>
          <p:nvPr/>
        </p:nvPicPr>
        <p:blipFill rotWithShape="1">
          <a:blip r:embed="rId5">
            <a:alphaModFix/>
          </a:blip>
          <a:srcRect b="0" l="0" r="0" t="0"/>
          <a:stretch/>
        </p:blipFill>
        <p:spPr>
          <a:xfrm>
            <a:off x="2977816" y="1172672"/>
            <a:ext cx="628650" cy="1028700"/>
          </a:xfrm>
          <a:prstGeom prst="rect">
            <a:avLst/>
          </a:prstGeom>
          <a:noFill/>
          <a:ln>
            <a:noFill/>
          </a:ln>
        </p:spPr>
      </p:pic>
      <p:pic>
        <p:nvPicPr>
          <p:cNvPr descr="A close-up of a device&#10;&#10;AI-generated content may be incorrect." id="66" name="Google Shape;66;p3"/>
          <p:cNvPicPr preferRelativeResize="0"/>
          <p:nvPr/>
        </p:nvPicPr>
        <p:blipFill rotWithShape="1">
          <a:blip r:embed="rId6">
            <a:alphaModFix/>
          </a:blip>
          <a:srcRect b="0" l="0" r="0" t="0"/>
          <a:stretch/>
        </p:blipFill>
        <p:spPr>
          <a:xfrm>
            <a:off x="3662112" y="1165153"/>
            <a:ext cx="628650" cy="1038225"/>
          </a:xfrm>
          <a:prstGeom prst="rect">
            <a:avLst/>
          </a:prstGeom>
          <a:noFill/>
          <a:ln>
            <a:noFill/>
          </a:ln>
        </p:spPr>
      </p:pic>
      <p:sp>
        <p:nvSpPr>
          <p:cNvPr id="67" name="Google Shape;67;p3"/>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Product line-up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Components</a:t>
            </a:r>
            <a:endParaRPr/>
          </a:p>
        </p:txBody>
      </p:sp>
      <p:sp>
        <p:nvSpPr>
          <p:cNvPr id="73" name="Google Shape;73;p4"/>
          <p:cNvSpPr txBox="1"/>
          <p:nvPr>
            <p:ph idx="1" type="body"/>
          </p:nvPr>
        </p:nvSpPr>
        <p:spPr>
          <a:xfrm>
            <a:off x="3920025" y="3769400"/>
            <a:ext cx="5164800" cy="1374000"/>
          </a:xfrm>
          <a:prstGeom prst="rect">
            <a:avLst/>
          </a:prstGeom>
          <a:noFill/>
          <a:ln>
            <a:noFill/>
          </a:ln>
        </p:spPr>
        <p:txBody>
          <a:bodyPr anchorCtr="0" anchor="t" bIns="91425" lIns="91425" spcFirstLastPara="1" rIns="91425" wrap="square" tIns="91425">
            <a:noAutofit/>
          </a:bodyPr>
          <a:lstStyle/>
          <a:p>
            <a:pPr indent="-323850" lvl="0" marL="457200" rtl="0" algn="l">
              <a:lnSpc>
                <a:spcPct val="114999"/>
              </a:lnSpc>
              <a:spcBef>
                <a:spcPts val="0"/>
              </a:spcBef>
              <a:spcAft>
                <a:spcPts val="0"/>
              </a:spcAft>
              <a:buSzPts val="1500"/>
              <a:buFont typeface="Comfortaa"/>
              <a:buChar char="●"/>
            </a:pPr>
            <a:r>
              <a:rPr lang="en-US" sz="1500">
                <a:latin typeface="Comfortaa"/>
                <a:ea typeface="Comfortaa"/>
                <a:cs typeface="Comfortaa"/>
                <a:sym typeface="Comfortaa"/>
              </a:rPr>
              <a:t>FW Sản Xuất + App Test SX: Phục vụ quá trình sản xuất -&gt; </a:t>
            </a:r>
            <a:r>
              <a:rPr lang="en-US" sz="1500">
                <a:solidFill>
                  <a:srgbClr val="D04848"/>
                </a:solidFill>
                <a:latin typeface="Comfortaa"/>
                <a:ea typeface="Comfortaa"/>
                <a:cs typeface="Comfortaa"/>
                <a:sym typeface="Comfortaa"/>
              </a:rPr>
              <a:t>Version FW có chữ MFG cuối</a:t>
            </a:r>
            <a:r>
              <a:rPr lang="en-US" sz="1500">
                <a:latin typeface="Comfortaa"/>
                <a:ea typeface="Comfortaa"/>
                <a:cs typeface="Comfortaa"/>
                <a:sym typeface="Comfortaa"/>
              </a:rPr>
              <a:t>.</a:t>
            </a:r>
            <a:endParaRPr sz="1500">
              <a:latin typeface="Comfortaa"/>
              <a:ea typeface="Comfortaa"/>
              <a:cs typeface="Comfortaa"/>
              <a:sym typeface="Comfortaa"/>
            </a:endParaRPr>
          </a:p>
          <a:p>
            <a:pPr indent="-323850" lvl="0" marL="457200" rtl="0" algn="l">
              <a:lnSpc>
                <a:spcPct val="114999"/>
              </a:lnSpc>
              <a:spcBef>
                <a:spcPts val="0"/>
              </a:spcBef>
              <a:spcAft>
                <a:spcPts val="0"/>
              </a:spcAft>
              <a:buSzPts val="1500"/>
              <a:buFont typeface="Comfortaa"/>
              <a:buChar char="●"/>
            </a:pPr>
            <a:r>
              <a:rPr lang="en-US" sz="1500">
                <a:latin typeface="Comfortaa"/>
                <a:ea typeface="Comfortaa"/>
                <a:cs typeface="Comfortaa"/>
                <a:sym typeface="Comfortaa"/>
              </a:rPr>
              <a:t>FW Thương Mại: Release. Theo yêu cầu các giai đoạn PTSP. Có thể hỗ trợ lệnh sản xuất </a:t>
            </a:r>
            <a:r>
              <a:rPr lang="en-US" sz="1500">
                <a:solidFill>
                  <a:srgbClr val="C00000"/>
                </a:solidFill>
                <a:latin typeface="Comfortaa"/>
                <a:ea typeface="Comfortaa"/>
                <a:cs typeface="Comfortaa"/>
                <a:sym typeface="Comfortaa"/>
              </a:rPr>
              <a:t>nhưng không nên thay thế FW SX</a:t>
            </a:r>
            <a:endParaRPr sz="1500">
              <a:latin typeface="Comfortaa"/>
              <a:ea typeface="Comfortaa"/>
              <a:cs typeface="Comfortaa"/>
              <a:sym typeface="Comfortaa"/>
            </a:endParaRPr>
          </a:p>
        </p:txBody>
      </p:sp>
      <p:sp>
        <p:nvSpPr>
          <p:cNvPr id="74" name="Google Shape;74;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 collage of different electronic components&#10;&#10;AI-generated content may be incorrect." id="75" name="Google Shape;75;p4"/>
          <p:cNvPicPr preferRelativeResize="0"/>
          <p:nvPr/>
        </p:nvPicPr>
        <p:blipFill rotWithShape="1">
          <a:blip r:embed="rId3">
            <a:alphaModFix/>
          </a:blip>
          <a:srcRect b="0" l="0" r="0" t="0"/>
          <a:stretch/>
        </p:blipFill>
        <p:spPr>
          <a:xfrm>
            <a:off x="5312300" y="1101676"/>
            <a:ext cx="3725752" cy="2667724"/>
          </a:xfrm>
          <a:prstGeom prst="rect">
            <a:avLst/>
          </a:prstGeom>
          <a:noFill/>
          <a:ln cap="flat" cmpd="sng" w="9525">
            <a:solidFill>
              <a:srgbClr val="FF0000"/>
            </a:solidFill>
            <a:prstDash val="solid"/>
            <a:round/>
            <a:headEnd len="sm" w="sm" type="none"/>
            <a:tailEnd len="sm" w="sm" type="none"/>
          </a:ln>
        </p:spPr>
      </p:pic>
      <p:pic>
        <p:nvPicPr>
          <p:cNvPr id="76" name="Google Shape;76;p4"/>
          <p:cNvPicPr preferRelativeResize="0"/>
          <p:nvPr/>
        </p:nvPicPr>
        <p:blipFill>
          <a:blip r:embed="rId4">
            <a:alphaModFix/>
          </a:blip>
          <a:stretch>
            <a:fillRect/>
          </a:stretch>
        </p:blipFill>
        <p:spPr>
          <a:xfrm>
            <a:off x="221300" y="1292675"/>
            <a:ext cx="3850775" cy="3850775"/>
          </a:xfrm>
          <a:prstGeom prst="rect">
            <a:avLst/>
          </a:prstGeom>
          <a:noFill/>
          <a:ln>
            <a:noFill/>
          </a:ln>
        </p:spPr>
      </p:pic>
      <p:cxnSp>
        <p:nvCxnSpPr>
          <p:cNvPr id="77" name="Google Shape;77;p4"/>
          <p:cNvCxnSpPr/>
          <p:nvPr/>
        </p:nvCxnSpPr>
        <p:spPr>
          <a:xfrm flipH="1" rot="10800000">
            <a:off x="2053100" y="2010125"/>
            <a:ext cx="3283500" cy="2862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40a07d5c0a2_0_3"/>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H</a:t>
            </a:r>
            <a:r>
              <a:rPr lang="en-US"/>
              <a:t>ow to work</a:t>
            </a:r>
            <a:endParaRPr/>
          </a:p>
        </p:txBody>
      </p:sp>
      <p:sp>
        <p:nvSpPr>
          <p:cNvPr id="83" name="Google Shape;83;g40a07d5c0a2_0_3"/>
          <p:cNvSpPr txBox="1"/>
          <p:nvPr>
            <p:ph idx="1" type="body"/>
          </p:nvPr>
        </p:nvSpPr>
        <p:spPr>
          <a:xfrm>
            <a:off x="629051" y="1700449"/>
            <a:ext cx="7688700" cy="22611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0"/>
              </a:spcBef>
              <a:spcAft>
                <a:spcPts val="0"/>
              </a:spcAft>
              <a:buSzPts val="1300"/>
              <a:buNone/>
            </a:pPr>
            <a:r>
              <a:t/>
            </a:r>
            <a:endParaRPr/>
          </a:p>
        </p:txBody>
      </p:sp>
      <p:sp>
        <p:nvSpPr>
          <p:cNvPr id="84" name="Google Shape;84;g40a07d5c0a2_0_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85" name="Google Shape;85;g40a07d5c0a2_0_3"/>
          <p:cNvPicPr preferRelativeResize="0"/>
          <p:nvPr/>
        </p:nvPicPr>
        <p:blipFill>
          <a:blip r:embed="rId3">
            <a:alphaModFix/>
          </a:blip>
          <a:stretch>
            <a:fillRect/>
          </a:stretch>
        </p:blipFill>
        <p:spPr>
          <a:xfrm>
            <a:off x="300250" y="1385075"/>
            <a:ext cx="8784750" cy="3414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40a07d5c0a2_0_25"/>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a:t>
            </a:r>
            <a:r>
              <a:rPr lang="en-US"/>
              <a:t>Lens</a:t>
            </a:r>
            <a:endParaRPr/>
          </a:p>
        </p:txBody>
      </p:sp>
      <p:sp>
        <p:nvSpPr>
          <p:cNvPr id="91" name="Google Shape;91;g40a07d5c0a2_0_25"/>
          <p:cNvSpPr txBox="1"/>
          <p:nvPr>
            <p:ph idx="1" type="body"/>
          </p:nvPr>
        </p:nvSpPr>
        <p:spPr>
          <a:xfrm>
            <a:off x="629050" y="1477225"/>
            <a:ext cx="7688700" cy="437400"/>
          </a:xfrm>
          <a:prstGeom prst="rect">
            <a:avLst/>
          </a:prstGeom>
          <a:noFill/>
          <a:ln>
            <a:noFill/>
          </a:ln>
        </p:spPr>
        <p:txBody>
          <a:bodyPr anchorCtr="0" anchor="t" bIns="91425" lIns="91425" spcFirstLastPara="1" rIns="91425" wrap="square" tIns="91425">
            <a:noAutofit/>
          </a:bodyPr>
          <a:lstStyle/>
          <a:p>
            <a:pPr indent="-228600" lvl="0" marL="914400" rtl="0" algn="l">
              <a:lnSpc>
                <a:spcPct val="115000"/>
              </a:lnSpc>
              <a:spcBef>
                <a:spcPts val="0"/>
              </a:spcBef>
              <a:spcAft>
                <a:spcPts val="0"/>
              </a:spcAft>
              <a:buSzPts val="1300"/>
              <a:buNone/>
            </a:pPr>
            <a:r>
              <a:rPr lang="en-US" sz="1500">
                <a:latin typeface="Comfortaa"/>
                <a:ea typeface="Comfortaa"/>
                <a:cs typeface="Comfortaa"/>
                <a:sym typeface="Comfortaa"/>
              </a:rPr>
              <a:t>Fixed				Manual </a:t>
            </a:r>
            <a:r>
              <a:rPr lang="en-US" sz="1500">
                <a:latin typeface="Comfortaa"/>
                <a:ea typeface="Comfortaa"/>
                <a:cs typeface="Comfortaa"/>
                <a:sym typeface="Comfortaa"/>
              </a:rPr>
              <a:t>Varifocal</a:t>
            </a:r>
            <a:r>
              <a:rPr lang="en-US" sz="1500">
                <a:latin typeface="Comfortaa"/>
                <a:ea typeface="Comfortaa"/>
                <a:cs typeface="Comfortaa"/>
                <a:sym typeface="Comfortaa"/>
              </a:rPr>
              <a:t>					Motorized</a:t>
            </a:r>
            <a:endParaRPr sz="1500">
              <a:latin typeface="Comfortaa"/>
              <a:ea typeface="Comfortaa"/>
              <a:cs typeface="Comfortaa"/>
              <a:sym typeface="Comfortaa"/>
            </a:endParaRPr>
          </a:p>
        </p:txBody>
      </p:sp>
      <p:sp>
        <p:nvSpPr>
          <p:cNvPr id="92" name="Google Shape;92;g40a07d5c0a2_0_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93" name="Google Shape;93;g40a07d5c0a2_0_25"/>
          <p:cNvPicPr preferRelativeResize="0"/>
          <p:nvPr/>
        </p:nvPicPr>
        <p:blipFill rotWithShape="1">
          <a:blip r:embed="rId3">
            <a:alphaModFix/>
          </a:blip>
          <a:srcRect b="16266" l="8861" r="8097" t="16907"/>
          <a:stretch/>
        </p:blipFill>
        <p:spPr>
          <a:xfrm>
            <a:off x="811817" y="2320639"/>
            <a:ext cx="2118959" cy="1704960"/>
          </a:xfrm>
          <a:prstGeom prst="rect">
            <a:avLst/>
          </a:prstGeom>
          <a:noFill/>
          <a:ln>
            <a:noFill/>
          </a:ln>
        </p:spPr>
      </p:pic>
      <p:pic>
        <p:nvPicPr>
          <p:cNvPr id="94" name="Google Shape;94;g40a07d5c0a2_0_25"/>
          <p:cNvPicPr preferRelativeResize="0"/>
          <p:nvPr/>
        </p:nvPicPr>
        <p:blipFill rotWithShape="1">
          <a:blip r:embed="rId4">
            <a:alphaModFix/>
          </a:blip>
          <a:srcRect b="17634" l="6011" r="4535" t="16246"/>
          <a:stretch/>
        </p:blipFill>
        <p:spPr>
          <a:xfrm>
            <a:off x="3665502" y="2464826"/>
            <a:ext cx="1916640" cy="1416600"/>
          </a:xfrm>
          <a:prstGeom prst="rect">
            <a:avLst/>
          </a:prstGeom>
          <a:noFill/>
          <a:ln>
            <a:noFill/>
          </a:ln>
        </p:spPr>
      </p:pic>
      <p:pic>
        <p:nvPicPr>
          <p:cNvPr id="95" name="Google Shape;95;g40a07d5c0a2_0_25"/>
          <p:cNvPicPr preferRelativeResize="0"/>
          <p:nvPr/>
        </p:nvPicPr>
        <p:blipFill rotWithShape="1">
          <a:blip r:embed="rId5">
            <a:alphaModFix/>
          </a:blip>
          <a:srcRect b="17257" l="5093" r="4450" t="24064"/>
          <a:stretch/>
        </p:blipFill>
        <p:spPr>
          <a:xfrm>
            <a:off x="6499708" y="2476691"/>
            <a:ext cx="1916640" cy="13928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40a07d5c0a2_0_67"/>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Lens</a:t>
            </a:r>
            <a:endParaRPr/>
          </a:p>
        </p:txBody>
      </p:sp>
      <p:sp>
        <p:nvSpPr>
          <p:cNvPr id="101" name="Google Shape;101;g40a07d5c0a2_0_67"/>
          <p:cNvSpPr txBox="1"/>
          <p:nvPr>
            <p:ph idx="1" type="body"/>
          </p:nvPr>
        </p:nvSpPr>
        <p:spPr>
          <a:xfrm>
            <a:off x="629050" y="1477225"/>
            <a:ext cx="3140400" cy="20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latin typeface="Comfortaa"/>
                <a:ea typeface="Comfortaa"/>
                <a:cs typeface="Comfortaa"/>
                <a:sym typeface="Comfortaa"/>
              </a:rPr>
              <a:t>- Focal length (2.8mm / 4mm / 6mm) — số càng nhỏ, góc càng rộng</a:t>
            </a:r>
            <a:endParaRPr sz="1500">
              <a:latin typeface="Comfortaa"/>
              <a:ea typeface="Comfortaa"/>
              <a:cs typeface="Comfortaa"/>
              <a:sym typeface="Comfortaa"/>
            </a:endParaRPr>
          </a:p>
          <a:p>
            <a:pPr indent="0" lvl="0" marL="0" rtl="0" algn="l">
              <a:spcBef>
                <a:spcPts val="0"/>
              </a:spcBef>
              <a:spcAft>
                <a:spcPts val="0"/>
              </a:spcAft>
              <a:buNone/>
            </a:pPr>
            <a:r>
              <a:t/>
            </a:r>
            <a:endParaRPr sz="1500">
              <a:latin typeface="Comfortaa"/>
              <a:ea typeface="Comfortaa"/>
              <a:cs typeface="Comfortaa"/>
              <a:sym typeface="Comfortaa"/>
            </a:endParaRPr>
          </a:p>
          <a:p>
            <a:pPr indent="0" lvl="0" marL="0" rtl="0" algn="l">
              <a:lnSpc>
                <a:spcPct val="115000"/>
              </a:lnSpc>
              <a:spcBef>
                <a:spcPts val="0"/>
              </a:spcBef>
              <a:spcAft>
                <a:spcPts val="0"/>
              </a:spcAft>
              <a:buSzPts val="1300"/>
              <a:buNone/>
            </a:pPr>
            <a:r>
              <a:rPr lang="en-US" sz="1500">
                <a:latin typeface="Comfortaa"/>
                <a:ea typeface="Comfortaa"/>
                <a:cs typeface="Comfortaa"/>
                <a:sym typeface="Comfortaa"/>
              </a:rPr>
              <a:t>- FOV (Field of View)</a:t>
            </a:r>
            <a:endParaRPr sz="1500">
              <a:latin typeface="Comfortaa"/>
              <a:ea typeface="Comfortaa"/>
              <a:cs typeface="Comfortaa"/>
              <a:sym typeface="Comfortaa"/>
            </a:endParaRPr>
          </a:p>
          <a:p>
            <a:pPr indent="0" lvl="0" marL="0" rtl="0" algn="l">
              <a:lnSpc>
                <a:spcPct val="115000"/>
              </a:lnSpc>
              <a:spcBef>
                <a:spcPts val="0"/>
              </a:spcBef>
              <a:spcAft>
                <a:spcPts val="0"/>
              </a:spcAft>
              <a:buSzPts val="1300"/>
              <a:buNone/>
            </a:pPr>
            <a:r>
              <a:t/>
            </a:r>
            <a:endParaRPr sz="1500">
              <a:latin typeface="Comfortaa"/>
              <a:ea typeface="Comfortaa"/>
              <a:cs typeface="Comfortaa"/>
              <a:sym typeface="Comfortaa"/>
            </a:endParaRPr>
          </a:p>
          <a:p>
            <a:pPr indent="0" lvl="0" marL="0" rtl="0" algn="l">
              <a:lnSpc>
                <a:spcPct val="115000"/>
              </a:lnSpc>
              <a:spcBef>
                <a:spcPts val="0"/>
              </a:spcBef>
              <a:spcAft>
                <a:spcPts val="0"/>
              </a:spcAft>
              <a:buSzPts val="1300"/>
              <a:buNone/>
            </a:pPr>
            <a:r>
              <a:t/>
            </a:r>
            <a:endParaRPr sz="1500">
              <a:latin typeface="Comfortaa"/>
              <a:ea typeface="Comfortaa"/>
              <a:cs typeface="Comfortaa"/>
              <a:sym typeface="Comfortaa"/>
            </a:endParaRPr>
          </a:p>
        </p:txBody>
      </p:sp>
      <p:sp>
        <p:nvSpPr>
          <p:cNvPr id="102" name="Google Shape;102;g40a07d5c0a2_0_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03" name="Google Shape;103;g40a07d5c0a2_0_67"/>
          <p:cNvPicPr preferRelativeResize="0"/>
          <p:nvPr/>
        </p:nvPicPr>
        <p:blipFill>
          <a:blip r:embed="rId3">
            <a:alphaModFix/>
          </a:blip>
          <a:stretch>
            <a:fillRect/>
          </a:stretch>
        </p:blipFill>
        <p:spPr>
          <a:xfrm>
            <a:off x="3688125" y="1127575"/>
            <a:ext cx="5396875" cy="4018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h5152ee94080aa542_0_73"/>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Lens</a:t>
            </a:r>
            <a:endParaRPr/>
          </a:p>
        </p:txBody>
      </p:sp>
      <p:sp>
        <p:nvSpPr>
          <p:cNvPr id="109" name="Google Shape;109;h5152ee94080aa542_0_73"/>
          <p:cNvSpPr txBox="1"/>
          <p:nvPr>
            <p:ph idx="1" type="body"/>
          </p:nvPr>
        </p:nvSpPr>
        <p:spPr>
          <a:xfrm>
            <a:off x="629050" y="1477225"/>
            <a:ext cx="3838200" cy="20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sz="1500">
              <a:latin typeface="Comfortaa"/>
              <a:ea typeface="Comfortaa"/>
              <a:cs typeface="Comfortaa"/>
              <a:sym typeface="Comfortaa"/>
            </a:endParaRPr>
          </a:p>
          <a:p>
            <a:pPr indent="0" lvl="0" marL="0" rtl="0" algn="l">
              <a:lnSpc>
                <a:spcPct val="115000"/>
              </a:lnSpc>
              <a:spcBef>
                <a:spcPts val="0"/>
              </a:spcBef>
              <a:spcAft>
                <a:spcPts val="0"/>
              </a:spcAft>
              <a:buSzPts val="1300"/>
              <a:buNone/>
            </a:pPr>
            <a:r>
              <a:t/>
            </a:r>
            <a:endParaRPr sz="1500">
              <a:latin typeface="Comfortaa"/>
              <a:ea typeface="Comfortaa"/>
              <a:cs typeface="Comfortaa"/>
              <a:sym typeface="Comfortaa"/>
            </a:endParaRPr>
          </a:p>
          <a:p>
            <a:pPr indent="0" lvl="0" marL="0" rtl="0" algn="l">
              <a:lnSpc>
                <a:spcPct val="115000"/>
              </a:lnSpc>
              <a:spcBef>
                <a:spcPts val="0"/>
              </a:spcBef>
              <a:spcAft>
                <a:spcPts val="0"/>
              </a:spcAft>
              <a:buSzPts val="1300"/>
              <a:buNone/>
            </a:pPr>
            <a:r>
              <a:rPr lang="en-US" sz="1500">
                <a:latin typeface="Comfortaa"/>
                <a:ea typeface="Comfortaa"/>
                <a:cs typeface="Comfortaa"/>
                <a:sym typeface="Comfortaa"/>
              </a:rPr>
              <a:t>- Zoom</a:t>
            </a:r>
            <a:endParaRPr sz="1500">
              <a:latin typeface="Comfortaa"/>
              <a:ea typeface="Comfortaa"/>
              <a:cs typeface="Comfortaa"/>
              <a:sym typeface="Comfortaa"/>
            </a:endParaRPr>
          </a:p>
        </p:txBody>
      </p:sp>
      <p:sp>
        <p:nvSpPr>
          <p:cNvPr id="110" name="Google Shape;110;h5152ee94080aa542_0_7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11" name="Google Shape;111;h5152ee94080aa542_0_73"/>
          <p:cNvPicPr preferRelativeResize="0"/>
          <p:nvPr/>
        </p:nvPicPr>
        <p:blipFill>
          <a:blip r:embed="rId3">
            <a:alphaModFix/>
          </a:blip>
          <a:stretch>
            <a:fillRect/>
          </a:stretch>
        </p:blipFill>
        <p:spPr>
          <a:xfrm>
            <a:off x="4402252" y="505425"/>
            <a:ext cx="4352500" cy="2899949"/>
          </a:xfrm>
          <a:prstGeom prst="rect">
            <a:avLst/>
          </a:prstGeom>
          <a:noFill/>
          <a:ln>
            <a:noFill/>
          </a:ln>
        </p:spPr>
      </p:pic>
      <p:pic>
        <p:nvPicPr>
          <p:cNvPr id="112" name="Google Shape;112;h5152ee94080aa542_0_73"/>
          <p:cNvPicPr preferRelativeResize="0"/>
          <p:nvPr/>
        </p:nvPicPr>
        <p:blipFill>
          <a:blip r:embed="rId4">
            <a:alphaModFix/>
          </a:blip>
          <a:stretch>
            <a:fillRect/>
          </a:stretch>
        </p:blipFill>
        <p:spPr>
          <a:xfrm>
            <a:off x="36165" y="3214694"/>
            <a:ext cx="9144000" cy="19288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40a07d5c0a2_0_79"/>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Lens - </a:t>
            </a:r>
            <a:r>
              <a:rPr lang="en-US"/>
              <a:t>Focus</a:t>
            </a:r>
            <a:endParaRPr/>
          </a:p>
        </p:txBody>
      </p:sp>
      <p:sp>
        <p:nvSpPr>
          <p:cNvPr id="118" name="Google Shape;118;g40a07d5c0a2_0_7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19" name="Google Shape;119;g40a07d5c0a2_0_79"/>
          <p:cNvPicPr preferRelativeResize="0"/>
          <p:nvPr/>
        </p:nvPicPr>
        <p:blipFill>
          <a:blip r:embed="rId3">
            <a:alphaModFix/>
          </a:blip>
          <a:stretch>
            <a:fillRect/>
          </a:stretch>
        </p:blipFill>
        <p:spPr>
          <a:xfrm>
            <a:off x="48300" y="1662050"/>
            <a:ext cx="8889400" cy="3266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40a07d5c0a2_0_38"/>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Lens - </a:t>
            </a:r>
            <a:r>
              <a:rPr lang="en-US"/>
              <a:t>Iris - Aperture</a:t>
            </a:r>
            <a:endParaRPr/>
          </a:p>
        </p:txBody>
      </p:sp>
      <p:sp>
        <p:nvSpPr>
          <p:cNvPr id="125" name="Google Shape;125;g40a07d5c0a2_0_38"/>
          <p:cNvSpPr txBox="1"/>
          <p:nvPr>
            <p:ph idx="1" type="body"/>
          </p:nvPr>
        </p:nvSpPr>
        <p:spPr>
          <a:xfrm>
            <a:off x="2542829" y="4551600"/>
            <a:ext cx="6599400" cy="4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US" sz="1500">
                <a:latin typeface="Comfortaa"/>
                <a:ea typeface="Comfortaa"/>
                <a:cs typeface="Comfortaa"/>
                <a:sym typeface="Comfortaa"/>
              </a:rPr>
              <a:t>Photos taken with the same shutter speed at different apertures</a:t>
            </a:r>
            <a:endParaRPr sz="1500">
              <a:latin typeface="Comfortaa"/>
              <a:ea typeface="Comfortaa"/>
              <a:cs typeface="Comfortaa"/>
              <a:sym typeface="Comfortaa"/>
            </a:endParaRPr>
          </a:p>
        </p:txBody>
      </p:sp>
      <p:sp>
        <p:nvSpPr>
          <p:cNvPr id="126" name="Google Shape;126;g40a07d5c0a2_0_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27" name="Google Shape;127;g40a07d5c0a2_0_38"/>
          <p:cNvPicPr preferRelativeResize="0"/>
          <p:nvPr/>
        </p:nvPicPr>
        <p:blipFill rotWithShape="1">
          <a:blip r:embed="rId3">
            <a:alphaModFix/>
          </a:blip>
          <a:srcRect b="0" l="0" r="0" t="0"/>
          <a:stretch/>
        </p:blipFill>
        <p:spPr>
          <a:xfrm>
            <a:off x="3199175" y="1484723"/>
            <a:ext cx="5944824" cy="2984534"/>
          </a:xfrm>
          <a:prstGeom prst="rect">
            <a:avLst/>
          </a:prstGeom>
          <a:noFill/>
          <a:ln>
            <a:noFill/>
          </a:ln>
        </p:spPr>
      </p:pic>
      <p:pic>
        <p:nvPicPr>
          <p:cNvPr id="128" name="Google Shape;128;g40a07d5c0a2_0_38"/>
          <p:cNvPicPr preferRelativeResize="0"/>
          <p:nvPr/>
        </p:nvPicPr>
        <p:blipFill rotWithShape="1">
          <a:blip r:embed="rId4">
            <a:alphaModFix/>
          </a:blip>
          <a:srcRect b="0" l="0" r="0" t="0"/>
          <a:stretch/>
        </p:blipFill>
        <p:spPr>
          <a:xfrm>
            <a:off x="9696" y="1852016"/>
            <a:ext cx="3192376" cy="2035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40a07d5c0a2_0_5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a:t>
            </a:r>
            <a:r>
              <a:rPr lang="en-US"/>
              <a:t>IR Cut</a:t>
            </a:r>
            <a:endParaRPr/>
          </a:p>
        </p:txBody>
      </p:sp>
      <p:sp>
        <p:nvSpPr>
          <p:cNvPr id="134" name="Google Shape;134;g40a07d5c0a2_0_50"/>
          <p:cNvSpPr txBox="1"/>
          <p:nvPr>
            <p:ph idx="1" type="body"/>
          </p:nvPr>
        </p:nvSpPr>
        <p:spPr>
          <a:xfrm>
            <a:off x="596025" y="1332950"/>
            <a:ext cx="6311400" cy="1181100"/>
          </a:xfrm>
          <a:prstGeom prst="rect">
            <a:avLst/>
          </a:prstGeom>
          <a:noFill/>
          <a:ln>
            <a:noFill/>
          </a:ln>
        </p:spPr>
        <p:txBody>
          <a:bodyPr anchorCtr="0" anchor="t" bIns="91425" lIns="91425" spcFirstLastPara="1" rIns="91425" wrap="square" tIns="91425">
            <a:noAutofit/>
          </a:bodyPr>
          <a:lstStyle/>
          <a:p>
            <a:pPr indent="-323670" lvl="0" marL="457200" rtl="0" algn="l">
              <a:lnSpc>
                <a:spcPct val="115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An IR-cut filter (</a:t>
            </a:r>
            <a:r>
              <a:rPr lang="en-US" sz="1500" u="sng">
                <a:solidFill>
                  <a:srgbClr val="000000"/>
                </a:solidFill>
                <a:latin typeface="Comfortaa"/>
                <a:ea typeface="Comfortaa"/>
                <a:cs typeface="Comfortaa"/>
                <a:sym typeface="Comfortaa"/>
                <a:hlinkClick r:id="rId3">
                  <a:extLst>
                    <a:ext uri="{A12FA001-AC4F-418D-AE19-62706E023703}">
                      <ahyp:hlinkClr val="tx"/>
                    </a:ext>
                  </a:extLst>
                </a:hlinkClick>
              </a:rPr>
              <a:t>Infrared-cut filter</a:t>
            </a:r>
            <a:r>
              <a:rPr lang="en-US" sz="1500">
                <a:solidFill>
                  <a:srgbClr val="000000"/>
                </a:solidFill>
                <a:latin typeface="Comfortaa"/>
                <a:ea typeface="Comfortaa"/>
                <a:cs typeface="Comfortaa"/>
                <a:sym typeface="Comfortaa"/>
              </a:rPr>
              <a:t>) is a special glass filter in cameras that blocks unwanted infrared (IR) light while letting visible light pass through, ensuring accurate, natural colors in day</a:t>
            </a:r>
            <a:endParaRPr sz="1500">
              <a:latin typeface="Comfortaa"/>
              <a:ea typeface="Comfortaa"/>
              <a:cs typeface="Comfortaa"/>
              <a:sym typeface="Comfortaa"/>
            </a:endParaRPr>
          </a:p>
        </p:txBody>
      </p:sp>
      <p:sp>
        <p:nvSpPr>
          <p:cNvPr id="135" name="Google Shape;135;g40a07d5c0a2_0_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36" name="Google Shape;136;g40a07d5c0a2_0_50"/>
          <p:cNvPicPr preferRelativeResize="0"/>
          <p:nvPr/>
        </p:nvPicPr>
        <p:blipFill rotWithShape="1">
          <a:blip r:embed="rId4">
            <a:alphaModFix/>
          </a:blip>
          <a:srcRect b="0" l="0" r="0" t="0"/>
          <a:stretch/>
        </p:blipFill>
        <p:spPr>
          <a:xfrm>
            <a:off x="7009175" y="569300"/>
            <a:ext cx="1964700" cy="1964700"/>
          </a:xfrm>
          <a:prstGeom prst="rect">
            <a:avLst/>
          </a:prstGeom>
          <a:noFill/>
          <a:ln>
            <a:noFill/>
          </a:ln>
        </p:spPr>
      </p:pic>
      <p:pic>
        <p:nvPicPr>
          <p:cNvPr id="137" name="Google Shape;137;g40a07d5c0a2_0_50"/>
          <p:cNvPicPr preferRelativeResize="0"/>
          <p:nvPr/>
        </p:nvPicPr>
        <p:blipFill rotWithShape="1">
          <a:blip r:embed="rId5">
            <a:alphaModFix/>
          </a:blip>
          <a:srcRect b="0" l="0" r="0" t="0"/>
          <a:stretch/>
        </p:blipFill>
        <p:spPr>
          <a:xfrm>
            <a:off x="4613763" y="2513986"/>
            <a:ext cx="4420799" cy="2639521"/>
          </a:xfrm>
          <a:prstGeom prst="rect">
            <a:avLst/>
          </a:prstGeom>
          <a:noFill/>
          <a:ln>
            <a:noFill/>
          </a:ln>
        </p:spPr>
      </p:pic>
      <p:pic>
        <p:nvPicPr>
          <p:cNvPr id="138" name="Google Shape;138;g40a07d5c0a2_0_50"/>
          <p:cNvPicPr preferRelativeResize="0"/>
          <p:nvPr/>
        </p:nvPicPr>
        <p:blipFill rotWithShape="1">
          <a:blip r:embed="rId6">
            <a:alphaModFix/>
          </a:blip>
          <a:srcRect b="0" l="0" r="0" t="0"/>
          <a:stretch/>
        </p:blipFill>
        <p:spPr>
          <a:xfrm>
            <a:off x="109442" y="2513986"/>
            <a:ext cx="4420799" cy="26395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40a07d5c0a2_0_9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a:t>
            </a:r>
            <a:r>
              <a:rPr lang="en-US"/>
              <a:t>Image Sensor</a:t>
            </a:r>
            <a:endParaRPr/>
          </a:p>
        </p:txBody>
      </p:sp>
      <p:sp>
        <p:nvSpPr>
          <p:cNvPr id="144" name="Google Shape;144;g40a07d5c0a2_0_91"/>
          <p:cNvSpPr txBox="1"/>
          <p:nvPr>
            <p:ph idx="1" type="body"/>
          </p:nvPr>
        </p:nvSpPr>
        <p:spPr>
          <a:xfrm>
            <a:off x="596025" y="1332950"/>
            <a:ext cx="8489100" cy="1060500"/>
          </a:xfrm>
          <a:prstGeom prst="rect">
            <a:avLst/>
          </a:prstGeom>
          <a:noFill/>
          <a:ln>
            <a:noFill/>
          </a:ln>
        </p:spPr>
        <p:txBody>
          <a:bodyPr anchorCtr="0" anchor="t" bIns="91425" lIns="91425" spcFirstLastPara="1" rIns="91425" wrap="square" tIns="91425">
            <a:noAutofit/>
          </a:bodyPr>
          <a:lstStyle/>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Resolution: (2M/5M/8M) the physical  pixel count</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Pixel-size (µm): bigger pixels → less noise at night, even with fewer MP</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Shutter speed (slow - more light) &amp; Gain (more gain = brighter image, but more noise)</a:t>
            </a:r>
            <a:endParaRPr sz="1500">
              <a:solidFill>
                <a:srgbClr val="000000"/>
              </a:solidFill>
              <a:latin typeface="Comfortaa"/>
              <a:ea typeface="Comfortaa"/>
              <a:cs typeface="Comfortaa"/>
              <a:sym typeface="Comfortaa"/>
            </a:endParaRPr>
          </a:p>
        </p:txBody>
      </p:sp>
      <p:sp>
        <p:nvSpPr>
          <p:cNvPr id="145" name="Google Shape;145;g40a07d5c0a2_0_9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46" name="Google Shape;146;g40a07d5c0a2_0_91"/>
          <p:cNvPicPr preferRelativeResize="0"/>
          <p:nvPr/>
        </p:nvPicPr>
        <p:blipFill rotWithShape="1">
          <a:blip r:embed="rId3">
            <a:alphaModFix/>
          </a:blip>
          <a:srcRect b="0" l="0" r="0" t="0"/>
          <a:stretch/>
        </p:blipFill>
        <p:spPr>
          <a:xfrm>
            <a:off x="1884830" y="2393450"/>
            <a:ext cx="6383520" cy="2750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40a07d5c0a2_0_58"/>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Image Sensor</a:t>
            </a:r>
            <a:endParaRPr/>
          </a:p>
        </p:txBody>
      </p:sp>
      <p:sp>
        <p:nvSpPr>
          <p:cNvPr id="152" name="Google Shape;152;g40a07d5c0a2_0_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53" name="Google Shape;153;g40a07d5c0a2_0_58"/>
          <p:cNvPicPr preferRelativeResize="0"/>
          <p:nvPr/>
        </p:nvPicPr>
        <p:blipFill rotWithShape="1">
          <a:blip r:embed="rId3">
            <a:alphaModFix/>
          </a:blip>
          <a:srcRect b="0" l="0" r="0" t="0"/>
          <a:stretch/>
        </p:blipFill>
        <p:spPr>
          <a:xfrm>
            <a:off x="2434525" y="1655252"/>
            <a:ext cx="4357476" cy="2596176"/>
          </a:xfrm>
          <a:prstGeom prst="rect">
            <a:avLst/>
          </a:prstGeom>
          <a:noFill/>
          <a:ln>
            <a:noFill/>
          </a:ln>
        </p:spPr>
      </p:pic>
      <p:pic>
        <p:nvPicPr>
          <p:cNvPr id="154" name="Google Shape;154;g40a07d5c0a2_0_58"/>
          <p:cNvPicPr preferRelativeResize="0"/>
          <p:nvPr/>
        </p:nvPicPr>
        <p:blipFill rotWithShape="1">
          <a:blip r:embed="rId4">
            <a:alphaModFix/>
          </a:blip>
          <a:srcRect b="0" l="0" r="0" t="0"/>
          <a:stretch/>
        </p:blipFill>
        <p:spPr>
          <a:xfrm>
            <a:off x="53485" y="1733315"/>
            <a:ext cx="2381040" cy="2381040"/>
          </a:xfrm>
          <a:prstGeom prst="rect">
            <a:avLst/>
          </a:prstGeom>
          <a:noFill/>
          <a:ln>
            <a:noFill/>
          </a:ln>
        </p:spPr>
      </p:pic>
      <p:pic>
        <p:nvPicPr>
          <p:cNvPr id="155" name="Google Shape;155;g40a07d5c0a2_0_58"/>
          <p:cNvPicPr preferRelativeResize="0"/>
          <p:nvPr/>
        </p:nvPicPr>
        <p:blipFill rotWithShape="1">
          <a:blip r:embed="rId5">
            <a:alphaModFix/>
          </a:blip>
          <a:srcRect b="0" l="0" r="0" t="0"/>
          <a:stretch/>
        </p:blipFill>
        <p:spPr>
          <a:xfrm>
            <a:off x="6762960" y="1808015"/>
            <a:ext cx="2381040" cy="23810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40a07d5c0a2_0_106"/>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Camera Overview: </a:t>
            </a:r>
            <a:r>
              <a:rPr lang="en-US"/>
              <a:t>DSP/CPU/Main Chip</a:t>
            </a:r>
            <a:endParaRPr/>
          </a:p>
        </p:txBody>
      </p:sp>
      <p:sp>
        <p:nvSpPr>
          <p:cNvPr id="161" name="Google Shape;161;g40a07d5c0a2_0_106"/>
          <p:cNvSpPr txBox="1"/>
          <p:nvPr>
            <p:ph idx="1" type="body"/>
          </p:nvPr>
        </p:nvSpPr>
        <p:spPr>
          <a:xfrm>
            <a:off x="596025" y="1332950"/>
            <a:ext cx="5015700" cy="3417000"/>
          </a:xfrm>
          <a:prstGeom prst="rect">
            <a:avLst/>
          </a:prstGeom>
          <a:noFill/>
          <a:ln>
            <a:noFill/>
          </a:ln>
        </p:spPr>
        <p:txBody>
          <a:bodyPr anchorCtr="0" anchor="t" bIns="91425" lIns="91425" spcFirstLastPara="1" rIns="91425" wrap="square" tIns="91425">
            <a:noAutofit/>
          </a:bodyPr>
          <a:lstStyle/>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DSP - Digital Signal Processor</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ISP - Image Signal Processing: </a:t>
            </a:r>
            <a:endParaRPr sz="1500">
              <a:solidFill>
                <a:srgbClr val="000000"/>
              </a:solidFill>
              <a:latin typeface="Comfortaa"/>
              <a:ea typeface="Comfortaa"/>
              <a:cs typeface="Comfortaa"/>
              <a:sym typeface="Comfortaa"/>
            </a:endParaRPr>
          </a:p>
          <a:p>
            <a:pPr indent="-323850" lvl="1" marL="914400" rtl="0" algn="l">
              <a:lnSpc>
                <a:spcPct val="150000"/>
              </a:lnSpc>
              <a:spcBef>
                <a:spcPts val="160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3A (AWB - Auto White Balance, AF - Auto Focus, AE - Auto Exposure), HDR, 3DNR (Noise), Color, Sharpness</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Encoder: H264, H265, JPEG/MJPEG</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Other services: Network, System monitor, OTA, Streaming,...</a:t>
            </a:r>
            <a:endParaRPr sz="1500">
              <a:solidFill>
                <a:srgbClr val="000000"/>
              </a:solidFill>
              <a:latin typeface="Comfortaa"/>
              <a:ea typeface="Comfortaa"/>
              <a:cs typeface="Comfortaa"/>
              <a:sym typeface="Comfortaa"/>
            </a:endParaRPr>
          </a:p>
        </p:txBody>
      </p:sp>
      <p:sp>
        <p:nvSpPr>
          <p:cNvPr id="162" name="Google Shape;162;g40a07d5c0a2_0_10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63" name="Google Shape;163;g40a07d5c0a2_0_106"/>
          <p:cNvPicPr preferRelativeResize="0"/>
          <p:nvPr/>
        </p:nvPicPr>
        <p:blipFill>
          <a:blip r:embed="rId3">
            <a:alphaModFix/>
          </a:blip>
          <a:stretch>
            <a:fillRect/>
          </a:stretch>
        </p:blipFill>
        <p:spPr>
          <a:xfrm>
            <a:off x="6271375" y="1605025"/>
            <a:ext cx="2508275" cy="2240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40a07d5c0a2_0_113"/>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a:t>
            </a:r>
            <a:r>
              <a:rPr lang="en-US"/>
              <a:t> Overview</a:t>
            </a:r>
            <a:endParaRPr/>
          </a:p>
        </p:txBody>
      </p:sp>
      <p:sp>
        <p:nvSpPr>
          <p:cNvPr id="169" name="Google Shape;169;g40a07d5c0a2_0_113"/>
          <p:cNvSpPr txBox="1"/>
          <p:nvPr>
            <p:ph idx="1" type="body"/>
          </p:nvPr>
        </p:nvSpPr>
        <p:spPr>
          <a:xfrm>
            <a:off x="596025" y="1332950"/>
            <a:ext cx="8489100" cy="1060500"/>
          </a:xfrm>
          <a:prstGeom prst="rect">
            <a:avLst/>
          </a:prstGeom>
          <a:noFill/>
          <a:ln>
            <a:noFill/>
          </a:ln>
        </p:spPr>
        <p:txBody>
          <a:bodyPr anchorCtr="0" anchor="t" bIns="91425" lIns="91425" spcFirstLastPara="1" rIns="91425" wrap="square" tIns="91425">
            <a:noAutofit/>
          </a:bodyPr>
          <a:lstStyle/>
          <a:p>
            <a:pPr indent="-330020" lvl="0" marL="457200" rtl="0" algn="l">
              <a:lnSpc>
                <a:spcPct val="100000"/>
              </a:lnSpc>
              <a:spcBef>
                <a:spcPts val="0"/>
              </a:spcBef>
              <a:spcAft>
                <a:spcPts val="0"/>
              </a:spcAft>
              <a:buClr>
                <a:srgbClr val="000000"/>
              </a:buClr>
              <a:buSzPts val="1600"/>
              <a:buFont typeface="Gaegu"/>
              <a:buChar char="-"/>
            </a:pPr>
            <a:r>
              <a:t/>
            </a:r>
            <a:endParaRPr sz="1600">
              <a:solidFill>
                <a:srgbClr val="000000"/>
              </a:solidFill>
              <a:latin typeface="Gaegu"/>
              <a:ea typeface="Gaegu"/>
              <a:cs typeface="Gaegu"/>
              <a:sym typeface="Gaegu"/>
            </a:endParaRPr>
          </a:p>
        </p:txBody>
      </p:sp>
      <p:sp>
        <p:nvSpPr>
          <p:cNvPr id="170" name="Google Shape;170;g40a07d5c0a2_0_1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71" name="Google Shape;171;g40a07d5c0a2_0_113"/>
          <p:cNvSpPr/>
          <p:nvPr/>
        </p:nvSpPr>
        <p:spPr>
          <a:xfrm>
            <a:off x="1617342" y="3168489"/>
            <a:ext cx="1965900" cy="777300"/>
          </a:xfrm>
          <a:prstGeom prst="roundRect">
            <a:avLst>
              <a:gd fmla="val 16667" name="adj"/>
            </a:avLst>
          </a:prstGeom>
          <a:solidFill>
            <a:srgbClr val="233652"/>
          </a:solidFill>
          <a:ln cap="flat" cmpd="sng" w="12700">
            <a:solidFill>
              <a:srgbClr val="2B6EB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2" name="Google Shape;172;g40a07d5c0a2_0_113"/>
          <p:cNvSpPr txBox="1"/>
          <p:nvPr/>
        </p:nvSpPr>
        <p:spPr>
          <a:xfrm>
            <a:off x="161734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RESOLUTION</a:t>
            </a:r>
            <a:endParaRPr/>
          </a:p>
        </p:txBody>
      </p:sp>
      <p:sp>
        <p:nvSpPr>
          <p:cNvPr id="173" name="Google Shape;173;g40a07d5c0a2_0_113"/>
          <p:cNvSpPr/>
          <p:nvPr/>
        </p:nvSpPr>
        <p:spPr>
          <a:xfrm>
            <a:off x="3857623" y="3168489"/>
            <a:ext cx="1965900" cy="777300"/>
          </a:xfrm>
          <a:prstGeom prst="roundRect">
            <a:avLst>
              <a:gd fmla="val 16667" name="adj"/>
            </a:avLst>
          </a:prstGeom>
          <a:solidFill>
            <a:srgbClr val="233652"/>
          </a:solidFill>
          <a:ln cap="flat" cmpd="sng" w="12700">
            <a:solidFill>
              <a:srgbClr val="28A8B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 name="Google Shape;174;g40a07d5c0a2_0_113"/>
          <p:cNvSpPr txBox="1"/>
          <p:nvPr/>
        </p:nvSpPr>
        <p:spPr>
          <a:xfrm>
            <a:off x="3857623"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FPS</a:t>
            </a:r>
            <a:endParaRPr/>
          </a:p>
        </p:txBody>
      </p:sp>
      <p:sp>
        <p:nvSpPr>
          <p:cNvPr id="175" name="Google Shape;175;g40a07d5c0a2_0_113"/>
          <p:cNvSpPr/>
          <p:nvPr/>
        </p:nvSpPr>
        <p:spPr>
          <a:xfrm>
            <a:off x="6097902" y="3168489"/>
            <a:ext cx="1965900" cy="777300"/>
          </a:xfrm>
          <a:prstGeom prst="roundRect">
            <a:avLst>
              <a:gd fmla="val 16667" name="adj"/>
            </a:avLst>
          </a:prstGeom>
          <a:solidFill>
            <a:srgbClr val="233652"/>
          </a:solidFill>
          <a:ln cap="flat" cmpd="sng" w="12700">
            <a:solidFill>
              <a:srgbClr val="EB8F2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6" name="Google Shape;176;g40a07d5c0a2_0_113"/>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sp>
        <p:nvSpPr>
          <p:cNvPr id="177" name="Google Shape;177;g40a07d5c0a2_0_113"/>
          <p:cNvSpPr/>
          <p:nvPr/>
        </p:nvSpPr>
        <p:spPr>
          <a:xfrm>
            <a:off x="2381945" y="1588789"/>
            <a:ext cx="1965900" cy="777300"/>
          </a:xfrm>
          <a:prstGeom prst="roundRect">
            <a:avLst>
              <a:gd fmla="val 16667" name="adj"/>
            </a:avLst>
          </a:prstGeom>
          <a:solidFill>
            <a:srgbClr val="233652"/>
          </a:solidFill>
          <a:ln cap="flat" cmpd="sng" w="12700">
            <a:solidFill>
              <a:srgbClr val="2B965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8" name="Google Shape;178;g40a07d5c0a2_0_113"/>
          <p:cNvSpPr txBox="1"/>
          <p:nvPr/>
        </p:nvSpPr>
        <p:spPr>
          <a:xfrm>
            <a:off x="2381945" y="17808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CODEC</a:t>
            </a:r>
            <a:endParaRPr/>
          </a:p>
        </p:txBody>
      </p:sp>
      <p:sp>
        <p:nvSpPr>
          <p:cNvPr id="179" name="Google Shape;179;g40a07d5c0a2_0_113"/>
          <p:cNvSpPr/>
          <p:nvPr/>
        </p:nvSpPr>
        <p:spPr>
          <a:xfrm>
            <a:off x="5201700" y="1588789"/>
            <a:ext cx="1965900" cy="777300"/>
          </a:xfrm>
          <a:prstGeom prst="roundRect">
            <a:avLst>
              <a:gd fmla="val 16667" name="adj"/>
            </a:avLst>
          </a:prstGeom>
          <a:solidFill>
            <a:srgbClr val="233652"/>
          </a:solidFill>
          <a:ln cap="flat" cmpd="sng" w="12700">
            <a:solidFill>
              <a:srgbClr val="2B6EB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80" name="Google Shape;180;g40a07d5c0a2_0_113"/>
          <p:cNvSpPr txBox="1"/>
          <p:nvPr/>
        </p:nvSpPr>
        <p:spPr>
          <a:xfrm>
            <a:off x="5201700" y="17808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STREAM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40a1274a87e_0_55"/>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a:t>
            </a:r>
            <a:r>
              <a:rPr lang="en-US"/>
              <a:t>Resolution</a:t>
            </a:r>
            <a:endParaRPr/>
          </a:p>
        </p:txBody>
      </p:sp>
      <p:sp>
        <p:nvSpPr>
          <p:cNvPr id="186" name="Google Shape;186;g40a1274a87e_0_55"/>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Độ phân giải = số pixel của khung hình; không đồng nghĩa với chất lượng hình ảnh trong mọi điều kiện.</a:t>
            </a:r>
            <a:endParaRPr sz="1500">
              <a:latin typeface="Comfortaa"/>
              <a:ea typeface="Comfortaa"/>
              <a:cs typeface="Comfortaa"/>
              <a:sym typeface="Comfortaa"/>
            </a:endParaRPr>
          </a:p>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Resolution cao không bù được thiếu sáng, sai focus hoặc bitrate thấp.</a:t>
            </a:r>
            <a:endParaRPr sz="1500">
              <a:latin typeface="Comfortaa"/>
              <a:ea typeface="Comfortaa"/>
              <a:cs typeface="Comfortaa"/>
              <a:sym typeface="Comfortaa"/>
            </a:endParaRPr>
          </a:p>
        </p:txBody>
      </p:sp>
      <p:sp>
        <p:nvSpPr>
          <p:cNvPr id="187" name="Google Shape;187;g40a1274a87e_0_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88" name="Google Shape;188;g40a1274a87e_0_55"/>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graphicFrame>
        <p:nvGraphicFramePr>
          <p:cNvPr id="189" name="Google Shape;189;g40a1274a87e_0_55"/>
          <p:cNvGraphicFramePr/>
          <p:nvPr/>
        </p:nvGraphicFramePr>
        <p:xfrm>
          <a:off x="1371603" y="2494568"/>
          <a:ext cx="3000000" cy="3000000"/>
        </p:xfrm>
        <a:graphic>
          <a:graphicData uri="http://schemas.openxmlformats.org/drawingml/2006/table">
            <a:tbl>
              <a:tblPr bandRow="1" firstRow="1">
                <a:noFill/>
                <a:tableStyleId>{81DF0685-BE52-4B8B-9BD0-9AFCDD38BCAC}</a:tableStyleId>
              </a:tblPr>
              <a:tblGrid>
                <a:gridCol w="1366350"/>
                <a:gridCol w="1821800"/>
                <a:gridCol w="1062725"/>
                <a:gridCol w="1707950"/>
              </a:tblGrid>
              <a:tr h="166850">
                <a:tc>
                  <a:txBody>
                    <a:bodyPr/>
                    <a:lstStyle/>
                    <a:p>
                      <a:pPr indent="0" lvl="0" marL="0" marR="0" rtl="0" algn="l">
                        <a:spcBef>
                          <a:spcPts val="0"/>
                        </a:spcBef>
                        <a:spcAft>
                          <a:spcPts val="0"/>
                        </a:spcAft>
                        <a:buNone/>
                      </a:pPr>
                      <a:r>
                        <a:rPr b="1" lang="en-US" sz="1000" u="none" cap="none" strike="noStrike">
                          <a:solidFill>
                            <a:srgbClr val="FFFFFF"/>
                          </a:solidFill>
                          <a:latin typeface="Arial"/>
                          <a:ea typeface="Arial"/>
                          <a:cs typeface="Arial"/>
                          <a:sym typeface="Arial"/>
                        </a:rPr>
                        <a:t>Tên gọi</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38100">
                      <a:solidFill>
                        <a:schemeClr val="lt2"/>
                      </a:solidFill>
                      <a:prstDash val="solid"/>
                      <a:round/>
                      <a:headEnd len="sm" w="sm" type="none"/>
                      <a:tailEnd len="sm" w="sm" type="none"/>
                    </a:lnB>
                    <a:solidFill>
                      <a:srgbClr val="182740"/>
                    </a:solidFill>
                  </a:tcPr>
                </a:tc>
                <a:tc>
                  <a:txBody>
                    <a:bodyPr/>
                    <a:lstStyle/>
                    <a:p>
                      <a:pPr indent="0" lvl="0" marL="0" marR="0" rtl="0" algn="ctr">
                        <a:spcBef>
                          <a:spcPts val="0"/>
                        </a:spcBef>
                        <a:spcAft>
                          <a:spcPts val="0"/>
                        </a:spcAft>
                        <a:buNone/>
                      </a:pPr>
                      <a:r>
                        <a:rPr b="1" lang="en-US" sz="1000" u="none" cap="none" strike="noStrike">
                          <a:solidFill>
                            <a:srgbClr val="FFFFFF"/>
                          </a:solidFill>
                          <a:latin typeface="Arial"/>
                          <a:ea typeface="Arial"/>
                          <a:cs typeface="Arial"/>
                          <a:sym typeface="Arial"/>
                        </a:rPr>
                        <a:t>Pixel</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38100">
                      <a:solidFill>
                        <a:schemeClr val="lt2"/>
                      </a:solidFill>
                      <a:prstDash val="solid"/>
                      <a:round/>
                      <a:headEnd len="sm" w="sm" type="none"/>
                      <a:tailEnd len="sm" w="sm" type="none"/>
                    </a:lnB>
                    <a:solidFill>
                      <a:srgbClr val="182740"/>
                    </a:solidFill>
                  </a:tcPr>
                </a:tc>
                <a:tc>
                  <a:txBody>
                    <a:bodyPr/>
                    <a:lstStyle/>
                    <a:p>
                      <a:pPr indent="0" lvl="0" marL="0" marR="0" rtl="0" algn="ctr">
                        <a:spcBef>
                          <a:spcPts val="0"/>
                        </a:spcBef>
                        <a:spcAft>
                          <a:spcPts val="0"/>
                        </a:spcAft>
                        <a:buNone/>
                      </a:pPr>
                      <a:r>
                        <a:rPr b="1" lang="en-US" sz="1000" u="none" cap="none" strike="noStrike">
                          <a:solidFill>
                            <a:srgbClr val="FFFFFF"/>
                          </a:solidFill>
                          <a:latin typeface="Arial"/>
                          <a:ea typeface="Arial"/>
                          <a:cs typeface="Arial"/>
                          <a:sym typeface="Arial"/>
                        </a:rPr>
                        <a:t>MP</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38100">
                      <a:solidFill>
                        <a:schemeClr val="lt2"/>
                      </a:solidFill>
                      <a:prstDash val="solid"/>
                      <a:round/>
                      <a:headEnd len="sm" w="sm" type="none"/>
                      <a:tailEnd len="sm" w="sm" type="none"/>
                    </a:lnB>
                    <a:solidFill>
                      <a:srgbClr val="182740"/>
                    </a:solidFill>
                  </a:tcPr>
                </a:tc>
                <a:tc>
                  <a:txBody>
                    <a:bodyPr/>
                    <a:lstStyle/>
                    <a:p>
                      <a:pPr indent="0" lvl="0" marL="0" marR="0" rtl="0" algn="ctr">
                        <a:spcBef>
                          <a:spcPts val="0"/>
                        </a:spcBef>
                        <a:spcAft>
                          <a:spcPts val="0"/>
                        </a:spcAft>
                        <a:buNone/>
                      </a:pPr>
                      <a:r>
                        <a:rPr b="1" lang="en-US" sz="1000" u="none" cap="none" strike="noStrike">
                          <a:solidFill>
                            <a:srgbClr val="FFFFFF"/>
                          </a:solidFill>
                          <a:latin typeface="Arial"/>
                          <a:ea typeface="Arial"/>
                          <a:cs typeface="Arial"/>
                          <a:sym typeface="Arial"/>
                        </a:rPr>
                        <a:t>Tỉ lệ</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38100">
                      <a:solidFill>
                        <a:schemeClr val="lt2"/>
                      </a:solidFill>
                      <a:prstDash val="solid"/>
                      <a:round/>
                      <a:headEnd len="sm" w="sm" type="none"/>
                      <a:tailEnd len="sm" w="sm" type="none"/>
                    </a:lnB>
                    <a:solidFill>
                      <a:srgbClr val="182740"/>
                    </a:solidFill>
                  </a:tcPr>
                </a:tc>
              </a:tr>
              <a:tr h="335875">
                <a:tc>
                  <a:txBody>
                    <a:bodyPr/>
                    <a:lstStyle/>
                    <a:p>
                      <a:pPr indent="0" lvl="0" marL="0" marR="0" rtl="0" algn="l">
                        <a:spcBef>
                          <a:spcPts val="0"/>
                        </a:spcBef>
                        <a:spcAft>
                          <a:spcPts val="0"/>
                        </a:spcAft>
                        <a:buNone/>
                      </a:pPr>
                      <a:r>
                        <a:rPr lang="en-US" sz="1000">
                          <a:solidFill>
                            <a:srgbClr val="2B303A"/>
                          </a:solidFill>
                          <a:latin typeface="Arial"/>
                          <a:ea typeface="Arial"/>
                          <a:cs typeface="Arial"/>
                          <a:sym typeface="Arial"/>
                        </a:rPr>
                        <a:t>SD</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720×576</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0.4</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4:3</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r h="335875">
                <a:tc>
                  <a:txBody>
                    <a:bodyPr/>
                    <a:lstStyle/>
                    <a:p>
                      <a:pPr indent="0" lvl="0" marL="0" marR="0" rtl="0" algn="l">
                        <a:spcBef>
                          <a:spcPts val="0"/>
                        </a:spcBef>
                        <a:spcAft>
                          <a:spcPts val="0"/>
                        </a:spcAft>
                        <a:buNone/>
                      </a:pPr>
                      <a:r>
                        <a:rPr b="0" lang="en-US" sz="1000" u="none" cap="none" strike="noStrike">
                          <a:solidFill>
                            <a:srgbClr val="2B303A"/>
                          </a:solidFill>
                          <a:latin typeface="Arial"/>
                          <a:ea typeface="Arial"/>
                          <a:cs typeface="Arial"/>
                          <a:sym typeface="Arial"/>
                        </a:rPr>
                        <a:t>720p / HD</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1280×720</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16:9</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r h="335875">
                <a:tc>
                  <a:txBody>
                    <a:bodyPr/>
                    <a:lstStyle/>
                    <a:p>
                      <a:pPr indent="0" lvl="0" marL="0" marR="0" rtl="0" algn="l">
                        <a:spcBef>
                          <a:spcPts val="0"/>
                        </a:spcBef>
                        <a:spcAft>
                          <a:spcPts val="0"/>
                        </a:spcAft>
                        <a:buNone/>
                      </a:pPr>
                      <a:r>
                        <a:rPr b="0" lang="en-US" sz="1000" u="none" cap="none" strike="noStrike">
                          <a:solidFill>
                            <a:srgbClr val="2B303A"/>
                          </a:solidFill>
                          <a:latin typeface="Arial"/>
                          <a:ea typeface="Arial"/>
                          <a:cs typeface="Arial"/>
                          <a:sym typeface="Arial"/>
                        </a:rPr>
                        <a:t>1080p / FHD</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1920×1080</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2</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16:9</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r h="335875">
                <a:tc>
                  <a:txBody>
                    <a:bodyPr/>
                    <a:lstStyle/>
                    <a:p>
                      <a:pPr indent="0" lvl="0" marL="0" marR="0" rtl="0" algn="l">
                        <a:spcBef>
                          <a:spcPts val="0"/>
                        </a:spcBef>
                        <a:spcAft>
                          <a:spcPts val="0"/>
                        </a:spcAft>
                        <a:buNone/>
                      </a:pPr>
                      <a:r>
                        <a:rPr b="0" lang="en-US" sz="1000" u="none" cap="none" strike="noStrike">
                          <a:solidFill>
                            <a:srgbClr val="2B303A"/>
                          </a:solidFill>
                          <a:latin typeface="Arial"/>
                          <a:ea typeface="Arial"/>
                          <a:cs typeface="Arial"/>
                          <a:sym typeface="Arial"/>
                        </a:rPr>
                        <a:t>3MP</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2048×1536</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3</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4:3</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r h="335875">
                <a:tc>
                  <a:txBody>
                    <a:bodyPr/>
                    <a:lstStyle/>
                    <a:p>
                      <a:pPr indent="0" lvl="0" marL="0" marR="0" rtl="0" algn="l">
                        <a:spcBef>
                          <a:spcPts val="0"/>
                        </a:spcBef>
                        <a:spcAft>
                          <a:spcPts val="0"/>
                        </a:spcAft>
                        <a:buNone/>
                      </a:pPr>
                      <a:r>
                        <a:rPr b="0" lang="en-US" sz="1000" u="none" cap="none" strike="noStrike">
                          <a:solidFill>
                            <a:srgbClr val="2B303A"/>
                          </a:solidFill>
                          <a:latin typeface="Arial"/>
                          <a:ea typeface="Arial"/>
                          <a:cs typeface="Arial"/>
                          <a:sym typeface="Arial"/>
                        </a:rPr>
                        <a:t>4MP / QHD</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2560×1440</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4</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16:9</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r h="335875">
                <a:tc>
                  <a:txBody>
                    <a:bodyPr/>
                    <a:lstStyle/>
                    <a:p>
                      <a:pPr indent="0" lvl="0" marL="0" marR="0" rtl="0" algn="l">
                        <a:spcBef>
                          <a:spcPts val="0"/>
                        </a:spcBef>
                        <a:spcAft>
                          <a:spcPts val="0"/>
                        </a:spcAft>
                        <a:buNone/>
                      </a:pPr>
                      <a:r>
                        <a:rPr b="0" lang="en-US" sz="1000" u="none" cap="none" strike="noStrike">
                          <a:solidFill>
                            <a:srgbClr val="2B303A"/>
                          </a:solidFill>
                          <a:latin typeface="Arial"/>
                          <a:ea typeface="Arial"/>
                          <a:cs typeface="Arial"/>
                          <a:sym typeface="Arial"/>
                        </a:rPr>
                        <a:t>5MP</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2592×1944</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5</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4:3</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r h="335875">
                <a:tc>
                  <a:txBody>
                    <a:bodyPr/>
                    <a:lstStyle/>
                    <a:p>
                      <a:pPr indent="0" lvl="0" marL="0" marR="0" rtl="0" algn="l">
                        <a:spcBef>
                          <a:spcPts val="0"/>
                        </a:spcBef>
                        <a:spcAft>
                          <a:spcPts val="0"/>
                        </a:spcAft>
                        <a:buNone/>
                      </a:pPr>
                      <a:r>
                        <a:rPr b="0" lang="en-US" sz="1000" u="none" cap="none" strike="noStrike">
                          <a:solidFill>
                            <a:srgbClr val="2B303A"/>
                          </a:solidFill>
                          <a:latin typeface="Arial"/>
                          <a:ea typeface="Arial"/>
                          <a:cs typeface="Arial"/>
                          <a:sym typeface="Arial"/>
                        </a:rPr>
                        <a:t>4K / UHD</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3840×2160</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8</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000" u="none" cap="none" strike="noStrike">
                          <a:solidFill>
                            <a:srgbClr val="2B303A"/>
                          </a:solidFill>
                          <a:latin typeface="Arial"/>
                          <a:ea typeface="Arial"/>
                          <a:cs typeface="Arial"/>
                          <a:sym typeface="Arial"/>
                        </a:rPr>
                        <a:t>16:9</a:t>
                      </a:r>
                      <a:endParaRPr/>
                    </a:p>
                  </a:txBody>
                  <a:tcPr marT="27425" marB="27425" marR="45725" marL="45725">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40a1274a87e_0_249"/>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a:t>
            </a:r>
            <a:r>
              <a:rPr lang="en-US"/>
              <a:t>Frame rate</a:t>
            </a:r>
            <a:endParaRPr/>
          </a:p>
        </p:txBody>
      </p:sp>
      <p:sp>
        <p:nvSpPr>
          <p:cNvPr id="195" name="Google Shape;195;g40a1274a87e_0_249"/>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fps = Frame Per Second (số khung hình mỗi giây). Phải phân biệt fps cấu hình, fps UI và fps thực tế trong stream.</a:t>
            </a:r>
            <a:endParaRPr sz="1500">
              <a:latin typeface="Comfortaa"/>
              <a:ea typeface="Comfortaa"/>
              <a:cs typeface="Comfortaa"/>
              <a:sym typeface="Comfortaa"/>
            </a:endParaRPr>
          </a:p>
        </p:txBody>
      </p:sp>
      <p:sp>
        <p:nvSpPr>
          <p:cNvPr id="196" name="Google Shape;196;g40a1274a87e_0_2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97" name="Google Shape;197;g40a1274a87e_0_249"/>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sp>
        <p:nvSpPr>
          <p:cNvPr id="198" name="Google Shape;198;g40a1274a87e_0_249"/>
          <p:cNvSpPr/>
          <p:nvPr/>
        </p:nvSpPr>
        <p:spPr>
          <a:xfrm>
            <a:off x="556250" y="2308251"/>
            <a:ext cx="3617700" cy="1549500"/>
          </a:xfrm>
          <a:prstGeom prst="roundRect">
            <a:avLst>
              <a:gd fmla="val 16667" name="adj"/>
            </a:avLst>
          </a:prstGeom>
          <a:solidFill>
            <a:srgbClr val="FFFFFF"/>
          </a:solidFill>
          <a:ln cap="flat" cmpd="sng" w="9850">
            <a:solidFill>
              <a:srgbClr val="DDE2EA"/>
            </a:solidFill>
            <a:prstDash val="solid"/>
            <a:round/>
            <a:headEnd len="sm" w="sm" type="none"/>
            <a:tailEnd len="sm" w="sm" type="none"/>
          </a:ln>
          <a:effectLst>
            <a:outerShdw blurRad="31031" rotWithShape="0" dir="5400000" dist="17843">
              <a:srgbClr val="000000">
                <a:alpha val="34900"/>
              </a:srgbClr>
            </a:outerShdw>
          </a:effectLst>
        </p:spPr>
        <p:txBody>
          <a:bodyPr anchorCtr="0" anchor="ctr" bIns="35450" lIns="70925" spcFirstLastPara="1" rIns="70925" wrap="square" tIns="35450">
            <a:noAutofit/>
          </a:bodyPr>
          <a:lstStyle/>
          <a:p>
            <a:pPr indent="0" lvl="0" marL="0" marR="0" rtl="0" algn="ctr">
              <a:spcBef>
                <a:spcPts val="0"/>
              </a:spcBef>
              <a:spcAft>
                <a:spcPts val="0"/>
              </a:spcAft>
              <a:buNone/>
            </a:pPr>
            <a:r>
              <a:t/>
            </a:r>
            <a:endParaRPr i="0" sz="1396" u="none" cap="none" strike="noStrike">
              <a:solidFill>
                <a:srgbClr val="000000"/>
              </a:solidFill>
              <a:latin typeface="Comfortaa"/>
              <a:ea typeface="Comfortaa"/>
              <a:cs typeface="Comfortaa"/>
              <a:sym typeface="Comfortaa"/>
            </a:endParaRPr>
          </a:p>
        </p:txBody>
      </p:sp>
      <p:sp>
        <p:nvSpPr>
          <p:cNvPr id="199" name="Google Shape;199;g40a1274a87e_0_249"/>
          <p:cNvSpPr txBox="1"/>
          <p:nvPr/>
        </p:nvSpPr>
        <p:spPr>
          <a:xfrm>
            <a:off x="769061" y="2521046"/>
            <a:ext cx="31920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6EBE"/>
                </a:solidFill>
                <a:latin typeface="Comfortaa"/>
                <a:ea typeface="Comfortaa"/>
                <a:cs typeface="Comfortaa"/>
                <a:sym typeface="Comfortaa"/>
              </a:rPr>
              <a:t>MỨC FPS THƯỜNG GẶP</a:t>
            </a:r>
            <a:endParaRPr sz="1500">
              <a:latin typeface="Comfortaa"/>
              <a:ea typeface="Comfortaa"/>
              <a:cs typeface="Comfortaa"/>
              <a:sym typeface="Comfortaa"/>
            </a:endParaRPr>
          </a:p>
        </p:txBody>
      </p:sp>
      <p:sp>
        <p:nvSpPr>
          <p:cNvPr id="200" name="Google Shape;200;g40a1274a87e_0_249"/>
          <p:cNvSpPr txBox="1"/>
          <p:nvPr/>
        </p:nvSpPr>
        <p:spPr>
          <a:xfrm>
            <a:off x="804525" y="2875725"/>
            <a:ext cx="11385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965B"/>
                </a:solidFill>
                <a:latin typeface="Comfortaa"/>
                <a:ea typeface="Comfortaa"/>
                <a:cs typeface="Comfortaa"/>
                <a:sym typeface="Comfortaa"/>
              </a:rPr>
              <a:t>25–30 fps</a:t>
            </a:r>
            <a:endParaRPr sz="1500">
              <a:latin typeface="Comfortaa"/>
              <a:ea typeface="Comfortaa"/>
              <a:cs typeface="Comfortaa"/>
              <a:sym typeface="Comfortaa"/>
            </a:endParaRPr>
          </a:p>
        </p:txBody>
      </p:sp>
      <p:sp>
        <p:nvSpPr>
          <p:cNvPr id="201" name="Google Shape;201;g40a1274a87e_0_249"/>
          <p:cNvSpPr txBox="1"/>
          <p:nvPr/>
        </p:nvSpPr>
        <p:spPr>
          <a:xfrm>
            <a:off x="2259989" y="2875725"/>
            <a:ext cx="17085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303A"/>
                </a:solidFill>
                <a:latin typeface="Comfortaa"/>
                <a:ea typeface="Comfortaa"/>
                <a:cs typeface="Comfortaa"/>
                <a:sym typeface="Comfortaa"/>
              </a:rPr>
              <a:t>mượt</a:t>
            </a:r>
            <a:endParaRPr sz="1500">
              <a:latin typeface="Comfortaa"/>
              <a:ea typeface="Comfortaa"/>
              <a:cs typeface="Comfortaa"/>
              <a:sym typeface="Comfortaa"/>
            </a:endParaRPr>
          </a:p>
        </p:txBody>
      </p:sp>
      <p:sp>
        <p:nvSpPr>
          <p:cNvPr id="202" name="Google Shape;202;g40a1274a87e_0_249"/>
          <p:cNvSpPr txBox="1"/>
          <p:nvPr/>
        </p:nvSpPr>
        <p:spPr>
          <a:xfrm>
            <a:off x="804523" y="3230400"/>
            <a:ext cx="10728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EB8F2D"/>
                </a:solidFill>
                <a:latin typeface="Comfortaa"/>
                <a:ea typeface="Comfortaa"/>
                <a:cs typeface="Comfortaa"/>
                <a:sym typeface="Comfortaa"/>
              </a:rPr>
              <a:t>15 fps</a:t>
            </a:r>
            <a:endParaRPr sz="1500">
              <a:latin typeface="Comfortaa"/>
              <a:ea typeface="Comfortaa"/>
              <a:cs typeface="Comfortaa"/>
              <a:sym typeface="Comfortaa"/>
            </a:endParaRPr>
          </a:p>
        </p:txBody>
      </p:sp>
      <p:sp>
        <p:nvSpPr>
          <p:cNvPr id="203" name="Google Shape;203;g40a1274a87e_0_249"/>
          <p:cNvSpPr txBox="1"/>
          <p:nvPr/>
        </p:nvSpPr>
        <p:spPr>
          <a:xfrm>
            <a:off x="2259989" y="3230402"/>
            <a:ext cx="17085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303A"/>
                </a:solidFill>
                <a:latin typeface="Comfortaa"/>
                <a:ea typeface="Comfortaa"/>
                <a:cs typeface="Comfortaa"/>
                <a:sym typeface="Comfortaa"/>
              </a:rPr>
              <a:t>đủ dùng</a:t>
            </a:r>
            <a:endParaRPr sz="1500">
              <a:latin typeface="Comfortaa"/>
              <a:ea typeface="Comfortaa"/>
              <a:cs typeface="Comfortaa"/>
              <a:sym typeface="Comfortaa"/>
            </a:endParaRPr>
          </a:p>
        </p:txBody>
      </p:sp>
      <p:sp>
        <p:nvSpPr>
          <p:cNvPr id="204" name="Google Shape;204;g40a1274a87e_0_249"/>
          <p:cNvSpPr txBox="1"/>
          <p:nvPr/>
        </p:nvSpPr>
        <p:spPr>
          <a:xfrm>
            <a:off x="804525" y="3585075"/>
            <a:ext cx="10728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D04848"/>
                </a:solidFill>
                <a:latin typeface="Comfortaa"/>
                <a:ea typeface="Comfortaa"/>
                <a:cs typeface="Comfortaa"/>
                <a:sym typeface="Comfortaa"/>
              </a:rPr>
              <a:t>&lt; 10 fps</a:t>
            </a:r>
            <a:endParaRPr sz="1500">
              <a:latin typeface="Comfortaa"/>
              <a:ea typeface="Comfortaa"/>
              <a:cs typeface="Comfortaa"/>
              <a:sym typeface="Comfortaa"/>
            </a:endParaRPr>
          </a:p>
        </p:txBody>
      </p:sp>
      <p:sp>
        <p:nvSpPr>
          <p:cNvPr id="205" name="Google Shape;205;g40a1274a87e_0_249"/>
          <p:cNvSpPr txBox="1"/>
          <p:nvPr/>
        </p:nvSpPr>
        <p:spPr>
          <a:xfrm>
            <a:off x="2259989" y="3585078"/>
            <a:ext cx="17085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303A"/>
                </a:solidFill>
                <a:latin typeface="Comfortaa"/>
                <a:ea typeface="Comfortaa"/>
                <a:cs typeface="Comfortaa"/>
                <a:sym typeface="Comfortaa"/>
              </a:rPr>
              <a:t>dễ giật</a:t>
            </a:r>
            <a:endParaRPr sz="1500">
              <a:latin typeface="Comfortaa"/>
              <a:ea typeface="Comfortaa"/>
              <a:cs typeface="Comfortaa"/>
              <a:sym typeface="Comfortaa"/>
            </a:endParaRPr>
          </a:p>
        </p:txBody>
      </p:sp>
      <p:sp>
        <p:nvSpPr>
          <p:cNvPr id="206" name="Google Shape;206;g40a1274a87e_0_249"/>
          <p:cNvSpPr/>
          <p:nvPr/>
        </p:nvSpPr>
        <p:spPr>
          <a:xfrm>
            <a:off x="4351325" y="2308251"/>
            <a:ext cx="4752900" cy="1549500"/>
          </a:xfrm>
          <a:prstGeom prst="roundRect">
            <a:avLst>
              <a:gd fmla="val 16667" name="adj"/>
            </a:avLst>
          </a:prstGeom>
          <a:solidFill>
            <a:srgbClr val="FFFFFF"/>
          </a:solidFill>
          <a:ln cap="flat" cmpd="sng" w="9850">
            <a:solidFill>
              <a:srgbClr val="DDE2EA"/>
            </a:solidFill>
            <a:prstDash val="solid"/>
            <a:round/>
            <a:headEnd len="sm" w="sm" type="none"/>
            <a:tailEnd len="sm" w="sm" type="none"/>
          </a:ln>
          <a:effectLst>
            <a:outerShdw blurRad="31031" rotWithShape="0" dir="5400000" dist="17843">
              <a:srgbClr val="000000">
                <a:alpha val="34900"/>
              </a:srgbClr>
            </a:outerShdw>
          </a:effectLst>
        </p:spPr>
        <p:txBody>
          <a:bodyPr anchorCtr="0" anchor="ctr" bIns="35450" lIns="70925" spcFirstLastPara="1" rIns="70925" wrap="square" tIns="35450">
            <a:noAutofit/>
          </a:bodyPr>
          <a:lstStyle/>
          <a:p>
            <a:pPr indent="0" lvl="0" marL="0" marR="0" rtl="0" algn="ctr">
              <a:spcBef>
                <a:spcPts val="0"/>
              </a:spcBef>
              <a:spcAft>
                <a:spcPts val="0"/>
              </a:spcAft>
              <a:buNone/>
            </a:pPr>
            <a:r>
              <a:t/>
            </a:r>
            <a:endParaRPr b="0" i="0" sz="1396" u="none" cap="none" strike="noStrike">
              <a:solidFill>
                <a:srgbClr val="000000"/>
              </a:solidFill>
              <a:latin typeface="Calibri"/>
              <a:ea typeface="Calibri"/>
              <a:cs typeface="Calibri"/>
              <a:sym typeface="Calibri"/>
            </a:endParaRPr>
          </a:p>
        </p:txBody>
      </p:sp>
      <p:sp>
        <p:nvSpPr>
          <p:cNvPr id="207" name="Google Shape;207;g40a1274a87e_0_249"/>
          <p:cNvSpPr txBox="1"/>
          <p:nvPr/>
        </p:nvSpPr>
        <p:spPr>
          <a:xfrm>
            <a:off x="4564145" y="2521046"/>
            <a:ext cx="4256100" cy="2595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6EBE"/>
                </a:solidFill>
                <a:latin typeface="Comfortaa"/>
                <a:ea typeface="Comfortaa"/>
                <a:cs typeface="Comfortaa"/>
                <a:sym typeface="Comfortaa"/>
              </a:rPr>
              <a:t>ĐÊM TỐI: FPS THỰC CÓ THỂ TỤT</a:t>
            </a:r>
            <a:endParaRPr sz="1500">
              <a:latin typeface="Comfortaa"/>
              <a:ea typeface="Comfortaa"/>
              <a:cs typeface="Comfortaa"/>
              <a:sym typeface="Comfortaa"/>
            </a:endParaRPr>
          </a:p>
        </p:txBody>
      </p:sp>
      <p:sp>
        <p:nvSpPr>
          <p:cNvPr id="208" name="Google Shape;208;g40a1274a87e_0_249"/>
          <p:cNvSpPr txBox="1"/>
          <p:nvPr/>
        </p:nvSpPr>
        <p:spPr>
          <a:xfrm>
            <a:off x="4564145" y="2854444"/>
            <a:ext cx="4220700" cy="952200"/>
          </a:xfrm>
          <a:prstGeom prst="rect">
            <a:avLst/>
          </a:prstGeom>
          <a:noFill/>
          <a:ln>
            <a:noFill/>
          </a:ln>
        </p:spPr>
        <p:txBody>
          <a:bodyPr anchorCtr="0" anchor="t" bIns="14175" lIns="28375" spcFirstLastPara="1" rIns="28375" wrap="square" tIns="14175">
            <a:spAutoFit/>
          </a:bodyPr>
          <a:lstStyle/>
          <a:p>
            <a:pPr indent="0" lvl="0" marL="0" marR="0" rtl="0" algn="l">
              <a:spcBef>
                <a:spcPts val="0"/>
              </a:spcBef>
              <a:spcAft>
                <a:spcPts val="0"/>
              </a:spcAft>
              <a:buNone/>
            </a:pPr>
            <a:r>
              <a:rPr i="0" lang="en-US" sz="1500" u="none" cap="none" strike="noStrike">
                <a:solidFill>
                  <a:srgbClr val="2B303A"/>
                </a:solidFill>
                <a:latin typeface="Comfortaa"/>
                <a:ea typeface="Comfortaa"/>
                <a:cs typeface="Comfortaa"/>
                <a:sym typeface="Comfortaa"/>
              </a:rPr>
              <a:t>AE kéo dài shutter → cảm biến cần nhiều thời gian hơn cho mỗi frame → fps thực tế giảm. Đây có thể là hành vi bình thường, không phải bug.</a:t>
            </a:r>
            <a:endParaRPr sz="1500">
              <a:latin typeface="Comfortaa"/>
              <a:ea typeface="Comfortaa"/>
              <a:cs typeface="Comfortaa"/>
              <a:sym typeface="Comfortaa"/>
            </a:endParaRPr>
          </a:p>
        </p:txBody>
      </p:sp>
      <p:sp>
        <p:nvSpPr>
          <p:cNvPr id="209" name="Google Shape;209;g40a1274a87e_0_249"/>
          <p:cNvSpPr txBox="1"/>
          <p:nvPr/>
        </p:nvSpPr>
        <p:spPr>
          <a:xfrm>
            <a:off x="568450" y="4260725"/>
            <a:ext cx="8216400" cy="468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i="0" lang="en-US" u="none" cap="none" strike="noStrike">
                <a:solidFill>
                  <a:schemeClr val="accent3"/>
                </a:solidFill>
                <a:latin typeface="Comfortaa"/>
                <a:ea typeface="Comfortaa"/>
                <a:cs typeface="Comfortaa"/>
                <a:sym typeface="Comfortaa"/>
              </a:rPr>
              <a:t>ffprobe -v error -rtsp_transport tcp -i "rtsp://</a:t>
            </a:r>
            <a:r>
              <a:rPr lang="en-US">
                <a:solidFill>
                  <a:schemeClr val="accent3"/>
                </a:solidFill>
                <a:latin typeface="Comfortaa"/>
                <a:ea typeface="Comfortaa"/>
                <a:cs typeface="Comfortaa"/>
                <a:sym typeface="Comfortaa"/>
              </a:rPr>
              <a:t>…</a:t>
            </a:r>
            <a:r>
              <a:rPr i="0" lang="en-US" u="none" cap="none" strike="noStrike">
                <a:solidFill>
                  <a:schemeClr val="accent3"/>
                </a:solidFill>
                <a:latin typeface="Comfortaa"/>
                <a:ea typeface="Comfortaa"/>
                <a:cs typeface="Comfortaa"/>
                <a:sym typeface="Comfortaa"/>
              </a:rPr>
              <a:t>" \</a:t>
            </a:r>
            <a:br>
              <a:rPr i="0" lang="en-US" u="none" cap="none" strike="noStrike">
                <a:solidFill>
                  <a:schemeClr val="accent3"/>
                </a:solidFill>
                <a:latin typeface="Comfortaa"/>
                <a:ea typeface="Comfortaa"/>
                <a:cs typeface="Comfortaa"/>
                <a:sym typeface="Comfortaa"/>
              </a:rPr>
            </a:br>
            <a:r>
              <a:rPr i="0" lang="en-US" u="none" cap="none" strike="noStrike">
                <a:solidFill>
                  <a:schemeClr val="accent3"/>
                </a:solidFill>
                <a:latin typeface="Comfortaa"/>
                <a:ea typeface="Comfortaa"/>
                <a:cs typeface="Comfortaa"/>
                <a:sym typeface="Comfortaa"/>
              </a:rPr>
              <a:t>  -select_streams v:0 -show_entries stream=r_frame_rate,avg_frame_rate -of csv</a:t>
            </a:r>
            <a:endParaRPr>
              <a:solidFill>
                <a:schemeClr val="accent3"/>
              </a:solidFill>
              <a:latin typeface="Comfortaa"/>
              <a:ea typeface="Comfortaa"/>
              <a:cs typeface="Comfortaa"/>
              <a:sym typeface="Comforta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40a1274a87e_0_272"/>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a:t>
            </a:r>
            <a:r>
              <a:rPr lang="en-US"/>
              <a:t>Bitrate</a:t>
            </a:r>
            <a:endParaRPr/>
          </a:p>
        </p:txBody>
      </p:sp>
      <p:sp>
        <p:nvSpPr>
          <p:cNvPr id="215" name="Google Shape;215;g40a1274a87e_0_272"/>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Bitrate = lượng dữ liệu mỗi giây. MP cao nhưng bitrate quá thấp vẫn cho hình ảnh kém.</a:t>
            </a:r>
            <a:endParaRPr sz="1500">
              <a:latin typeface="Comfortaa"/>
              <a:ea typeface="Comfortaa"/>
              <a:cs typeface="Comfortaa"/>
              <a:sym typeface="Comfortaa"/>
            </a:endParaRPr>
          </a:p>
          <a:p>
            <a:pPr indent="0" lvl="0" marL="457200" rtl="0" algn="l">
              <a:lnSpc>
                <a:spcPct val="100000"/>
              </a:lnSpc>
              <a:spcBef>
                <a:spcPts val="0"/>
              </a:spcBef>
              <a:spcAft>
                <a:spcPts val="0"/>
              </a:spcAft>
              <a:buNone/>
            </a:pPr>
            <a:r>
              <a:t/>
            </a:r>
            <a:endParaRPr sz="1500">
              <a:latin typeface="Comfortaa"/>
              <a:ea typeface="Comfortaa"/>
              <a:cs typeface="Comfortaa"/>
              <a:sym typeface="Comfortaa"/>
            </a:endParaRPr>
          </a:p>
        </p:txBody>
      </p:sp>
      <p:sp>
        <p:nvSpPr>
          <p:cNvPr id="216" name="Google Shape;216;g40a1274a87e_0_27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17" name="Google Shape;217;g40a1274a87e_0_272"/>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sp>
        <p:nvSpPr>
          <p:cNvPr id="218" name="Google Shape;218;g40a1274a87e_0_272"/>
          <p:cNvSpPr/>
          <p:nvPr/>
        </p:nvSpPr>
        <p:spPr>
          <a:xfrm>
            <a:off x="832485" y="2103120"/>
            <a:ext cx="3794700" cy="2011800"/>
          </a:xfrm>
          <a:prstGeom prst="roundRect">
            <a:avLst>
              <a:gd fmla="val 16667" name="adj"/>
            </a:avLst>
          </a:prstGeom>
          <a:solidFill>
            <a:srgbClr val="FFFFFF"/>
          </a:solidFill>
          <a:ln cap="flat" cmpd="sng" w="12700">
            <a:solidFill>
              <a:srgbClr val="DDE2E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19" name="Google Shape;219;g40a1274a87e_0_272"/>
          <p:cNvSpPr txBox="1"/>
          <p:nvPr/>
        </p:nvSpPr>
        <p:spPr>
          <a:xfrm>
            <a:off x="1033653" y="2231136"/>
            <a:ext cx="3474600" cy="186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500" u="none" cap="none" strike="noStrike">
                <a:solidFill>
                  <a:srgbClr val="2B303A"/>
                </a:solidFill>
                <a:latin typeface="Comfortaa"/>
                <a:ea typeface="Comfortaa"/>
                <a:cs typeface="Comfortaa"/>
                <a:sym typeface="Comfortaa"/>
              </a:rPr>
              <a:t>• Bitrate (Mbps) ảnh hưởng trực tiếp đến lượng thông tin được giữ lại.</a:t>
            </a:r>
            <a:endParaRPr sz="1500">
              <a:latin typeface="Comfortaa"/>
              <a:ea typeface="Comfortaa"/>
              <a:cs typeface="Comfortaa"/>
              <a:sym typeface="Comfortaa"/>
            </a:endParaRPr>
          </a:p>
          <a:p>
            <a:pPr indent="0" lvl="0" marL="0" marR="0" rtl="0" algn="l">
              <a:spcBef>
                <a:spcPts val="600"/>
              </a:spcBef>
              <a:spcAft>
                <a:spcPts val="0"/>
              </a:spcAft>
              <a:buNone/>
            </a:pPr>
            <a:r>
              <a:rPr i="0" lang="en-US" sz="1500" u="none" cap="none" strike="noStrike">
                <a:solidFill>
                  <a:srgbClr val="2B303A"/>
                </a:solidFill>
                <a:latin typeface="Comfortaa"/>
                <a:ea typeface="Comfortaa"/>
                <a:cs typeface="Comfortaa"/>
                <a:sym typeface="Comfortaa"/>
              </a:rPr>
              <a:t>• Bitrate thấp + nhiều chuyển động → blocking / hình bệt.</a:t>
            </a:r>
            <a:endParaRPr sz="1500">
              <a:latin typeface="Comfortaa"/>
              <a:ea typeface="Comfortaa"/>
              <a:cs typeface="Comfortaa"/>
              <a:sym typeface="Comfortaa"/>
            </a:endParaRPr>
          </a:p>
          <a:p>
            <a:pPr indent="0" lvl="0" marL="0" marR="0" rtl="0" algn="l">
              <a:spcBef>
                <a:spcPts val="600"/>
              </a:spcBef>
              <a:spcAft>
                <a:spcPts val="0"/>
              </a:spcAft>
              <a:buNone/>
            </a:pPr>
            <a:r>
              <a:rPr i="0" lang="en-US" sz="1500" u="none" cap="none" strike="noStrike">
                <a:solidFill>
                  <a:srgbClr val="2B303A"/>
                </a:solidFill>
                <a:latin typeface="Comfortaa"/>
                <a:ea typeface="Comfortaa"/>
                <a:cs typeface="Comfortaa"/>
                <a:sym typeface="Comfortaa"/>
              </a:rPr>
              <a:t>• Gợi ý H.265: 1080p ≈ 2–3 Mbps; 4MP ≈ 3–4 Mbps; 4K ≈ 6–8 Mbps.</a:t>
            </a:r>
            <a:endParaRPr sz="1500">
              <a:latin typeface="Comfortaa"/>
              <a:ea typeface="Comfortaa"/>
              <a:cs typeface="Comfortaa"/>
              <a:sym typeface="Comfortaa"/>
            </a:endParaRPr>
          </a:p>
        </p:txBody>
      </p:sp>
      <p:sp>
        <p:nvSpPr>
          <p:cNvPr id="220" name="Google Shape;220;g40a1274a87e_0_272"/>
          <p:cNvSpPr/>
          <p:nvPr/>
        </p:nvSpPr>
        <p:spPr>
          <a:xfrm>
            <a:off x="4947285" y="2103120"/>
            <a:ext cx="3200400" cy="2011800"/>
          </a:xfrm>
          <a:prstGeom prst="roundRect">
            <a:avLst>
              <a:gd fmla="val 16667" name="adj"/>
            </a:avLst>
          </a:prstGeom>
          <a:solidFill>
            <a:srgbClr val="FFFFFF"/>
          </a:solidFill>
          <a:ln cap="flat" cmpd="sng" w="12700">
            <a:solidFill>
              <a:srgbClr val="DDE2E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21" name="Google Shape;221;g40a1274a87e_0_272"/>
          <p:cNvSpPr txBox="1"/>
          <p:nvPr/>
        </p:nvSpPr>
        <p:spPr>
          <a:xfrm>
            <a:off x="5221605" y="2331720"/>
            <a:ext cx="26517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1300" u="none" cap="none" strike="noStrike">
                <a:solidFill>
                  <a:srgbClr val="2B6EBE"/>
                </a:solidFill>
                <a:latin typeface="Comfortaa"/>
                <a:ea typeface="Comfortaa"/>
                <a:cs typeface="Comfortaa"/>
                <a:sym typeface="Comfortaa"/>
              </a:rPr>
              <a:t>CÙNG 4K</a:t>
            </a:r>
            <a:endParaRPr>
              <a:latin typeface="Comfortaa"/>
              <a:ea typeface="Comfortaa"/>
              <a:cs typeface="Comfortaa"/>
              <a:sym typeface="Comfortaa"/>
            </a:endParaRPr>
          </a:p>
        </p:txBody>
      </p:sp>
      <p:sp>
        <p:nvSpPr>
          <p:cNvPr id="222" name="Google Shape;222;g40a1274a87e_0_272"/>
          <p:cNvSpPr txBox="1"/>
          <p:nvPr/>
        </p:nvSpPr>
        <p:spPr>
          <a:xfrm>
            <a:off x="5221605" y="2834640"/>
            <a:ext cx="1143000" cy="3756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2200" u="none" cap="none" strike="noStrike">
                <a:solidFill>
                  <a:srgbClr val="2B965B"/>
                </a:solidFill>
                <a:latin typeface="Comfortaa"/>
                <a:ea typeface="Comfortaa"/>
                <a:cs typeface="Comfortaa"/>
                <a:sym typeface="Comfortaa"/>
              </a:rPr>
              <a:t>8 Mbps</a:t>
            </a:r>
            <a:endParaRPr>
              <a:latin typeface="Comfortaa"/>
              <a:ea typeface="Comfortaa"/>
              <a:cs typeface="Comfortaa"/>
              <a:sym typeface="Comfortaa"/>
            </a:endParaRPr>
          </a:p>
        </p:txBody>
      </p:sp>
      <p:sp>
        <p:nvSpPr>
          <p:cNvPr id="223" name="Google Shape;223;g40a1274a87e_0_272"/>
          <p:cNvSpPr txBox="1"/>
          <p:nvPr/>
        </p:nvSpPr>
        <p:spPr>
          <a:xfrm>
            <a:off x="6410325" y="2834640"/>
            <a:ext cx="1143000" cy="3756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2200" u="none" cap="none" strike="noStrike">
                <a:solidFill>
                  <a:srgbClr val="D04848"/>
                </a:solidFill>
                <a:latin typeface="Comfortaa"/>
                <a:ea typeface="Comfortaa"/>
                <a:cs typeface="Comfortaa"/>
                <a:sym typeface="Comfortaa"/>
              </a:rPr>
              <a:t>2 Mbps</a:t>
            </a:r>
            <a:endParaRPr>
              <a:latin typeface="Comfortaa"/>
              <a:ea typeface="Comfortaa"/>
              <a:cs typeface="Comfortaa"/>
              <a:sym typeface="Comfortaa"/>
            </a:endParaRPr>
          </a:p>
        </p:txBody>
      </p:sp>
      <p:sp>
        <p:nvSpPr>
          <p:cNvPr id="224" name="Google Shape;224;g40a1274a87e_0_272"/>
          <p:cNvSpPr txBox="1"/>
          <p:nvPr/>
        </p:nvSpPr>
        <p:spPr>
          <a:xfrm>
            <a:off x="5130165" y="3337560"/>
            <a:ext cx="1326000" cy="2217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1200" u="none" cap="none" strike="noStrike">
                <a:solidFill>
                  <a:srgbClr val="2B965B"/>
                </a:solidFill>
                <a:latin typeface="Comfortaa"/>
                <a:ea typeface="Comfortaa"/>
                <a:cs typeface="Comfortaa"/>
                <a:sym typeface="Comfortaa"/>
              </a:rPr>
              <a:t>chi tiết tốt</a:t>
            </a:r>
            <a:endParaRPr>
              <a:latin typeface="Comfortaa"/>
              <a:ea typeface="Comfortaa"/>
              <a:cs typeface="Comfortaa"/>
              <a:sym typeface="Comfortaa"/>
            </a:endParaRPr>
          </a:p>
        </p:txBody>
      </p:sp>
      <p:sp>
        <p:nvSpPr>
          <p:cNvPr id="225" name="Google Shape;225;g40a1274a87e_0_272"/>
          <p:cNvSpPr txBox="1"/>
          <p:nvPr/>
        </p:nvSpPr>
        <p:spPr>
          <a:xfrm>
            <a:off x="6318885" y="3337560"/>
            <a:ext cx="1326000" cy="2217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1200" u="none" cap="none" strike="noStrike">
                <a:solidFill>
                  <a:srgbClr val="D04848"/>
                </a:solidFill>
                <a:latin typeface="Comfortaa"/>
                <a:ea typeface="Comfortaa"/>
                <a:cs typeface="Comfortaa"/>
                <a:sym typeface="Comfortaa"/>
              </a:rPr>
              <a:t>dễ bệt</a:t>
            </a:r>
            <a:endParaRPr>
              <a:latin typeface="Comfortaa"/>
              <a:ea typeface="Comfortaa"/>
              <a:cs typeface="Comfortaa"/>
              <a:sym typeface="Comfortaa"/>
            </a:endParaRPr>
          </a:p>
        </p:txBody>
      </p:sp>
      <p:sp>
        <p:nvSpPr>
          <p:cNvPr id="226" name="Google Shape;226;g40a1274a87e_0_272"/>
          <p:cNvSpPr txBox="1"/>
          <p:nvPr/>
        </p:nvSpPr>
        <p:spPr>
          <a:xfrm>
            <a:off x="495300" y="4276725"/>
            <a:ext cx="8620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accent3"/>
                </a:solidFill>
                <a:latin typeface="Comfortaa"/>
                <a:ea typeface="Comfortaa"/>
                <a:cs typeface="Comfortaa"/>
                <a:sym typeface="Comfortaa"/>
              </a:rPr>
              <a:t>ffmpeg -rtsp_transport tcp -i "rtsp://…" -t 60 -c copy -f mp4 test.mp4</a:t>
            </a:r>
            <a:br>
              <a:rPr lang="en-US">
                <a:solidFill>
                  <a:schemeClr val="accent3"/>
                </a:solidFill>
                <a:latin typeface="Comfortaa"/>
                <a:ea typeface="Comfortaa"/>
                <a:cs typeface="Comfortaa"/>
                <a:sym typeface="Comfortaa"/>
              </a:rPr>
            </a:br>
            <a:r>
              <a:rPr lang="en-US">
                <a:solidFill>
                  <a:schemeClr val="accent3"/>
                </a:solidFill>
                <a:latin typeface="Comfortaa"/>
                <a:ea typeface="Comfortaa"/>
                <a:cs typeface="Comfortaa"/>
                <a:sym typeface="Comfortaa"/>
              </a:rPr>
              <a:t>ffprobe -v error -show_entries format=bit_rate,duration -of default=nw=1 test.mp4</a:t>
            </a:r>
            <a:endParaRPr>
              <a:solidFill>
                <a:schemeClr val="accent3"/>
              </a:solidFill>
              <a:latin typeface="Comfortaa"/>
              <a:ea typeface="Comfortaa"/>
              <a:cs typeface="Comfortaa"/>
              <a:sym typeface="Comforta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40a1274a87e_0_30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Bitrate - </a:t>
            </a:r>
            <a:r>
              <a:rPr lang="en-US"/>
              <a:t>CBR &amp; VBR</a:t>
            </a:r>
            <a:endParaRPr/>
          </a:p>
        </p:txBody>
      </p:sp>
      <p:sp>
        <p:nvSpPr>
          <p:cNvPr id="232" name="Google Shape;232;g40a1274a87e_0_304"/>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SzPts val="1500"/>
              <a:buFont typeface="Comfortaa"/>
              <a:buChar char="-"/>
            </a:pPr>
            <a:r>
              <a:rPr lang="en-US" sz="1500">
                <a:latin typeface="Comfortaa"/>
                <a:ea typeface="Comfortaa"/>
                <a:cs typeface="Comfortaa"/>
                <a:sym typeface="Comfortaa"/>
              </a:rPr>
              <a:t>Chọn chế độ mã hóa dựa trên mục tiêu: dự đoán băng thông / lưu trữ hay tiết kiệm dung lượng.</a:t>
            </a:r>
            <a:endParaRPr sz="1500">
              <a:latin typeface="Comfortaa"/>
              <a:ea typeface="Comfortaa"/>
              <a:cs typeface="Comfortaa"/>
              <a:sym typeface="Comfortaa"/>
            </a:endParaRPr>
          </a:p>
          <a:p>
            <a:pPr indent="-323850" lvl="0" marL="457200" rtl="0" algn="l">
              <a:lnSpc>
                <a:spcPct val="100000"/>
              </a:lnSpc>
              <a:spcBef>
                <a:spcPts val="0"/>
              </a:spcBef>
              <a:spcAft>
                <a:spcPts val="0"/>
              </a:spcAft>
              <a:buSzPts val="1500"/>
              <a:buFont typeface="Comfortaa"/>
              <a:buChar char="-"/>
            </a:pPr>
            <a:r>
              <a:t/>
            </a:r>
            <a:endParaRPr sz="1500">
              <a:latin typeface="Comfortaa"/>
              <a:ea typeface="Comfortaa"/>
              <a:cs typeface="Comfortaa"/>
              <a:sym typeface="Comfortaa"/>
            </a:endParaRPr>
          </a:p>
        </p:txBody>
      </p:sp>
      <p:sp>
        <p:nvSpPr>
          <p:cNvPr id="233" name="Google Shape;233;g40a1274a87e_0_30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4" name="Google Shape;234;g40a1274a87e_0_304"/>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1300" u="none" cap="none" strike="noStrike">
                <a:solidFill>
                  <a:srgbClr val="FFFFFF"/>
                </a:solidFill>
                <a:latin typeface="Comfortaa"/>
                <a:ea typeface="Comfortaa"/>
                <a:cs typeface="Comfortaa"/>
                <a:sym typeface="Comfortaa"/>
              </a:rPr>
              <a:t>BITRATE</a:t>
            </a:r>
            <a:endParaRPr>
              <a:latin typeface="Comfortaa"/>
              <a:ea typeface="Comfortaa"/>
              <a:cs typeface="Comfortaa"/>
              <a:sym typeface="Comfortaa"/>
            </a:endParaRPr>
          </a:p>
        </p:txBody>
      </p:sp>
      <p:sp>
        <p:nvSpPr>
          <p:cNvPr id="235" name="Google Shape;235;g40a1274a87e_0_304"/>
          <p:cNvSpPr/>
          <p:nvPr/>
        </p:nvSpPr>
        <p:spPr>
          <a:xfrm>
            <a:off x="213350" y="2083177"/>
            <a:ext cx="4095900" cy="2243700"/>
          </a:xfrm>
          <a:prstGeom prst="roundRect">
            <a:avLst>
              <a:gd fmla="val 16667" name="adj"/>
            </a:avLst>
          </a:prstGeom>
          <a:solidFill>
            <a:srgbClr val="FFFFFF"/>
          </a:solidFill>
          <a:ln cap="flat" cmpd="sng" w="9900">
            <a:solidFill>
              <a:srgbClr val="2B6EBE"/>
            </a:solidFill>
            <a:prstDash val="solid"/>
            <a:round/>
            <a:headEnd len="sm" w="sm" type="none"/>
            <a:tailEnd len="sm" w="sm" type="none"/>
          </a:ln>
          <a:effectLst>
            <a:outerShdw blurRad="31160" rotWithShape="0" dir="5400000" dist="17917">
              <a:srgbClr val="000000">
                <a:alpha val="34900"/>
              </a:srgbClr>
            </a:outerShdw>
          </a:effectLst>
        </p:spPr>
        <p:txBody>
          <a:bodyPr anchorCtr="0" anchor="ctr" bIns="35600" lIns="71225" spcFirstLastPara="1" rIns="71225" wrap="square" tIns="35600">
            <a:noAutofit/>
          </a:bodyPr>
          <a:lstStyle/>
          <a:p>
            <a:pPr indent="0" lvl="0" marL="0" marR="0" rtl="0" algn="ctr">
              <a:spcBef>
                <a:spcPts val="0"/>
              </a:spcBef>
              <a:spcAft>
                <a:spcPts val="0"/>
              </a:spcAft>
              <a:buNone/>
            </a:pPr>
            <a:r>
              <a:t/>
            </a:r>
            <a:endParaRPr i="0" sz="1402" u="none" cap="none" strike="noStrike">
              <a:solidFill>
                <a:srgbClr val="000000"/>
              </a:solidFill>
              <a:latin typeface="Comfortaa"/>
              <a:ea typeface="Comfortaa"/>
              <a:cs typeface="Comfortaa"/>
              <a:sym typeface="Comfortaa"/>
            </a:endParaRPr>
          </a:p>
        </p:txBody>
      </p:sp>
      <p:sp>
        <p:nvSpPr>
          <p:cNvPr id="236" name="Google Shape;236;g40a1274a87e_0_304"/>
          <p:cNvSpPr/>
          <p:nvPr/>
        </p:nvSpPr>
        <p:spPr>
          <a:xfrm>
            <a:off x="598496" y="2296873"/>
            <a:ext cx="712200" cy="242100"/>
          </a:xfrm>
          <a:prstGeom prst="roundRect">
            <a:avLst>
              <a:gd fmla="val 16667" name="adj"/>
            </a:avLst>
          </a:prstGeom>
          <a:solidFill>
            <a:srgbClr val="2B6EBE"/>
          </a:solidFill>
          <a:ln cap="flat" cmpd="sng" w="9900">
            <a:solidFill>
              <a:srgbClr val="2B6EBE"/>
            </a:solidFill>
            <a:prstDash val="solid"/>
            <a:round/>
            <a:headEnd len="sm" w="sm" type="none"/>
            <a:tailEnd len="sm" w="sm" type="none"/>
          </a:ln>
          <a:effectLst>
            <a:outerShdw blurRad="31160" rotWithShape="0" dir="5400000" dist="17917">
              <a:srgbClr val="000000">
                <a:alpha val="34900"/>
              </a:srgbClr>
            </a:outerShdw>
          </a:effectLst>
        </p:spPr>
        <p:txBody>
          <a:bodyPr anchorCtr="0" anchor="ctr" bIns="35600" lIns="71225" spcFirstLastPara="1" rIns="71225" wrap="square" tIns="35600">
            <a:noAutofit/>
          </a:bodyPr>
          <a:lstStyle/>
          <a:p>
            <a:pPr indent="0" lvl="0" marL="0" marR="0" rtl="0" algn="ctr">
              <a:spcBef>
                <a:spcPts val="0"/>
              </a:spcBef>
              <a:spcAft>
                <a:spcPts val="0"/>
              </a:spcAft>
              <a:buNone/>
            </a:pPr>
            <a:r>
              <a:t/>
            </a:r>
            <a:endParaRPr i="0" sz="1402" u="none" cap="none" strike="noStrike">
              <a:solidFill>
                <a:srgbClr val="000000"/>
              </a:solidFill>
              <a:latin typeface="Comfortaa"/>
              <a:ea typeface="Comfortaa"/>
              <a:cs typeface="Comfortaa"/>
              <a:sym typeface="Comfortaa"/>
            </a:endParaRPr>
          </a:p>
        </p:txBody>
      </p:sp>
      <p:sp>
        <p:nvSpPr>
          <p:cNvPr id="237" name="Google Shape;237;g40a1274a87e_0_304"/>
          <p:cNvSpPr txBox="1"/>
          <p:nvPr/>
        </p:nvSpPr>
        <p:spPr>
          <a:xfrm>
            <a:off x="626989" y="2318243"/>
            <a:ext cx="655500" cy="259500"/>
          </a:xfrm>
          <a:prstGeom prst="rect">
            <a:avLst/>
          </a:prstGeom>
          <a:noFill/>
          <a:ln>
            <a:noFill/>
          </a:ln>
        </p:spPr>
        <p:txBody>
          <a:bodyPr anchorCtr="0" anchor="t" bIns="14225" lIns="28475" spcFirstLastPara="1" rIns="28475" wrap="square" tIns="14225">
            <a:spAutoFit/>
          </a:bodyPr>
          <a:lstStyle/>
          <a:p>
            <a:pPr indent="0" lvl="0" marL="0" marR="0" rtl="0" algn="ctr">
              <a:spcBef>
                <a:spcPts val="0"/>
              </a:spcBef>
              <a:spcAft>
                <a:spcPts val="0"/>
              </a:spcAft>
              <a:buNone/>
            </a:pPr>
            <a:r>
              <a:rPr i="0" lang="en-US" sz="1500" u="none" cap="none" strike="noStrike">
                <a:solidFill>
                  <a:srgbClr val="FFFFFF"/>
                </a:solidFill>
                <a:latin typeface="Comfortaa"/>
                <a:ea typeface="Comfortaa"/>
                <a:cs typeface="Comfortaa"/>
                <a:sym typeface="Comfortaa"/>
              </a:rPr>
              <a:t>CBR</a:t>
            </a:r>
            <a:endParaRPr sz="1500">
              <a:latin typeface="Comfortaa"/>
              <a:ea typeface="Comfortaa"/>
              <a:cs typeface="Comfortaa"/>
              <a:sym typeface="Comfortaa"/>
            </a:endParaRPr>
          </a:p>
        </p:txBody>
      </p:sp>
      <p:sp>
        <p:nvSpPr>
          <p:cNvPr id="238" name="Google Shape;238;g40a1274a87e_0_304"/>
          <p:cNvSpPr txBox="1"/>
          <p:nvPr/>
        </p:nvSpPr>
        <p:spPr>
          <a:xfrm>
            <a:off x="598496" y="2653034"/>
            <a:ext cx="3526200" cy="280500"/>
          </a:xfrm>
          <a:prstGeom prst="rect">
            <a:avLst/>
          </a:prstGeom>
          <a:noFill/>
          <a:ln>
            <a:noFill/>
          </a:ln>
        </p:spPr>
        <p:txBody>
          <a:bodyPr anchorCtr="0" anchor="t" bIns="14225" lIns="28475" spcFirstLastPara="1" rIns="28475" wrap="square" tIns="14225">
            <a:spAutoFit/>
          </a:bodyPr>
          <a:lstStyle/>
          <a:p>
            <a:pPr indent="0" lvl="0" marL="0" marR="0" rtl="0" algn="l">
              <a:spcBef>
                <a:spcPts val="0"/>
              </a:spcBef>
              <a:spcAft>
                <a:spcPts val="0"/>
              </a:spcAft>
              <a:buNone/>
            </a:pPr>
            <a:r>
              <a:rPr i="0" lang="en-US" sz="1636" u="none" cap="none" strike="noStrike">
                <a:solidFill>
                  <a:srgbClr val="182740"/>
                </a:solidFill>
                <a:latin typeface="Comfortaa"/>
                <a:ea typeface="Comfortaa"/>
                <a:cs typeface="Comfortaa"/>
                <a:sym typeface="Comfortaa"/>
              </a:rPr>
              <a:t>Constant Bitrate</a:t>
            </a:r>
            <a:endParaRPr sz="1091">
              <a:latin typeface="Comfortaa"/>
              <a:ea typeface="Comfortaa"/>
              <a:cs typeface="Comfortaa"/>
              <a:sym typeface="Comfortaa"/>
            </a:endParaRPr>
          </a:p>
        </p:txBody>
      </p:sp>
      <p:sp>
        <p:nvSpPr>
          <p:cNvPr id="239" name="Google Shape;239;g40a1274a87e_0_304"/>
          <p:cNvSpPr txBox="1"/>
          <p:nvPr/>
        </p:nvSpPr>
        <p:spPr>
          <a:xfrm>
            <a:off x="598496" y="3080428"/>
            <a:ext cx="3526200" cy="568200"/>
          </a:xfrm>
          <a:prstGeom prst="rect">
            <a:avLst/>
          </a:prstGeom>
          <a:noFill/>
          <a:ln>
            <a:noFill/>
          </a:ln>
        </p:spPr>
        <p:txBody>
          <a:bodyPr anchorCtr="0" anchor="t" bIns="14225" lIns="28475" spcFirstLastPara="1" rIns="28475" wrap="square" tIns="14225">
            <a:spAutoFit/>
          </a:bodyPr>
          <a:lstStyle/>
          <a:p>
            <a:pPr indent="0" lvl="0" marL="0" marR="0" rtl="0" algn="l">
              <a:spcBef>
                <a:spcPts val="0"/>
              </a:spcBef>
              <a:spcAft>
                <a:spcPts val="0"/>
              </a:spcAft>
              <a:buNone/>
            </a:pPr>
            <a:r>
              <a:rPr i="0" lang="en-US" sz="1169" u="none" cap="none" strike="noStrike">
                <a:solidFill>
                  <a:srgbClr val="2B303A"/>
                </a:solidFill>
                <a:latin typeface="Comfortaa"/>
                <a:ea typeface="Comfortaa"/>
                <a:cs typeface="Comfortaa"/>
                <a:sym typeface="Comfortaa"/>
              </a:rPr>
              <a:t>• Bitrate gần cố định</a:t>
            </a:r>
            <a:br>
              <a:rPr i="0" lang="en-US" sz="1169" u="none" cap="none" strike="noStrike">
                <a:solidFill>
                  <a:srgbClr val="2B303A"/>
                </a:solidFill>
                <a:latin typeface="Comfortaa"/>
                <a:ea typeface="Comfortaa"/>
                <a:cs typeface="Comfortaa"/>
                <a:sym typeface="Comfortaa"/>
              </a:rPr>
            </a:br>
            <a:r>
              <a:rPr i="0" lang="en-US" sz="1169" u="none" cap="none" strike="noStrike">
                <a:solidFill>
                  <a:srgbClr val="2B303A"/>
                </a:solidFill>
                <a:latin typeface="Comfortaa"/>
                <a:ea typeface="Comfortaa"/>
                <a:cs typeface="Comfortaa"/>
                <a:sym typeface="Comfortaa"/>
              </a:rPr>
              <a:t>• Dễ tính bandwidth &amp; ổ cứng</a:t>
            </a:r>
            <a:br>
              <a:rPr i="0" lang="en-US" sz="1169" u="none" cap="none" strike="noStrike">
                <a:solidFill>
                  <a:srgbClr val="2B303A"/>
                </a:solidFill>
                <a:latin typeface="Comfortaa"/>
                <a:ea typeface="Comfortaa"/>
                <a:cs typeface="Comfortaa"/>
                <a:sym typeface="Comfortaa"/>
              </a:rPr>
            </a:br>
            <a:r>
              <a:rPr i="0" lang="en-US" sz="1169" u="none" cap="none" strike="noStrike">
                <a:solidFill>
                  <a:srgbClr val="2B303A"/>
                </a:solidFill>
                <a:latin typeface="Comfortaa"/>
                <a:ea typeface="Comfortaa"/>
                <a:cs typeface="Comfortaa"/>
                <a:sym typeface="Comfortaa"/>
              </a:rPr>
              <a:t>• Có thể lãng phí khi cảnh tĩnh</a:t>
            </a:r>
            <a:endParaRPr sz="1091">
              <a:latin typeface="Comfortaa"/>
              <a:ea typeface="Comfortaa"/>
              <a:cs typeface="Comfortaa"/>
              <a:sym typeface="Comfortaa"/>
            </a:endParaRPr>
          </a:p>
        </p:txBody>
      </p:sp>
      <p:sp>
        <p:nvSpPr>
          <p:cNvPr id="240" name="Google Shape;240;g40a1274a87e_0_304"/>
          <p:cNvSpPr/>
          <p:nvPr/>
        </p:nvSpPr>
        <p:spPr>
          <a:xfrm>
            <a:off x="4836807" y="2083177"/>
            <a:ext cx="4095900" cy="2243700"/>
          </a:xfrm>
          <a:prstGeom prst="roundRect">
            <a:avLst>
              <a:gd fmla="val 16667" name="adj"/>
            </a:avLst>
          </a:prstGeom>
          <a:solidFill>
            <a:srgbClr val="FFFFFF"/>
          </a:solidFill>
          <a:ln cap="flat" cmpd="sng" w="9900">
            <a:solidFill>
              <a:srgbClr val="EB8F2D"/>
            </a:solidFill>
            <a:prstDash val="solid"/>
            <a:round/>
            <a:headEnd len="sm" w="sm" type="none"/>
            <a:tailEnd len="sm" w="sm" type="none"/>
          </a:ln>
          <a:effectLst>
            <a:outerShdw blurRad="31160" rotWithShape="0" dir="5400000" dist="17917">
              <a:srgbClr val="000000">
                <a:alpha val="34900"/>
              </a:srgbClr>
            </a:outerShdw>
          </a:effectLst>
        </p:spPr>
        <p:txBody>
          <a:bodyPr anchorCtr="0" anchor="ctr" bIns="35600" lIns="71225" spcFirstLastPara="1" rIns="71225" wrap="square" tIns="35600">
            <a:noAutofit/>
          </a:bodyPr>
          <a:lstStyle/>
          <a:p>
            <a:pPr indent="0" lvl="0" marL="0" marR="0" rtl="0" algn="ctr">
              <a:spcBef>
                <a:spcPts val="0"/>
              </a:spcBef>
              <a:spcAft>
                <a:spcPts val="0"/>
              </a:spcAft>
              <a:buNone/>
            </a:pPr>
            <a:r>
              <a:t/>
            </a:r>
            <a:endParaRPr i="0" sz="1402" u="none" cap="none" strike="noStrike">
              <a:solidFill>
                <a:srgbClr val="000000"/>
              </a:solidFill>
              <a:latin typeface="Comfortaa"/>
              <a:ea typeface="Comfortaa"/>
              <a:cs typeface="Comfortaa"/>
              <a:sym typeface="Comfortaa"/>
            </a:endParaRPr>
          </a:p>
        </p:txBody>
      </p:sp>
      <p:sp>
        <p:nvSpPr>
          <p:cNvPr id="241" name="Google Shape;241;g40a1274a87e_0_304"/>
          <p:cNvSpPr/>
          <p:nvPr/>
        </p:nvSpPr>
        <p:spPr>
          <a:xfrm>
            <a:off x="5050504" y="2296873"/>
            <a:ext cx="712200" cy="242100"/>
          </a:xfrm>
          <a:prstGeom prst="roundRect">
            <a:avLst>
              <a:gd fmla="val 16667" name="adj"/>
            </a:avLst>
          </a:prstGeom>
          <a:solidFill>
            <a:srgbClr val="EB8F2D"/>
          </a:solidFill>
          <a:ln cap="flat" cmpd="sng" w="9900">
            <a:solidFill>
              <a:srgbClr val="EB8F2D"/>
            </a:solidFill>
            <a:prstDash val="solid"/>
            <a:round/>
            <a:headEnd len="sm" w="sm" type="none"/>
            <a:tailEnd len="sm" w="sm" type="none"/>
          </a:ln>
          <a:effectLst>
            <a:outerShdw blurRad="31160" rotWithShape="0" dir="5400000" dist="17917">
              <a:srgbClr val="000000">
                <a:alpha val="34900"/>
              </a:srgbClr>
            </a:outerShdw>
          </a:effectLst>
        </p:spPr>
        <p:txBody>
          <a:bodyPr anchorCtr="0" anchor="ctr" bIns="35600" lIns="71225" spcFirstLastPara="1" rIns="71225" wrap="square" tIns="35600">
            <a:noAutofit/>
          </a:bodyPr>
          <a:lstStyle/>
          <a:p>
            <a:pPr indent="0" lvl="0" marL="0" marR="0" rtl="0" algn="ctr">
              <a:spcBef>
                <a:spcPts val="0"/>
              </a:spcBef>
              <a:spcAft>
                <a:spcPts val="0"/>
              </a:spcAft>
              <a:buNone/>
            </a:pPr>
            <a:r>
              <a:t/>
            </a:r>
            <a:endParaRPr i="0" sz="1402" u="none" cap="none" strike="noStrike">
              <a:solidFill>
                <a:srgbClr val="000000"/>
              </a:solidFill>
              <a:latin typeface="Comfortaa"/>
              <a:ea typeface="Comfortaa"/>
              <a:cs typeface="Comfortaa"/>
              <a:sym typeface="Comfortaa"/>
            </a:endParaRPr>
          </a:p>
        </p:txBody>
      </p:sp>
      <p:sp>
        <p:nvSpPr>
          <p:cNvPr id="242" name="Google Shape;242;g40a1274a87e_0_304"/>
          <p:cNvSpPr txBox="1"/>
          <p:nvPr/>
        </p:nvSpPr>
        <p:spPr>
          <a:xfrm>
            <a:off x="5078996" y="2318243"/>
            <a:ext cx="655500" cy="259500"/>
          </a:xfrm>
          <a:prstGeom prst="rect">
            <a:avLst/>
          </a:prstGeom>
          <a:noFill/>
          <a:ln>
            <a:noFill/>
          </a:ln>
        </p:spPr>
        <p:txBody>
          <a:bodyPr anchorCtr="0" anchor="t" bIns="14225" lIns="28475" spcFirstLastPara="1" rIns="28475" wrap="square" tIns="14225">
            <a:spAutoFit/>
          </a:bodyPr>
          <a:lstStyle/>
          <a:p>
            <a:pPr indent="0" lvl="0" marL="0" marR="0" rtl="0" algn="ctr">
              <a:spcBef>
                <a:spcPts val="0"/>
              </a:spcBef>
              <a:spcAft>
                <a:spcPts val="0"/>
              </a:spcAft>
              <a:buNone/>
            </a:pPr>
            <a:r>
              <a:rPr i="0" lang="en-US" sz="1500" u="none" cap="none" strike="noStrike">
                <a:solidFill>
                  <a:srgbClr val="FFFFFF"/>
                </a:solidFill>
                <a:latin typeface="Comfortaa"/>
                <a:ea typeface="Comfortaa"/>
                <a:cs typeface="Comfortaa"/>
                <a:sym typeface="Comfortaa"/>
              </a:rPr>
              <a:t>VBR</a:t>
            </a:r>
            <a:endParaRPr sz="1500">
              <a:latin typeface="Comfortaa"/>
              <a:ea typeface="Comfortaa"/>
              <a:cs typeface="Comfortaa"/>
              <a:sym typeface="Comfortaa"/>
            </a:endParaRPr>
          </a:p>
        </p:txBody>
      </p:sp>
      <p:sp>
        <p:nvSpPr>
          <p:cNvPr id="243" name="Google Shape;243;g40a1274a87e_0_304"/>
          <p:cNvSpPr txBox="1"/>
          <p:nvPr/>
        </p:nvSpPr>
        <p:spPr>
          <a:xfrm>
            <a:off x="5050504" y="2653034"/>
            <a:ext cx="3526200" cy="280500"/>
          </a:xfrm>
          <a:prstGeom prst="rect">
            <a:avLst/>
          </a:prstGeom>
          <a:noFill/>
          <a:ln>
            <a:noFill/>
          </a:ln>
        </p:spPr>
        <p:txBody>
          <a:bodyPr anchorCtr="0" anchor="t" bIns="14225" lIns="28475" spcFirstLastPara="1" rIns="28475" wrap="square" tIns="14225">
            <a:spAutoFit/>
          </a:bodyPr>
          <a:lstStyle/>
          <a:p>
            <a:pPr indent="0" lvl="0" marL="0" marR="0" rtl="0" algn="l">
              <a:spcBef>
                <a:spcPts val="0"/>
              </a:spcBef>
              <a:spcAft>
                <a:spcPts val="0"/>
              </a:spcAft>
              <a:buNone/>
            </a:pPr>
            <a:r>
              <a:rPr i="0" lang="en-US" sz="1636" u="none" cap="none" strike="noStrike">
                <a:solidFill>
                  <a:srgbClr val="182740"/>
                </a:solidFill>
                <a:latin typeface="Comfortaa"/>
                <a:ea typeface="Comfortaa"/>
                <a:cs typeface="Comfortaa"/>
                <a:sym typeface="Comfortaa"/>
              </a:rPr>
              <a:t>Variable Bitrate</a:t>
            </a:r>
            <a:endParaRPr sz="1091">
              <a:latin typeface="Comfortaa"/>
              <a:ea typeface="Comfortaa"/>
              <a:cs typeface="Comfortaa"/>
              <a:sym typeface="Comfortaa"/>
            </a:endParaRPr>
          </a:p>
        </p:txBody>
      </p:sp>
      <p:sp>
        <p:nvSpPr>
          <p:cNvPr id="244" name="Google Shape;244;g40a1274a87e_0_304"/>
          <p:cNvSpPr txBox="1"/>
          <p:nvPr/>
        </p:nvSpPr>
        <p:spPr>
          <a:xfrm>
            <a:off x="5050504" y="3080428"/>
            <a:ext cx="3526200" cy="568200"/>
          </a:xfrm>
          <a:prstGeom prst="rect">
            <a:avLst/>
          </a:prstGeom>
          <a:noFill/>
          <a:ln>
            <a:noFill/>
          </a:ln>
        </p:spPr>
        <p:txBody>
          <a:bodyPr anchorCtr="0" anchor="t" bIns="14225" lIns="28475" spcFirstLastPara="1" rIns="28475" wrap="square" tIns="14225">
            <a:spAutoFit/>
          </a:bodyPr>
          <a:lstStyle/>
          <a:p>
            <a:pPr indent="0" lvl="0" marL="0" marR="0" rtl="0" algn="l">
              <a:spcBef>
                <a:spcPts val="0"/>
              </a:spcBef>
              <a:spcAft>
                <a:spcPts val="0"/>
              </a:spcAft>
              <a:buNone/>
            </a:pPr>
            <a:r>
              <a:rPr i="0" lang="en-US" sz="1169" u="none" cap="none" strike="noStrike">
                <a:solidFill>
                  <a:srgbClr val="2B303A"/>
                </a:solidFill>
                <a:latin typeface="Comfortaa"/>
                <a:ea typeface="Comfortaa"/>
                <a:cs typeface="Comfortaa"/>
                <a:sym typeface="Comfortaa"/>
              </a:rPr>
              <a:t>• Bitrate thay đổi theo cảnh</a:t>
            </a:r>
            <a:br>
              <a:rPr i="0" lang="en-US" sz="1169" u="none" cap="none" strike="noStrike">
                <a:solidFill>
                  <a:srgbClr val="2B303A"/>
                </a:solidFill>
                <a:latin typeface="Comfortaa"/>
                <a:ea typeface="Comfortaa"/>
                <a:cs typeface="Comfortaa"/>
                <a:sym typeface="Comfortaa"/>
              </a:rPr>
            </a:br>
            <a:r>
              <a:rPr i="0" lang="en-US" sz="1169" u="none" cap="none" strike="noStrike">
                <a:solidFill>
                  <a:srgbClr val="2B303A"/>
                </a:solidFill>
                <a:latin typeface="Comfortaa"/>
                <a:ea typeface="Comfortaa"/>
                <a:cs typeface="Comfortaa"/>
                <a:sym typeface="Comfortaa"/>
              </a:rPr>
              <a:t>• Tiết kiệm dung lượng</a:t>
            </a:r>
            <a:br>
              <a:rPr i="0" lang="en-US" sz="1169" u="none" cap="none" strike="noStrike">
                <a:solidFill>
                  <a:srgbClr val="2B303A"/>
                </a:solidFill>
                <a:latin typeface="Comfortaa"/>
                <a:ea typeface="Comfortaa"/>
                <a:cs typeface="Comfortaa"/>
                <a:sym typeface="Comfortaa"/>
              </a:rPr>
            </a:br>
            <a:r>
              <a:rPr i="0" lang="en-US" sz="1169" u="none" cap="none" strike="noStrike">
                <a:solidFill>
                  <a:srgbClr val="2B303A"/>
                </a:solidFill>
                <a:latin typeface="Comfortaa"/>
                <a:ea typeface="Comfortaa"/>
                <a:cs typeface="Comfortaa"/>
                <a:sym typeface="Comfortaa"/>
              </a:rPr>
              <a:t>• Khó dự đoán dung lượng chính xác</a:t>
            </a:r>
            <a:endParaRPr sz="1091">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40a1274a87e_0_335"/>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Bitrate - </a:t>
            </a:r>
            <a:r>
              <a:rPr lang="en-US"/>
              <a:t>SRC</a:t>
            </a:r>
            <a:endParaRPr/>
          </a:p>
        </p:txBody>
      </p:sp>
      <p:sp>
        <p:nvSpPr>
          <p:cNvPr id="250" name="Google Shape;250;g40a1274a87e_0_335"/>
          <p:cNvSpPr txBox="1"/>
          <p:nvPr>
            <p:ph idx="1" type="body"/>
          </p:nvPr>
        </p:nvSpPr>
        <p:spPr>
          <a:xfrm>
            <a:off x="596025" y="1332950"/>
            <a:ext cx="31092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Comfortaa"/>
              <a:buChar char="-"/>
            </a:pPr>
            <a:r>
              <a:rPr lang="en-US" sz="1500">
                <a:solidFill>
                  <a:srgbClr val="28A8B4"/>
                </a:solidFill>
                <a:latin typeface="Comfortaa"/>
                <a:ea typeface="Comfortaa"/>
                <a:cs typeface="Comfortaa"/>
                <a:sym typeface="Comfortaa"/>
              </a:rPr>
              <a:t>SMART RATE CONTROL:  </a:t>
            </a:r>
            <a:r>
              <a:rPr lang="en-US" sz="1500">
                <a:solidFill>
                  <a:srgbClr val="2B303A"/>
                </a:solidFill>
                <a:latin typeface="Comfortaa"/>
                <a:ea typeface="Comfortaa"/>
                <a:cs typeface="Comfortaa"/>
                <a:sym typeface="Comfortaa"/>
              </a:rPr>
              <a:t>Biến thể VBR: ưu tiên vùng chuyển động / vùng quan trọng để tiết kiệm thêm dữ liệu.</a:t>
            </a:r>
            <a:endParaRPr sz="1500">
              <a:solidFill>
                <a:srgbClr val="2B303A"/>
              </a:solidFill>
              <a:latin typeface="Comfortaa"/>
              <a:ea typeface="Comfortaa"/>
              <a:cs typeface="Comfortaa"/>
              <a:sym typeface="Comfortaa"/>
            </a:endParaRPr>
          </a:p>
          <a:p>
            <a:pPr indent="-323850" lvl="0" marL="457200" rtl="0" algn="l">
              <a:lnSpc>
                <a:spcPct val="150000"/>
              </a:lnSpc>
              <a:spcBef>
                <a:spcPts val="0"/>
              </a:spcBef>
              <a:spcAft>
                <a:spcPts val="0"/>
              </a:spcAft>
              <a:buClr>
                <a:srgbClr val="2B303A"/>
              </a:buClr>
              <a:buSzPts val="1500"/>
              <a:buFont typeface="Comfortaa"/>
              <a:buChar char="-"/>
            </a:pPr>
            <a:r>
              <a:rPr lang="en-US" sz="1500">
                <a:solidFill>
                  <a:srgbClr val="2B303A"/>
                </a:solidFill>
                <a:latin typeface="Comfortaa"/>
                <a:ea typeface="Comfortaa"/>
                <a:cs typeface="Comfortaa"/>
                <a:sym typeface="Comfortaa"/>
              </a:rPr>
              <a:t>Thay đổi GOP (Group Of Picture)</a:t>
            </a:r>
            <a:endParaRPr sz="1500">
              <a:solidFill>
                <a:srgbClr val="2B303A"/>
              </a:solidFill>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p:txBody>
      </p:sp>
      <p:sp>
        <p:nvSpPr>
          <p:cNvPr id="251" name="Google Shape;251;g40a1274a87e_0_3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52" name="Google Shape;252;g40a1274a87e_0_335"/>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i="0" lang="en-US" sz="1300" u="none" cap="none" strike="noStrike">
                <a:solidFill>
                  <a:srgbClr val="FFFFFF"/>
                </a:solidFill>
                <a:latin typeface="Comfortaa"/>
                <a:ea typeface="Comfortaa"/>
                <a:cs typeface="Comfortaa"/>
                <a:sym typeface="Comfortaa"/>
              </a:rPr>
              <a:t>BITRATE</a:t>
            </a:r>
            <a:endParaRPr>
              <a:latin typeface="Comfortaa"/>
              <a:ea typeface="Comfortaa"/>
              <a:cs typeface="Comfortaa"/>
              <a:sym typeface="Comfortaa"/>
            </a:endParaRPr>
          </a:p>
        </p:txBody>
      </p:sp>
      <p:sp>
        <p:nvSpPr>
          <p:cNvPr id="253" name="Google Shape;253;g40a1274a87e_0_335"/>
          <p:cNvSpPr txBox="1"/>
          <p:nvPr/>
        </p:nvSpPr>
        <p:spPr>
          <a:xfrm>
            <a:off x="384800" y="4687950"/>
            <a:ext cx="1720200" cy="196500"/>
          </a:xfrm>
          <a:prstGeom prst="rect">
            <a:avLst/>
          </a:prstGeom>
          <a:noFill/>
          <a:ln>
            <a:noFill/>
          </a:ln>
        </p:spPr>
        <p:txBody>
          <a:bodyPr anchorCtr="0" anchor="t" bIns="14225" lIns="28475" spcFirstLastPara="1" rIns="28475" wrap="square" tIns="14225">
            <a:spAutoFit/>
          </a:bodyPr>
          <a:lstStyle/>
          <a:p>
            <a:pPr indent="0" lvl="0" marL="0" marR="0" rtl="0" algn="l">
              <a:spcBef>
                <a:spcPts val="0"/>
              </a:spcBef>
              <a:spcAft>
                <a:spcPts val="0"/>
              </a:spcAft>
              <a:buNone/>
            </a:pPr>
            <a:r>
              <a:t/>
            </a:r>
            <a:endParaRPr sz="1091">
              <a:latin typeface="Comfortaa"/>
              <a:ea typeface="Comfortaa"/>
              <a:cs typeface="Comfortaa"/>
              <a:sym typeface="Comfortaa"/>
            </a:endParaRPr>
          </a:p>
        </p:txBody>
      </p:sp>
      <p:pic>
        <p:nvPicPr>
          <p:cNvPr id="254" name="Google Shape;254;g40a1274a87e_0_335"/>
          <p:cNvPicPr preferRelativeResize="0"/>
          <p:nvPr/>
        </p:nvPicPr>
        <p:blipFill>
          <a:blip r:embed="rId3">
            <a:alphaModFix/>
          </a:blip>
          <a:stretch>
            <a:fillRect/>
          </a:stretch>
        </p:blipFill>
        <p:spPr>
          <a:xfrm>
            <a:off x="3705225" y="1088300"/>
            <a:ext cx="5419726" cy="4064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40a1274a87e_0_236"/>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a:t>
            </a:r>
            <a:endParaRPr/>
          </a:p>
        </p:txBody>
      </p:sp>
      <p:sp>
        <p:nvSpPr>
          <p:cNvPr id="260" name="Google Shape;260;g40a1274a87e_0_236"/>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accent1"/>
              </a:buClr>
              <a:buSzPts val="1500"/>
              <a:buFont typeface="Gaegu"/>
              <a:buChar char="-"/>
            </a:pPr>
            <a:r>
              <a:rPr lang="en-US" sz="1500">
                <a:latin typeface="Comfortaa"/>
                <a:ea typeface="Comfortaa"/>
                <a:cs typeface="Comfortaa"/>
                <a:sym typeface="Comfortaa"/>
              </a:rPr>
              <a:t>Codec = </a:t>
            </a:r>
            <a:r>
              <a:rPr b="1" lang="en-US" sz="1500">
                <a:solidFill>
                  <a:srgbClr val="FF0000"/>
                </a:solidFill>
                <a:latin typeface="Comfortaa"/>
                <a:ea typeface="Comfortaa"/>
                <a:cs typeface="Comfortaa"/>
                <a:sym typeface="Comfortaa"/>
              </a:rPr>
              <a:t>Encoder</a:t>
            </a:r>
            <a:r>
              <a:rPr lang="en-US" sz="1500">
                <a:latin typeface="Comfortaa"/>
                <a:ea typeface="Comfortaa"/>
                <a:cs typeface="Comfortaa"/>
                <a:sym typeface="Comfortaa"/>
              </a:rPr>
              <a:t> + Decoder</a:t>
            </a:r>
            <a:endParaRPr sz="1500">
              <a:latin typeface="Comfortaa"/>
              <a:ea typeface="Comfortaa"/>
              <a:cs typeface="Comfortaa"/>
              <a:sym typeface="Comfortaa"/>
            </a:endParaRPr>
          </a:p>
          <a:p>
            <a:pPr indent="-323850" lvl="0" marL="457200" rtl="0" algn="l">
              <a:lnSpc>
                <a:spcPct val="115000"/>
              </a:lnSpc>
              <a:spcBef>
                <a:spcPts val="0"/>
              </a:spcBef>
              <a:spcAft>
                <a:spcPts val="0"/>
              </a:spcAft>
              <a:buClr>
                <a:schemeClr val="accent1"/>
              </a:buClr>
              <a:buSzPts val="1500"/>
              <a:buFont typeface="Gaegu"/>
              <a:buChar char="-"/>
            </a:pPr>
            <a:r>
              <a:rPr lang="en-US" sz="1500">
                <a:latin typeface="Comfortaa"/>
                <a:ea typeface="Comfortaa"/>
                <a:cs typeface="Comfortaa"/>
                <a:sym typeface="Comfortaa"/>
              </a:rPr>
              <a:t>Video: Chuỗi các khung hình (frames) được phát liên tục theo thời gian, Mỗi khung hình là một hình ảnh tĩnh</a:t>
            </a:r>
            <a:endParaRPr sz="1500">
              <a:latin typeface="Comfortaa"/>
              <a:ea typeface="Comfortaa"/>
              <a:cs typeface="Comfortaa"/>
              <a:sym typeface="Comfortaa"/>
            </a:endParaRPr>
          </a:p>
          <a:p>
            <a:pPr indent="-323850" lvl="0" marL="457200" rtl="0" algn="l">
              <a:lnSpc>
                <a:spcPct val="115000"/>
              </a:lnSpc>
              <a:spcBef>
                <a:spcPts val="0"/>
              </a:spcBef>
              <a:spcAft>
                <a:spcPts val="0"/>
              </a:spcAft>
              <a:buClr>
                <a:schemeClr val="accent1"/>
              </a:buClr>
              <a:buSzPts val="1500"/>
              <a:buFont typeface="Gaegu"/>
              <a:buChar char="-"/>
            </a:pPr>
            <a:r>
              <a:rPr lang="en-US" sz="1500">
                <a:latin typeface="Comfortaa"/>
                <a:ea typeface="Comfortaa"/>
                <a:cs typeface="Comfortaa"/>
                <a:sym typeface="Comfortaa"/>
              </a:rPr>
              <a:t>Tại sao phải nén video: </a:t>
            </a:r>
            <a:endParaRPr sz="1500">
              <a:latin typeface="Comfortaa"/>
              <a:ea typeface="Comfortaa"/>
              <a:cs typeface="Comfortaa"/>
              <a:sym typeface="Comfortaa"/>
            </a:endParaRPr>
          </a:p>
          <a:p>
            <a:pPr indent="-323850" lvl="1" marL="914400" rtl="0" algn="l">
              <a:lnSpc>
                <a:spcPct val="115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Video gốc (raw): nặng, tốn dung lượng &amp; băng thông.</a:t>
            </a:r>
            <a:endParaRPr sz="1500">
              <a:latin typeface="Comfortaa"/>
              <a:ea typeface="Comfortaa"/>
              <a:cs typeface="Comfortaa"/>
              <a:sym typeface="Comfortaa"/>
            </a:endParaRPr>
          </a:p>
          <a:p>
            <a:pPr indent="457200" lvl="0" marL="0" rtl="0" algn="l">
              <a:lnSpc>
                <a:spcPct val="115000"/>
              </a:lnSpc>
              <a:spcBef>
                <a:spcPts val="1600"/>
              </a:spcBef>
              <a:spcAft>
                <a:spcPts val="0"/>
              </a:spcAft>
              <a:buNone/>
            </a:pPr>
            <a:r>
              <a:rPr lang="en-US" sz="1500">
                <a:latin typeface="Comfortaa"/>
                <a:ea typeface="Comfortaa"/>
                <a:cs typeface="Comfortaa"/>
                <a:sym typeface="Comfortaa"/>
              </a:rPr>
              <a:t>Ví dụ: Image Sensor 8M, RAW Bayer (10-bit hoặc 12-bit):</a:t>
            </a:r>
            <a:endParaRPr sz="1500">
              <a:latin typeface="Comfortaa"/>
              <a:ea typeface="Comfortaa"/>
              <a:cs typeface="Comfortaa"/>
              <a:sym typeface="Comfortaa"/>
            </a:endParaRPr>
          </a:p>
          <a:p>
            <a:pPr indent="0" lvl="0" marL="457200" rtl="0" algn="l">
              <a:lnSpc>
                <a:spcPct val="115000"/>
              </a:lnSpc>
              <a:spcBef>
                <a:spcPts val="1600"/>
              </a:spcBef>
              <a:spcAft>
                <a:spcPts val="0"/>
              </a:spcAft>
              <a:buNone/>
            </a:pPr>
            <a:r>
              <a:rPr lang="en-US" sz="1500">
                <a:latin typeface="Comfortaa"/>
                <a:ea typeface="Comfortaa"/>
                <a:cs typeface="Comfortaa"/>
                <a:sym typeface="Comfortaa"/>
              </a:rPr>
              <a:t>Mỗi pixel lưu 1 giá trị (R/G/B xen kẽ theo ma trận Bayer)</a:t>
            </a:r>
            <a:endParaRPr sz="1500">
              <a:latin typeface="Comfortaa"/>
              <a:ea typeface="Comfortaa"/>
              <a:cs typeface="Comfortaa"/>
              <a:sym typeface="Comfortaa"/>
            </a:endParaRPr>
          </a:p>
          <a:p>
            <a:pPr indent="0" lvl="0" marL="457200" rtl="0" algn="l">
              <a:lnSpc>
                <a:spcPct val="115000"/>
              </a:lnSpc>
              <a:spcBef>
                <a:spcPts val="1600"/>
              </a:spcBef>
              <a:spcAft>
                <a:spcPts val="0"/>
              </a:spcAft>
              <a:buNone/>
            </a:pPr>
            <a:r>
              <a:rPr lang="en-US" sz="1500">
                <a:latin typeface="Comfortaa"/>
                <a:ea typeface="Comfortaa"/>
                <a:cs typeface="Comfortaa"/>
                <a:sym typeface="Comfortaa"/>
              </a:rPr>
              <a:t>Dùng 12-bit/pixel:  3840 x 2160 x 12 / 8 = 12.4 MB</a:t>
            </a:r>
            <a:endParaRPr sz="1500">
              <a:latin typeface="Comfortaa"/>
              <a:ea typeface="Comfortaa"/>
              <a:cs typeface="Comfortaa"/>
              <a:sym typeface="Comfortaa"/>
            </a:endParaRPr>
          </a:p>
          <a:p>
            <a:pPr indent="-323850" lvl="1" marL="914400" rtl="0" algn="l">
              <a:lnSpc>
                <a:spcPct val="115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Encoded video: Nhẹ hơn, dễ lưu trữ và truyền tải</a:t>
            </a:r>
            <a:endParaRPr sz="1500">
              <a:solidFill>
                <a:srgbClr val="000000"/>
              </a:solidFill>
              <a:latin typeface="Comfortaa"/>
              <a:ea typeface="Comfortaa"/>
              <a:cs typeface="Comfortaa"/>
              <a:sym typeface="Comfortaa"/>
            </a:endParaRPr>
          </a:p>
        </p:txBody>
      </p:sp>
      <p:sp>
        <p:nvSpPr>
          <p:cNvPr id="261" name="Google Shape;261;g40a1274a87e_0_2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62" name="Google Shape;262;g40a1274a87e_0_236"/>
          <p:cNvPicPr preferRelativeResize="0"/>
          <p:nvPr/>
        </p:nvPicPr>
        <p:blipFill rotWithShape="1">
          <a:blip r:embed="rId3">
            <a:alphaModFix/>
          </a:blip>
          <a:srcRect b="0" l="0" r="0" t="0"/>
          <a:stretch/>
        </p:blipFill>
        <p:spPr>
          <a:xfrm>
            <a:off x="6553675" y="2960362"/>
            <a:ext cx="2590250" cy="205937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40a1274a87e_0_72"/>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a:t>
            </a:r>
            <a:endParaRPr/>
          </a:p>
        </p:txBody>
      </p:sp>
      <p:sp>
        <p:nvSpPr>
          <p:cNvPr id="268" name="Google Shape;268;g40a1274a87e_0_72"/>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accent1"/>
              </a:buClr>
              <a:buSzPts val="1600"/>
              <a:buFont typeface="Gaegu"/>
              <a:buChar char="-"/>
            </a:pPr>
            <a:r>
              <a:t/>
            </a:r>
            <a:endParaRPr sz="1600">
              <a:solidFill>
                <a:srgbClr val="000000"/>
              </a:solidFill>
              <a:latin typeface="Gaegu"/>
              <a:ea typeface="Gaegu"/>
              <a:cs typeface="Gaegu"/>
              <a:sym typeface="Gaegu"/>
            </a:endParaRPr>
          </a:p>
        </p:txBody>
      </p:sp>
      <p:sp>
        <p:nvSpPr>
          <p:cNvPr id="269" name="Google Shape;269;g40a1274a87e_0_7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70" name="Google Shape;270;g40a1274a87e_0_72"/>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pic>
        <p:nvPicPr>
          <p:cNvPr descr="A diagram of a flowchart&#10;&#10;AI-generated content may be incorrect." id="271" name="Google Shape;271;g40a1274a87e_0_72"/>
          <p:cNvPicPr preferRelativeResize="0"/>
          <p:nvPr/>
        </p:nvPicPr>
        <p:blipFill rotWithShape="1">
          <a:blip r:embed="rId3">
            <a:alphaModFix/>
          </a:blip>
          <a:srcRect b="0" l="0" r="0" t="0"/>
          <a:stretch/>
        </p:blipFill>
        <p:spPr>
          <a:xfrm>
            <a:off x="1475206" y="1285516"/>
            <a:ext cx="6786653" cy="38448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40a1274a87e_0_8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a:t>
            </a:r>
            <a:endParaRPr/>
          </a:p>
        </p:txBody>
      </p:sp>
      <p:sp>
        <p:nvSpPr>
          <p:cNvPr id="277" name="Google Shape;277;g40a1274a87e_0_81"/>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Codec = Codec (Encoder)+ Decoder</a:t>
            </a:r>
            <a:endParaRPr sz="1500">
              <a:latin typeface="Comfortaa"/>
              <a:ea typeface="Comfortaa"/>
              <a:cs typeface="Comfortaa"/>
              <a:sym typeface="Comfortaa"/>
            </a:endParaRPr>
          </a:p>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Một số codec phổ biến: H264 (AVC), H265 (HEVC), VP9</a:t>
            </a:r>
            <a:endParaRPr sz="1500">
              <a:latin typeface="Comfortaa"/>
              <a:ea typeface="Comfortaa"/>
              <a:cs typeface="Comfortaa"/>
              <a:sym typeface="Comfortaa"/>
            </a:endParaRPr>
          </a:p>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Nguyên tắc hoạt động:</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So sánh khung hình hiện tại với khung hình trước</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Chỉ lưu sự khác biệt → Giảm dung lượng</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Dùng biến đổi toán học (DCT) để nén thêm -&gt; </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Lưu thành file như MP4, MKV, v.v. -&gt; Container (có thể chứa thêm audio, subtitle, …)</a:t>
            </a:r>
            <a:endParaRPr sz="1500">
              <a:solidFill>
                <a:srgbClr val="000000"/>
              </a:solidFill>
              <a:latin typeface="Comfortaa"/>
              <a:ea typeface="Comfortaa"/>
              <a:cs typeface="Comfortaa"/>
              <a:sym typeface="Comfortaa"/>
            </a:endParaRPr>
          </a:p>
        </p:txBody>
      </p:sp>
      <p:sp>
        <p:nvSpPr>
          <p:cNvPr id="278" name="Google Shape;278;g40a1274a87e_0_8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79" name="Google Shape;279;g40a1274a87e_0_81"/>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pic>
        <p:nvPicPr>
          <p:cNvPr descr="A collage of a person wearing a hat&#10;&#10;AI-generated content may be incorrect." id="280" name="Google Shape;280;g40a1274a87e_0_81"/>
          <p:cNvPicPr preferRelativeResize="0"/>
          <p:nvPr/>
        </p:nvPicPr>
        <p:blipFill rotWithShape="1">
          <a:blip r:embed="rId3">
            <a:alphaModFix/>
          </a:blip>
          <a:srcRect b="0" l="0" r="0" t="0"/>
          <a:stretch/>
        </p:blipFill>
        <p:spPr>
          <a:xfrm>
            <a:off x="5970890" y="1168614"/>
            <a:ext cx="3159211" cy="1477920"/>
          </a:xfrm>
          <a:prstGeom prst="rect">
            <a:avLst/>
          </a:prstGeom>
          <a:noFill/>
          <a:ln>
            <a:noFill/>
          </a:ln>
        </p:spPr>
      </p:pic>
      <p:pic>
        <p:nvPicPr>
          <p:cNvPr descr="A blue and red chart&#10;&#10;AI-generated content may be incorrect." id="281" name="Google Shape;281;g40a1274a87e_0_81"/>
          <p:cNvPicPr preferRelativeResize="0"/>
          <p:nvPr/>
        </p:nvPicPr>
        <p:blipFill rotWithShape="1">
          <a:blip r:embed="rId4">
            <a:alphaModFix/>
          </a:blip>
          <a:srcRect b="0" l="0" r="0" t="0"/>
          <a:stretch/>
        </p:blipFill>
        <p:spPr>
          <a:xfrm>
            <a:off x="6507635" y="2718357"/>
            <a:ext cx="1606379" cy="141896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40a1274a87e_0_11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 - </a:t>
            </a:r>
            <a:r>
              <a:rPr lang="en-US"/>
              <a:t>Stream</a:t>
            </a:r>
            <a:endParaRPr/>
          </a:p>
        </p:txBody>
      </p:sp>
      <p:sp>
        <p:nvSpPr>
          <p:cNvPr id="287" name="Google Shape;287;g40a1274a87e_0_110"/>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chemeClr val="accent1"/>
              </a:buClr>
              <a:buSzPts val="1500"/>
              <a:buFont typeface="Comfortaa"/>
              <a:buChar char="-"/>
            </a:pPr>
            <a:r>
              <a:rPr lang="en-US" sz="1500">
                <a:solidFill>
                  <a:srgbClr val="69707D"/>
                </a:solidFill>
                <a:latin typeface="Comfortaa"/>
                <a:ea typeface="Comfortaa"/>
                <a:cs typeface="Comfortaa"/>
                <a:sym typeface="Comfortaa"/>
              </a:rPr>
              <a:t>Codec quyết định cách nén dữ liệu — và ảnh hưởng đến băng thông, CPU giải mã và tương thích.</a:t>
            </a:r>
            <a:endParaRPr sz="1500">
              <a:solidFill>
                <a:srgbClr val="000000"/>
              </a:solidFill>
              <a:latin typeface="Comfortaa"/>
              <a:ea typeface="Comfortaa"/>
              <a:cs typeface="Comfortaa"/>
              <a:sym typeface="Comfortaa"/>
            </a:endParaRPr>
          </a:p>
        </p:txBody>
      </p:sp>
      <p:sp>
        <p:nvSpPr>
          <p:cNvPr id="288" name="Google Shape;288;g40a1274a87e_0_1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89" name="Google Shape;289;g40a1274a87e_0_110"/>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graphicFrame>
        <p:nvGraphicFramePr>
          <p:cNvPr id="290" name="Google Shape;290;g40a1274a87e_0_110"/>
          <p:cNvGraphicFramePr/>
          <p:nvPr/>
        </p:nvGraphicFramePr>
        <p:xfrm>
          <a:off x="917947" y="2304646"/>
          <a:ext cx="3000000" cy="3000000"/>
        </p:xfrm>
        <a:graphic>
          <a:graphicData uri="http://schemas.openxmlformats.org/drawingml/2006/table">
            <a:tbl>
              <a:tblPr bandRow="1" firstRow="1">
                <a:noFill/>
                <a:tableStyleId>{81DF0685-BE52-4B8B-9BD0-9AFCDD38BCAC}</a:tableStyleId>
              </a:tblPr>
              <a:tblGrid>
                <a:gridCol w="1383200"/>
                <a:gridCol w="3359225"/>
                <a:gridCol w="3161625"/>
              </a:tblGrid>
              <a:tr h="452000">
                <a:tc>
                  <a:txBody>
                    <a:bodyPr/>
                    <a:lstStyle/>
                    <a:p>
                      <a:pPr indent="0" lvl="0" marL="0" marR="0" rtl="0" algn="l">
                        <a:spcBef>
                          <a:spcPts val="0"/>
                        </a:spcBef>
                        <a:spcAft>
                          <a:spcPts val="0"/>
                        </a:spcAft>
                        <a:buNone/>
                      </a:pPr>
                      <a:r>
                        <a:rPr b="1" lang="en-US" sz="1200" u="none" cap="none" strike="noStrike">
                          <a:solidFill>
                            <a:srgbClr val="FFFFFF"/>
                          </a:solidFill>
                          <a:latin typeface="Arial"/>
                          <a:ea typeface="Arial"/>
                          <a:cs typeface="Arial"/>
                          <a:sym typeface="Arial"/>
                        </a:rPr>
                        <a:t>Codec</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38100">
                      <a:solidFill>
                        <a:srgbClr val="B7B7B7"/>
                      </a:solidFill>
                      <a:prstDash val="solid"/>
                      <a:round/>
                      <a:headEnd len="sm" w="sm" type="none"/>
                      <a:tailEnd len="sm" w="sm" type="none"/>
                    </a:lnB>
                    <a:solidFill>
                      <a:srgbClr val="182740"/>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Arial"/>
                          <a:ea typeface="Arial"/>
                          <a:cs typeface="Arial"/>
                          <a:sym typeface="Arial"/>
                        </a:rPr>
                        <a:t>Điểm chính</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38100">
                      <a:solidFill>
                        <a:srgbClr val="B7B7B7"/>
                      </a:solidFill>
                      <a:prstDash val="solid"/>
                      <a:round/>
                      <a:headEnd len="sm" w="sm" type="none"/>
                      <a:tailEnd len="sm" w="sm" type="none"/>
                    </a:lnB>
                    <a:solidFill>
                      <a:srgbClr val="182740"/>
                    </a:solidFill>
                  </a:tcPr>
                </a:tc>
                <a:tc>
                  <a:txBody>
                    <a:bodyPr/>
                    <a:lstStyle/>
                    <a:p>
                      <a:pPr indent="0" lvl="0" marL="0" marR="0" rtl="0" algn="ctr">
                        <a:spcBef>
                          <a:spcPts val="0"/>
                        </a:spcBef>
                        <a:spcAft>
                          <a:spcPts val="0"/>
                        </a:spcAft>
                        <a:buNone/>
                      </a:pPr>
                      <a:r>
                        <a:rPr b="1" lang="en-US" sz="1200" u="none" cap="none" strike="noStrike">
                          <a:solidFill>
                            <a:srgbClr val="FFFFFF"/>
                          </a:solidFill>
                          <a:latin typeface="Arial"/>
                          <a:ea typeface="Arial"/>
                          <a:cs typeface="Arial"/>
                          <a:sym typeface="Arial"/>
                        </a:rPr>
                        <a:t>Khi nào phù hợp</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38100">
                      <a:solidFill>
                        <a:srgbClr val="B7B7B7"/>
                      </a:solidFill>
                      <a:prstDash val="solid"/>
                      <a:round/>
                      <a:headEnd len="sm" w="sm" type="none"/>
                      <a:tailEnd len="sm" w="sm" type="none"/>
                    </a:lnB>
                    <a:solidFill>
                      <a:srgbClr val="182740"/>
                    </a:solidFill>
                  </a:tcPr>
                </a:tc>
              </a:tr>
              <a:tr h="452000">
                <a:tc>
                  <a:txBody>
                    <a:bodyPr/>
                    <a:lstStyle/>
                    <a:p>
                      <a:pPr indent="0" lvl="0" marL="0" marR="0" rtl="0" algn="l">
                        <a:spcBef>
                          <a:spcPts val="0"/>
                        </a:spcBef>
                        <a:spcAft>
                          <a:spcPts val="0"/>
                        </a:spcAft>
                        <a:buNone/>
                      </a:pPr>
                      <a:r>
                        <a:rPr b="0" lang="en-US" sz="1200" u="none" cap="none" strike="noStrike">
                          <a:solidFill>
                            <a:srgbClr val="2B303A"/>
                          </a:solidFill>
                          <a:latin typeface="Arial"/>
                          <a:ea typeface="Arial"/>
                          <a:cs typeface="Arial"/>
                          <a:sym typeface="Arial"/>
                        </a:rPr>
                        <a:t>H.265 / HEVC</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381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00" u="none" cap="none" strike="noStrike">
                          <a:solidFill>
                            <a:srgbClr val="2B303A"/>
                          </a:solidFill>
                          <a:latin typeface="Arial"/>
                          <a:ea typeface="Arial"/>
                          <a:cs typeface="Arial"/>
                          <a:sym typeface="Arial"/>
                        </a:rPr>
                        <a:t>~40–50% bandwidth thấp hơn H.264 ở chất lượng tương đương*</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381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00" u="none" cap="none" strike="noStrike">
                          <a:solidFill>
                            <a:srgbClr val="2B303A"/>
                          </a:solidFill>
                          <a:latin typeface="Arial"/>
                          <a:ea typeface="Arial"/>
                          <a:cs typeface="Arial"/>
                          <a:sym typeface="Arial"/>
                        </a:rPr>
                        <a:t>Lưu trữ / bandwidth tiết kiệm</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381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r>
              <a:tr h="452000">
                <a:tc>
                  <a:txBody>
                    <a:bodyPr/>
                    <a:lstStyle/>
                    <a:p>
                      <a:pPr indent="0" lvl="0" marL="0" marR="0" rtl="0" algn="l">
                        <a:spcBef>
                          <a:spcPts val="0"/>
                        </a:spcBef>
                        <a:spcAft>
                          <a:spcPts val="0"/>
                        </a:spcAft>
                        <a:buNone/>
                      </a:pPr>
                      <a:r>
                        <a:rPr b="0" lang="en-US" sz="1200" u="none" cap="none" strike="noStrike">
                          <a:solidFill>
                            <a:srgbClr val="2B303A"/>
                          </a:solidFill>
                          <a:latin typeface="Arial"/>
                          <a:ea typeface="Arial"/>
                          <a:cs typeface="Arial"/>
                          <a:sym typeface="Arial"/>
                        </a:rPr>
                        <a:t>H.264</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00" u="none" cap="none" strike="noStrike">
                          <a:solidFill>
                            <a:srgbClr val="2B303A"/>
                          </a:solidFill>
                          <a:latin typeface="Arial"/>
                          <a:ea typeface="Arial"/>
                          <a:cs typeface="Arial"/>
                          <a:sym typeface="Arial"/>
                        </a:rPr>
                        <a:t>Tương thích rộng; NVR/app đời cũ dễ hỗ trợ</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00" u="none" cap="none" strike="noStrike">
                          <a:solidFill>
                            <a:srgbClr val="2B303A"/>
                          </a:solidFill>
                          <a:latin typeface="Arial"/>
                          <a:ea typeface="Arial"/>
                          <a:cs typeface="Arial"/>
                          <a:sym typeface="Arial"/>
                        </a:rPr>
                        <a:t>Tương thích là ưu tiên</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r>
              <a:tr h="452000">
                <a:tc>
                  <a:txBody>
                    <a:bodyPr/>
                    <a:lstStyle/>
                    <a:p>
                      <a:pPr indent="0" lvl="0" marL="0" marR="0" rtl="0" algn="l">
                        <a:spcBef>
                          <a:spcPts val="0"/>
                        </a:spcBef>
                        <a:spcAft>
                          <a:spcPts val="0"/>
                        </a:spcAft>
                        <a:buNone/>
                      </a:pPr>
                      <a:r>
                        <a:rPr b="0" lang="en-US" sz="1200" u="none" cap="none" strike="noStrike">
                          <a:solidFill>
                            <a:srgbClr val="2B303A"/>
                          </a:solidFill>
                          <a:latin typeface="Arial"/>
                          <a:ea typeface="Arial"/>
                          <a:cs typeface="Arial"/>
                          <a:sym typeface="Arial"/>
                        </a:rPr>
                        <a:t>MJPEG</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00" u="none" cap="none" strike="noStrike">
                          <a:solidFill>
                            <a:srgbClr val="2B303A"/>
                          </a:solidFill>
                          <a:latin typeface="Arial"/>
                          <a:ea typeface="Arial"/>
                          <a:cs typeface="Arial"/>
                          <a:sym typeface="Arial"/>
                        </a:rPr>
                        <a:t>Mỗi frame là JPEG riêng; rất tốn bandwidth</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00" u="none" cap="none" strike="noStrike">
                          <a:solidFill>
                            <a:srgbClr val="2B303A"/>
                          </a:solidFill>
                          <a:latin typeface="Arial"/>
                          <a:ea typeface="Arial"/>
                          <a:cs typeface="Arial"/>
                          <a:sym typeface="Arial"/>
                        </a:rPr>
                        <a:t>Snapshot / tương thích đặc thù</a:t>
                      </a:r>
                      <a:endParaRPr/>
                    </a:p>
                  </a:txBody>
                  <a:tcPr marT="27425" marB="27425" marR="45725" marL="45725">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r>
            </a:tbl>
          </a:graphicData>
        </a:graphic>
      </p:graphicFrame>
      <p:sp>
        <p:nvSpPr>
          <p:cNvPr id="291" name="Google Shape;291;g40a1274a87e_0_110"/>
          <p:cNvSpPr txBox="1"/>
          <p:nvPr/>
        </p:nvSpPr>
        <p:spPr>
          <a:xfrm>
            <a:off x="917950" y="4468775"/>
            <a:ext cx="7904100" cy="190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00" u="none" cap="none" strike="noStrike">
                <a:solidFill>
                  <a:srgbClr val="69707D"/>
                </a:solidFill>
                <a:latin typeface="Arial"/>
                <a:ea typeface="Arial"/>
                <a:cs typeface="Arial"/>
                <a:sym typeface="Arial"/>
              </a:rPr>
              <a:t>* Mức tiết kiệm thực tế phụ thuộc scene, encoder, cấu hình và chất lượng mục tiêu.</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40a1274a87e_0_9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 - </a:t>
            </a:r>
            <a:r>
              <a:rPr lang="en-US"/>
              <a:t>Stream</a:t>
            </a:r>
            <a:endParaRPr/>
          </a:p>
        </p:txBody>
      </p:sp>
      <p:sp>
        <p:nvSpPr>
          <p:cNvPr id="297" name="Google Shape;297;g40a1274a87e_0_91"/>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Các loại Frame / Ảnh: I - Intra Coded, Inter Coded (P - Prediction, B – Bidirectional)</a:t>
            </a:r>
            <a:endParaRPr sz="1500">
              <a:latin typeface="Comfortaa"/>
              <a:ea typeface="Comfortaa"/>
              <a:cs typeface="Comfortaa"/>
              <a:sym typeface="Comfortaa"/>
            </a:endParaRPr>
          </a:p>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Camera thường không support B frame -&gt; đảm bảo speed</a:t>
            </a:r>
            <a:endParaRPr sz="1500">
              <a:solidFill>
                <a:srgbClr val="000000"/>
              </a:solidFill>
              <a:latin typeface="Comfortaa"/>
              <a:ea typeface="Comfortaa"/>
              <a:cs typeface="Comfortaa"/>
              <a:sym typeface="Comfortaa"/>
            </a:endParaRPr>
          </a:p>
        </p:txBody>
      </p:sp>
      <p:sp>
        <p:nvSpPr>
          <p:cNvPr id="298" name="Google Shape;298;g40a1274a87e_0_9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9" name="Google Shape;299;g40a1274a87e_0_91"/>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pic>
        <p:nvPicPr>
          <p:cNvPr descr="BVOP | Internet with a Brain" id="300" name="Google Shape;300;g40a1274a87e_0_91"/>
          <p:cNvPicPr preferRelativeResize="0"/>
          <p:nvPr/>
        </p:nvPicPr>
        <p:blipFill rotWithShape="1">
          <a:blip r:embed="rId3">
            <a:alphaModFix/>
          </a:blip>
          <a:srcRect b="0" l="0" r="0" t="0"/>
          <a:stretch/>
        </p:blipFill>
        <p:spPr>
          <a:xfrm>
            <a:off x="1076589" y="2795038"/>
            <a:ext cx="6990834" cy="13321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40a1274a87e_0_38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 - Stream</a:t>
            </a:r>
            <a:endParaRPr/>
          </a:p>
        </p:txBody>
      </p:sp>
      <p:sp>
        <p:nvSpPr>
          <p:cNvPr id="306" name="Google Shape;306;g40a1274a87e_0_380"/>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accent1"/>
              </a:buClr>
              <a:buSzPts val="1500"/>
              <a:buFont typeface="Comfortaa"/>
              <a:buChar char="-"/>
            </a:pPr>
            <a:r>
              <a:rPr b="1" lang="en-US" sz="1500">
                <a:latin typeface="Comfortaa"/>
                <a:ea typeface="Comfortaa"/>
                <a:cs typeface="Comfortaa"/>
                <a:sym typeface="Comfortaa"/>
              </a:rPr>
              <a:t>Key Frame (IDR - Instantaneous Decoder Refresh)</a:t>
            </a:r>
            <a:r>
              <a:rPr lang="en-US" sz="1500">
                <a:latin typeface="Comfortaa"/>
                <a:ea typeface="Comfortaa"/>
                <a:cs typeface="Comfortaa"/>
                <a:sym typeface="Comfortaa"/>
              </a:rPr>
              <a:t> là ảnh I có chứa thông tin để decoder có thể refresh </a:t>
            </a:r>
            <a:r>
              <a:rPr lang="en-US" sz="1500">
                <a:latin typeface="Comfortaa"/>
                <a:ea typeface="Comfortaa"/>
                <a:cs typeface="Comfortaa"/>
                <a:sym typeface="Comfortaa"/>
              </a:rPr>
              <a:t>toàn bộ thông tin để thực hiện giải mã video.</a:t>
            </a:r>
            <a:endParaRPr sz="1500">
              <a:solidFill>
                <a:srgbClr val="000000"/>
              </a:solidFill>
              <a:latin typeface="Comfortaa"/>
              <a:ea typeface="Comfortaa"/>
              <a:cs typeface="Comfortaa"/>
              <a:sym typeface="Comfortaa"/>
            </a:endParaRPr>
          </a:p>
        </p:txBody>
      </p:sp>
      <p:sp>
        <p:nvSpPr>
          <p:cNvPr id="307" name="Google Shape;307;g40a1274a87e_0_38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08" name="Google Shape;308;g40a1274a87e_0_380"/>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pic>
        <p:nvPicPr>
          <p:cNvPr id="309" name="Google Shape;309;g40a1274a87e_0_380"/>
          <p:cNvPicPr preferRelativeResize="0"/>
          <p:nvPr/>
        </p:nvPicPr>
        <p:blipFill>
          <a:blip r:embed="rId3">
            <a:alphaModFix/>
          </a:blip>
          <a:stretch>
            <a:fillRect/>
          </a:stretch>
        </p:blipFill>
        <p:spPr>
          <a:xfrm>
            <a:off x="1657350" y="2336025"/>
            <a:ext cx="5810250" cy="2076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40a1274a87e_0_10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Codec - </a:t>
            </a:r>
            <a:r>
              <a:rPr lang="en-US"/>
              <a:t>Stream</a:t>
            </a:r>
            <a:endParaRPr/>
          </a:p>
        </p:txBody>
      </p:sp>
      <p:sp>
        <p:nvSpPr>
          <p:cNvPr id="315" name="Google Shape;315;g40a1274a87e_0_101"/>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GOP (Group of Pictures) = Nhóm khung hình gồm I, P, B</a:t>
            </a:r>
            <a:endParaRPr sz="1500">
              <a:latin typeface="Comfortaa"/>
              <a:ea typeface="Comfortaa"/>
              <a:cs typeface="Comfortaa"/>
              <a:sym typeface="Comfortaa"/>
            </a:endParaRPr>
          </a:p>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GOP ảnh hưởng đến:  </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Độ trễ khi seek hoặc stream</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Chất lượng video </a:t>
            </a:r>
            <a:endParaRPr sz="1500">
              <a:latin typeface="Comfortaa"/>
              <a:ea typeface="Comfortaa"/>
              <a:cs typeface="Comfortaa"/>
              <a:sym typeface="Comfortaa"/>
            </a:endParaRPr>
          </a:p>
          <a:p>
            <a:pPr indent="-323850" lvl="1" marL="914400" rtl="0" algn="l">
              <a:lnSpc>
                <a:spcPct val="150000"/>
              </a:lnSpc>
              <a:spcBef>
                <a:spcPts val="1600"/>
              </a:spcBef>
              <a:spcAft>
                <a:spcPts val="0"/>
              </a:spcAft>
              <a:buClr>
                <a:schemeClr val="accent1"/>
              </a:buClr>
              <a:buSzPts val="1500"/>
              <a:buFont typeface="Comfortaa"/>
              <a:buChar char="○"/>
            </a:pPr>
            <a:r>
              <a:rPr lang="en-US" sz="1500">
                <a:latin typeface="Comfortaa"/>
                <a:ea typeface="Comfortaa"/>
                <a:cs typeface="Comfortaa"/>
                <a:sym typeface="Comfortaa"/>
              </a:rPr>
              <a:t>Kích thước file </a:t>
            </a:r>
            <a:endParaRPr sz="1500">
              <a:latin typeface="Comfortaa"/>
              <a:ea typeface="Comfortaa"/>
              <a:cs typeface="Comfortaa"/>
              <a:sym typeface="Comfortaa"/>
            </a:endParaRPr>
          </a:p>
          <a:p>
            <a:pPr indent="-323850" lvl="0" marL="457200" rtl="0" algn="l">
              <a:lnSpc>
                <a:spcPct val="150000"/>
              </a:lnSpc>
              <a:spcBef>
                <a:spcPts val="0"/>
              </a:spcBef>
              <a:spcAft>
                <a:spcPts val="0"/>
              </a:spcAft>
              <a:buClr>
                <a:schemeClr val="accent1"/>
              </a:buClr>
              <a:buSzPts val="1500"/>
              <a:buFont typeface="Comfortaa"/>
              <a:buChar char="-"/>
            </a:pPr>
            <a:r>
              <a:rPr lang="en-US" sz="1500">
                <a:latin typeface="Comfortaa"/>
                <a:ea typeface="Comfortaa"/>
                <a:cs typeface="Comfortaa"/>
                <a:sym typeface="Comfortaa"/>
              </a:rPr>
              <a:t>GOP dài → ít I-frame hơn → nhẹ bandwidth nhưng thời gian chờ frame đầu có thể dài hơn.</a:t>
            </a:r>
            <a:endParaRPr sz="1500">
              <a:latin typeface="Comfortaa"/>
              <a:ea typeface="Comfortaa"/>
              <a:cs typeface="Comfortaa"/>
              <a:sym typeface="Comfortaa"/>
            </a:endParaRPr>
          </a:p>
          <a:p>
            <a:pPr indent="0" lvl="0" marL="0" rtl="0" algn="l">
              <a:lnSpc>
                <a:spcPct val="150000"/>
              </a:lnSpc>
              <a:spcBef>
                <a:spcPts val="0"/>
              </a:spcBef>
              <a:spcAft>
                <a:spcPts val="0"/>
              </a:spcAft>
              <a:buNone/>
            </a:pPr>
            <a:r>
              <a:rPr lang="en-US">
                <a:solidFill>
                  <a:schemeClr val="accent3"/>
                </a:solidFill>
                <a:latin typeface="Comfortaa"/>
                <a:ea typeface="Comfortaa"/>
                <a:cs typeface="Comfortaa"/>
                <a:sym typeface="Comfortaa"/>
              </a:rPr>
              <a:t>ffprobe -v error -rtsp_transport tcp -i "rtsps://..." -select_streams v  -show_frames -show_entries frame=pict_type -of csv | head -100</a:t>
            </a:r>
            <a:endParaRPr>
              <a:solidFill>
                <a:schemeClr val="accent3"/>
              </a:solidFill>
              <a:latin typeface="Comfortaa"/>
              <a:ea typeface="Comfortaa"/>
              <a:cs typeface="Comfortaa"/>
              <a:sym typeface="Comfortaa"/>
            </a:endParaRPr>
          </a:p>
        </p:txBody>
      </p:sp>
      <p:sp>
        <p:nvSpPr>
          <p:cNvPr id="316" name="Google Shape;316;g40a1274a87e_0_10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17" name="Google Shape;317;g40a1274a87e_0_101"/>
          <p:cNvSpPr txBox="1"/>
          <p:nvPr/>
        </p:nvSpPr>
        <p:spPr>
          <a:xfrm>
            <a:off x="6097902" y="3360513"/>
            <a:ext cx="1965900" cy="237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BITRATE</a:t>
            </a:r>
            <a:endParaRPr/>
          </a:p>
        </p:txBody>
      </p:sp>
      <p:pic>
        <p:nvPicPr>
          <p:cNvPr descr="A diagram of several different types of objects&#10;&#10;AI-generated content may be incorrect." id="318" name="Google Shape;318;g40a1274a87e_0_101"/>
          <p:cNvPicPr preferRelativeResize="0"/>
          <p:nvPr/>
        </p:nvPicPr>
        <p:blipFill rotWithShape="1">
          <a:blip r:embed="rId3">
            <a:alphaModFix/>
          </a:blip>
          <a:srcRect b="0" l="0" r="0" t="0"/>
          <a:stretch/>
        </p:blipFill>
        <p:spPr>
          <a:xfrm>
            <a:off x="5100575" y="1719761"/>
            <a:ext cx="4043350" cy="1974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40a1274a87e_0_122"/>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Stream</a:t>
            </a:r>
            <a:endParaRPr/>
          </a:p>
        </p:txBody>
      </p:sp>
      <p:sp>
        <p:nvSpPr>
          <p:cNvPr id="324" name="Google Shape;324;g40a1274a87e_0_122"/>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Comfortaa"/>
              <a:buChar char="-"/>
            </a:pPr>
            <a:r>
              <a:rPr lang="en-US" sz="1500">
                <a:latin typeface="Comfortaa"/>
                <a:ea typeface="Comfortaa"/>
                <a:cs typeface="Comfortaa"/>
                <a:sym typeface="Comfortaa"/>
              </a:rPr>
              <a:t>Main stream / Sub stream / Third stream</a:t>
            </a:r>
            <a:endParaRPr sz="1500">
              <a:latin typeface="Comfortaa"/>
              <a:ea typeface="Comfortaa"/>
              <a:cs typeface="Comfortaa"/>
              <a:sym typeface="Comfortaa"/>
            </a:endParaRPr>
          </a:p>
          <a:p>
            <a:pPr indent="-323850" lvl="0" marL="457200" rtl="0" algn="l">
              <a:lnSpc>
                <a:spcPct val="150000"/>
              </a:lnSpc>
              <a:spcBef>
                <a:spcPts val="0"/>
              </a:spcBef>
              <a:spcAft>
                <a:spcPts val="0"/>
              </a:spcAft>
              <a:buSzPts val="1500"/>
              <a:buFont typeface="Comfortaa"/>
              <a:buChar char="-"/>
            </a:pPr>
            <a:r>
              <a:rPr lang="en-US" sz="1500">
                <a:solidFill>
                  <a:srgbClr val="69707D"/>
                </a:solidFill>
                <a:latin typeface="Comfortaa"/>
                <a:ea typeface="Comfortaa"/>
                <a:cs typeface="Comfortaa"/>
                <a:sym typeface="Comfortaa"/>
              </a:rPr>
              <a:t>Một camera có thể phục vụ nhiều mục tiêu xem/ghi khác nhau cùng lúc.</a:t>
            </a:r>
            <a:endParaRPr sz="1500">
              <a:solidFill>
                <a:srgbClr val="69707D"/>
              </a:solidFill>
              <a:latin typeface="Comfortaa"/>
              <a:ea typeface="Comfortaa"/>
              <a:cs typeface="Comfortaa"/>
              <a:sym typeface="Comfortaa"/>
            </a:endParaRPr>
          </a:p>
          <a:p>
            <a:pPr indent="-323850" lvl="0" marL="457200" rtl="0" algn="l">
              <a:lnSpc>
                <a:spcPct val="150000"/>
              </a:lnSpc>
              <a:spcBef>
                <a:spcPts val="0"/>
              </a:spcBef>
              <a:spcAft>
                <a:spcPts val="0"/>
              </a:spcAft>
              <a:buClr>
                <a:srgbClr val="69707D"/>
              </a:buClr>
              <a:buSzPts val="1500"/>
              <a:buFont typeface="Comfortaa"/>
              <a:buChar char="-"/>
            </a:pPr>
            <a:r>
              <a:t/>
            </a:r>
            <a:endParaRPr sz="1500">
              <a:solidFill>
                <a:srgbClr val="69707D"/>
              </a:solidFill>
              <a:latin typeface="Comfortaa"/>
              <a:ea typeface="Comfortaa"/>
              <a:cs typeface="Comfortaa"/>
              <a:sym typeface="Comfortaa"/>
            </a:endParaRPr>
          </a:p>
        </p:txBody>
      </p:sp>
      <p:sp>
        <p:nvSpPr>
          <p:cNvPr id="325" name="Google Shape;325;g40a1274a87e_0_1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26" name="Google Shape;326;g40a1274a87e_0_122"/>
          <p:cNvSpPr/>
          <p:nvPr/>
        </p:nvSpPr>
        <p:spPr>
          <a:xfrm>
            <a:off x="412450" y="2100050"/>
            <a:ext cx="2511900" cy="1514400"/>
          </a:xfrm>
          <a:prstGeom prst="roundRect">
            <a:avLst>
              <a:gd fmla="val 16667" name="adj"/>
            </a:avLst>
          </a:prstGeom>
          <a:solidFill>
            <a:srgbClr val="FFFFFF"/>
          </a:solidFill>
          <a:ln cap="flat" cmpd="sng" w="9550">
            <a:solidFill>
              <a:srgbClr val="2B6EBE"/>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27" name="Google Shape;327;g40a1274a87e_0_122"/>
          <p:cNvSpPr/>
          <p:nvPr/>
        </p:nvSpPr>
        <p:spPr>
          <a:xfrm>
            <a:off x="584512" y="2267394"/>
            <a:ext cx="722700" cy="234000"/>
          </a:xfrm>
          <a:prstGeom prst="roundRect">
            <a:avLst>
              <a:gd fmla="val 16667" name="adj"/>
            </a:avLst>
          </a:prstGeom>
          <a:solidFill>
            <a:srgbClr val="2B6EBE"/>
          </a:solidFill>
          <a:ln cap="flat" cmpd="sng" w="9550">
            <a:solidFill>
              <a:srgbClr val="2B6EBE"/>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28" name="Google Shape;328;g40a1274a87e_0_122"/>
          <p:cNvSpPr txBox="1"/>
          <p:nvPr/>
        </p:nvSpPr>
        <p:spPr>
          <a:xfrm>
            <a:off x="612042" y="2288042"/>
            <a:ext cx="667800" cy="143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753" u="none" cap="none" strike="noStrike">
                <a:solidFill>
                  <a:srgbClr val="FFFFFF"/>
                </a:solidFill>
                <a:latin typeface="Arial"/>
                <a:ea typeface="Arial"/>
                <a:cs typeface="Arial"/>
                <a:sym typeface="Arial"/>
              </a:rPr>
              <a:t>MAIN</a:t>
            </a:r>
            <a:endParaRPr sz="1054"/>
          </a:p>
        </p:txBody>
      </p:sp>
      <p:sp>
        <p:nvSpPr>
          <p:cNvPr id="329" name="Google Shape;329;g40a1274a87e_0_122"/>
          <p:cNvSpPr txBox="1"/>
          <p:nvPr/>
        </p:nvSpPr>
        <p:spPr>
          <a:xfrm>
            <a:off x="584512" y="2632165"/>
            <a:ext cx="2133600" cy="224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1280" u="none" cap="none" strike="noStrike">
                <a:solidFill>
                  <a:srgbClr val="182740"/>
                </a:solidFill>
                <a:latin typeface="Arial"/>
                <a:ea typeface="Arial"/>
                <a:cs typeface="Arial"/>
                <a:sym typeface="Arial"/>
              </a:rPr>
              <a:t>Độ phân giải cao</a:t>
            </a:r>
            <a:endParaRPr sz="1054"/>
          </a:p>
        </p:txBody>
      </p:sp>
      <p:sp>
        <p:nvSpPr>
          <p:cNvPr id="330" name="Google Shape;330;g40a1274a87e_0_122"/>
          <p:cNvSpPr txBox="1"/>
          <p:nvPr/>
        </p:nvSpPr>
        <p:spPr>
          <a:xfrm>
            <a:off x="584512" y="3162114"/>
            <a:ext cx="2133600" cy="1668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0" i="0" lang="en-US" sz="903" u="none" cap="none" strike="noStrike">
                <a:solidFill>
                  <a:srgbClr val="2B303A"/>
                </a:solidFill>
                <a:latin typeface="Arial"/>
                <a:ea typeface="Arial"/>
                <a:cs typeface="Arial"/>
                <a:sym typeface="Arial"/>
              </a:rPr>
              <a:t>Ghi hình / full screen</a:t>
            </a:r>
            <a:endParaRPr sz="1054"/>
          </a:p>
        </p:txBody>
      </p:sp>
      <p:sp>
        <p:nvSpPr>
          <p:cNvPr id="331" name="Google Shape;331;g40a1274a87e_0_122"/>
          <p:cNvSpPr/>
          <p:nvPr/>
        </p:nvSpPr>
        <p:spPr>
          <a:xfrm>
            <a:off x="3199862" y="2100050"/>
            <a:ext cx="2511900" cy="1514400"/>
          </a:xfrm>
          <a:prstGeom prst="roundRect">
            <a:avLst>
              <a:gd fmla="val 16667" name="adj"/>
            </a:avLst>
          </a:prstGeom>
          <a:solidFill>
            <a:srgbClr val="FFFFFF"/>
          </a:solidFill>
          <a:ln cap="flat" cmpd="sng" w="9550">
            <a:solidFill>
              <a:srgbClr val="2B965B"/>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32" name="Google Shape;332;g40a1274a87e_0_122"/>
          <p:cNvSpPr/>
          <p:nvPr/>
        </p:nvSpPr>
        <p:spPr>
          <a:xfrm>
            <a:off x="3371924" y="2267394"/>
            <a:ext cx="722700" cy="234000"/>
          </a:xfrm>
          <a:prstGeom prst="roundRect">
            <a:avLst>
              <a:gd fmla="val 16667" name="adj"/>
            </a:avLst>
          </a:prstGeom>
          <a:solidFill>
            <a:srgbClr val="2B965B"/>
          </a:solidFill>
          <a:ln cap="flat" cmpd="sng" w="9550">
            <a:solidFill>
              <a:srgbClr val="2B965B"/>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33" name="Google Shape;333;g40a1274a87e_0_122"/>
          <p:cNvSpPr txBox="1"/>
          <p:nvPr/>
        </p:nvSpPr>
        <p:spPr>
          <a:xfrm>
            <a:off x="3399454" y="2288042"/>
            <a:ext cx="667800" cy="143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753" u="none" cap="none" strike="noStrike">
                <a:solidFill>
                  <a:srgbClr val="FFFFFF"/>
                </a:solidFill>
                <a:latin typeface="Arial"/>
                <a:ea typeface="Arial"/>
                <a:cs typeface="Arial"/>
                <a:sym typeface="Arial"/>
              </a:rPr>
              <a:t>SUB</a:t>
            </a:r>
            <a:endParaRPr sz="1054"/>
          </a:p>
        </p:txBody>
      </p:sp>
      <p:sp>
        <p:nvSpPr>
          <p:cNvPr id="334" name="Google Shape;334;g40a1274a87e_0_122"/>
          <p:cNvSpPr txBox="1"/>
          <p:nvPr/>
        </p:nvSpPr>
        <p:spPr>
          <a:xfrm>
            <a:off x="3371924" y="2632165"/>
            <a:ext cx="2133600" cy="4218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1280" u="none" cap="none" strike="noStrike">
                <a:solidFill>
                  <a:srgbClr val="182740"/>
                </a:solidFill>
                <a:latin typeface="Arial"/>
                <a:ea typeface="Arial"/>
                <a:cs typeface="Arial"/>
                <a:sym typeface="Arial"/>
              </a:rPr>
              <a:t>Nhẹ hơn</a:t>
            </a:r>
            <a:br>
              <a:rPr b="1" i="0" lang="en-US" sz="1280" u="none" cap="none" strike="noStrike">
                <a:solidFill>
                  <a:srgbClr val="182740"/>
                </a:solidFill>
                <a:latin typeface="Arial"/>
                <a:ea typeface="Arial"/>
                <a:cs typeface="Arial"/>
                <a:sym typeface="Arial"/>
              </a:rPr>
            </a:br>
            <a:r>
              <a:rPr b="1" i="0" lang="en-US" sz="1280" u="none" cap="none" strike="noStrike">
                <a:solidFill>
                  <a:srgbClr val="182740"/>
                </a:solidFill>
                <a:latin typeface="Arial"/>
                <a:ea typeface="Arial"/>
                <a:cs typeface="Arial"/>
                <a:sym typeface="Arial"/>
              </a:rPr>
              <a:t>D1 / VGA • ~512 Kbps</a:t>
            </a:r>
            <a:endParaRPr sz="1054"/>
          </a:p>
        </p:txBody>
      </p:sp>
      <p:sp>
        <p:nvSpPr>
          <p:cNvPr id="335" name="Google Shape;335;g40a1274a87e_0_122"/>
          <p:cNvSpPr txBox="1"/>
          <p:nvPr/>
        </p:nvSpPr>
        <p:spPr>
          <a:xfrm>
            <a:off x="3371924" y="3162114"/>
            <a:ext cx="2133600" cy="1668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0" i="0" lang="en-US" sz="903" u="none" cap="none" strike="noStrike">
                <a:solidFill>
                  <a:srgbClr val="2B303A"/>
                </a:solidFill>
                <a:latin typeface="Arial"/>
                <a:ea typeface="Arial"/>
                <a:cs typeface="Arial"/>
                <a:sym typeface="Arial"/>
              </a:rPr>
              <a:t>Multi-view / 4G</a:t>
            </a:r>
            <a:endParaRPr sz="1054"/>
          </a:p>
        </p:txBody>
      </p:sp>
      <p:sp>
        <p:nvSpPr>
          <p:cNvPr id="336" name="Google Shape;336;g40a1274a87e_0_122"/>
          <p:cNvSpPr/>
          <p:nvPr/>
        </p:nvSpPr>
        <p:spPr>
          <a:xfrm>
            <a:off x="5987273" y="2100050"/>
            <a:ext cx="2511900" cy="1514400"/>
          </a:xfrm>
          <a:prstGeom prst="roundRect">
            <a:avLst>
              <a:gd fmla="val 16667" name="adj"/>
            </a:avLst>
          </a:prstGeom>
          <a:solidFill>
            <a:srgbClr val="FFFFFF"/>
          </a:solidFill>
          <a:ln cap="flat" cmpd="sng" w="9550">
            <a:solidFill>
              <a:srgbClr val="EB8F2D"/>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37" name="Google Shape;337;g40a1274a87e_0_122"/>
          <p:cNvSpPr/>
          <p:nvPr/>
        </p:nvSpPr>
        <p:spPr>
          <a:xfrm>
            <a:off x="6159336" y="2267394"/>
            <a:ext cx="722700" cy="234000"/>
          </a:xfrm>
          <a:prstGeom prst="roundRect">
            <a:avLst>
              <a:gd fmla="val 16667" name="adj"/>
            </a:avLst>
          </a:prstGeom>
          <a:solidFill>
            <a:srgbClr val="EB8F2D"/>
          </a:solidFill>
          <a:ln cap="flat" cmpd="sng" w="9550">
            <a:solidFill>
              <a:srgbClr val="EB8F2D"/>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38" name="Google Shape;338;g40a1274a87e_0_122"/>
          <p:cNvSpPr txBox="1"/>
          <p:nvPr/>
        </p:nvSpPr>
        <p:spPr>
          <a:xfrm>
            <a:off x="6186865" y="2288042"/>
            <a:ext cx="667800" cy="143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753" u="none" cap="none" strike="noStrike">
                <a:solidFill>
                  <a:srgbClr val="FFFFFF"/>
                </a:solidFill>
                <a:latin typeface="Arial"/>
                <a:ea typeface="Arial"/>
                <a:cs typeface="Arial"/>
                <a:sym typeface="Arial"/>
              </a:rPr>
              <a:t>THIRD</a:t>
            </a:r>
            <a:endParaRPr sz="1054"/>
          </a:p>
        </p:txBody>
      </p:sp>
      <p:sp>
        <p:nvSpPr>
          <p:cNvPr id="339" name="Google Shape;339;g40a1274a87e_0_122"/>
          <p:cNvSpPr txBox="1"/>
          <p:nvPr/>
        </p:nvSpPr>
        <p:spPr>
          <a:xfrm>
            <a:off x="6159336" y="2632165"/>
            <a:ext cx="2133600" cy="224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1280" u="none" cap="none" strike="noStrike">
                <a:solidFill>
                  <a:srgbClr val="182740"/>
                </a:solidFill>
                <a:latin typeface="Arial"/>
                <a:ea typeface="Arial"/>
                <a:cs typeface="Arial"/>
                <a:sym typeface="Arial"/>
              </a:rPr>
              <a:t>Theo spec sản phẩm</a:t>
            </a:r>
            <a:endParaRPr sz="1054"/>
          </a:p>
        </p:txBody>
      </p:sp>
      <p:sp>
        <p:nvSpPr>
          <p:cNvPr id="340" name="Google Shape;340;g40a1274a87e_0_122"/>
          <p:cNvSpPr txBox="1"/>
          <p:nvPr/>
        </p:nvSpPr>
        <p:spPr>
          <a:xfrm>
            <a:off x="6159336" y="3162114"/>
            <a:ext cx="2133600" cy="1668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0" i="0" lang="en-US" sz="903" u="none" cap="none" strike="noStrike">
                <a:solidFill>
                  <a:srgbClr val="2B303A"/>
                </a:solidFill>
                <a:latin typeface="Arial"/>
                <a:ea typeface="Arial"/>
                <a:cs typeface="Arial"/>
                <a:sym typeface="Arial"/>
              </a:rPr>
              <a:t>Ứng dụng / mục tiêu riêng</a:t>
            </a:r>
            <a:endParaRPr sz="1054"/>
          </a:p>
        </p:txBody>
      </p:sp>
      <p:sp>
        <p:nvSpPr>
          <p:cNvPr id="341" name="Google Shape;341;g40a1274a87e_0_122"/>
          <p:cNvSpPr/>
          <p:nvPr/>
        </p:nvSpPr>
        <p:spPr>
          <a:xfrm>
            <a:off x="412450" y="3836596"/>
            <a:ext cx="3441300" cy="1273500"/>
          </a:xfrm>
          <a:prstGeom prst="roundRect">
            <a:avLst>
              <a:gd fmla="val 16667" name="adj"/>
            </a:avLst>
          </a:prstGeom>
          <a:solidFill>
            <a:srgbClr val="FFFFFF"/>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42" name="Google Shape;342;g40a1274a87e_0_122"/>
          <p:cNvSpPr txBox="1"/>
          <p:nvPr/>
        </p:nvSpPr>
        <p:spPr>
          <a:xfrm>
            <a:off x="618925" y="4008657"/>
            <a:ext cx="3028200" cy="1899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1054" u="none" cap="none" strike="noStrike">
                <a:solidFill>
                  <a:srgbClr val="182740"/>
                </a:solidFill>
                <a:latin typeface="Arial"/>
                <a:ea typeface="Arial"/>
                <a:cs typeface="Arial"/>
                <a:sym typeface="Arial"/>
              </a:rPr>
              <a:t>NVR 16 Ô</a:t>
            </a:r>
            <a:endParaRPr sz="1054"/>
          </a:p>
        </p:txBody>
      </p:sp>
      <p:sp>
        <p:nvSpPr>
          <p:cNvPr id="343" name="Google Shape;343;g40a1274a87e_0_122"/>
          <p:cNvSpPr/>
          <p:nvPr/>
        </p:nvSpPr>
        <p:spPr>
          <a:xfrm>
            <a:off x="687750" y="4352781"/>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44" name="Google Shape;344;g40a1274a87e_0_122"/>
          <p:cNvSpPr txBox="1"/>
          <p:nvPr/>
        </p:nvSpPr>
        <p:spPr>
          <a:xfrm>
            <a:off x="687750" y="4407840"/>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45" name="Google Shape;345;g40a1274a87e_0_122"/>
          <p:cNvSpPr/>
          <p:nvPr/>
        </p:nvSpPr>
        <p:spPr>
          <a:xfrm>
            <a:off x="1341587" y="4352781"/>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46" name="Google Shape;346;g40a1274a87e_0_122"/>
          <p:cNvSpPr txBox="1"/>
          <p:nvPr/>
        </p:nvSpPr>
        <p:spPr>
          <a:xfrm>
            <a:off x="1341587" y="4407840"/>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47" name="Google Shape;347;g40a1274a87e_0_122"/>
          <p:cNvSpPr/>
          <p:nvPr/>
        </p:nvSpPr>
        <p:spPr>
          <a:xfrm>
            <a:off x="1995425" y="4352781"/>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48" name="Google Shape;348;g40a1274a87e_0_122"/>
          <p:cNvSpPr txBox="1"/>
          <p:nvPr/>
        </p:nvSpPr>
        <p:spPr>
          <a:xfrm>
            <a:off x="1995425" y="4407840"/>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49" name="Google Shape;349;g40a1274a87e_0_122"/>
          <p:cNvSpPr/>
          <p:nvPr/>
        </p:nvSpPr>
        <p:spPr>
          <a:xfrm>
            <a:off x="2649261" y="4352781"/>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50" name="Google Shape;350;g40a1274a87e_0_122"/>
          <p:cNvSpPr txBox="1"/>
          <p:nvPr/>
        </p:nvSpPr>
        <p:spPr>
          <a:xfrm>
            <a:off x="2649261" y="4407840"/>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51" name="Google Shape;351;g40a1274a87e_0_122"/>
          <p:cNvSpPr/>
          <p:nvPr/>
        </p:nvSpPr>
        <p:spPr>
          <a:xfrm>
            <a:off x="687750" y="4731316"/>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52" name="Google Shape;352;g40a1274a87e_0_122"/>
          <p:cNvSpPr txBox="1"/>
          <p:nvPr/>
        </p:nvSpPr>
        <p:spPr>
          <a:xfrm>
            <a:off x="687750" y="4786376"/>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53" name="Google Shape;353;g40a1274a87e_0_122"/>
          <p:cNvSpPr/>
          <p:nvPr/>
        </p:nvSpPr>
        <p:spPr>
          <a:xfrm>
            <a:off x="1341587" y="4731316"/>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54" name="Google Shape;354;g40a1274a87e_0_122"/>
          <p:cNvSpPr txBox="1"/>
          <p:nvPr/>
        </p:nvSpPr>
        <p:spPr>
          <a:xfrm>
            <a:off x="1341587" y="4786376"/>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55" name="Google Shape;355;g40a1274a87e_0_122"/>
          <p:cNvSpPr/>
          <p:nvPr/>
        </p:nvSpPr>
        <p:spPr>
          <a:xfrm>
            <a:off x="1995425" y="4731316"/>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56" name="Google Shape;356;g40a1274a87e_0_122"/>
          <p:cNvSpPr txBox="1"/>
          <p:nvPr/>
        </p:nvSpPr>
        <p:spPr>
          <a:xfrm>
            <a:off x="1995425" y="4786376"/>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57" name="Google Shape;357;g40a1274a87e_0_122"/>
          <p:cNvSpPr/>
          <p:nvPr/>
        </p:nvSpPr>
        <p:spPr>
          <a:xfrm>
            <a:off x="2649261" y="4731316"/>
            <a:ext cx="536700" cy="275400"/>
          </a:xfrm>
          <a:prstGeom prst="roundRect">
            <a:avLst>
              <a:gd fmla="val 16667" name="adj"/>
            </a:avLst>
          </a:prstGeom>
          <a:solidFill>
            <a:srgbClr val="E7EEF7"/>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58" name="Google Shape;358;g40a1274a87e_0_122"/>
          <p:cNvSpPr txBox="1"/>
          <p:nvPr/>
        </p:nvSpPr>
        <p:spPr>
          <a:xfrm>
            <a:off x="2649261" y="4786376"/>
            <a:ext cx="536700" cy="120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602" u="none" cap="none" strike="noStrike">
                <a:solidFill>
                  <a:srgbClr val="69707D"/>
                </a:solidFill>
                <a:latin typeface="Arial"/>
                <a:ea typeface="Arial"/>
                <a:cs typeface="Arial"/>
                <a:sym typeface="Arial"/>
              </a:rPr>
              <a:t>SUB</a:t>
            </a:r>
            <a:endParaRPr sz="1054"/>
          </a:p>
        </p:txBody>
      </p:sp>
      <p:sp>
        <p:nvSpPr>
          <p:cNvPr id="359" name="Google Shape;359;g40a1274a87e_0_122"/>
          <p:cNvSpPr/>
          <p:nvPr/>
        </p:nvSpPr>
        <p:spPr>
          <a:xfrm>
            <a:off x="4060174" y="3836596"/>
            <a:ext cx="4645800" cy="1273500"/>
          </a:xfrm>
          <a:prstGeom prst="roundRect">
            <a:avLst>
              <a:gd fmla="val 16667" name="adj"/>
            </a:avLst>
          </a:prstGeom>
          <a:solidFill>
            <a:srgbClr val="FFFFFF"/>
          </a:solidFill>
          <a:ln cap="flat" cmpd="sng" w="9550">
            <a:solidFill>
              <a:srgbClr val="DDE2EA"/>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360" name="Google Shape;360;g40a1274a87e_0_122"/>
          <p:cNvSpPr txBox="1"/>
          <p:nvPr/>
        </p:nvSpPr>
        <p:spPr>
          <a:xfrm>
            <a:off x="4266649" y="4008657"/>
            <a:ext cx="4232700" cy="1899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1054" u="none" cap="none" strike="noStrike">
                <a:solidFill>
                  <a:srgbClr val="182740"/>
                </a:solidFill>
                <a:latin typeface="Arial"/>
                <a:ea typeface="Arial"/>
                <a:cs typeface="Arial"/>
                <a:sym typeface="Arial"/>
              </a:rPr>
              <a:t>Full screen / ghi hình</a:t>
            </a:r>
            <a:endParaRPr sz="1054"/>
          </a:p>
        </p:txBody>
      </p:sp>
      <p:sp>
        <p:nvSpPr>
          <p:cNvPr id="361" name="Google Shape;361;g40a1274a87e_0_122"/>
          <p:cNvSpPr txBox="1"/>
          <p:nvPr/>
        </p:nvSpPr>
        <p:spPr>
          <a:xfrm>
            <a:off x="4266649" y="4421605"/>
            <a:ext cx="4232700" cy="305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i="0" lang="en-US" sz="1806" u="none" cap="none" strike="noStrike">
                <a:solidFill>
                  <a:srgbClr val="2B6EBE"/>
                </a:solidFill>
                <a:latin typeface="Arial"/>
                <a:ea typeface="Arial"/>
                <a:cs typeface="Arial"/>
                <a:sym typeface="Arial"/>
              </a:rPr>
              <a:t>→ MAIN STREAM</a:t>
            </a:r>
            <a:endParaRPr sz="1054"/>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40a1274a87e_0_166"/>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a:t>
            </a:r>
            <a:r>
              <a:rPr lang="en-US"/>
              <a:t>Audio</a:t>
            </a:r>
            <a:endParaRPr/>
          </a:p>
        </p:txBody>
      </p:sp>
      <p:sp>
        <p:nvSpPr>
          <p:cNvPr id="367" name="Google Shape;367;g40a1274a87e_0_166"/>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rgbClr val="69707D"/>
              </a:buClr>
              <a:buSzPts val="1500"/>
              <a:buFont typeface="Comfortaa"/>
              <a:buChar char="-"/>
            </a:pPr>
            <a:r>
              <a:rPr lang="en-US" sz="1500">
                <a:solidFill>
                  <a:srgbClr val="69707D"/>
                </a:solidFill>
                <a:latin typeface="Comfortaa"/>
                <a:ea typeface="Comfortaa"/>
                <a:cs typeface="Comfortaa"/>
                <a:sym typeface="Comfortaa"/>
              </a:rPr>
              <a:t>Âm thanh là một chuỗi end-to-end: mic → encoder → stream/file → decoder → loa.</a:t>
            </a:r>
            <a:endParaRPr sz="1500">
              <a:solidFill>
                <a:srgbClr val="000000"/>
              </a:solidFill>
              <a:latin typeface="Comfortaa"/>
              <a:ea typeface="Comfortaa"/>
              <a:cs typeface="Comfortaa"/>
              <a:sym typeface="Comfortaa"/>
            </a:endParaRPr>
          </a:p>
          <a:p>
            <a:pPr indent="0" lvl="0" marL="457200" rtl="0" algn="l">
              <a:lnSpc>
                <a:spcPct val="150000"/>
              </a:lnSpc>
              <a:spcBef>
                <a:spcPts val="0"/>
              </a:spcBef>
              <a:spcAft>
                <a:spcPts val="0"/>
              </a:spcAft>
              <a:buNone/>
            </a:pPr>
            <a:r>
              <a:t/>
            </a:r>
            <a:endParaRPr sz="1500">
              <a:latin typeface="Comfortaa"/>
              <a:ea typeface="Comfortaa"/>
              <a:cs typeface="Comfortaa"/>
              <a:sym typeface="Comfortaa"/>
            </a:endParaRPr>
          </a:p>
        </p:txBody>
      </p:sp>
      <p:sp>
        <p:nvSpPr>
          <p:cNvPr id="368" name="Google Shape;368;g40a1274a87e_0_1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69" name="Google Shape;369;g40a1274a87e_0_166"/>
          <p:cNvSpPr/>
          <p:nvPr/>
        </p:nvSpPr>
        <p:spPr>
          <a:xfrm>
            <a:off x="331475" y="2079787"/>
            <a:ext cx="1475400" cy="878100"/>
          </a:xfrm>
          <a:prstGeom prst="roundRect">
            <a:avLst>
              <a:gd fmla="val 16667" name="adj"/>
            </a:avLst>
          </a:prstGeom>
          <a:solidFill>
            <a:srgbClr val="FFFFFF"/>
          </a:solidFill>
          <a:ln cap="flat" cmpd="sng" w="9775">
            <a:solidFill>
              <a:srgbClr val="2B6EBE"/>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70" name="Google Shape;370;g40a1274a87e_0_166"/>
          <p:cNvSpPr txBox="1"/>
          <p:nvPr/>
        </p:nvSpPr>
        <p:spPr>
          <a:xfrm>
            <a:off x="401728" y="2255420"/>
            <a:ext cx="1334700" cy="1704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922" u="none" cap="none" strike="noStrike">
                <a:solidFill>
                  <a:srgbClr val="2B6EBE"/>
                </a:solidFill>
                <a:latin typeface="Arial"/>
                <a:ea typeface="Arial"/>
                <a:cs typeface="Arial"/>
                <a:sym typeface="Arial"/>
              </a:rPr>
              <a:t>MIC</a:t>
            </a:r>
            <a:endParaRPr sz="1076"/>
          </a:p>
        </p:txBody>
      </p:sp>
      <p:sp>
        <p:nvSpPr>
          <p:cNvPr id="371" name="Google Shape;371;g40a1274a87e_0_166"/>
          <p:cNvSpPr txBox="1"/>
          <p:nvPr/>
        </p:nvSpPr>
        <p:spPr>
          <a:xfrm>
            <a:off x="401728" y="2550482"/>
            <a:ext cx="1334700" cy="1467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0" i="0" lang="en-US" sz="768" u="none" cap="none" strike="noStrike">
                <a:solidFill>
                  <a:srgbClr val="2B303A"/>
                </a:solidFill>
                <a:latin typeface="Arial"/>
                <a:ea typeface="Arial"/>
                <a:cs typeface="Arial"/>
                <a:sym typeface="Arial"/>
              </a:rPr>
              <a:t>Capture</a:t>
            </a:r>
            <a:endParaRPr sz="1076"/>
          </a:p>
        </p:txBody>
      </p:sp>
      <p:sp>
        <p:nvSpPr>
          <p:cNvPr id="372" name="Google Shape;372;g40a1274a87e_0_166"/>
          <p:cNvSpPr txBox="1"/>
          <p:nvPr/>
        </p:nvSpPr>
        <p:spPr>
          <a:xfrm>
            <a:off x="1841912" y="2360799"/>
            <a:ext cx="246000" cy="2649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1537" u="none" cap="none" strike="noStrike">
                <a:solidFill>
                  <a:srgbClr val="69707D"/>
                </a:solidFill>
                <a:latin typeface="Arial"/>
                <a:ea typeface="Arial"/>
                <a:cs typeface="Arial"/>
                <a:sym typeface="Arial"/>
              </a:rPr>
              <a:t>→</a:t>
            </a:r>
            <a:endParaRPr sz="1076"/>
          </a:p>
        </p:txBody>
      </p:sp>
      <p:sp>
        <p:nvSpPr>
          <p:cNvPr id="373" name="Google Shape;373;g40a1274a87e_0_166"/>
          <p:cNvSpPr/>
          <p:nvPr/>
        </p:nvSpPr>
        <p:spPr>
          <a:xfrm>
            <a:off x="2122923" y="2079787"/>
            <a:ext cx="1475400" cy="878100"/>
          </a:xfrm>
          <a:prstGeom prst="roundRect">
            <a:avLst>
              <a:gd fmla="val 16667" name="adj"/>
            </a:avLst>
          </a:prstGeom>
          <a:solidFill>
            <a:srgbClr val="FFFFFF"/>
          </a:solidFill>
          <a:ln cap="flat" cmpd="sng" w="9775">
            <a:solidFill>
              <a:srgbClr val="28A8B4"/>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74" name="Google Shape;374;g40a1274a87e_0_166"/>
          <p:cNvSpPr txBox="1"/>
          <p:nvPr/>
        </p:nvSpPr>
        <p:spPr>
          <a:xfrm>
            <a:off x="2193176" y="2255420"/>
            <a:ext cx="1334700" cy="1704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922" u="none" cap="none" strike="noStrike">
                <a:solidFill>
                  <a:srgbClr val="28A8B4"/>
                </a:solidFill>
                <a:latin typeface="Arial"/>
                <a:ea typeface="Arial"/>
                <a:cs typeface="Arial"/>
                <a:sym typeface="Arial"/>
              </a:rPr>
              <a:t>ENCODE</a:t>
            </a:r>
            <a:endParaRPr sz="1076"/>
          </a:p>
        </p:txBody>
      </p:sp>
      <p:sp>
        <p:nvSpPr>
          <p:cNvPr id="375" name="Google Shape;375;g40a1274a87e_0_166"/>
          <p:cNvSpPr txBox="1"/>
          <p:nvPr/>
        </p:nvSpPr>
        <p:spPr>
          <a:xfrm>
            <a:off x="2193176" y="2550482"/>
            <a:ext cx="1334700" cy="1467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0" i="0" lang="en-US" sz="768" u="none" cap="none" strike="noStrike">
                <a:solidFill>
                  <a:srgbClr val="2B303A"/>
                </a:solidFill>
                <a:latin typeface="Arial"/>
                <a:ea typeface="Arial"/>
                <a:cs typeface="Arial"/>
                <a:sym typeface="Arial"/>
              </a:rPr>
              <a:t>G.711 / AAC</a:t>
            </a:r>
            <a:endParaRPr sz="1076"/>
          </a:p>
        </p:txBody>
      </p:sp>
      <p:sp>
        <p:nvSpPr>
          <p:cNvPr id="376" name="Google Shape;376;g40a1274a87e_0_166"/>
          <p:cNvSpPr txBox="1"/>
          <p:nvPr/>
        </p:nvSpPr>
        <p:spPr>
          <a:xfrm>
            <a:off x="3633361" y="2360799"/>
            <a:ext cx="246000" cy="2649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1537" u="none" cap="none" strike="noStrike">
                <a:solidFill>
                  <a:srgbClr val="69707D"/>
                </a:solidFill>
                <a:latin typeface="Arial"/>
                <a:ea typeface="Arial"/>
                <a:cs typeface="Arial"/>
                <a:sym typeface="Arial"/>
              </a:rPr>
              <a:t>→</a:t>
            </a:r>
            <a:endParaRPr sz="1076"/>
          </a:p>
        </p:txBody>
      </p:sp>
      <p:sp>
        <p:nvSpPr>
          <p:cNvPr id="377" name="Google Shape;377;g40a1274a87e_0_166"/>
          <p:cNvSpPr/>
          <p:nvPr/>
        </p:nvSpPr>
        <p:spPr>
          <a:xfrm>
            <a:off x="3914372" y="2079787"/>
            <a:ext cx="1475400" cy="878100"/>
          </a:xfrm>
          <a:prstGeom prst="roundRect">
            <a:avLst>
              <a:gd fmla="val 16667" name="adj"/>
            </a:avLst>
          </a:prstGeom>
          <a:solidFill>
            <a:srgbClr val="FFFFFF"/>
          </a:solidFill>
          <a:ln cap="flat" cmpd="sng" w="9775">
            <a:solidFill>
              <a:srgbClr val="EB8F2D"/>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78" name="Google Shape;378;g40a1274a87e_0_166"/>
          <p:cNvSpPr txBox="1"/>
          <p:nvPr/>
        </p:nvSpPr>
        <p:spPr>
          <a:xfrm>
            <a:off x="3984625" y="2255420"/>
            <a:ext cx="1334700" cy="1704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922" u="none" cap="none" strike="noStrike">
                <a:solidFill>
                  <a:srgbClr val="EB8F2D"/>
                </a:solidFill>
                <a:latin typeface="Arial"/>
                <a:ea typeface="Arial"/>
                <a:cs typeface="Arial"/>
                <a:sym typeface="Arial"/>
              </a:rPr>
              <a:t>STREAM</a:t>
            </a:r>
            <a:endParaRPr sz="1076"/>
          </a:p>
        </p:txBody>
      </p:sp>
      <p:sp>
        <p:nvSpPr>
          <p:cNvPr id="379" name="Google Shape;379;g40a1274a87e_0_166"/>
          <p:cNvSpPr txBox="1"/>
          <p:nvPr/>
        </p:nvSpPr>
        <p:spPr>
          <a:xfrm>
            <a:off x="3984625" y="2550482"/>
            <a:ext cx="1334700" cy="1467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0" i="0" lang="en-US" sz="768" u="none" cap="none" strike="noStrike">
                <a:solidFill>
                  <a:srgbClr val="2B303A"/>
                </a:solidFill>
                <a:latin typeface="Arial"/>
                <a:ea typeface="Arial"/>
                <a:cs typeface="Arial"/>
                <a:sym typeface="Arial"/>
              </a:rPr>
              <a:t>A/V</a:t>
            </a:r>
            <a:endParaRPr sz="1076"/>
          </a:p>
        </p:txBody>
      </p:sp>
      <p:sp>
        <p:nvSpPr>
          <p:cNvPr id="380" name="Google Shape;380;g40a1274a87e_0_166"/>
          <p:cNvSpPr txBox="1"/>
          <p:nvPr/>
        </p:nvSpPr>
        <p:spPr>
          <a:xfrm>
            <a:off x="5424810" y="2360799"/>
            <a:ext cx="246000" cy="2649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1537" u="none" cap="none" strike="noStrike">
                <a:solidFill>
                  <a:srgbClr val="69707D"/>
                </a:solidFill>
                <a:latin typeface="Arial"/>
                <a:ea typeface="Arial"/>
                <a:cs typeface="Arial"/>
                <a:sym typeface="Arial"/>
              </a:rPr>
              <a:t>→</a:t>
            </a:r>
            <a:endParaRPr sz="1076"/>
          </a:p>
        </p:txBody>
      </p:sp>
      <p:sp>
        <p:nvSpPr>
          <p:cNvPr id="381" name="Google Shape;381;g40a1274a87e_0_166"/>
          <p:cNvSpPr/>
          <p:nvPr/>
        </p:nvSpPr>
        <p:spPr>
          <a:xfrm>
            <a:off x="5705821" y="2079787"/>
            <a:ext cx="1475400" cy="878100"/>
          </a:xfrm>
          <a:prstGeom prst="roundRect">
            <a:avLst>
              <a:gd fmla="val 16667" name="adj"/>
            </a:avLst>
          </a:prstGeom>
          <a:solidFill>
            <a:srgbClr val="FFFFFF"/>
          </a:solidFill>
          <a:ln cap="flat" cmpd="sng" w="9775">
            <a:solidFill>
              <a:srgbClr val="2B965B"/>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82" name="Google Shape;382;g40a1274a87e_0_166"/>
          <p:cNvSpPr txBox="1"/>
          <p:nvPr/>
        </p:nvSpPr>
        <p:spPr>
          <a:xfrm>
            <a:off x="5776074" y="2255420"/>
            <a:ext cx="1334700" cy="1704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922" u="none" cap="none" strike="noStrike">
                <a:solidFill>
                  <a:srgbClr val="2B965B"/>
                </a:solidFill>
                <a:latin typeface="Arial"/>
                <a:ea typeface="Arial"/>
                <a:cs typeface="Arial"/>
                <a:sym typeface="Arial"/>
              </a:rPr>
              <a:t>CLIENT</a:t>
            </a:r>
            <a:endParaRPr sz="1076"/>
          </a:p>
        </p:txBody>
      </p:sp>
      <p:sp>
        <p:nvSpPr>
          <p:cNvPr id="383" name="Google Shape;383;g40a1274a87e_0_166"/>
          <p:cNvSpPr txBox="1"/>
          <p:nvPr/>
        </p:nvSpPr>
        <p:spPr>
          <a:xfrm>
            <a:off x="5776074" y="2550482"/>
            <a:ext cx="1334700" cy="1467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0" i="0" lang="en-US" sz="768" u="none" cap="none" strike="noStrike">
                <a:solidFill>
                  <a:srgbClr val="2B303A"/>
                </a:solidFill>
                <a:latin typeface="Arial"/>
                <a:ea typeface="Arial"/>
                <a:cs typeface="Arial"/>
                <a:sym typeface="Arial"/>
              </a:rPr>
              <a:t>Decode</a:t>
            </a:r>
            <a:endParaRPr sz="1076"/>
          </a:p>
        </p:txBody>
      </p:sp>
      <p:sp>
        <p:nvSpPr>
          <p:cNvPr id="384" name="Google Shape;384;g40a1274a87e_0_166"/>
          <p:cNvSpPr txBox="1"/>
          <p:nvPr/>
        </p:nvSpPr>
        <p:spPr>
          <a:xfrm>
            <a:off x="7216259" y="2360799"/>
            <a:ext cx="246000" cy="2649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1537" u="none" cap="none" strike="noStrike">
                <a:solidFill>
                  <a:srgbClr val="69707D"/>
                </a:solidFill>
                <a:latin typeface="Arial"/>
                <a:ea typeface="Arial"/>
                <a:cs typeface="Arial"/>
                <a:sym typeface="Arial"/>
              </a:rPr>
              <a:t>→</a:t>
            </a:r>
            <a:endParaRPr sz="1076"/>
          </a:p>
        </p:txBody>
      </p:sp>
      <p:sp>
        <p:nvSpPr>
          <p:cNvPr id="385" name="Google Shape;385;g40a1274a87e_0_166"/>
          <p:cNvSpPr/>
          <p:nvPr/>
        </p:nvSpPr>
        <p:spPr>
          <a:xfrm>
            <a:off x="7497271" y="2079787"/>
            <a:ext cx="1475400" cy="878100"/>
          </a:xfrm>
          <a:prstGeom prst="roundRect">
            <a:avLst>
              <a:gd fmla="val 16667" name="adj"/>
            </a:avLst>
          </a:prstGeom>
          <a:solidFill>
            <a:srgbClr val="FFFFFF"/>
          </a:solidFill>
          <a:ln cap="flat" cmpd="sng" w="9775">
            <a:solidFill>
              <a:srgbClr val="2B6EBE"/>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86" name="Google Shape;386;g40a1274a87e_0_166"/>
          <p:cNvSpPr txBox="1"/>
          <p:nvPr/>
        </p:nvSpPr>
        <p:spPr>
          <a:xfrm>
            <a:off x="7567524" y="2255420"/>
            <a:ext cx="1334700" cy="1704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1" i="0" lang="en-US" sz="922" u="none" cap="none" strike="noStrike">
                <a:solidFill>
                  <a:srgbClr val="2B6EBE"/>
                </a:solidFill>
                <a:latin typeface="Arial"/>
                <a:ea typeface="Arial"/>
                <a:cs typeface="Arial"/>
                <a:sym typeface="Arial"/>
              </a:rPr>
              <a:t>SPEAKER</a:t>
            </a:r>
            <a:endParaRPr sz="1076"/>
          </a:p>
        </p:txBody>
      </p:sp>
      <p:sp>
        <p:nvSpPr>
          <p:cNvPr id="387" name="Google Shape;387;g40a1274a87e_0_166"/>
          <p:cNvSpPr txBox="1"/>
          <p:nvPr/>
        </p:nvSpPr>
        <p:spPr>
          <a:xfrm>
            <a:off x="7567524" y="2550482"/>
            <a:ext cx="1334700" cy="146700"/>
          </a:xfrm>
          <a:prstGeom prst="rect">
            <a:avLst/>
          </a:prstGeom>
          <a:noFill/>
          <a:ln>
            <a:noFill/>
          </a:ln>
        </p:spPr>
        <p:txBody>
          <a:bodyPr anchorCtr="0" anchor="t" bIns="14050" lIns="28100" spcFirstLastPara="1" rIns="28100" wrap="square" tIns="14050">
            <a:spAutoFit/>
          </a:bodyPr>
          <a:lstStyle/>
          <a:p>
            <a:pPr indent="0" lvl="0" marL="0" marR="0" rtl="0" algn="ctr">
              <a:spcBef>
                <a:spcPts val="0"/>
              </a:spcBef>
              <a:spcAft>
                <a:spcPts val="0"/>
              </a:spcAft>
              <a:buNone/>
            </a:pPr>
            <a:r>
              <a:rPr b="0" i="0" lang="en-US" sz="768" u="none" cap="none" strike="noStrike">
                <a:solidFill>
                  <a:srgbClr val="2B303A"/>
                </a:solidFill>
                <a:latin typeface="Arial"/>
                <a:ea typeface="Arial"/>
                <a:cs typeface="Arial"/>
                <a:sym typeface="Arial"/>
              </a:rPr>
              <a:t>Playback</a:t>
            </a:r>
            <a:endParaRPr sz="1076"/>
          </a:p>
        </p:txBody>
      </p:sp>
      <p:sp>
        <p:nvSpPr>
          <p:cNvPr id="388" name="Google Shape;388;g40a1274a87e_0_166"/>
          <p:cNvSpPr/>
          <p:nvPr/>
        </p:nvSpPr>
        <p:spPr>
          <a:xfrm>
            <a:off x="401728" y="3238961"/>
            <a:ext cx="4004700" cy="1159200"/>
          </a:xfrm>
          <a:prstGeom prst="roundRect">
            <a:avLst>
              <a:gd fmla="val 16667" name="adj"/>
            </a:avLst>
          </a:prstGeom>
          <a:solidFill>
            <a:srgbClr val="FFFFFF"/>
          </a:solidFill>
          <a:ln cap="flat" cmpd="sng" w="9775">
            <a:solidFill>
              <a:srgbClr val="DDE2EA"/>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89" name="Google Shape;389;g40a1274a87e_0_166"/>
          <p:cNvSpPr txBox="1"/>
          <p:nvPr/>
        </p:nvSpPr>
        <p:spPr>
          <a:xfrm>
            <a:off x="612487" y="3414593"/>
            <a:ext cx="3582900" cy="182100"/>
          </a:xfrm>
          <a:prstGeom prst="rect">
            <a:avLst/>
          </a:prstGeom>
          <a:noFill/>
          <a:ln>
            <a:noFill/>
          </a:ln>
        </p:spPr>
        <p:txBody>
          <a:bodyPr anchorCtr="0" anchor="t" bIns="14050" lIns="28100" spcFirstLastPara="1" rIns="28100" wrap="square" tIns="14050">
            <a:spAutoFit/>
          </a:bodyPr>
          <a:lstStyle/>
          <a:p>
            <a:pPr indent="0" lvl="0" marL="0" marR="0" rtl="0" algn="l">
              <a:spcBef>
                <a:spcPts val="0"/>
              </a:spcBef>
              <a:spcAft>
                <a:spcPts val="0"/>
              </a:spcAft>
              <a:buNone/>
            </a:pPr>
            <a:r>
              <a:rPr b="1" i="0" lang="en-US" sz="999" u="none" cap="none" strike="noStrike">
                <a:solidFill>
                  <a:srgbClr val="2B6EBE"/>
                </a:solidFill>
                <a:latin typeface="Arial"/>
                <a:ea typeface="Arial"/>
                <a:cs typeface="Arial"/>
                <a:sym typeface="Arial"/>
              </a:rPr>
              <a:t>CODEC THƯỜNG GẶP</a:t>
            </a:r>
            <a:endParaRPr sz="1076"/>
          </a:p>
        </p:txBody>
      </p:sp>
      <p:sp>
        <p:nvSpPr>
          <p:cNvPr id="390" name="Google Shape;390;g40a1274a87e_0_166"/>
          <p:cNvSpPr txBox="1"/>
          <p:nvPr/>
        </p:nvSpPr>
        <p:spPr>
          <a:xfrm>
            <a:off x="612487" y="3744782"/>
            <a:ext cx="3582900" cy="359400"/>
          </a:xfrm>
          <a:prstGeom prst="rect">
            <a:avLst/>
          </a:prstGeom>
          <a:noFill/>
          <a:ln>
            <a:noFill/>
          </a:ln>
        </p:spPr>
        <p:txBody>
          <a:bodyPr anchorCtr="0" anchor="t" bIns="14050" lIns="28100" spcFirstLastPara="1" rIns="28100" wrap="square" tIns="14050">
            <a:spAutoFit/>
          </a:bodyPr>
          <a:lstStyle/>
          <a:p>
            <a:pPr indent="0" lvl="0" marL="0" marR="0" rtl="0" algn="l">
              <a:spcBef>
                <a:spcPts val="0"/>
              </a:spcBef>
              <a:spcAft>
                <a:spcPts val="0"/>
              </a:spcAft>
              <a:buNone/>
            </a:pPr>
            <a:r>
              <a:rPr b="0" i="0" lang="en-US" sz="1076" u="none" cap="none" strike="noStrike">
                <a:solidFill>
                  <a:srgbClr val="2B303A"/>
                </a:solidFill>
                <a:latin typeface="Arial"/>
                <a:ea typeface="Arial"/>
                <a:cs typeface="Arial"/>
                <a:sym typeface="Arial"/>
              </a:rPr>
              <a:t>G.711 (A-law / µ-law): tương thích cao</a:t>
            </a:r>
            <a:br>
              <a:rPr b="0" i="0" lang="en-US" sz="1076" u="none" cap="none" strike="noStrike">
                <a:solidFill>
                  <a:srgbClr val="2B303A"/>
                </a:solidFill>
                <a:latin typeface="Arial"/>
                <a:ea typeface="Arial"/>
                <a:cs typeface="Arial"/>
                <a:sym typeface="Arial"/>
              </a:rPr>
            </a:br>
            <a:r>
              <a:rPr b="0" i="0" lang="en-US" sz="1076" u="none" cap="none" strike="noStrike">
                <a:solidFill>
                  <a:srgbClr val="2B303A"/>
                </a:solidFill>
                <a:latin typeface="Arial"/>
                <a:ea typeface="Arial"/>
                <a:cs typeface="Arial"/>
                <a:sym typeface="Arial"/>
              </a:rPr>
              <a:t>AAC: chất lượng tốt hơn ở bitrate phù hợp</a:t>
            </a:r>
            <a:endParaRPr sz="1076"/>
          </a:p>
        </p:txBody>
      </p:sp>
      <p:sp>
        <p:nvSpPr>
          <p:cNvPr id="391" name="Google Shape;391;g40a1274a87e_0_166"/>
          <p:cNvSpPr/>
          <p:nvPr/>
        </p:nvSpPr>
        <p:spPr>
          <a:xfrm>
            <a:off x="4616902" y="3238961"/>
            <a:ext cx="4215000" cy="1159200"/>
          </a:xfrm>
          <a:prstGeom prst="roundRect">
            <a:avLst>
              <a:gd fmla="val 16667" name="adj"/>
            </a:avLst>
          </a:prstGeom>
          <a:solidFill>
            <a:srgbClr val="FFFFFF"/>
          </a:solidFill>
          <a:ln cap="flat" cmpd="sng" w="9775">
            <a:solidFill>
              <a:srgbClr val="DDE2EA"/>
            </a:solidFill>
            <a:prstDash val="solid"/>
            <a:round/>
            <a:headEnd len="sm" w="sm" type="none"/>
            <a:tailEnd len="sm" w="sm" type="none"/>
          </a:ln>
          <a:effectLst>
            <a:outerShdw blurRad="30732" rotWithShape="0" dir="5400000" dist="17671">
              <a:srgbClr val="000000">
                <a:alpha val="34900"/>
              </a:srgbClr>
            </a:outerShdw>
          </a:effectLst>
        </p:spPr>
        <p:txBody>
          <a:bodyPr anchorCtr="0" anchor="ctr" bIns="35100" lIns="70250" spcFirstLastPara="1" rIns="70250" wrap="square" tIns="35100">
            <a:noAutofit/>
          </a:bodyPr>
          <a:lstStyle/>
          <a:p>
            <a:pPr indent="0" lvl="0" marL="0" marR="0" rtl="0" algn="ctr">
              <a:spcBef>
                <a:spcPts val="0"/>
              </a:spcBef>
              <a:spcAft>
                <a:spcPts val="0"/>
              </a:spcAft>
              <a:buNone/>
            </a:pPr>
            <a:r>
              <a:t/>
            </a:r>
            <a:endParaRPr b="0" i="0" sz="1383" u="none" cap="none" strike="noStrike">
              <a:solidFill>
                <a:srgbClr val="000000"/>
              </a:solidFill>
              <a:latin typeface="Calibri"/>
              <a:ea typeface="Calibri"/>
              <a:cs typeface="Calibri"/>
              <a:sym typeface="Calibri"/>
            </a:endParaRPr>
          </a:p>
        </p:txBody>
      </p:sp>
      <p:sp>
        <p:nvSpPr>
          <p:cNvPr id="392" name="Google Shape;392;g40a1274a87e_0_166"/>
          <p:cNvSpPr txBox="1"/>
          <p:nvPr/>
        </p:nvSpPr>
        <p:spPr>
          <a:xfrm>
            <a:off x="4827661" y="3414593"/>
            <a:ext cx="3793500" cy="182100"/>
          </a:xfrm>
          <a:prstGeom prst="rect">
            <a:avLst/>
          </a:prstGeom>
          <a:noFill/>
          <a:ln>
            <a:noFill/>
          </a:ln>
        </p:spPr>
        <p:txBody>
          <a:bodyPr anchorCtr="0" anchor="t" bIns="14050" lIns="28100" spcFirstLastPara="1" rIns="28100" wrap="square" tIns="14050">
            <a:spAutoFit/>
          </a:bodyPr>
          <a:lstStyle/>
          <a:p>
            <a:pPr indent="0" lvl="0" marL="0" marR="0" rtl="0" algn="l">
              <a:spcBef>
                <a:spcPts val="0"/>
              </a:spcBef>
              <a:spcAft>
                <a:spcPts val="0"/>
              </a:spcAft>
              <a:buNone/>
            </a:pPr>
            <a:r>
              <a:rPr b="1" i="0" lang="en-US" sz="999" u="none" cap="none" strike="noStrike">
                <a:solidFill>
                  <a:srgbClr val="28A8B4"/>
                </a:solidFill>
                <a:latin typeface="Arial"/>
                <a:ea typeface="Arial"/>
                <a:cs typeface="Arial"/>
                <a:sym typeface="Arial"/>
              </a:rPr>
              <a:t>TWO-WAY AUDIO</a:t>
            </a:r>
            <a:endParaRPr sz="1076"/>
          </a:p>
        </p:txBody>
      </p:sp>
      <p:sp>
        <p:nvSpPr>
          <p:cNvPr id="393" name="Google Shape;393;g40a1274a87e_0_166"/>
          <p:cNvSpPr txBox="1"/>
          <p:nvPr/>
        </p:nvSpPr>
        <p:spPr>
          <a:xfrm>
            <a:off x="4827661" y="3744782"/>
            <a:ext cx="3793500" cy="359400"/>
          </a:xfrm>
          <a:prstGeom prst="rect">
            <a:avLst/>
          </a:prstGeom>
          <a:noFill/>
          <a:ln>
            <a:noFill/>
          </a:ln>
        </p:spPr>
        <p:txBody>
          <a:bodyPr anchorCtr="0" anchor="t" bIns="14050" lIns="28100" spcFirstLastPara="1" rIns="28100" wrap="square" tIns="14050">
            <a:spAutoFit/>
          </a:bodyPr>
          <a:lstStyle/>
          <a:p>
            <a:pPr indent="0" lvl="0" marL="0" marR="0" rtl="0" algn="l">
              <a:spcBef>
                <a:spcPts val="0"/>
              </a:spcBef>
              <a:spcAft>
                <a:spcPts val="0"/>
              </a:spcAft>
              <a:buNone/>
            </a:pPr>
            <a:r>
              <a:rPr b="0" i="0" lang="en-US" sz="1076" u="none" cap="none" strike="noStrike">
                <a:solidFill>
                  <a:srgbClr val="2B303A"/>
                </a:solidFill>
                <a:latin typeface="Arial"/>
                <a:ea typeface="Arial"/>
                <a:cs typeface="Arial"/>
                <a:sym typeface="Arial"/>
              </a:rPr>
              <a:t>Cần mic + loa + client hỗ trợ back-channel.</a:t>
            </a:r>
            <a:br>
              <a:rPr b="0" i="0" lang="en-US" sz="1076" u="none" cap="none" strike="noStrike">
                <a:solidFill>
                  <a:srgbClr val="2B303A"/>
                </a:solidFill>
                <a:latin typeface="Arial"/>
                <a:ea typeface="Arial"/>
                <a:cs typeface="Arial"/>
                <a:sym typeface="Arial"/>
              </a:rPr>
            </a:br>
            <a:r>
              <a:rPr b="0" i="0" lang="en-US" sz="1076" u="none" cap="none" strike="noStrike">
                <a:solidFill>
                  <a:srgbClr val="2B303A"/>
                </a:solidFill>
                <a:latin typeface="Arial"/>
                <a:ea typeface="Arial"/>
                <a:cs typeface="Arial"/>
                <a:sym typeface="Arial"/>
              </a:rPr>
              <a:t>Lỗi hay gặp: A/V sync, echo, rè.</a:t>
            </a:r>
            <a:endParaRPr sz="1076"/>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fbefa5b342_0_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Multimedia Overview: Snapshot, Recording, Storage</a:t>
            </a:r>
            <a:endParaRPr/>
          </a:p>
        </p:txBody>
      </p:sp>
      <p:sp>
        <p:nvSpPr>
          <p:cNvPr id="399" name="Google Shape;399;g3fbefa5b342_0_0"/>
          <p:cNvSpPr txBox="1"/>
          <p:nvPr>
            <p:ph idx="1" type="body"/>
          </p:nvPr>
        </p:nvSpPr>
        <p:spPr>
          <a:xfrm>
            <a:off x="596025" y="3083250"/>
            <a:ext cx="8547900" cy="20601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Băng thông (Mbps)   = (bitrate cho 1 camera) × (số camera)</a:t>
            </a:r>
            <a:endParaRPr sz="1500">
              <a:solidFill>
                <a:srgbClr val="000000"/>
              </a:solidFill>
              <a:latin typeface="Comfortaa"/>
              <a:ea typeface="Comfortaa"/>
              <a:cs typeface="Comfortaa"/>
              <a:sym typeface="Comfortaa"/>
            </a:endParaRPr>
          </a:p>
          <a:p>
            <a:pPr indent="-323850" lvl="0" marL="457200" rtl="0" algn="l">
              <a:lnSpc>
                <a:spcPct val="115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Dung lượng (GB/ngày) = bitrate(Mbps) ÷ 8 × 3600 × 24 ÷ 1024</a:t>
            </a:r>
            <a:endParaRPr sz="1500">
              <a:solidFill>
                <a:srgbClr val="000000"/>
              </a:solidFill>
              <a:latin typeface="Comfortaa"/>
              <a:ea typeface="Comfortaa"/>
              <a:cs typeface="Comfortaa"/>
              <a:sym typeface="Comfortaa"/>
            </a:endParaRPr>
          </a:p>
          <a:p>
            <a:pPr indent="-323850" lvl="0" marL="457200" rtl="0" algn="l">
              <a:lnSpc>
                <a:spcPct val="115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Lưu ý:</a:t>
            </a:r>
            <a:endParaRPr sz="1500">
              <a:solidFill>
                <a:srgbClr val="000000"/>
              </a:solidFill>
              <a:latin typeface="Comfortaa"/>
              <a:ea typeface="Comfortaa"/>
              <a:cs typeface="Comfortaa"/>
              <a:sym typeface="Comfortaa"/>
            </a:endParaRPr>
          </a:p>
          <a:p>
            <a:pPr indent="457200" lvl="0" marL="0" rtl="0" algn="l">
              <a:lnSpc>
                <a:spcPct val="115000"/>
              </a:lnSpc>
              <a:spcBef>
                <a:spcPts val="0"/>
              </a:spcBef>
              <a:spcAft>
                <a:spcPts val="0"/>
              </a:spcAft>
              <a:buNone/>
            </a:pPr>
            <a:r>
              <a:rPr lang="en-US" sz="1500">
                <a:solidFill>
                  <a:srgbClr val="000000"/>
                </a:solidFill>
                <a:latin typeface="Comfortaa"/>
                <a:ea typeface="Comfortaa"/>
                <a:cs typeface="Comfortaa"/>
                <a:sym typeface="Comfortaa"/>
              </a:rPr>
              <a:t>Bitrate chuyển đổi theo hệ số 1000:  1Kbps = 1000 bps; 1Mbps = 1000 Kbps</a:t>
            </a:r>
            <a:endParaRPr sz="1500">
              <a:solidFill>
                <a:srgbClr val="000000"/>
              </a:solidFill>
              <a:latin typeface="Comfortaa"/>
              <a:ea typeface="Comfortaa"/>
              <a:cs typeface="Comfortaa"/>
              <a:sym typeface="Comfortaa"/>
            </a:endParaRPr>
          </a:p>
          <a:p>
            <a:pPr indent="457200" lvl="0" marL="0" rtl="0" algn="l">
              <a:lnSpc>
                <a:spcPct val="115000"/>
              </a:lnSpc>
              <a:spcBef>
                <a:spcPts val="0"/>
              </a:spcBef>
              <a:spcAft>
                <a:spcPts val="0"/>
              </a:spcAft>
              <a:buNone/>
            </a:pPr>
            <a:r>
              <a:rPr lang="en-US" sz="1500">
                <a:solidFill>
                  <a:srgbClr val="000000"/>
                </a:solidFill>
                <a:latin typeface="Comfortaa"/>
                <a:ea typeface="Comfortaa"/>
                <a:cs typeface="Comfortaa"/>
                <a:sym typeface="Comfortaa"/>
              </a:rPr>
              <a:t>Dung lượng chuyển đổi theo hệ số 1024: 1Kb = 1024 b; 1Mb = 1024*1024 b.</a:t>
            </a:r>
            <a:endParaRPr sz="1500">
              <a:solidFill>
                <a:srgbClr val="000000"/>
              </a:solidFill>
              <a:latin typeface="Comfortaa"/>
              <a:ea typeface="Comfortaa"/>
              <a:cs typeface="Comfortaa"/>
              <a:sym typeface="Comfortaa"/>
            </a:endParaRPr>
          </a:p>
          <a:p>
            <a:pPr indent="0" lvl="0" marL="4572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a:p>
            <a:pPr indent="0" lvl="0" marL="457200" rtl="0" algn="l">
              <a:lnSpc>
                <a:spcPct val="115000"/>
              </a:lnSpc>
              <a:spcBef>
                <a:spcPts val="0"/>
              </a:spcBef>
              <a:spcAft>
                <a:spcPts val="0"/>
              </a:spcAft>
              <a:buNone/>
            </a:pPr>
            <a:r>
              <a:rPr b="1" lang="en-US">
                <a:solidFill>
                  <a:srgbClr val="000000"/>
                </a:solidFill>
                <a:latin typeface="Arial"/>
                <a:ea typeface="Arial"/>
                <a:cs typeface="Arial"/>
                <a:sym typeface="Arial"/>
              </a:rPr>
              <a:t>Ví dụ: 4 Mbps → 4/8 × 86400 ÷ 1024 ≈ 42 GB/ngày/camera → 16 camera, 30 ngày ≈ 20 TB.</a:t>
            </a:r>
            <a:endParaRPr sz="1500">
              <a:solidFill>
                <a:srgbClr val="000000"/>
              </a:solidFill>
              <a:latin typeface="Comfortaa"/>
              <a:ea typeface="Comfortaa"/>
              <a:cs typeface="Comfortaa"/>
              <a:sym typeface="Comfortaa"/>
            </a:endParaRPr>
          </a:p>
          <a:p>
            <a:pPr indent="0" lvl="0" marL="457200" rtl="0" algn="l">
              <a:lnSpc>
                <a:spcPct val="115000"/>
              </a:lnSpc>
              <a:spcBef>
                <a:spcPts val="0"/>
              </a:spcBef>
              <a:spcAft>
                <a:spcPts val="0"/>
              </a:spcAft>
              <a:buNone/>
            </a:pPr>
            <a:r>
              <a:t/>
            </a:r>
            <a:endParaRPr sz="1500">
              <a:latin typeface="Comfortaa"/>
              <a:ea typeface="Comfortaa"/>
              <a:cs typeface="Comfortaa"/>
              <a:sym typeface="Comfortaa"/>
            </a:endParaRPr>
          </a:p>
        </p:txBody>
      </p:sp>
      <p:sp>
        <p:nvSpPr>
          <p:cNvPr id="400" name="Google Shape;400;g3fbefa5b342_0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401" name="Google Shape;401;g3fbefa5b342_0_0"/>
          <p:cNvSpPr/>
          <p:nvPr/>
        </p:nvSpPr>
        <p:spPr>
          <a:xfrm>
            <a:off x="591292" y="1420450"/>
            <a:ext cx="2511900" cy="1514400"/>
          </a:xfrm>
          <a:prstGeom prst="roundRect">
            <a:avLst>
              <a:gd fmla="val 16667" name="adj"/>
            </a:avLst>
          </a:prstGeom>
          <a:solidFill>
            <a:srgbClr val="FFFFFF"/>
          </a:solidFill>
          <a:ln cap="flat" cmpd="sng" w="9550">
            <a:solidFill>
              <a:srgbClr val="2B6EBE"/>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402" name="Google Shape;402;g3fbefa5b342_0_0"/>
          <p:cNvSpPr/>
          <p:nvPr/>
        </p:nvSpPr>
        <p:spPr>
          <a:xfrm>
            <a:off x="763355" y="1587794"/>
            <a:ext cx="722700" cy="234000"/>
          </a:xfrm>
          <a:prstGeom prst="roundRect">
            <a:avLst>
              <a:gd fmla="val 16667" name="adj"/>
            </a:avLst>
          </a:prstGeom>
          <a:solidFill>
            <a:srgbClr val="2B6EBE"/>
          </a:solidFill>
          <a:ln cap="flat" cmpd="sng" w="9550">
            <a:solidFill>
              <a:srgbClr val="2B6EBE"/>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403" name="Google Shape;403;g3fbefa5b342_0_0"/>
          <p:cNvSpPr txBox="1"/>
          <p:nvPr/>
        </p:nvSpPr>
        <p:spPr>
          <a:xfrm>
            <a:off x="790885" y="1608442"/>
            <a:ext cx="667800" cy="143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lang="en-US" sz="753">
                <a:solidFill>
                  <a:srgbClr val="FFFFFF"/>
                </a:solidFill>
              </a:rPr>
              <a:t>SNAPSHOT</a:t>
            </a:r>
            <a:endParaRPr sz="1054"/>
          </a:p>
        </p:txBody>
      </p:sp>
      <p:sp>
        <p:nvSpPr>
          <p:cNvPr id="404" name="Google Shape;404;g3fbefa5b342_0_0"/>
          <p:cNvSpPr txBox="1"/>
          <p:nvPr/>
        </p:nvSpPr>
        <p:spPr>
          <a:xfrm>
            <a:off x="763355" y="1952565"/>
            <a:ext cx="2133600" cy="618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lang="en-US" sz="1280">
                <a:solidFill>
                  <a:srgbClr val="182740"/>
                </a:solidFill>
              </a:rPr>
              <a:t>JPEG có thể khác luồng video: resolution, thời điểm frame, quality</a:t>
            </a:r>
            <a:endParaRPr sz="1054"/>
          </a:p>
        </p:txBody>
      </p:sp>
      <p:sp>
        <p:nvSpPr>
          <p:cNvPr id="405" name="Google Shape;405;g3fbefa5b342_0_0"/>
          <p:cNvSpPr/>
          <p:nvPr/>
        </p:nvSpPr>
        <p:spPr>
          <a:xfrm>
            <a:off x="3378704" y="1420450"/>
            <a:ext cx="2511900" cy="1514400"/>
          </a:xfrm>
          <a:prstGeom prst="roundRect">
            <a:avLst>
              <a:gd fmla="val 16667" name="adj"/>
            </a:avLst>
          </a:prstGeom>
          <a:solidFill>
            <a:srgbClr val="FFFFFF"/>
          </a:solidFill>
          <a:ln cap="flat" cmpd="sng" w="9550">
            <a:solidFill>
              <a:srgbClr val="2B965B"/>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406" name="Google Shape;406;g3fbefa5b342_0_0"/>
          <p:cNvSpPr/>
          <p:nvPr/>
        </p:nvSpPr>
        <p:spPr>
          <a:xfrm>
            <a:off x="3550766" y="1587794"/>
            <a:ext cx="722700" cy="234000"/>
          </a:xfrm>
          <a:prstGeom prst="roundRect">
            <a:avLst>
              <a:gd fmla="val 16667" name="adj"/>
            </a:avLst>
          </a:prstGeom>
          <a:solidFill>
            <a:srgbClr val="2B965B"/>
          </a:solidFill>
          <a:ln cap="flat" cmpd="sng" w="9550">
            <a:solidFill>
              <a:srgbClr val="2B965B"/>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407" name="Google Shape;407;g3fbefa5b342_0_0"/>
          <p:cNvSpPr txBox="1"/>
          <p:nvPr/>
        </p:nvSpPr>
        <p:spPr>
          <a:xfrm>
            <a:off x="3578296" y="1608442"/>
            <a:ext cx="667800" cy="143700"/>
          </a:xfrm>
          <a:prstGeom prst="rect">
            <a:avLst/>
          </a:prstGeom>
          <a:noFill/>
          <a:ln>
            <a:noFill/>
          </a:ln>
        </p:spPr>
        <p:txBody>
          <a:bodyPr anchorCtr="0" anchor="t" bIns="13750" lIns="27525" spcFirstLastPara="1" rIns="27525" wrap="square" tIns="13750">
            <a:spAutoFit/>
          </a:bodyPr>
          <a:lstStyle/>
          <a:p>
            <a:pPr indent="0" lvl="0" marL="0" marR="0" rtl="0" algn="l">
              <a:spcBef>
                <a:spcPts val="0"/>
              </a:spcBef>
              <a:spcAft>
                <a:spcPts val="0"/>
              </a:spcAft>
              <a:buNone/>
            </a:pPr>
            <a:r>
              <a:rPr b="1" lang="en-US" sz="753">
                <a:solidFill>
                  <a:srgbClr val="FFFFFF"/>
                </a:solidFill>
              </a:rPr>
              <a:t>RECORDING</a:t>
            </a:r>
            <a:endParaRPr sz="1054"/>
          </a:p>
        </p:txBody>
      </p:sp>
      <p:sp>
        <p:nvSpPr>
          <p:cNvPr id="408" name="Google Shape;408;g3fbefa5b342_0_0"/>
          <p:cNvSpPr txBox="1"/>
          <p:nvPr/>
        </p:nvSpPr>
        <p:spPr>
          <a:xfrm>
            <a:off x="3550766" y="1952565"/>
            <a:ext cx="2133600" cy="815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lang="en-US" sz="1280">
                <a:solidFill>
                  <a:srgbClr val="182740"/>
                </a:solidFill>
              </a:rPr>
              <a:t>Video được ghi vào thẻ nhớ -&gt; cần chịu được power loss / reboot bất ngờ</a:t>
            </a:r>
            <a:endParaRPr sz="1054"/>
          </a:p>
        </p:txBody>
      </p:sp>
      <p:sp>
        <p:nvSpPr>
          <p:cNvPr id="409" name="Google Shape;409;g3fbefa5b342_0_0"/>
          <p:cNvSpPr/>
          <p:nvPr/>
        </p:nvSpPr>
        <p:spPr>
          <a:xfrm>
            <a:off x="6166116" y="1420450"/>
            <a:ext cx="2511900" cy="1514400"/>
          </a:xfrm>
          <a:prstGeom prst="roundRect">
            <a:avLst>
              <a:gd fmla="val 16667" name="adj"/>
            </a:avLst>
          </a:prstGeom>
          <a:solidFill>
            <a:srgbClr val="FFFFFF"/>
          </a:solidFill>
          <a:ln cap="flat" cmpd="sng" w="9550">
            <a:solidFill>
              <a:srgbClr val="EB8F2D"/>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410" name="Google Shape;410;g3fbefa5b342_0_0"/>
          <p:cNvSpPr/>
          <p:nvPr/>
        </p:nvSpPr>
        <p:spPr>
          <a:xfrm>
            <a:off x="6338178" y="1587794"/>
            <a:ext cx="722700" cy="234000"/>
          </a:xfrm>
          <a:prstGeom prst="roundRect">
            <a:avLst>
              <a:gd fmla="val 16667" name="adj"/>
            </a:avLst>
          </a:prstGeom>
          <a:solidFill>
            <a:srgbClr val="EB8F2D"/>
          </a:solidFill>
          <a:ln cap="flat" cmpd="sng" w="9550">
            <a:solidFill>
              <a:srgbClr val="EB8F2D"/>
            </a:solidFill>
            <a:prstDash val="solid"/>
            <a:round/>
            <a:headEnd len="sm" w="sm" type="none"/>
            <a:tailEnd len="sm" w="sm" type="none"/>
          </a:ln>
          <a:effectLst>
            <a:outerShdw blurRad="30107" rotWithShape="0" dir="5400000" dist="17312">
              <a:srgbClr val="000000">
                <a:alpha val="34900"/>
              </a:srgbClr>
            </a:outerShdw>
          </a:effectLst>
        </p:spPr>
        <p:txBody>
          <a:bodyPr anchorCtr="0" anchor="ctr" bIns="34400" lIns="68800" spcFirstLastPara="1" rIns="68800" wrap="square" tIns="34400">
            <a:noAutofit/>
          </a:bodyPr>
          <a:lstStyle/>
          <a:p>
            <a:pPr indent="0" lvl="0" marL="0" marR="0" rtl="0" algn="ctr">
              <a:spcBef>
                <a:spcPts val="0"/>
              </a:spcBef>
              <a:spcAft>
                <a:spcPts val="0"/>
              </a:spcAft>
              <a:buNone/>
            </a:pPr>
            <a:r>
              <a:t/>
            </a:r>
            <a:endParaRPr b="0" i="0" sz="1355" u="none" cap="none" strike="noStrike">
              <a:solidFill>
                <a:srgbClr val="000000"/>
              </a:solidFill>
              <a:latin typeface="Calibri"/>
              <a:ea typeface="Calibri"/>
              <a:cs typeface="Calibri"/>
              <a:sym typeface="Calibri"/>
            </a:endParaRPr>
          </a:p>
        </p:txBody>
      </p:sp>
      <p:sp>
        <p:nvSpPr>
          <p:cNvPr id="411" name="Google Shape;411;g3fbefa5b342_0_0"/>
          <p:cNvSpPr txBox="1"/>
          <p:nvPr/>
        </p:nvSpPr>
        <p:spPr>
          <a:xfrm>
            <a:off x="6365707" y="1608442"/>
            <a:ext cx="667800" cy="1437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lang="en-US" sz="753">
                <a:solidFill>
                  <a:srgbClr val="FFFFFF"/>
                </a:solidFill>
              </a:rPr>
              <a:t>STORAGE</a:t>
            </a:r>
            <a:endParaRPr sz="1054"/>
          </a:p>
        </p:txBody>
      </p:sp>
      <p:sp>
        <p:nvSpPr>
          <p:cNvPr id="412" name="Google Shape;412;g3fbefa5b342_0_0"/>
          <p:cNvSpPr txBox="1"/>
          <p:nvPr/>
        </p:nvSpPr>
        <p:spPr>
          <a:xfrm>
            <a:off x="6338178" y="1952565"/>
            <a:ext cx="2133600" cy="618600"/>
          </a:xfrm>
          <a:prstGeom prst="rect">
            <a:avLst/>
          </a:prstGeom>
          <a:noFill/>
          <a:ln>
            <a:noFill/>
          </a:ln>
        </p:spPr>
        <p:txBody>
          <a:bodyPr anchorCtr="0" anchor="t" bIns="13750" lIns="27525" spcFirstLastPara="1" rIns="27525" wrap="square" tIns="13750">
            <a:spAutoFit/>
          </a:bodyPr>
          <a:lstStyle/>
          <a:p>
            <a:pPr indent="0" lvl="0" marL="0" marR="0" rtl="0" algn="ctr">
              <a:spcBef>
                <a:spcPts val="0"/>
              </a:spcBef>
              <a:spcAft>
                <a:spcPts val="0"/>
              </a:spcAft>
              <a:buNone/>
            </a:pPr>
            <a:r>
              <a:rPr b="1" lang="en-US" sz="1280">
                <a:solidFill>
                  <a:srgbClr val="182740"/>
                </a:solidFill>
              </a:rPr>
              <a:t>Filesystem + file cuối cùng phải được bảo vệ khi mất điện</a:t>
            </a:r>
            <a:endParaRPr sz="1054"/>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40a07d5c0a2_0_12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Streaming &amp; Protocol</a:t>
            </a:r>
            <a:endParaRPr/>
          </a:p>
        </p:txBody>
      </p:sp>
      <p:sp>
        <p:nvSpPr>
          <p:cNvPr id="418" name="Google Shape;418;g40a07d5c0a2_0_120"/>
          <p:cNvSpPr txBox="1"/>
          <p:nvPr>
            <p:ph idx="1" type="body"/>
          </p:nvPr>
        </p:nvSpPr>
        <p:spPr>
          <a:xfrm>
            <a:off x="596025" y="1332950"/>
            <a:ext cx="8489100" cy="1060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b="1" lang="en-US" sz="1500">
                <a:solidFill>
                  <a:srgbClr val="000000"/>
                </a:solidFill>
                <a:latin typeface="Comfortaa"/>
                <a:ea typeface="Comfortaa"/>
                <a:cs typeface="Comfortaa"/>
                <a:sym typeface="Comfortaa"/>
              </a:rPr>
              <a:t>WebRTC</a:t>
            </a:r>
            <a:endParaRPr b="1"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Live streaming</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Audio 2 ways</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Apdaptive Bitrate</a:t>
            </a:r>
            <a:endParaRPr sz="1500">
              <a:solidFill>
                <a:srgbClr val="000000"/>
              </a:solidFill>
              <a:latin typeface="Comfortaa"/>
              <a:ea typeface="Comfortaa"/>
              <a:cs typeface="Comfortaa"/>
              <a:sym typeface="Comfortaa"/>
            </a:endParaRPr>
          </a:p>
        </p:txBody>
      </p:sp>
      <p:sp>
        <p:nvSpPr>
          <p:cNvPr id="419" name="Google Shape;419;g40a07d5c0a2_0_1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20" name="Google Shape;420;g40a07d5c0a2_0_120"/>
          <p:cNvPicPr preferRelativeResize="0"/>
          <p:nvPr/>
        </p:nvPicPr>
        <p:blipFill rotWithShape="1">
          <a:blip r:embed="rId3">
            <a:alphaModFix/>
          </a:blip>
          <a:srcRect b="0" l="0" r="0" t="0"/>
          <a:stretch/>
        </p:blipFill>
        <p:spPr>
          <a:xfrm>
            <a:off x="1929373" y="1562418"/>
            <a:ext cx="7058028" cy="34385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40a07d5c0a2_0_15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Streaming &amp; Protocol</a:t>
            </a:r>
            <a:endParaRPr/>
          </a:p>
        </p:txBody>
      </p:sp>
      <p:sp>
        <p:nvSpPr>
          <p:cNvPr id="426" name="Google Shape;426;g40a07d5c0a2_0_151"/>
          <p:cNvSpPr txBox="1"/>
          <p:nvPr>
            <p:ph idx="1" type="body"/>
          </p:nvPr>
        </p:nvSpPr>
        <p:spPr>
          <a:xfrm>
            <a:off x="596025" y="1332950"/>
            <a:ext cx="3524400" cy="3474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500">
                <a:solidFill>
                  <a:srgbClr val="000000"/>
                </a:solidFill>
                <a:latin typeface="Comfortaa"/>
                <a:ea typeface="Comfortaa"/>
                <a:cs typeface="Comfortaa"/>
                <a:sym typeface="Comfortaa"/>
              </a:rPr>
              <a:t>RTSP (Real Time Protocol)/ RTSPS:</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RTSP: Control</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TCP/UDP: data</a:t>
            </a:r>
            <a:endParaRPr sz="1500">
              <a:solidFill>
                <a:srgbClr val="000000"/>
              </a:solidFill>
              <a:latin typeface="Comfortaa"/>
              <a:ea typeface="Comfortaa"/>
              <a:cs typeface="Comfortaa"/>
              <a:sym typeface="Comfortaa"/>
            </a:endParaRPr>
          </a:p>
          <a:p>
            <a:pPr indent="0" lvl="0" marL="0" rtl="0" algn="l">
              <a:lnSpc>
                <a:spcPct val="150000"/>
              </a:lnSpc>
              <a:spcBef>
                <a:spcPts val="0"/>
              </a:spcBef>
              <a:spcAft>
                <a:spcPts val="0"/>
              </a:spcAft>
              <a:buNone/>
            </a:pPr>
            <a:r>
              <a:rPr lang="en-US" sz="1500">
                <a:solidFill>
                  <a:srgbClr val="000000"/>
                </a:solidFill>
                <a:latin typeface="Comfortaa"/>
                <a:ea typeface="Comfortaa"/>
                <a:cs typeface="Comfortaa"/>
                <a:sym typeface="Comfortaa"/>
              </a:rPr>
              <a:t>	UDP: độ trễ thấp, dễ mất gói </a:t>
            </a:r>
            <a:endParaRPr sz="1500">
              <a:solidFill>
                <a:srgbClr val="000000"/>
              </a:solidFill>
              <a:latin typeface="Comfortaa"/>
              <a:ea typeface="Comfortaa"/>
              <a:cs typeface="Comfortaa"/>
              <a:sym typeface="Comfortaa"/>
            </a:endParaRPr>
          </a:p>
          <a:p>
            <a:pPr indent="0" lvl="0" marL="0" rtl="0" algn="l">
              <a:lnSpc>
                <a:spcPct val="150000"/>
              </a:lnSpc>
              <a:spcBef>
                <a:spcPts val="0"/>
              </a:spcBef>
              <a:spcAft>
                <a:spcPts val="0"/>
              </a:spcAft>
              <a:buNone/>
            </a:pPr>
            <a:r>
              <a:rPr lang="en-US" sz="1500">
                <a:solidFill>
                  <a:srgbClr val="000000"/>
                </a:solidFill>
                <a:latin typeface="Comfortaa"/>
                <a:ea typeface="Comfortaa"/>
                <a:cs typeface="Comfortaa"/>
                <a:sym typeface="Comfortaa"/>
              </a:rPr>
              <a:t>	TCP: không mất gói, trễ cao và dồn khi nghẽn mạng</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Camera: Server</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PC/NVR/VMS: CLient</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Giới hạn số luồng: PVN cam hiện tại là 5</a:t>
            </a:r>
            <a:endParaRPr sz="1500">
              <a:solidFill>
                <a:srgbClr val="000000"/>
              </a:solidFill>
              <a:latin typeface="Comfortaa"/>
              <a:ea typeface="Comfortaa"/>
              <a:cs typeface="Comfortaa"/>
              <a:sym typeface="Comfortaa"/>
            </a:endParaRPr>
          </a:p>
        </p:txBody>
      </p:sp>
      <p:sp>
        <p:nvSpPr>
          <p:cNvPr id="427" name="Google Shape;427;g40a07d5c0a2_0_1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 screenshot of a computer&#10;&#10;AI-generated content may be incorrect." id="428" name="Google Shape;428;g40a07d5c0a2_0_151"/>
          <p:cNvPicPr preferRelativeResize="0"/>
          <p:nvPr/>
        </p:nvPicPr>
        <p:blipFill rotWithShape="1">
          <a:blip r:embed="rId3">
            <a:alphaModFix/>
          </a:blip>
          <a:srcRect b="0" l="0" r="0" t="0"/>
          <a:stretch/>
        </p:blipFill>
        <p:spPr>
          <a:xfrm>
            <a:off x="3908000" y="1495801"/>
            <a:ext cx="5231826" cy="2717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40a07d5c0a2_0_16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Streaming &amp; Protocol</a:t>
            </a:r>
            <a:endParaRPr/>
          </a:p>
        </p:txBody>
      </p:sp>
      <p:sp>
        <p:nvSpPr>
          <p:cNvPr id="434" name="Google Shape;434;g40a07d5c0a2_0_160"/>
          <p:cNvSpPr txBox="1"/>
          <p:nvPr>
            <p:ph idx="1" type="body"/>
          </p:nvPr>
        </p:nvSpPr>
        <p:spPr>
          <a:xfrm>
            <a:off x="596025" y="1332950"/>
            <a:ext cx="8489100" cy="3658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Comfortaa"/>
              <a:buChar char="-"/>
            </a:pPr>
            <a:r>
              <a:rPr b="1" lang="en-US" sz="1500">
                <a:latin typeface="Comfortaa"/>
                <a:ea typeface="Comfortaa"/>
                <a:cs typeface="Comfortaa"/>
                <a:sym typeface="Comfortaa"/>
              </a:rPr>
              <a:t>Live HTTP MP4</a:t>
            </a:r>
            <a:r>
              <a:rPr lang="en-US" sz="1500">
                <a:latin typeface="Comfortaa"/>
                <a:ea typeface="Comfortaa"/>
                <a:cs typeface="Comfortaa"/>
                <a:sym typeface="Comfortaa"/>
              </a:rPr>
              <a:t>: download mp4 file/ mp4 fragment file (fmp4)</a:t>
            </a:r>
            <a:endParaRPr sz="1500">
              <a:latin typeface="Comfortaa"/>
              <a:ea typeface="Comfortaa"/>
              <a:cs typeface="Comfortaa"/>
              <a:sym typeface="Comfortaa"/>
            </a:endParaRPr>
          </a:p>
          <a:p>
            <a:pPr indent="0" lvl="0" marL="914400" rtl="0" algn="l">
              <a:lnSpc>
                <a:spcPct val="150000"/>
              </a:lnSpc>
              <a:spcBef>
                <a:spcPts val="0"/>
              </a:spcBef>
              <a:spcAft>
                <a:spcPts val="0"/>
              </a:spcAft>
              <a:buNone/>
            </a:pPr>
            <a:r>
              <a:rPr lang="en-US" sz="1500">
                <a:latin typeface="Comfortaa"/>
                <a:ea typeface="Comfortaa"/>
                <a:cs typeface="Comfortaa"/>
                <a:sym typeface="Comfortaa"/>
              </a:rPr>
              <a:t>Giới hạn số luồng: các dòng cam PVN đang là 5</a:t>
            </a:r>
            <a:endParaRPr sz="1500">
              <a:latin typeface="Comfortaa"/>
              <a:ea typeface="Comfortaa"/>
              <a:cs typeface="Comfortaa"/>
              <a:sym typeface="Comfortaa"/>
            </a:endParaRPr>
          </a:p>
          <a:p>
            <a:pPr indent="-323850" lvl="0" marL="457200" rtl="0" algn="l">
              <a:lnSpc>
                <a:spcPct val="150000"/>
              </a:lnSpc>
              <a:spcBef>
                <a:spcPts val="0"/>
              </a:spcBef>
              <a:spcAft>
                <a:spcPts val="0"/>
              </a:spcAft>
              <a:buSzPts val="1500"/>
              <a:buFont typeface="Comfortaa"/>
              <a:buChar char="-"/>
            </a:pPr>
            <a:r>
              <a:rPr b="1" lang="en-US" sz="1500">
                <a:latin typeface="Comfortaa"/>
                <a:ea typeface="Comfortaa"/>
                <a:cs typeface="Comfortaa"/>
                <a:sym typeface="Comfortaa"/>
              </a:rPr>
              <a:t>HLS</a:t>
            </a:r>
            <a:r>
              <a:rPr lang="en-US" sz="1500">
                <a:latin typeface="Comfortaa"/>
                <a:ea typeface="Comfortaa"/>
                <a:cs typeface="Comfortaa"/>
                <a:sym typeface="Comfortaa"/>
              </a:rPr>
              <a:t> (HTTP Live Streaming): m3u8 -&gt; TS segment</a:t>
            </a:r>
            <a:endParaRPr sz="1500">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a:p>
            <a:pPr indent="0" lvl="0" marL="0" rtl="0" algn="l">
              <a:lnSpc>
                <a:spcPct val="150000"/>
              </a:lnSpc>
              <a:spcBef>
                <a:spcPts val="0"/>
              </a:spcBef>
              <a:spcAft>
                <a:spcPts val="0"/>
              </a:spcAft>
              <a:buNone/>
            </a:pPr>
            <a:r>
              <a:t/>
            </a:r>
            <a:endParaRPr sz="1500">
              <a:latin typeface="Comfortaa"/>
              <a:ea typeface="Comfortaa"/>
              <a:cs typeface="Comfortaa"/>
              <a:sym typeface="Comfortaa"/>
            </a:endParaRPr>
          </a:p>
          <a:p>
            <a:pPr indent="-323850" lvl="0" marL="457200" rtl="0" algn="l">
              <a:lnSpc>
                <a:spcPct val="150000"/>
              </a:lnSpc>
              <a:spcBef>
                <a:spcPts val="0"/>
              </a:spcBef>
              <a:spcAft>
                <a:spcPts val="0"/>
              </a:spcAft>
              <a:buSzPts val="1500"/>
              <a:buFont typeface="Comfortaa"/>
              <a:buChar char="-"/>
            </a:pPr>
            <a:r>
              <a:rPr b="1" lang="en-US" sz="1500">
                <a:latin typeface="Comfortaa"/>
                <a:ea typeface="Comfortaa"/>
                <a:cs typeface="Comfortaa"/>
                <a:sym typeface="Comfortaa"/>
              </a:rPr>
              <a:t>MPEG DASH</a:t>
            </a:r>
            <a:r>
              <a:rPr lang="en-US" sz="1500">
                <a:latin typeface="Comfortaa"/>
                <a:ea typeface="Comfortaa"/>
                <a:cs typeface="Comfortaa"/>
                <a:sym typeface="Comfortaa"/>
              </a:rPr>
              <a:t>: </a:t>
            </a:r>
            <a:r>
              <a:rPr lang="en-US" sz="1500">
                <a:highlight>
                  <a:srgbClr val="FFFFFF"/>
                </a:highlight>
                <a:latin typeface="Comfortaa"/>
                <a:ea typeface="Comfortaa"/>
                <a:cs typeface="Comfortaa"/>
                <a:sym typeface="Comfortaa"/>
              </a:rPr>
              <a:t>MPEG Dynamic Adaptive Streaming over HTTP</a:t>
            </a:r>
            <a:endParaRPr sz="1500">
              <a:latin typeface="Comfortaa"/>
              <a:ea typeface="Comfortaa"/>
              <a:cs typeface="Comfortaa"/>
              <a:sym typeface="Comfortaa"/>
            </a:endParaRPr>
          </a:p>
        </p:txBody>
      </p:sp>
      <p:sp>
        <p:nvSpPr>
          <p:cNvPr id="435" name="Google Shape;435;g40a07d5c0a2_0_1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 black background with white text&#10;&#10;AI-generated content may be incorrect." id="436" name="Google Shape;436;g40a07d5c0a2_0_160"/>
          <p:cNvPicPr preferRelativeResize="0"/>
          <p:nvPr/>
        </p:nvPicPr>
        <p:blipFill rotWithShape="1">
          <a:blip r:embed="rId3">
            <a:alphaModFix/>
          </a:blip>
          <a:srcRect b="0" l="0" r="0" t="0"/>
          <a:stretch/>
        </p:blipFill>
        <p:spPr>
          <a:xfrm>
            <a:off x="3455725" y="2391181"/>
            <a:ext cx="5629276" cy="1562099"/>
          </a:xfrm>
          <a:prstGeom prst="rect">
            <a:avLst/>
          </a:prstGeom>
          <a:noFill/>
          <a:ln>
            <a:noFill/>
          </a:ln>
        </p:spPr>
      </p:pic>
      <p:pic>
        <p:nvPicPr>
          <p:cNvPr descr="A screen shot of a computer code&#10;&#10;AI-generated content may be incorrect." id="437" name="Google Shape;437;g40a07d5c0a2_0_160"/>
          <p:cNvPicPr preferRelativeResize="0"/>
          <p:nvPr/>
        </p:nvPicPr>
        <p:blipFill rotWithShape="1">
          <a:blip r:embed="rId4">
            <a:alphaModFix/>
          </a:blip>
          <a:srcRect b="0" l="0" r="0" t="0"/>
          <a:stretch/>
        </p:blipFill>
        <p:spPr>
          <a:xfrm>
            <a:off x="1363855" y="2538741"/>
            <a:ext cx="1624013" cy="130016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40a07d5c0a2_0_177"/>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Streaming &amp; Protocol</a:t>
            </a:r>
            <a:endParaRPr/>
          </a:p>
        </p:txBody>
      </p:sp>
      <p:sp>
        <p:nvSpPr>
          <p:cNvPr id="443" name="Google Shape;443;g40a07d5c0a2_0_177"/>
          <p:cNvSpPr txBox="1"/>
          <p:nvPr>
            <p:ph idx="1" type="body"/>
          </p:nvPr>
        </p:nvSpPr>
        <p:spPr>
          <a:xfrm>
            <a:off x="596025" y="1332950"/>
            <a:ext cx="8489100" cy="2587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b="1" lang="en-US" sz="1500">
                <a:solidFill>
                  <a:srgbClr val="000000"/>
                </a:solidFill>
                <a:latin typeface="Comfortaa"/>
                <a:ea typeface="Comfortaa"/>
                <a:cs typeface="Comfortaa"/>
                <a:sym typeface="Comfortaa"/>
              </a:rPr>
              <a:t>RTMP</a:t>
            </a:r>
            <a:r>
              <a:rPr lang="en-US" sz="1500">
                <a:solidFill>
                  <a:srgbClr val="000000"/>
                </a:solidFill>
                <a:latin typeface="Comfortaa"/>
                <a:ea typeface="Comfortaa"/>
                <a:cs typeface="Comfortaa"/>
                <a:sym typeface="Comfortaa"/>
              </a:rPr>
              <a:t>: Real-Time Messaging Protocol</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Camera: RTMP client -&gt; push data to server</a:t>
            </a:r>
            <a:endParaRPr sz="1500">
              <a:solidFill>
                <a:srgbClr val="000000"/>
              </a:solidFill>
              <a:latin typeface="Comfortaa"/>
              <a:ea typeface="Comfortaa"/>
              <a:cs typeface="Comfortaa"/>
              <a:sym typeface="Comfortaa"/>
            </a:endParaRPr>
          </a:p>
        </p:txBody>
      </p:sp>
      <p:sp>
        <p:nvSpPr>
          <p:cNvPr id="444" name="Google Shape;444;g40a07d5c0a2_0_17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 cloud with text on it&#10;&#10;AI-generated content may be incorrect." id="445" name="Google Shape;445;g40a07d5c0a2_0_177"/>
          <p:cNvPicPr preferRelativeResize="0"/>
          <p:nvPr/>
        </p:nvPicPr>
        <p:blipFill rotWithShape="1">
          <a:blip r:embed="rId3">
            <a:alphaModFix/>
          </a:blip>
          <a:srcRect b="0" l="0" r="0" t="0"/>
          <a:stretch/>
        </p:blipFill>
        <p:spPr>
          <a:xfrm>
            <a:off x="1816894" y="2305050"/>
            <a:ext cx="5981701" cy="15621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fbefa5b342_0_49"/>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Streaming &amp; Protocol</a:t>
            </a:r>
            <a:endParaRPr/>
          </a:p>
        </p:txBody>
      </p:sp>
      <p:sp>
        <p:nvSpPr>
          <p:cNvPr id="451" name="Google Shape;451;g3fbefa5b342_0_49"/>
          <p:cNvSpPr txBox="1"/>
          <p:nvPr>
            <p:ph idx="1" type="body"/>
          </p:nvPr>
        </p:nvSpPr>
        <p:spPr>
          <a:xfrm>
            <a:off x="596025" y="1332950"/>
            <a:ext cx="8489100" cy="2587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b="1" lang="en-US" sz="1500">
                <a:solidFill>
                  <a:srgbClr val="000000"/>
                </a:solidFill>
                <a:latin typeface="Comfortaa"/>
                <a:ea typeface="Comfortaa"/>
                <a:cs typeface="Comfortaa"/>
                <a:sym typeface="Comfortaa"/>
              </a:rPr>
              <a:t>ONVIF</a:t>
            </a:r>
            <a:r>
              <a:rPr lang="en-US" sz="1500">
                <a:solidFill>
                  <a:srgbClr val="000000"/>
                </a:solidFill>
                <a:latin typeface="Comfortaa"/>
                <a:ea typeface="Comfortaa"/>
                <a:cs typeface="Comfortaa"/>
                <a:sym typeface="Comfortaa"/>
              </a:rPr>
              <a:t>: </a:t>
            </a:r>
            <a:r>
              <a:rPr lang="en-US" sz="1500">
                <a:solidFill>
                  <a:srgbClr val="000000"/>
                </a:solidFill>
                <a:latin typeface="Comfortaa"/>
                <a:ea typeface="Comfortaa"/>
                <a:cs typeface="Comfortaa"/>
                <a:sym typeface="Comfortaa"/>
              </a:rPr>
              <a:t>Open Network Video Interface Forum</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 ONVIF là chuẩn để camera và NVR/VMS khác hãng nói chuyện được với nhau</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Camera tự phát hiện trong mạng qua </a:t>
            </a:r>
            <a:r>
              <a:rPr b="1" lang="en-US" sz="1500">
                <a:solidFill>
                  <a:srgbClr val="000000"/>
                </a:solidFill>
                <a:latin typeface="Comfortaa"/>
                <a:ea typeface="Comfortaa"/>
                <a:cs typeface="Comfortaa"/>
                <a:sym typeface="Comfortaa"/>
              </a:rPr>
              <a:t>WS-Discovery</a:t>
            </a:r>
            <a:r>
              <a:rPr lang="en-US" sz="1500">
                <a:solidFill>
                  <a:srgbClr val="000000"/>
                </a:solidFill>
                <a:latin typeface="Comfortaa"/>
                <a:ea typeface="Comfortaa"/>
                <a:cs typeface="Comfortaa"/>
                <a:sym typeface="Comfortaa"/>
              </a:rPr>
              <a:t> (multicast, chỉ trong cùng subnet)</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Không phải "</a:t>
            </a:r>
            <a:r>
              <a:rPr b="1" lang="en-US" sz="1500">
                <a:solidFill>
                  <a:srgbClr val="000000"/>
                </a:solidFill>
                <a:latin typeface="Comfortaa"/>
                <a:ea typeface="Comfortaa"/>
                <a:cs typeface="Comfortaa"/>
                <a:sym typeface="Comfortaa"/>
              </a:rPr>
              <a:t>có ONVIF</a:t>
            </a:r>
            <a:r>
              <a:rPr lang="en-US" sz="1500">
                <a:solidFill>
                  <a:srgbClr val="000000"/>
                </a:solidFill>
                <a:latin typeface="Comfortaa"/>
                <a:ea typeface="Comfortaa"/>
                <a:cs typeface="Comfortaa"/>
                <a:sym typeface="Comfortaa"/>
              </a:rPr>
              <a:t>" là chạy được mọi thứ — phải đúng </a:t>
            </a:r>
            <a:r>
              <a:rPr b="1" lang="en-US" sz="1500">
                <a:solidFill>
                  <a:srgbClr val="FF0000"/>
                </a:solidFill>
                <a:latin typeface="Comfortaa"/>
                <a:ea typeface="Comfortaa"/>
                <a:cs typeface="Comfortaa"/>
                <a:sym typeface="Comfortaa"/>
              </a:rPr>
              <a:t>Profile</a:t>
            </a:r>
            <a:endParaRPr sz="1500">
              <a:solidFill>
                <a:srgbClr val="000000"/>
              </a:solidFill>
              <a:latin typeface="Comfortaa"/>
              <a:ea typeface="Comfortaa"/>
              <a:cs typeface="Comfortaa"/>
              <a:sym typeface="Comfortaa"/>
            </a:endParaRPr>
          </a:p>
          <a:p>
            <a:pPr indent="0" lvl="0" marL="914400" rtl="0" algn="l">
              <a:lnSpc>
                <a:spcPct val="150000"/>
              </a:lnSpc>
              <a:spcBef>
                <a:spcPts val="0"/>
              </a:spcBef>
              <a:spcAft>
                <a:spcPts val="0"/>
              </a:spcAft>
              <a:buNone/>
            </a:pPr>
            <a:r>
              <a:t/>
            </a:r>
            <a:endParaRPr b="1" sz="1500">
              <a:solidFill>
                <a:srgbClr val="FF0000"/>
              </a:solidFill>
              <a:latin typeface="Comfortaa"/>
              <a:ea typeface="Comfortaa"/>
              <a:cs typeface="Comfortaa"/>
              <a:sym typeface="Comfortaa"/>
            </a:endParaRPr>
          </a:p>
        </p:txBody>
      </p:sp>
      <p:sp>
        <p:nvSpPr>
          <p:cNvPr id="452" name="Google Shape;452;g3fbefa5b342_0_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aphicFrame>
        <p:nvGraphicFramePr>
          <p:cNvPr id="453" name="Google Shape;453;g3fbefa5b342_0_49"/>
          <p:cNvGraphicFramePr/>
          <p:nvPr/>
        </p:nvGraphicFramePr>
        <p:xfrm>
          <a:off x="65500" y="3147484"/>
          <a:ext cx="3000000" cy="3000000"/>
        </p:xfrm>
        <a:graphic>
          <a:graphicData uri="http://schemas.openxmlformats.org/drawingml/2006/table">
            <a:tbl>
              <a:tblPr>
                <a:noFill/>
                <a:tableStyleId>{D92F1402-DFF3-41FF-A413-48304889AC6C}</a:tableStyleId>
              </a:tblPr>
              <a:tblGrid>
                <a:gridCol w="1163600"/>
                <a:gridCol w="7855900"/>
              </a:tblGrid>
              <a:tr h="381000">
                <a:tc>
                  <a:txBody>
                    <a:bodyPr/>
                    <a:lstStyle/>
                    <a:p>
                      <a:pPr indent="0" lvl="0" marL="0" rtl="0" algn="ctr">
                        <a:spcBef>
                          <a:spcPts val="0"/>
                        </a:spcBef>
                        <a:spcAft>
                          <a:spcPts val="0"/>
                        </a:spcAft>
                        <a:buNone/>
                      </a:pPr>
                      <a:r>
                        <a:rPr b="1" lang="en-US">
                          <a:latin typeface="Comfortaa"/>
                          <a:ea typeface="Comfortaa"/>
                          <a:cs typeface="Comfortaa"/>
                          <a:sym typeface="Comfortaa"/>
                        </a:rPr>
                        <a:t>Profile</a:t>
                      </a:r>
                      <a:endParaRPr b="1">
                        <a:latin typeface="Comfortaa"/>
                        <a:ea typeface="Comfortaa"/>
                        <a:cs typeface="Comfortaa"/>
                        <a:sym typeface="Comfortaa"/>
                      </a:endParaRPr>
                    </a:p>
                  </a:txBody>
                  <a:tcPr marT="91425" marB="91425" marR="91425" marL="91425"/>
                </a:tc>
                <a:tc>
                  <a:txBody>
                    <a:bodyPr/>
                    <a:lstStyle/>
                    <a:p>
                      <a:pPr indent="0" lvl="0" marL="0" rtl="0" algn="ctr">
                        <a:spcBef>
                          <a:spcPts val="0"/>
                        </a:spcBef>
                        <a:spcAft>
                          <a:spcPts val="0"/>
                        </a:spcAft>
                        <a:buNone/>
                      </a:pPr>
                      <a:r>
                        <a:rPr b="1" lang="en-US">
                          <a:latin typeface="Comfortaa"/>
                          <a:ea typeface="Comfortaa"/>
                          <a:cs typeface="Comfortaa"/>
                          <a:sym typeface="Comfortaa"/>
                        </a:rPr>
                        <a:t>Nội dung</a:t>
                      </a:r>
                      <a:endParaRPr b="1">
                        <a:latin typeface="Comfortaa"/>
                        <a:ea typeface="Comfortaa"/>
                        <a:cs typeface="Comfortaa"/>
                        <a:sym typeface="Comfortaa"/>
                      </a:endParaRPr>
                    </a:p>
                  </a:txBody>
                  <a:tcPr marT="91425" marB="91425" marR="91425" marL="91425"/>
                </a:tc>
              </a:tr>
              <a:tr h="381000">
                <a:tc>
                  <a:txBody>
                    <a:bodyPr/>
                    <a:lstStyle/>
                    <a:p>
                      <a:pPr indent="0" lvl="0" marL="0" rtl="0" algn="ctr">
                        <a:spcBef>
                          <a:spcPts val="0"/>
                        </a:spcBef>
                        <a:spcAft>
                          <a:spcPts val="0"/>
                        </a:spcAft>
                        <a:buNone/>
                      </a:pPr>
                      <a:r>
                        <a:rPr lang="en-US">
                          <a:latin typeface="Comfortaa"/>
                          <a:ea typeface="Comfortaa"/>
                          <a:cs typeface="Comfortaa"/>
                          <a:sym typeface="Comfortaa"/>
                        </a:rPr>
                        <a:t>S</a:t>
                      </a:r>
                      <a:endParaRPr>
                        <a:latin typeface="Comfortaa"/>
                        <a:ea typeface="Comfortaa"/>
                        <a:cs typeface="Comfortaa"/>
                        <a:sym typeface="Comfortaa"/>
                      </a:endParaRPr>
                    </a:p>
                  </a:txBody>
                  <a:tcPr marT="91425" marB="91425" marR="91425" marL="91425"/>
                </a:tc>
                <a:tc>
                  <a:txBody>
                    <a:bodyPr/>
                    <a:lstStyle/>
                    <a:p>
                      <a:pPr indent="0" lvl="0" marL="0" rtl="0" algn="l">
                        <a:spcBef>
                          <a:spcPts val="0"/>
                        </a:spcBef>
                        <a:spcAft>
                          <a:spcPts val="0"/>
                        </a:spcAft>
                        <a:buNone/>
                      </a:pPr>
                      <a:r>
                        <a:rPr lang="en-US">
                          <a:latin typeface="Comfortaa"/>
                          <a:ea typeface="Comfortaa"/>
                          <a:cs typeface="Comfortaa"/>
                          <a:sym typeface="Comfortaa"/>
                        </a:rPr>
                        <a:t>Streaming, PTZ, audio out, relay output</a:t>
                      </a:r>
                      <a:endParaRPr>
                        <a:latin typeface="Comfortaa"/>
                        <a:ea typeface="Comfortaa"/>
                        <a:cs typeface="Comfortaa"/>
                        <a:sym typeface="Comfortaa"/>
                      </a:endParaRPr>
                    </a:p>
                  </a:txBody>
                  <a:tcPr marT="91425" marB="91425" marR="91425" marL="91425"/>
                </a:tc>
              </a:tr>
              <a:tr h="381000">
                <a:tc>
                  <a:txBody>
                    <a:bodyPr/>
                    <a:lstStyle/>
                    <a:p>
                      <a:pPr indent="0" lvl="0" marL="0" rtl="0" algn="ctr">
                        <a:spcBef>
                          <a:spcPts val="0"/>
                        </a:spcBef>
                        <a:spcAft>
                          <a:spcPts val="0"/>
                        </a:spcAft>
                        <a:buNone/>
                      </a:pPr>
                      <a:r>
                        <a:rPr lang="en-US">
                          <a:latin typeface="Comfortaa"/>
                          <a:ea typeface="Comfortaa"/>
                          <a:cs typeface="Comfortaa"/>
                          <a:sym typeface="Comfortaa"/>
                        </a:rPr>
                        <a:t>T</a:t>
                      </a:r>
                      <a:endParaRPr>
                        <a:latin typeface="Comfortaa"/>
                        <a:ea typeface="Comfortaa"/>
                        <a:cs typeface="Comfortaa"/>
                        <a:sym typeface="Comfortaa"/>
                      </a:endParaRPr>
                    </a:p>
                  </a:txBody>
                  <a:tcPr marT="91425" marB="91425" marR="91425" marL="91425"/>
                </a:tc>
                <a:tc>
                  <a:txBody>
                    <a:bodyPr/>
                    <a:lstStyle/>
                    <a:p>
                      <a:pPr indent="0" lvl="0" marL="0" rtl="0" algn="l">
                        <a:spcBef>
                          <a:spcPts val="0"/>
                        </a:spcBef>
                        <a:spcAft>
                          <a:spcPts val="0"/>
                        </a:spcAft>
                        <a:buNone/>
                      </a:pPr>
                      <a:r>
                        <a:rPr lang="en-US">
                          <a:latin typeface="Comfortaa"/>
                          <a:ea typeface="Comfortaa"/>
                          <a:cs typeface="Comfortaa"/>
                          <a:sym typeface="Comfortaa"/>
                        </a:rPr>
                        <a:t>Advanced streaming: H.265, imaging settings, motion metadata, two-way audio</a:t>
                      </a:r>
                      <a:endParaRPr>
                        <a:latin typeface="Comfortaa"/>
                        <a:ea typeface="Comfortaa"/>
                        <a:cs typeface="Comfortaa"/>
                        <a:sym typeface="Comfortaa"/>
                      </a:endParaRPr>
                    </a:p>
                  </a:txBody>
                  <a:tcPr marT="91425" marB="91425" marR="91425" marL="91425"/>
                </a:tc>
              </a:tr>
              <a:tr h="381000">
                <a:tc>
                  <a:txBody>
                    <a:bodyPr/>
                    <a:lstStyle/>
                    <a:p>
                      <a:pPr indent="0" lvl="0" marL="0" rtl="0" algn="ctr">
                        <a:spcBef>
                          <a:spcPts val="0"/>
                        </a:spcBef>
                        <a:spcAft>
                          <a:spcPts val="0"/>
                        </a:spcAft>
                        <a:buNone/>
                      </a:pPr>
                      <a:r>
                        <a:rPr lang="en-US">
                          <a:latin typeface="Comfortaa"/>
                          <a:ea typeface="Comfortaa"/>
                          <a:cs typeface="Comfortaa"/>
                          <a:sym typeface="Comfortaa"/>
                        </a:rPr>
                        <a:t>G</a:t>
                      </a:r>
                      <a:endParaRPr>
                        <a:latin typeface="Comfortaa"/>
                        <a:ea typeface="Comfortaa"/>
                        <a:cs typeface="Comfortaa"/>
                        <a:sym typeface="Comfortaa"/>
                      </a:endParaRPr>
                    </a:p>
                  </a:txBody>
                  <a:tcPr marT="91425" marB="91425" marR="91425" marL="91425"/>
                </a:tc>
                <a:tc>
                  <a:txBody>
                    <a:bodyPr/>
                    <a:lstStyle/>
                    <a:p>
                      <a:pPr indent="0" lvl="0" marL="0" rtl="0" algn="l">
                        <a:spcBef>
                          <a:spcPts val="0"/>
                        </a:spcBef>
                        <a:spcAft>
                          <a:spcPts val="0"/>
                        </a:spcAft>
                        <a:buNone/>
                      </a:pPr>
                      <a:r>
                        <a:rPr lang="en-US">
                          <a:latin typeface="Comfortaa"/>
                          <a:ea typeface="Comfortaa"/>
                          <a:cs typeface="Comfortaa"/>
                          <a:sym typeface="Comfortaa"/>
                        </a:rPr>
                        <a:t>Recording, search, playback trên edge storage</a:t>
                      </a:r>
                      <a:endParaRPr>
                        <a:latin typeface="Comfortaa"/>
                        <a:ea typeface="Comfortaa"/>
                        <a:cs typeface="Comfortaa"/>
                        <a:sym typeface="Comfortaa"/>
                      </a:endParaRPr>
                    </a:p>
                  </a:txBody>
                  <a:tcPr marT="91425" marB="91425" marR="91425" marL="91425"/>
                </a:tc>
              </a:tr>
              <a:tr h="381000">
                <a:tc>
                  <a:txBody>
                    <a:bodyPr/>
                    <a:lstStyle/>
                    <a:p>
                      <a:pPr indent="0" lvl="0" marL="0" rtl="0" algn="ctr">
                        <a:spcBef>
                          <a:spcPts val="0"/>
                        </a:spcBef>
                        <a:spcAft>
                          <a:spcPts val="0"/>
                        </a:spcAft>
                        <a:buNone/>
                      </a:pPr>
                      <a:r>
                        <a:rPr lang="en-US">
                          <a:latin typeface="Comfortaa"/>
                          <a:ea typeface="Comfortaa"/>
                          <a:cs typeface="Comfortaa"/>
                          <a:sym typeface="Comfortaa"/>
                        </a:rPr>
                        <a:t>M</a:t>
                      </a:r>
                      <a:endParaRPr>
                        <a:latin typeface="Comfortaa"/>
                        <a:ea typeface="Comfortaa"/>
                        <a:cs typeface="Comfortaa"/>
                        <a:sym typeface="Comfortaa"/>
                      </a:endParaRPr>
                    </a:p>
                  </a:txBody>
                  <a:tcPr marT="91425" marB="91425" marR="91425" marL="91425"/>
                </a:tc>
                <a:tc>
                  <a:txBody>
                    <a:bodyPr/>
                    <a:lstStyle/>
                    <a:p>
                      <a:pPr indent="0" lvl="0" marL="0" rtl="0" algn="l">
                        <a:spcBef>
                          <a:spcPts val="0"/>
                        </a:spcBef>
                        <a:spcAft>
                          <a:spcPts val="0"/>
                        </a:spcAft>
                        <a:buNone/>
                      </a:pPr>
                      <a:r>
                        <a:rPr lang="en-US">
                          <a:latin typeface="Comfortaa"/>
                          <a:ea typeface="Comfortaa"/>
                          <a:cs typeface="Comfortaa"/>
                          <a:sym typeface="Comfortaa"/>
                        </a:rPr>
                        <a:t>Metadata &amp; analytics: object classification, event chuẩn hoá</a:t>
                      </a:r>
                      <a:endParaRPr>
                        <a:latin typeface="Comfortaa"/>
                        <a:ea typeface="Comfortaa"/>
                        <a:cs typeface="Comfortaa"/>
                        <a:sym typeface="Comfortaa"/>
                      </a:endParaRPr>
                    </a:p>
                  </a:txBody>
                  <a:tcPr marT="91425" marB="91425" marR="91425" marL="914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fbefa5b342_0_6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Streaming &amp; Protocol: </a:t>
            </a:r>
            <a:r>
              <a:rPr lang="en-US"/>
              <a:t>Latency</a:t>
            </a:r>
            <a:endParaRPr/>
          </a:p>
        </p:txBody>
      </p:sp>
      <p:sp>
        <p:nvSpPr>
          <p:cNvPr id="459" name="Google Shape;459;g3fbefa5b342_0_64"/>
          <p:cNvSpPr txBox="1"/>
          <p:nvPr>
            <p:ph idx="1" type="body"/>
          </p:nvPr>
        </p:nvSpPr>
        <p:spPr>
          <a:xfrm>
            <a:off x="596025" y="1332950"/>
            <a:ext cx="8489100" cy="2587200"/>
          </a:xfrm>
          <a:prstGeom prst="rect">
            <a:avLst/>
          </a:prstGeom>
          <a:noFill/>
          <a:ln>
            <a:noFill/>
          </a:ln>
        </p:spPr>
        <p:txBody>
          <a:bodyPr anchorCtr="0" anchor="t" bIns="91425" lIns="91425" spcFirstLastPara="1" rIns="91425" wrap="square" tIns="91425">
            <a:noAutofit/>
          </a:bodyPr>
          <a:lstStyle/>
          <a:p>
            <a:pPr indent="0" lvl="0" marL="914400" rtl="0" algn="l">
              <a:lnSpc>
                <a:spcPct val="150000"/>
              </a:lnSpc>
              <a:spcBef>
                <a:spcPts val="0"/>
              </a:spcBef>
              <a:spcAft>
                <a:spcPts val="0"/>
              </a:spcAft>
              <a:buNone/>
            </a:pPr>
            <a:r>
              <a:t/>
            </a:r>
            <a:endParaRPr b="1" sz="1500">
              <a:solidFill>
                <a:srgbClr val="FF0000"/>
              </a:solidFill>
              <a:latin typeface="Comfortaa"/>
              <a:ea typeface="Comfortaa"/>
              <a:cs typeface="Comfortaa"/>
              <a:sym typeface="Comfortaa"/>
            </a:endParaRPr>
          </a:p>
        </p:txBody>
      </p:sp>
      <p:sp>
        <p:nvSpPr>
          <p:cNvPr id="460" name="Google Shape;460;g3fbefa5b342_0_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61" name="Google Shape;461;g3fbefa5b342_0_64"/>
          <p:cNvPicPr preferRelativeResize="0"/>
          <p:nvPr/>
        </p:nvPicPr>
        <p:blipFill>
          <a:blip r:embed="rId3">
            <a:alphaModFix/>
          </a:blip>
          <a:stretch>
            <a:fillRect/>
          </a:stretch>
        </p:blipFill>
        <p:spPr>
          <a:xfrm>
            <a:off x="1363550" y="1332950"/>
            <a:ext cx="6598500" cy="3602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40a07d5c0a2_0_126"/>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a:t>
            </a:r>
            <a:endParaRPr/>
          </a:p>
        </p:txBody>
      </p:sp>
      <p:sp>
        <p:nvSpPr>
          <p:cNvPr id="467" name="Google Shape;467;g40a07d5c0a2_0_126"/>
          <p:cNvSpPr txBox="1"/>
          <p:nvPr>
            <p:ph idx="1" type="body"/>
          </p:nvPr>
        </p:nvSpPr>
        <p:spPr>
          <a:xfrm>
            <a:off x="596025" y="1332950"/>
            <a:ext cx="8489100" cy="1060500"/>
          </a:xfrm>
          <a:prstGeom prst="rect">
            <a:avLst/>
          </a:prstGeom>
          <a:noFill/>
          <a:ln>
            <a:noFill/>
          </a:ln>
        </p:spPr>
        <p:txBody>
          <a:bodyPr anchorCtr="0" anchor="t" bIns="91425" lIns="91425" spcFirstLastPara="1" rIns="91425" wrap="square" tIns="91425">
            <a:noAutofit/>
          </a:bodyPr>
          <a:lstStyle/>
          <a:p>
            <a:pPr indent="-330020" lvl="0" marL="457200" rtl="0" algn="l">
              <a:lnSpc>
                <a:spcPct val="100000"/>
              </a:lnSpc>
              <a:spcBef>
                <a:spcPts val="0"/>
              </a:spcBef>
              <a:spcAft>
                <a:spcPts val="0"/>
              </a:spcAft>
              <a:buClr>
                <a:srgbClr val="000000"/>
              </a:buClr>
              <a:buSzPts val="1600"/>
              <a:buFont typeface="Gaegu"/>
              <a:buChar char="-"/>
            </a:pPr>
            <a:r>
              <a:t/>
            </a:r>
            <a:endParaRPr sz="1600">
              <a:solidFill>
                <a:srgbClr val="000000"/>
              </a:solidFill>
              <a:latin typeface="Gaegu"/>
              <a:ea typeface="Gaegu"/>
              <a:cs typeface="Gaegu"/>
              <a:sym typeface="Gaegu"/>
            </a:endParaRPr>
          </a:p>
        </p:txBody>
      </p:sp>
      <p:sp>
        <p:nvSpPr>
          <p:cNvPr id="468" name="Google Shape;468;g40a07d5c0a2_0_1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69" name="Google Shape;469;g40a07d5c0a2_0_126"/>
          <p:cNvPicPr preferRelativeResize="0"/>
          <p:nvPr/>
        </p:nvPicPr>
        <p:blipFill>
          <a:blip r:embed="rId3">
            <a:alphaModFix/>
          </a:blip>
          <a:stretch>
            <a:fillRect/>
          </a:stretch>
        </p:blipFill>
        <p:spPr>
          <a:xfrm>
            <a:off x="460025" y="1320510"/>
            <a:ext cx="8410550" cy="3840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h4899c1dda387c451_0_87"/>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Exposure - Shutter &amp; Gain</a:t>
            </a:r>
            <a:endParaRPr/>
          </a:p>
        </p:txBody>
      </p:sp>
      <p:sp>
        <p:nvSpPr>
          <p:cNvPr id="475" name="Google Shape;475;h4899c1dda387c451_0_87"/>
          <p:cNvSpPr txBox="1"/>
          <p:nvPr>
            <p:ph idx="1" type="body"/>
          </p:nvPr>
        </p:nvSpPr>
        <p:spPr>
          <a:xfrm>
            <a:off x="596025" y="1332950"/>
            <a:ext cx="43473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Shutter dài hơn → cảm biến nhận nhiều ánh sáng hơn → ảnh sáng hơn nhưng chuyển động dễ bị nhòe (Motion Blur) -&gt; FR &amp; ALPR khó.</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Gain (ISO) cao hơn → khuếch đại tín hiệu -&gt; ảnh sáng hơn nhưng noise tăng.</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Không có lựa chọn đúng tuyệt đối; phải phụ thuộc ứng dụng và yêu cầu cảnh.</a:t>
            </a:r>
            <a:endParaRPr sz="1500">
              <a:solidFill>
                <a:srgbClr val="000000"/>
              </a:solidFill>
              <a:latin typeface="Comfortaa"/>
              <a:ea typeface="Comfortaa"/>
              <a:cs typeface="Comfortaa"/>
              <a:sym typeface="Comfortaa"/>
            </a:endParaRPr>
          </a:p>
        </p:txBody>
      </p:sp>
      <p:sp>
        <p:nvSpPr>
          <p:cNvPr id="476" name="Google Shape;476;h4899c1dda387c451_0_8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77" name="Google Shape;477;h4899c1dda387c451_0_87"/>
          <p:cNvPicPr preferRelativeResize="0"/>
          <p:nvPr/>
        </p:nvPicPr>
        <p:blipFill>
          <a:blip r:embed="rId3">
            <a:alphaModFix/>
          </a:blip>
          <a:stretch>
            <a:fillRect/>
          </a:stretch>
        </p:blipFill>
        <p:spPr>
          <a:xfrm>
            <a:off x="4880172" y="1332950"/>
            <a:ext cx="4196653" cy="3810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h6bafea1694c5d9d6_0_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a:t>
            </a:r>
            <a:r>
              <a:rPr lang="en-US"/>
              <a:t>Flicker</a:t>
            </a:r>
            <a:endParaRPr/>
          </a:p>
        </p:txBody>
      </p:sp>
      <p:sp>
        <p:nvSpPr>
          <p:cNvPr id="483" name="Google Shape;483;h6bafea1694c5d9d6_0_4"/>
          <p:cNvSpPr txBox="1"/>
          <p:nvPr>
            <p:ph idx="1" type="body"/>
          </p:nvPr>
        </p:nvSpPr>
        <p:spPr>
          <a:xfrm>
            <a:off x="596025" y="1332950"/>
            <a:ext cx="43473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Điện lưới Việt Nam: 50 Hz.</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Nhiều đèn huỳnh quang/LED giá rẻ có dao động ánh sáng theo 100 lần/giây.</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Shutter không đồng bộ với nguồn sáng → xuất hiện banding/dải sáng tối chạy ngang.</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Fix thông dụng: Anti-flicker = 50 Hz; chọn shutter phù hợp, thường theo bội số 1/100 s.</a:t>
            </a:r>
            <a:endParaRPr sz="1500">
              <a:solidFill>
                <a:srgbClr val="000000"/>
              </a:solidFill>
              <a:latin typeface="Comfortaa"/>
              <a:ea typeface="Comfortaa"/>
              <a:cs typeface="Comfortaa"/>
              <a:sym typeface="Comfortaa"/>
            </a:endParaRPr>
          </a:p>
        </p:txBody>
      </p:sp>
      <p:sp>
        <p:nvSpPr>
          <p:cNvPr id="484" name="Google Shape;484;h6bafea1694c5d9d6_0_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85" name="Google Shape;485;h6bafea1694c5d9d6_0_4"/>
          <p:cNvPicPr preferRelativeResize="0"/>
          <p:nvPr/>
        </p:nvPicPr>
        <p:blipFill>
          <a:blip r:embed="rId3">
            <a:alphaModFix/>
          </a:blip>
          <a:stretch>
            <a:fillRect/>
          </a:stretch>
        </p:blipFill>
        <p:spPr>
          <a:xfrm>
            <a:off x="5110025" y="1719672"/>
            <a:ext cx="3895875" cy="19112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h6bafea1694c5d9d6_0_1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a:t>
            </a:r>
            <a:r>
              <a:rPr lang="en-US"/>
              <a:t>White Balance</a:t>
            </a:r>
            <a:endParaRPr/>
          </a:p>
        </p:txBody>
      </p:sp>
      <p:sp>
        <p:nvSpPr>
          <p:cNvPr id="491" name="Google Shape;491;h6bafea1694c5d9d6_0_14"/>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AWB tự điều chỉnh theo nguồn sáng để màu trung tính trở lại.</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Tham chiếu: nắng ~5500K; đèn dây tóc ~3000K; LED trắng có thể ~6500K.</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Lỗi thường gặp: ám xanh, ám hồng hoặc màu thay đổi khi vật đơn sắc lớn đi qua khung.</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Đánh giá không chỉ màu cuối cùng mà cả tốc độ hội tụ và độ ổn định.</a:t>
            </a:r>
            <a:endParaRPr sz="1500">
              <a:solidFill>
                <a:srgbClr val="000000"/>
              </a:solidFill>
              <a:latin typeface="Comfortaa"/>
              <a:ea typeface="Comfortaa"/>
              <a:cs typeface="Comfortaa"/>
              <a:sym typeface="Comfortaa"/>
            </a:endParaRPr>
          </a:p>
        </p:txBody>
      </p:sp>
      <p:sp>
        <p:nvSpPr>
          <p:cNvPr id="492" name="Google Shape;492;h6bafea1694c5d9d6_0_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93" name="Google Shape;493;h6bafea1694c5d9d6_0_14"/>
          <p:cNvPicPr preferRelativeResize="0"/>
          <p:nvPr/>
        </p:nvPicPr>
        <p:blipFill>
          <a:blip r:embed="rId3">
            <a:alphaModFix/>
          </a:blip>
          <a:stretch>
            <a:fillRect/>
          </a:stretch>
        </p:blipFill>
        <p:spPr>
          <a:xfrm>
            <a:off x="2324275" y="3173850"/>
            <a:ext cx="5238750" cy="1714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h6bafea1694c5d9d6_0_23"/>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a:t>
            </a:r>
            <a:r>
              <a:rPr lang="en-US"/>
              <a:t>HDR/WDR</a:t>
            </a:r>
            <a:endParaRPr/>
          </a:p>
        </p:txBody>
      </p:sp>
      <p:sp>
        <p:nvSpPr>
          <p:cNvPr id="499" name="Google Shape;499;h6bafea1694c5d9d6_0_23"/>
          <p:cNvSpPr txBox="1"/>
          <p:nvPr>
            <p:ph idx="1" type="body"/>
          </p:nvPr>
        </p:nvSpPr>
        <p:spPr>
          <a:xfrm>
            <a:off x="596025" y="1332950"/>
            <a:ext cx="45762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WDR: Wide Dynamic Range</a:t>
            </a:r>
            <a:endParaRPr sz="1500">
              <a:solidFill>
                <a:schemeClr val="dk2"/>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HDR: High Dynamic Range - Digital WDR</a:t>
            </a:r>
            <a:endParaRPr sz="1500">
              <a:solidFill>
                <a:schemeClr val="dk2"/>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WDR/HDR kết hợp nhiều mức phơi sáng để mở rộng dynamic range.</a:t>
            </a:r>
            <a:endParaRPr sz="1500">
              <a:solidFill>
                <a:schemeClr val="dk2"/>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Cảnh điển hình: cửa ra vào, gara, quầy thu ngân nhìn ra cửa kính.</a:t>
            </a:r>
            <a:endParaRPr sz="1500">
              <a:solidFill>
                <a:schemeClr val="dk2"/>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WDR có thể gây ghosting với vật chuyển động nhanh.</a:t>
            </a:r>
            <a:endParaRPr sz="1500">
              <a:solidFill>
                <a:schemeClr val="dk2"/>
              </a:solidFill>
              <a:latin typeface="Comfortaa"/>
              <a:ea typeface="Comfortaa"/>
              <a:cs typeface="Comfortaa"/>
              <a:sym typeface="Comfortaa"/>
            </a:endParaRPr>
          </a:p>
          <a:p>
            <a:pPr indent="-32367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Một số cấu hình WDR/HDR làm giảm fps tối đa hoặc tăng xử lý.</a:t>
            </a:r>
            <a:endParaRPr sz="1500">
              <a:solidFill>
                <a:schemeClr val="dk2"/>
              </a:solidFill>
              <a:latin typeface="Comfortaa"/>
              <a:ea typeface="Comfortaa"/>
              <a:cs typeface="Comfortaa"/>
              <a:sym typeface="Comfortaa"/>
            </a:endParaRPr>
          </a:p>
          <a:p>
            <a:pPr indent="-323670" lvl="0" marL="457200" rtl="0" algn="l">
              <a:lnSpc>
                <a:spcPct val="150000"/>
              </a:lnSpc>
              <a:spcBef>
                <a:spcPts val="0"/>
              </a:spcBef>
              <a:spcAft>
                <a:spcPts val="0"/>
              </a:spcAft>
              <a:buClr>
                <a:schemeClr val="dk2"/>
              </a:buClr>
              <a:buSzPts val="1500"/>
              <a:buFont typeface="Comfortaa"/>
              <a:buChar char="-"/>
            </a:pPr>
            <a:r>
              <a:rPr lang="en-US" sz="1500">
                <a:solidFill>
                  <a:schemeClr val="dk2"/>
                </a:solidFill>
                <a:latin typeface="Comfortaa"/>
                <a:ea typeface="Comfortaa"/>
                <a:cs typeface="Comfortaa"/>
                <a:sym typeface="Comfortaa"/>
              </a:rPr>
              <a:t>True WDR is better than Digital WDR</a:t>
            </a:r>
            <a:endParaRPr sz="1500">
              <a:solidFill>
                <a:schemeClr val="dk2"/>
              </a:solidFill>
              <a:latin typeface="Comfortaa"/>
              <a:ea typeface="Comfortaa"/>
              <a:cs typeface="Comfortaa"/>
              <a:sym typeface="Comfortaa"/>
            </a:endParaRPr>
          </a:p>
        </p:txBody>
      </p:sp>
      <p:sp>
        <p:nvSpPr>
          <p:cNvPr id="500" name="Google Shape;500;h6bafea1694c5d9d6_0_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01" name="Google Shape;501;h6bafea1694c5d9d6_0_23"/>
          <p:cNvPicPr preferRelativeResize="0"/>
          <p:nvPr/>
        </p:nvPicPr>
        <p:blipFill>
          <a:blip r:embed="rId3">
            <a:alphaModFix/>
          </a:blip>
          <a:stretch>
            <a:fillRect/>
          </a:stretch>
        </p:blipFill>
        <p:spPr>
          <a:xfrm>
            <a:off x="5113800" y="1634550"/>
            <a:ext cx="4030127" cy="2822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h6bafea1694c5d9d6_0_4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HDR PVN Camera</a:t>
            </a:r>
            <a:endParaRPr/>
          </a:p>
        </p:txBody>
      </p:sp>
      <p:sp>
        <p:nvSpPr>
          <p:cNvPr id="507" name="Google Shape;507;h6bafea1694c5d9d6_0_41"/>
          <p:cNvSpPr txBox="1"/>
          <p:nvPr>
            <p:ph idx="1" type="body"/>
          </p:nvPr>
        </p:nvSpPr>
        <p:spPr>
          <a:xfrm>
            <a:off x="596025" y="1332950"/>
            <a:ext cx="84318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14999"/>
              </a:lnSpc>
              <a:spcBef>
                <a:spcPts val="0"/>
              </a:spcBef>
              <a:spcAft>
                <a:spcPts val="0"/>
              </a:spcAft>
              <a:buClr>
                <a:schemeClr val="dk2"/>
              </a:buClr>
              <a:buSzPts val="1500"/>
              <a:buFont typeface="Comfortaa"/>
              <a:buChar char="-"/>
            </a:pPr>
            <a:r>
              <a:rPr lang="en-US"/>
              <a:t>Lưu ý:</a:t>
            </a:r>
            <a:endParaRPr/>
          </a:p>
          <a:p>
            <a:pPr indent="-323850" lvl="1" marL="914400" rtl="0" algn="l">
              <a:lnSpc>
                <a:spcPct val="114999"/>
              </a:lnSpc>
              <a:spcBef>
                <a:spcPts val="1600"/>
              </a:spcBef>
              <a:spcAft>
                <a:spcPts val="0"/>
              </a:spcAft>
              <a:buClr>
                <a:schemeClr val="dk2"/>
              </a:buClr>
              <a:buSzPts val="1500"/>
              <a:buFont typeface="Comfortaa"/>
              <a:buChar char="○"/>
            </a:pPr>
            <a:r>
              <a:rPr lang="en-US"/>
              <a:t>HDR, Linear (non HDR): ảnh hưởng đến fps, shutter time</a:t>
            </a:r>
            <a:endParaRPr/>
          </a:p>
          <a:p>
            <a:pPr indent="-323850" lvl="1" marL="914400" rtl="0" algn="l">
              <a:lnSpc>
                <a:spcPct val="114999"/>
              </a:lnSpc>
              <a:spcBef>
                <a:spcPts val="1600"/>
              </a:spcBef>
              <a:spcAft>
                <a:spcPts val="0"/>
              </a:spcAft>
              <a:buClr>
                <a:schemeClr val="dk2"/>
              </a:buClr>
              <a:buSzPts val="1500"/>
              <a:buFont typeface="Comfortaa"/>
              <a:buChar char="○"/>
            </a:pPr>
            <a:r>
              <a:rPr lang="en-US"/>
              <a:t>Shutter time (Shutter speed/ Exposure time): &lt; 1/fps</a:t>
            </a:r>
            <a:endParaRPr/>
          </a:p>
        </p:txBody>
      </p:sp>
      <p:sp>
        <p:nvSpPr>
          <p:cNvPr id="508" name="Google Shape;508;h6bafea1694c5d9d6_0_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09" name="Google Shape;509;h6bafea1694c5d9d6_0_41"/>
          <p:cNvPicPr preferRelativeResize="0"/>
          <p:nvPr/>
        </p:nvPicPr>
        <p:blipFill rotWithShape="1">
          <a:blip r:embed="rId3">
            <a:alphaModFix/>
          </a:blip>
          <a:srcRect b="0" l="0" r="0" t="0"/>
          <a:stretch/>
        </p:blipFill>
        <p:spPr>
          <a:xfrm>
            <a:off x="164554" y="2725100"/>
            <a:ext cx="8820500" cy="2332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h6bafea1694c5d9d6_0_49"/>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2</a:t>
            </a:r>
            <a:r>
              <a:rPr lang="en-US"/>
              <a:t>D &amp; 3D NR</a:t>
            </a:r>
            <a:endParaRPr/>
          </a:p>
        </p:txBody>
      </p:sp>
      <p:sp>
        <p:nvSpPr>
          <p:cNvPr id="515" name="Google Shape;515;h6bafea1694c5d9d6_0_49"/>
          <p:cNvSpPr txBox="1"/>
          <p:nvPr>
            <p:ph idx="1" type="body"/>
          </p:nvPr>
        </p:nvSpPr>
        <p:spPr>
          <a:xfrm>
            <a:off x="596025" y="1332950"/>
            <a:ext cx="52491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Noise tăng khi gain tăng, đặc biệt trong cảnh tối.</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2DNR: xử lý trong một frame.</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3DNR: so sánh thông tin giữa nhiều frame theo thời gian.</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3DNR quá mạnh → motion blur / smearing, đặc biệt khi người đi qua cảnh tối.</a:t>
            </a:r>
            <a:endParaRPr sz="1500">
              <a:solidFill>
                <a:srgbClr val="000000"/>
              </a:solidFill>
              <a:latin typeface="Comfortaa"/>
              <a:ea typeface="Comfortaa"/>
              <a:cs typeface="Comfortaa"/>
              <a:sym typeface="Comfortaa"/>
            </a:endParaRPr>
          </a:p>
        </p:txBody>
      </p:sp>
      <p:sp>
        <p:nvSpPr>
          <p:cNvPr id="516" name="Google Shape;516;h6bafea1694c5d9d6_0_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17" name="Google Shape;517;h6bafea1694c5d9d6_0_49"/>
          <p:cNvPicPr preferRelativeResize="0"/>
          <p:nvPr/>
        </p:nvPicPr>
        <p:blipFill>
          <a:blip r:embed="rId3">
            <a:alphaModFix/>
          </a:blip>
          <a:stretch>
            <a:fillRect/>
          </a:stretch>
        </p:blipFill>
        <p:spPr>
          <a:xfrm>
            <a:off x="5845022" y="1332947"/>
            <a:ext cx="3239975" cy="27529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h6bafea1694c5d9d6_0_6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a:t>
            </a:r>
            <a:r>
              <a:rPr lang="en-US">
                <a:solidFill>
                  <a:srgbClr val="000000"/>
                </a:solidFill>
                <a:latin typeface="Arial"/>
                <a:ea typeface="Arial"/>
                <a:cs typeface="Arial"/>
                <a:sym typeface="Arial"/>
              </a:rPr>
              <a:t>Sharpness &amp; over-sharpening</a:t>
            </a:r>
            <a:endParaRPr/>
          </a:p>
        </p:txBody>
      </p:sp>
      <p:sp>
        <p:nvSpPr>
          <p:cNvPr id="523" name="Google Shape;523;h6bafea1694c5d9d6_0_60"/>
          <p:cNvSpPr txBox="1"/>
          <p:nvPr>
            <p:ph idx="1" type="body"/>
          </p:nvPr>
        </p:nvSpPr>
        <p:spPr>
          <a:xfrm>
            <a:off x="596025" y="1332950"/>
            <a:ext cx="854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Tăng sharpness có thể làm cạnh vật thể nổi bật hơn.</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Quá mức → halo / edge ringing, đặc biệt quanh cạnh tương phản cao.</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Sharpness cao cũng có thể khuếch đại noise và artefact.</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Độ nét thật đến từ lens, focus và chất lượng ảnh gốc.</a:t>
            </a:r>
            <a:endParaRPr sz="1500">
              <a:solidFill>
                <a:srgbClr val="000000"/>
              </a:solidFill>
              <a:latin typeface="Comfortaa"/>
              <a:ea typeface="Comfortaa"/>
              <a:cs typeface="Comfortaa"/>
              <a:sym typeface="Comfortaa"/>
            </a:endParaRPr>
          </a:p>
        </p:txBody>
      </p:sp>
      <p:sp>
        <p:nvSpPr>
          <p:cNvPr id="524" name="Google Shape;524;h6bafea1694c5d9d6_0_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25" name="Google Shape;525;h6bafea1694c5d9d6_0_60"/>
          <p:cNvPicPr preferRelativeResize="0"/>
          <p:nvPr/>
        </p:nvPicPr>
        <p:blipFill>
          <a:blip r:embed="rId3">
            <a:alphaModFix/>
          </a:blip>
          <a:stretch>
            <a:fillRect/>
          </a:stretch>
        </p:blipFill>
        <p:spPr>
          <a:xfrm>
            <a:off x="1678825" y="2747775"/>
            <a:ext cx="5786351" cy="2395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h6bafea1694c5d9d6_0_7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a:t>
            </a:r>
            <a:r>
              <a:rPr lang="en-US"/>
              <a:t>Day Night Mode &amp; IR Cut</a:t>
            </a:r>
            <a:endParaRPr/>
          </a:p>
        </p:txBody>
      </p:sp>
      <p:sp>
        <p:nvSpPr>
          <p:cNvPr id="531" name="Google Shape;531;h6bafea1694c5d9d6_0_74"/>
          <p:cNvSpPr txBox="1"/>
          <p:nvPr>
            <p:ph idx="1" type="body"/>
          </p:nvPr>
        </p:nvSpPr>
        <p:spPr>
          <a:xfrm>
            <a:off x="596025" y="1188125"/>
            <a:ext cx="5095500" cy="3955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Ban ngày: IR-cut filter chặn hồng ngoại để giữ màu chính xác.</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Ban đêm: filter rút ra, camera chuyển B/W và bật IR.</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Tiếng “tách” khi ICR chuyển trạng thái là bình thường.</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Lỗi nghiêm trọng: oscillation/hunting — chuyển Day/Night liên tục quanh ngưỡng.</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Các lỗi khác: chuyển trễ, không chuyển; ban ngày ám hồng/tím do IR-cut không vào đúng vị trí.</a:t>
            </a:r>
            <a:endParaRPr sz="1500">
              <a:solidFill>
                <a:srgbClr val="000000"/>
              </a:solidFill>
              <a:latin typeface="Comfortaa"/>
              <a:ea typeface="Comfortaa"/>
              <a:cs typeface="Comfortaa"/>
              <a:sym typeface="Comfortaa"/>
            </a:endParaRPr>
          </a:p>
        </p:txBody>
      </p:sp>
      <p:sp>
        <p:nvSpPr>
          <p:cNvPr id="532" name="Google Shape;532;h6bafea1694c5d9d6_0_7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33" name="Google Shape;533;h6bafea1694c5d9d6_0_74"/>
          <p:cNvPicPr preferRelativeResize="0"/>
          <p:nvPr/>
        </p:nvPicPr>
        <p:blipFill>
          <a:blip r:embed="rId3">
            <a:alphaModFix/>
          </a:blip>
          <a:stretch>
            <a:fillRect/>
          </a:stretch>
        </p:blipFill>
        <p:spPr>
          <a:xfrm>
            <a:off x="5698375" y="3088200"/>
            <a:ext cx="3445625" cy="1937000"/>
          </a:xfrm>
          <a:prstGeom prst="rect">
            <a:avLst/>
          </a:prstGeom>
          <a:noFill/>
          <a:ln>
            <a:noFill/>
          </a:ln>
        </p:spPr>
      </p:pic>
      <p:pic>
        <p:nvPicPr>
          <p:cNvPr id="534" name="Google Shape;534;h6bafea1694c5d9d6_0_74"/>
          <p:cNvPicPr preferRelativeResize="0"/>
          <p:nvPr/>
        </p:nvPicPr>
        <p:blipFill>
          <a:blip r:embed="rId4">
            <a:alphaModFix/>
          </a:blip>
          <a:stretch>
            <a:fillRect/>
          </a:stretch>
        </p:blipFill>
        <p:spPr>
          <a:xfrm>
            <a:off x="6629375" y="790500"/>
            <a:ext cx="2455625" cy="2245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h6bafea1694c5d9d6_0_85"/>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Image Quality: </a:t>
            </a:r>
            <a:r>
              <a:rPr lang="en-US"/>
              <a:t>SmartIR</a:t>
            </a:r>
            <a:endParaRPr/>
          </a:p>
        </p:txBody>
      </p:sp>
      <p:sp>
        <p:nvSpPr>
          <p:cNvPr id="540" name="Google Shape;540;h6bafea1694c5d9d6_0_85"/>
          <p:cNvSpPr txBox="1"/>
          <p:nvPr>
            <p:ph idx="1" type="body"/>
          </p:nvPr>
        </p:nvSpPr>
        <p:spPr>
          <a:xfrm>
            <a:off x="596025" y="1188125"/>
            <a:ext cx="8489100" cy="3955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IR cố định: gần dễ cháy trắng, xa vẫn tối — khó tối ưu đồng thời.</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Smart IR đo mức sáng trên ảnh và điều chỉnh công suất LED theo cảnh.</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Camera tầm xa có thể dùng 2 dãy LED: góc rộng cho gần, góc hẹp cho xa; điều khiển độc lập.</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2"/>
              </a:buClr>
              <a:buSzPts val="1500"/>
              <a:buFont typeface="Comfortaa"/>
              <a:buChar char="-"/>
            </a:pPr>
            <a:r>
              <a:rPr lang="en-US" sz="1500">
                <a:solidFill>
                  <a:srgbClr val="000000"/>
                </a:solidFill>
                <a:latin typeface="Comfortaa"/>
                <a:ea typeface="Comfortaa"/>
                <a:cs typeface="Comfortaa"/>
                <a:sym typeface="Comfortaa"/>
              </a:rPr>
              <a:t>Yêu cầu quan trọng: ổn định, không nhấp nháy và không “đập” theo AE.</a:t>
            </a:r>
            <a:endParaRPr sz="1500">
              <a:solidFill>
                <a:srgbClr val="000000"/>
              </a:solidFill>
              <a:latin typeface="Comfortaa"/>
              <a:ea typeface="Comfortaa"/>
              <a:cs typeface="Comfortaa"/>
              <a:sym typeface="Comfortaa"/>
            </a:endParaRPr>
          </a:p>
        </p:txBody>
      </p:sp>
      <p:sp>
        <p:nvSpPr>
          <p:cNvPr id="541" name="Google Shape;541;h6bafea1694c5d9d6_0_8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42" name="Google Shape;542;h6bafea1694c5d9d6_0_85"/>
          <p:cNvPicPr preferRelativeResize="0"/>
          <p:nvPr/>
        </p:nvPicPr>
        <p:blipFill>
          <a:blip r:embed="rId3">
            <a:alphaModFix/>
          </a:blip>
          <a:stretch>
            <a:fillRect/>
          </a:stretch>
        </p:blipFill>
        <p:spPr>
          <a:xfrm>
            <a:off x="2358682" y="2916425"/>
            <a:ext cx="4977125" cy="2227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40a07d5c0a2_0_132"/>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OSD</a:t>
            </a:r>
            <a:endParaRPr/>
          </a:p>
        </p:txBody>
      </p:sp>
      <p:sp>
        <p:nvSpPr>
          <p:cNvPr id="548" name="Google Shape;548;g40a07d5c0a2_0_132"/>
          <p:cNvSpPr txBox="1"/>
          <p:nvPr>
            <p:ph idx="1" type="body"/>
          </p:nvPr>
        </p:nvSpPr>
        <p:spPr>
          <a:xfrm>
            <a:off x="596025" y="1332950"/>
            <a:ext cx="8489100" cy="1060500"/>
          </a:xfrm>
          <a:prstGeom prst="rect">
            <a:avLst/>
          </a:prstGeom>
          <a:noFill/>
          <a:ln>
            <a:noFill/>
          </a:ln>
        </p:spPr>
        <p:txBody>
          <a:bodyPr anchorCtr="0" anchor="t" bIns="91425" lIns="91425" spcFirstLastPara="1" rIns="91425" wrap="square" tIns="91425">
            <a:noAutofit/>
          </a:bodyPr>
          <a:lstStyle/>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OSD: On Screen Display</a:t>
            </a:r>
            <a:endParaRPr sz="1500">
              <a:solidFill>
                <a:srgbClr val="000000"/>
              </a:solidFill>
              <a:latin typeface="Comfortaa"/>
              <a:ea typeface="Comfortaa"/>
              <a:cs typeface="Comfortaa"/>
              <a:sym typeface="Comfortaa"/>
            </a:endParaRPr>
          </a:p>
        </p:txBody>
      </p:sp>
      <p:sp>
        <p:nvSpPr>
          <p:cNvPr id="549" name="Google Shape;549;g40a07d5c0a2_0_1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50" name="Google Shape;550;g40a07d5c0a2_0_132"/>
          <p:cNvPicPr preferRelativeResize="0"/>
          <p:nvPr/>
        </p:nvPicPr>
        <p:blipFill>
          <a:blip r:embed="rId3">
            <a:alphaModFix/>
          </a:blip>
          <a:stretch>
            <a:fillRect/>
          </a:stretch>
        </p:blipFill>
        <p:spPr>
          <a:xfrm>
            <a:off x="5574900" y="1332950"/>
            <a:ext cx="3077850" cy="1538925"/>
          </a:xfrm>
          <a:prstGeom prst="rect">
            <a:avLst/>
          </a:prstGeom>
          <a:noFill/>
          <a:ln>
            <a:noFill/>
          </a:ln>
        </p:spPr>
      </p:pic>
      <p:pic>
        <p:nvPicPr>
          <p:cNvPr id="551" name="Google Shape;551;g40a07d5c0a2_0_132"/>
          <p:cNvPicPr preferRelativeResize="0"/>
          <p:nvPr/>
        </p:nvPicPr>
        <p:blipFill>
          <a:blip r:embed="rId4">
            <a:alphaModFix/>
          </a:blip>
          <a:stretch>
            <a:fillRect/>
          </a:stretch>
        </p:blipFill>
        <p:spPr>
          <a:xfrm>
            <a:off x="5935548" y="3049425"/>
            <a:ext cx="2806250" cy="2110550"/>
          </a:xfrm>
          <a:prstGeom prst="rect">
            <a:avLst/>
          </a:prstGeom>
          <a:noFill/>
          <a:ln>
            <a:noFill/>
          </a:ln>
        </p:spPr>
      </p:pic>
      <p:pic>
        <p:nvPicPr>
          <p:cNvPr id="552" name="Google Shape;552;g40a07d5c0a2_0_132"/>
          <p:cNvPicPr preferRelativeResize="0"/>
          <p:nvPr/>
        </p:nvPicPr>
        <p:blipFill>
          <a:blip r:embed="rId5">
            <a:alphaModFix/>
          </a:blip>
          <a:stretch>
            <a:fillRect/>
          </a:stretch>
        </p:blipFill>
        <p:spPr>
          <a:xfrm>
            <a:off x="596025" y="2157375"/>
            <a:ext cx="4283050" cy="20776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h4899c1dda387c451_0_6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Privacy</a:t>
            </a:r>
            <a:endParaRPr/>
          </a:p>
        </p:txBody>
      </p:sp>
      <p:sp>
        <p:nvSpPr>
          <p:cNvPr id="558" name="Google Shape;558;h4899c1dda387c451_0_61"/>
          <p:cNvSpPr txBox="1"/>
          <p:nvPr>
            <p:ph idx="1" type="body"/>
          </p:nvPr>
        </p:nvSpPr>
        <p:spPr>
          <a:xfrm>
            <a:off x="596025" y="1332950"/>
            <a:ext cx="8489100" cy="1060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500">
              <a:solidFill>
                <a:srgbClr val="000000"/>
              </a:solidFill>
              <a:latin typeface="Comfortaa"/>
              <a:ea typeface="Comfortaa"/>
              <a:cs typeface="Comfortaa"/>
              <a:sym typeface="Comfortaa"/>
            </a:endParaRPr>
          </a:p>
        </p:txBody>
      </p:sp>
      <p:sp>
        <p:nvSpPr>
          <p:cNvPr id="559" name="Google Shape;559;h4899c1dda387c451_0_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60" name="Google Shape;560;h4899c1dda387c451_0_61"/>
          <p:cNvPicPr preferRelativeResize="0"/>
          <p:nvPr/>
        </p:nvPicPr>
        <p:blipFill>
          <a:blip r:embed="rId3">
            <a:alphaModFix/>
          </a:blip>
          <a:stretch>
            <a:fillRect/>
          </a:stretch>
        </p:blipFill>
        <p:spPr>
          <a:xfrm>
            <a:off x="0" y="1332950"/>
            <a:ext cx="2999928" cy="2029125"/>
          </a:xfrm>
          <a:prstGeom prst="rect">
            <a:avLst/>
          </a:prstGeom>
          <a:noFill/>
          <a:ln>
            <a:noFill/>
          </a:ln>
        </p:spPr>
      </p:pic>
      <p:pic>
        <p:nvPicPr>
          <p:cNvPr id="561" name="Google Shape;561;h4899c1dda387c451_0_61"/>
          <p:cNvPicPr preferRelativeResize="0"/>
          <p:nvPr/>
        </p:nvPicPr>
        <p:blipFill>
          <a:blip r:embed="rId4">
            <a:alphaModFix/>
          </a:blip>
          <a:stretch>
            <a:fillRect/>
          </a:stretch>
        </p:blipFill>
        <p:spPr>
          <a:xfrm>
            <a:off x="2999925" y="1332950"/>
            <a:ext cx="3046275" cy="1714525"/>
          </a:xfrm>
          <a:prstGeom prst="rect">
            <a:avLst/>
          </a:prstGeom>
          <a:noFill/>
          <a:ln>
            <a:noFill/>
          </a:ln>
        </p:spPr>
      </p:pic>
      <p:pic>
        <p:nvPicPr>
          <p:cNvPr id="562" name="Google Shape;562;h4899c1dda387c451_0_61"/>
          <p:cNvPicPr preferRelativeResize="0"/>
          <p:nvPr/>
        </p:nvPicPr>
        <p:blipFill>
          <a:blip r:embed="rId5">
            <a:alphaModFix/>
          </a:blip>
          <a:stretch>
            <a:fillRect/>
          </a:stretch>
        </p:blipFill>
        <p:spPr>
          <a:xfrm>
            <a:off x="6089470" y="1332950"/>
            <a:ext cx="3054530" cy="1714525"/>
          </a:xfrm>
          <a:prstGeom prst="rect">
            <a:avLst/>
          </a:prstGeom>
          <a:noFill/>
          <a:ln>
            <a:noFill/>
          </a:ln>
        </p:spPr>
      </p:pic>
      <p:pic>
        <p:nvPicPr>
          <p:cNvPr id="563" name="Google Shape;563;h4899c1dda387c451_0_61"/>
          <p:cNvPicPr preferRelativeResize="0"/>
          <p:nvPr/>
        </p:nvPicPr>
        <p:blipFill>
          <a:blip r:embed="rId6">
            <a:alphaModFix/>
          </a:blip>
          <a:stretch>
            <a:fillRect/>
          </a:stretch>
        </p:blipFill>
        <p:spPr>
          <a:xfrm>
            <a:off x="0" y="3334000"/>
            <a:ext cx="3513450" cy="1972100"/>
          </a:xfrm>
          <a:prstGeom prst="rect">
            <a:avLst/>
          </a:prstGeom>
          <a:noFill/>
          <a:ln>
            <a:noFill/>
          </a:ln>
        </p:spPr>
      </p:pic>
      <p:pic>
        <p:nvPicPr>
          <p:cNvPr id="564" name="Google Shape;564;h4899c1dda387c451_0_61"/>
          <p:cNvPicPr preferRelativeResize="0"/>
          <p:nvPr/>
        </p:nvPicPr>
        <p:blipFill>
          <a:blip r:embed="rId7">
            <a:alphaModFix/>
          </a:blip>
          <a:stretch>
            <a:fillRect/>
          </a:stretch>
        </p:blipFill>
        <p:spPr>
          <a:xfrm>
            <a:off x="4068274" y="3121324"/>
            <a:ext cx="5061400" cy="19721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h6bafea1694c5d9d6_0_97"/>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Event &amp; Recording</a:t>
            </a:r>
            <a:endParaRPr/>
          </a:p>
        </p:txBody>
      </p:sp>
      <p:sp>
        <p:nvSpPr>
          <p:cNvPr id="570" name="Google Shape;570;h6bafea1694c5d9d6_0_97"/>
          <p:cNvSpPr txBox="1"/>
          <p:nvPr>
            <p:ph idx="1" type="body"/>
          </p:nvPr>
        </p:nvSpPr>
        <p:spPr>
          <a:xfrm>
            <a:off x="596025" y="1332950"/>
            <a:ext cx="4622100" cy="17850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Nguồn event:: motion detection, AI (người/xe/vượt vạch/vùng cấm), alarm input (cảm biến ngoài), tamper (che/xoay camera), mất mạng, lỗi thẻ SD, âm thanh lớn</a:t>
            </a:r>
            <a:endParaRPr sz="1500">
              <a:solidFill>
                <a:srgbClr val="000000"/>
              </a:solidFill>
              <a:latin typeface="Comfortaa"/>
              <a:ea typeface="Comfortaa"/>
              <a:cs typeface="Comfortaa"/>
              <a:sym typeface="Comfortaa"/>
            </a:endParaRPr>
          </a:p>
          <a:p>
            <a:pPr indent="0" lvl="0" marL="0" rtl="0" algn="l">
              <a:lnSpc>
                <a:spcPct val="150000"/>
              </a:lnSpc>
              <a:spcBef>
                <a:spcPts val="0"/>
              </a:spcBef>
              <a:spcAft>
                <a:spcPts val="0"/>
              </a:spcAft>
              <a:buNone/>
            </a:pPr>
            <a:r>
              <a:t/>
            </a:r>
            <a:endParaRPr sz="1500">
              <a:solidFill>
                <a:srgbClr val="000000"/>
              </a:solidFill>
              <a:latin typeface="Comfortaa"/>
              <a:ea typeface="Comfortaa"/>
              <a:cs typeface="Comfortaa"/>
              <a:sym typeface="Comfortaa"/>
            </a:endParaRPr>
          </a:p>
        </p:txBody>
      </p:sp>
      <p:sp>
        <p:nvSpPr>
          <p:cNvPr id="571" name="Google Shape;571;h6bafea1694c5d9d6_0_9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72" name="Google Shape;572;h6bafea1694c5d9d6_0_97"/>
          <p:cNvPicPr preferRelativeResize="0"/>
          <p:nvPr/>
        </p:nvPicPr>
        <p:blipFill>
          <a:blip r:embed="rId3">
            <a:alphaModFix/>
          </a:blip>
          <a:stretch>
            <a:fillRect/>
          </a:stretch>
        </p:blipFill>
        <p:spPr>
          <a:xfrm>
            <a:off x="5218071" y="981450"/>
            <a:ext cx="3925925" cy="2136475"/>
          </a:xfrm>
          <a:prstGeom prst="rect">
            <a:avLst/>
          </a:prstGeom>
          <a:noFill/>
          <a:ln>
            <a:noFill/>
          </a:ln>
        </p:spPr>
      </p:pic>
      <p:sp>
        <p:nvSpPr>
          <p:cNvPr id="573" name="Google Shape;573;h6bafea1694c5d9d6_0_97"/>
          <p:cNvSpPr txBox="1"/>
          <p:nvPr>
            <p:ph idx="1" type="body"/>
          </p:nvPr>
        </p:nvSpPr>
        <p:spPr>
          <a:xfrm>
            <a:off x="727650" y="3189950"/>
            <a:ext cx="8416500" cy="1953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Hành động: ghi video, chụp snapshot, upload FTP/SMTP, kích alarm output (còi/đèn), push notification, gửi ONVIF event cho VMS (Profile M)</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 Một event có thể gắn nhiều hành động; một hành động có thể do nhiều event kích hoạt</a:t>
            </a:r>
            <a:endParaRPr sz="1500">
              <a:solidFill>
                <a:srgbClr val="000000"/>
              </a:solidFill>
              <a:latin typeface="Comfortaa"/>
              <a:ea typeface="Comfortaa"/>
              <a:cs typeface="Comfortaa"/>
              <a:sym typeface="Comforta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h6bafea1694c5d9d6_0_105"/>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Event &amp; Recording</a:t>
            </a:r>
            <a:endParaRPr/>
          </a:p>
        </p:txBody>
      </p:sp>
      <p:sp>
        <p:nvSpPr>
          <p:cNvPr id="579" name="Google Shape;579;h6bafea1694c5d9d6_0_105"/>
          <p:cNvSpPr txBox="1"/>
          <p:nvPr>
            <p:ph idx="1" type="body"/>
          </p:nvPr>
        </p:nvSpPr>
        <p:spPr>
          <a:xfrm>
            <a:off x="596025" y="1332950"/>
            <a:ext cx="4622100" cy="17850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Pre-record: camera luôn giữ sẵn vài giây video trong RAM; khi event nổ thì ghép phần đó vào đầu file → xem được *trước* thời điểm xảy ra</a:t>
            </a:r>
            <a:endParaRPr sz="1500">
              <a:solidFill>
                <a:srgbClr val="000000"/>
              </a:solidFill>
              <a:latin typeface="Comfortaa"/>
              <a:ea typeface="Comfortaa"/>
              <a:cs typeface="Comfortaa"/>
              <a:sym typeface="Comfortaa"/>
            </a:endParaRPr>
          </a:p>
          <a:p>
            <a:pPr indent="0" lvl="0" marL="0" rtl="0" algn="l">
              <a:lnSpc>
                <a:spcPct val="150000"/>
              </a:lnSpc>
              <a:spcBef>
                <a:spcPts val="0"/>
              </a:spcBef>
              <a:spcAft>
                <a:spcPts val="0"/>
              </a:spcAft>
              <a:buNone/>
            </a:pPr>
            <a:r>
              <a:t/>
            </a:r>
            <a:endParaRPr sz="1500">
              <a:solidFill>
                <a:srgbClr val="000000"/>
              </a:solidFill>
              <a:latin typeface="Comfortaa"/>
              <a:ea typeface="Comfortaa"/>
              <a:cs typeface="Comfortaa"/>
              <a:sym typeface="Comfortaa"/>
            </a:endParaRPr>
          </a:p>
        </p:txBody>
      </p:sp>
      <p:sp>
        <p:nvSpPr>
          <p:cNvPr id="580" name="Google Shape;580;h6bafea1694c5d9d6_0_10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81" name="Google Shape;581;h6bafea1694c5d9d6_0_105"/>
          <p:cNvPicPr preferRelativeResize="0"/>
          <p:nvPr/>
        </p:nvPicPr>
        <p:blipFill>
          <a:blip r:embed="rId3">
            <a:alphaModFix/>
          </a:blip>
          <a:stretch>
            <a:fillRect/>
          </a:stretch>
        </p:blipFill>
        <p:spPr>
          <a:xfrm>
            <a:off x="5218071" y="981450"/>
            <a:ext cx="3925925" cy="2136475"/>
          </a:xfrm>
          <a:prstGeom prst="rect">
            <a:avLst/>
          </a:prstGeom>
          <a:noFill/>
          <a:ln>
            <a:noFill/>
          </a:ln>
        </p:spPr>
      </p:pic>
      <p:sp>
        <p:nvSpPr>
          <p:cNvPr id="582" name="Google Shape;582;h6bafea1694c5d9d6_0_105"/>
          <p:cNvSpPr txBox="1"/>
          <p:nvPr>
            <p:ph idx="1" type="body"/>
          </p:nvPr>
        </p:nvSpPr>
        <p:spPr>
          <a:xfrm>
            <a:off x="727650" y="3189950"/>
            <a:ext cx="8416500" cy="1953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Post-record: tiếp tục ghi thêm N giây sau khi event kết thúc</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Event liên tiếp → hệ thống phải gộp thành một file liền mạch, không tạo ra hàng trăm file vụn, phụ thuộc độ dài tối đa 1 file.</a:t>
            </a:r>
            <a:endParaRPr sz="1500">
              <a:solidFill>
                <a:srgbClr val="000000"/>
              </a:solidFill>
              <a:latin typeface="Comfortaa"/>
              <a:ea typeface="Comfortaa"/>
              <a:cs typeface="Comfortaa"/>
              <a:sym typeface="Comforta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40a07d5c0a2_0_144"/>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Network &amp; Configuration</a:t>
            </a:r>
            <a:endParaRPr/>
          </a:p>
        </p:txBody>
      </p:sp>
      <p:sp>
        <p:nvSpPr>
          <p:cNvPr id="588" name="Google Shape;588;g40a07d5c0a2_0_1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89" name="Google Shape;589;g40a07d5c0a2_0_144"/>
          <p:cNvSpPr txBox="1"/>
          <p:nvPr>
            <p:ph idx="1" type="body"/>
          </p:nvPr>
        </p:nvSpPr>
        <p:spPr>
          <a:xfrm>
            <a:off x="596025" y="1332950"/>
            <a:ext cx="8489100" cy="3810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500">
                <a:solidFill>
                  <a:srgbClr val="000000"/>
                </a:solidFill>
                <a:latin typeface="Comfortaa"/>
                <a:ea typeface="Comfortaa"/>
                <a:cs typeface="Comfortaa"/>
                <a:sym typeface="Comfortaa"/>
              </a:rPr>
              <a:t>WebUI:</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User Interface</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BE (BackEnd) &amp; Frontend: stored in camera</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User configuration</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Live HTTP MP4: fmp4</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Protocol: HTTP POST</a:t>
            </a:r>
            <a:endParaRPr sz="1500">
              <a:solidFill>
                <a:srgbClr val="000000"/>
              </a:solidFill>
              <a:latin typeface="Comfortaa"/>
              <a:ea typeface="Comfortaa"/>
              <a:cs typeface="Comfortaa"/>
              <a:sym typeface="Comfortaa"/>
            </a:endParaRPr>
          </a:p>
        </p:txBody>
      </p:sp>
      <p:pic>
        <p:nvPicPr>
          <p:cNvPr descr="A close-up of a phone&#10;&#10;AI-generated content may be incorrect." id="590" name="Google Shape;590;g40a07d5c0a2_0_144"/>
          <p:cNvPicPr preferRelativeResize="0"/>
          <p:nvPr/>
        </p:nvPicPr>
        <p:blipFill rotWithShape="1">
          <a:blip r:embed="rId3">
            <a:alphaModFix/>
          </a:blip>
          <a:srcRect b="0" l="0" r="0" t="0"/>
          <a:stretch/>
        </p:blipFill>
        <p:spPr>
          <a:xfrm>
            <a:off x="3157800" y="2393456"/>
            <a:ext cx="5495926" cy="180975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h4899c1dda387c451_0_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Network &amp; Configuration</a:t>
            </a:r>
            <a:endParaRPr/>
          </a:p>
        </p:txBody>
      </p:sp>
      <p:sp>
        <p:nvSpPr>
          <p:cNvPr id="596" name="Google Shape;596;h4899c1dda387c451_0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97" name="Google Shape;597;h4899c1dda387c451_0_0"/>
          <p:cNvSpPr txBox="1"/>
          <p:nvPr>
            <p:ph idx="1" type="body"/>
          </p:nvPr>
        </p:nvSpPr>
        <p:spPr>
          <a:xfrm>
            <a:off x="596025" y="1332850"/>
            <a:ext cx="8517900" cy="38106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Smart IP config: </a:t>
            </a:r>
            <a:endParaRPr sz="1500">
              <a:solidFill>
                <a:srgbClr val="000000"/>
              </a:solidFill>
              <a:latin typeface="Comfortaa"/>
              <a:ea typeface="Comfortaa"/>
              <a:cs typeface="Comfortaa"/>
              <a:sym typeface="Comfortaa"/>
            </a:endParaRPr>
          </a:p>
          <a:p>
            <a:pPr indent="-323850" lvl="0" marL="9144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Router: chế độ DHCP</a:t>
            </a:r>
            <a:endParaRPr sz="1500">
              <a:solidFill>
                <a:srgbClr val="000000"/>
              </a:solidFill>
              <a:latin typeface="Comfortaa"/>
              <a:ea typeface="Comfortaa"/>
              <a:cs typeface="Comfortaa"/>
              <a:sym typeface="Comfortaa"/>
            </a:endParaRPr>
          </a:p>
          <a:p>
            <a:pPr indent="-323850" lvl="0" marL="9144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C</a:t>
            </a:r>
            <a:r>
              <a:rPr lang="en-US" sz="1500">
                <a:solidFill>
                  <a:srgbClr val="000000"/>
                </a:solidFill>
                <a:latin typeface="Comfortaa"/>
                <a:ea typeface="Comfortaa"/>
                <a:cs typeface="Comfortaa"/>
                <a:sym typeface="Comfortaa"/>
              </a:rPr>
              <a:t>amera xuất xưởng cùng một IP mặc định → cắm nhiều cái vào một switch là IP conflict, không cái nào có kết nối mạng ổn định</a:t>
            </a:r>
            <a:endParaRPr sz="1500">
              <a:solidFill>
                <a:srgbClr val="000000"/>
              </a:solidFill>
              <a:latin typeface="Comfortaa"/>
              <a:ea typeface="Comfortaa"/>
              <a:cs typeface="Comfortaa"/>
              <a:sym typeface="Comfortaa"/>
            </a:endParaRPr>
          </a:p>
          <a:p>
            <a:pPr indent="-323850" lvl="0" marL="9144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=&gt; IP conflict detection: camera dò mạng, phát hiện trùng thì tự nhảy sang IP khác</a:t>
            </a:r>
            <a:endParaRPr sz="1500">
              <a:solidFill>
                <a:srgbClr val="000000"/>
              </a:solidFill>
              <a:latin typeface="Comfortaa"/>
              <a:ea typeface="Comfortaa"/>
              <a:cs typeface="Comfortaa"/>
              <a:sym typeface="Comfortaa"/>
            </a:endParaRPr>
          </a:p>
        </p:txBody>
      </p:sp>
      <p:pic>
        <p:nvPicPr>
          <p:cNvPr id="598" name="Google Shape;598;h4899c1dda387c451_0_0"/>
          <p:cNvPicPr preferRelativeResize="0"/>
          <p:nvPr/>
        </p:nvPicPr>
        <p:blipFill>
          <a:blip r:embed="rId3">
            <a:alphaModFix/>
          </a:blip>
          <a:stretch>
            <a:fillRect/>
          </a:stretch>
        </p:blipFill>
        <p:spPr>
          <a:xfrm>
            <a:off x="3366075" y="3188425"/>
            <a:ext cx="3176927" cy="19550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h4899c1dda387c451_0_11"/>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Network &amp; Configuration</a:t>
            </a:r>
            <a:endParaRPr/>
          </a:p>
        </p:txBody>
      </p:sp>
      <p:sp>
        <p:nvSpPr>
          <p:cNvPr id="604" name="Google Shape;604;h4899c1dda387c451_0_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05" name="Google Shape;605;h4899c1dda387c451_0_11"/>
          <p:cNvSpPr txBox="1"/>
          <p:nvPr>
            <p:ph idx="1" type="body"/>
          </p:nvPr>
        </p:nvSpPr>
        <p:spPr>
          <a:xfrm>
            <a:off x="596025" y="1332850"/>
            <a:ext cx="8517900" cy="3810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06" name="Google Shape;606;h4899c1dda387c451_0_11"/>
          <p:cNvPicPr preferRelativeResize="0"/>
          <p:nvPr/>
        </p:nvPicPr>
        <p:blipFill>
          <a:blip r:embed="rId3">
            <a:alphaModFix/>
          </a:blip>
          <a:stretch>
            <a:fillRect/>
          </a:stretch>
        </p:blipFill>
        <p:spPr>
          <a:xfrm>
            <a:off x="5302075" y="1847025"/>
            <a:ext cx="3797524" cy="2686675"/>
          </a:xfrm>
          <a:prstGeom prst="rect">
            <a:avLst/>
          </a:prstGeom>
          <a:noFill/>
          <a:ln>
            <a:noFill/>
          </a:ln>
        </p:spPr>
      </p:pic>
      <p:graphicFrame>
        <p:nvGraphicFramePr>
          <p:cNvPr id="607" name="Google Shape;607;h4899c1dda387c451_0_11"/>
          <p:cNvGraphicFramePr/>
          <p:nvPr/>
        </p:nvGraphicFramePr>
        <p:xfrm>
          <a:off x="95250" y="1630900"/>
          <a:ext cx="3000000" cy="3000000"/>
        </p:xfrm>
        <a:graphic>
          <a:graphicData uri="http://schemas.openxmlformats.org/drawingml/2006/table">
            <a:tbl>
              <a:tblPr>
                <a:noFill/>
                <a:tableStyleId>{D92F1402-DFF3-41FF-A413-48304889AC6C}</a:tableStyleId>
              </a:tblPr>
              <a:tblGrid>
                <a:gridCol w="1881750"/>
                <a:gridCol w="3325075"/>
              </a:tblGrid>
              <a:tr h="405450">
                <a:tc>
                  <a:txBody>
                    <a:bodyPr/>
                    <a:lstStyle/>
                    <a:p>
                      <a:pPr indent="0" lvl="0" marL="0" rtl="0" algn="ctr">
                        <a:spcBef>
                          <a:spcPts val="0"/>
                        </a:spcBef>
                        <a:spcAft>
                          <a:spcPts val="0"/>
                        </a:spcAft>
                        <a:buNone/>
                      </a:pPr>
                      <a:r>
                        <a:rPr b="1" lang="en-US"/>
                        <a:t>Method</a:t>
                      </a:r>
                      <a:endParaRPr b="1"/>
                    </a:p>
                  </a:txBody>
                  <a:tcPr marT="91425" marB="91425" marR="91425" marL="91425"/>
                </a:tc>
                <a:tc>
                  <a:txBody>
                    <a:bodyPr/>
                    <a:lstStyle/>
                    <a:p>
                      <a:pPr indent="0" lvl="0" marL="0" rtl="0" algn="ctr">
                        <a:spcBef>
                          <a:spcPts val="0"/>
                        </a:spcBef>
                        <a:spcAft>
                          <a:spcPts val="0"/>
                        </a:spcAft>
                        <a:buNone/>
                      </a:pPr>
                      <a:r>
                        <a:rPr b="1" lang="en-US"/>
                        <a:t>Note</a:t>
                      </a:r>
                      <a:endParaRPr b="1"/>
                    </a:p>
                  </a:txBody>
                  <a:tcPr marT="91425" marB="91425" marR="91425" marL="91425"/>
                </a:tc>
              </a:tr>
              <a:tr h="623775">
                <a:tc>
                  <a:txBody>
                    <a:bodyPr/>
                    <a:lstStyle/>
                    <a:p>
                      <a:pPr indent="0" lvl="0" marL="0" rtl="0" algn="l">
                        <a:spcBef>
                          <a:spcPts val="0"/>
                        </a:spcBef>
                        <a:spcAft>
                          <a:spcPts val="0"/>
                        </a:spcAft>
                        <a:buNone/>
                      </a:pPr>
                      <a:r>
                        <a:rPr lang="en-US"/>
                        <a:t>Port forwarding</a:t>
                      </a:r>
                      <a:endParaRPr/>
                    </a:p>
                  </a:txBody>
                  <a:tcPr marT="91425" marB="91425" marR="91425" marL="91425"/>
                </a:tc>
                <a:tc>
                  <a:txBody>
                    <a:bodyPr/>
                    <a:lstStyle/>
                    <a:p>
                      <a:pPr indent="0" lvl="0" marL="0" rtl="0" algn="l">
                        <a:spcBef>
                          <a:spcPts val="0"/>
                        </a:spcBef>
                        <a:spcAft>
                          <a:spcPts val="0"/>
                        </a:spcAft>
                        <a:buNone/>
                      </a:pPr>
                      <a:r>
                        <a:rPr lang="en-US"/>
                        <a:t>Mở port trên router trỏ vào camera</a:t>
                      </a:r>
                      <a:endParaRPr/>
                    </a:p>
                    <a:p>
                      <a:pPr indent="0" lvl="0" marL="0" rtl="0" algn="l">
                        <a:spcBef>
                          <a:spcPts val="0"/>
                        </a:spcBef>
                        <a:spcAft>
                          <a:spcPts val="0"/>
                        </a:spcAft>
                        <a:buNone/>
                      </a:pPr>
                      <a:r>
                        <a:rPr lang="en-US"/>
                        <a:t>-&gt; camera lộ thẳng ra Internet</a:t>
                      </a:r>
                      <a:endParaRPr/>
                    </a:p>
                  </a:txBody>
                  <a:tcPr marT="91425" marB="91425" marR="91425" marL="91425"/>
                </a:tc>
              </a:tr>
              <a:tr h="623775">
                <a:tc>
                  <a:txBody>
                    <a:bodyPr/>
                    <a:lstStyle/>
                    <a:p>
                      <a:pPr indent="0" lvl="0" marL="0" rtl="0" algn="l">
                        <a:spcBef>
                          <a:spcPts val="0"/>
                        </a:spcBef>
                        <a:spcAft>
                          <a:spcPts val="0"/>
                        </a:spcAft>
                        <a:buNone/>
                      </a:pPr>
                      <a:r>
                        <a:rPr lang="en-US"/>
                        <a:t>DDNS</a:t>
                      </a:r>
                      <a:endParaRPr/>
                    </a:p>
                  </a:txBody>
                  <a:tcPr marT="91425" marB="91425" marR="91425" marL="91425"/>
                </a:tc>
                <a:tc>
                  <a:txBody>
                    <a:bodyPr/>
                    <a:lstStyle/>
                    <a:p>
                      <a:pPr indent="0" lvl="0" marL="0" rtl="0" algn="l">
                        <a:spcBef>
                          <a:spcPts val="0"/>
                        </a:spcBef>
                        <a:spcAft>
                          <a:spcPts val="0"/>
                        </a:spcAft>
                        <a:buNone/>
                      </a:pPr>
                      <a:r>
                        <a:rPr lang="en-US"/>
                        <a:t>Tên miền động trỏ về IP hệ thống camera -&gt; Vẫn phải mở port</a:t>
                      </a:r>
                      <a:endParaRPr/>
                    </a:p>
                  </a:txBody>
                  <a:tcPr marT="91425" marB="91425" marR="91425" marL="91425"/>
                </a:tc>
              </a:tr>
              <a:tr h="842150">
                <a:tc>
                  <a:txBody>
                    <a:bodyPr/>
                    <a:lstStyle/>
                    <a:p>
                      <a:pPr indent="0" lvl="0" marL="0" rtl="0" algn="l">
                        <a:spcBef>
                          <a:spcPts val="0"/>
                        </a:spcBef>
                        <a:spcAft>
                          <a:spcPts val="0"/>
                        </a:spcAft>
                        <a:buNone/>
                      </a:pPr>
                      <a:r>
                        <a:rPr lang="en-US"/>
                        <a:t>P2P / cloud relay</a:t>
                      </a:r>
                      <a:endParaRPr/>
                    </a:p>
                  </a:txBody>
                  <a:tcPr marT="91425" marB="91425" marR="91425" marL="91425"/>
                </a:tc>
                <a:tc>
                  <a:txBody>
                    <a:bodyPr/>
                    <a:lstStyle/>
                    <a:p>
                      <a:pPr indent="0" lvl="0" marL="0" rtl="0" algn="l">
                        <a:spcBef>
                          <a:spcPts val="0"/>
                        </a:spcBef>
                        <a:spcAft>
                          <a:spcPts val="0"/>
                        </a:spcAft>
                        <a:buNone/>
                      </a:pPr>
                      <a:r>
                        <a:rPr lang="en-US"/>
                        <a:t>Camera tự kết nối lên server hãng, app nối qua đó -&gt; phụ thuộc tích hợp</a:t>
                      </a:r>
                      <a:endParaRPr/>
                    </a:p>
                  </a:txBody>
                  <a:tcPr marT="91425" marB="91425" marR="91425" marL="91425"/>
                </a:tc>
              </a:tr>
              <a:tr h="623775">
                <a:tc>
                  <a:txBody>
                    <a:bodyPr/>
                    <a:lstStyle/>
                    <a:p>
                      <a:pPr indent="0" lvl="0" marL="0" rtl="0" algn="l">
                        <a:spcBef>
                          <a:spcPts val="0"/>
                        </a:spcBef>
                        <a:spcAft>
                          <a:spcPts val="0"/>
                        </a:spcAft>
                        <a:buNone/>
                      </a:pPr>
                      <a:r>
                        <a:rPr lang="en-US"/>
                        <a:t>VPN (Virtual Private Network)</a:t>
                      </a:r>
                      <a:endParaRPr/>
                    </a:p>
                  </a:txBody>
                  <a:tcPr marT="91425" marB="91425" marR="91425" marL="91425"/>
                </a:tc>
                <a:tc>
                  <a:txBody>
                    <a:bodyPr/>
                    <a:lstStyle/>
                    <a:p>
                      <a:pPr indent="0" lvl="0" marL="0" rtl="0" algn="l">
                        <a:spcBef>
                          <a:spcPts val="0"/>
                        </a:spcBef>
                        <a:spcAft>
                          <a:spcPts val="0"/>
                        </a:spcAft>
                        <a:buNone/>
                      </a:pPr>
                      <a:r>
                        <a:rPr lang="en-US"/>
                        <a:t>Tạo đường hầm riêng vào mạng của hệ thống triển khai</a:t>
                      </a:r>
                      <a:endParaRPr/>
                    </a:p>
                  </a:txBody>
                  <a:tcPr marT="91425" marB="91425" marR="91425" marL="91425"/>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h4899c1dda387c451_0_28"/>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Network &amp; Configuration: </a:t>
            </a:r>
            <a:r>
              <a:rPr lang="en-US"/>
              <a:t>OpenVPN</a:t>
            </a:r>
            <a:endParaRPr/>
          </a:p>
        </p:txBody>
      </p:sp>
      <p:sp>
        <p:nvSpPr>
          <p:cNvPr id="613" name="Google Shape;613;h4899c1dda387c451_0_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14" name="Google Shape;614;h4899c1dda387c451_0_28"/>
          <p:cNvSpPr txBox="1"/>
          <p:nvPr>
            <p:ph idx="1" type="body"/>
          </p:nvPr>
        </p:nvSpPr>
        <p:spPr>
          <a:xfrm>
            <a:off x="596025" y="1332850"/>
            <a:ext cx="8517900" cy="38106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15" name="Google Shape;615;h4899c1dda387c451_0_28"/>
          <p:cNvPicPr preferRelativeResize="0"/>
          <p:nvPr/>
        </p:nvPicPr>
        <p:blipFill>
          <a:blip r:embed="rId3">
            <a:alphaModFix/>
          </a:blip>
          <a:stretch>
            <a:fillRect/>
          </a:stretch>
        </p:blipFill>
        <p:spPr>
          <a:xfrm>
            <a:off x="1081810" y="1332850"/>
            <a:ext cx="6980416" cy="3810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40a07d5c0a2_0_195"/>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21" name="Google Shape;621;g40a07d5c0a2_0_19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22" name="Google Shape;622;g40a07d5c0a2_0_195"/>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Motion Detection: Image Processing -&gt; pixel -&gt; false alarms: rain, shadow, bug, brightness, …</a:t>
            </a:r>
            <a:endParaRPr sz="1500">
              <a:solidFill>
                <a:srgbClr val="000000"/>
              </a:solidFill>
              <a:latin typeface="Comfortaa"/>
              <a:ea typeface="Comfortaa"/>
              <a:cs typeface="Comfortaa"/>
              <a:sym typeface="Comfortaa"/>
            </a:endParaRPr>
          </a:p>
          <a:p>
            <a:pPr indent="-32367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AI detection: object/ human/ vehicle/ animal detection -&gt; reduce false alarms</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Zone: mỗi bài có một zone riêng</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Threshold: ngưỡng xác định mục tiêu</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False positive: Hệ thống dự đoán hoặc kết luận là </a:t>
            </a:r>
            <a:r>
              <a:rPr b="1" lang="en-US" sz="1500">
                <a:solidFill>
                  <a:srgbClr val="000000"/>
                </a:solidFill>
                <a:latin typeface="Comfortaa"/>
                <a:ea typeface="Comfortaa"/>
                <a:cs typeface="Comfortaa"/>
                <a:sym typeface="Comfortaa"/>
              </a:rPr>
              <a:t>CÓ</a:t>
            </a:r>
            <a:r>
              <a:rPr lang="en-US" sz="1500">
                <a:solidFill>
                  <a:srgbClr val="000000"/>
                </a:solidFill>
                <a:latin typeface="Comfortaa"/>
                <a:ea typeface="Comfortaa"/>
                <a:cs typeface="Comfortaa"/>
                <a:sym typeface="Comfortaa"/>
              </a:rPr>
              <a:t> (Positive), nhưng thực tế tế bên ngoài lại là </a:t>
            </a:r>
            <a:r>
              <a:rPr b="1" lang="en-US" sz="1500">
                <a:solidFill>
                  <a:srgbClr val="000000"/>
                </a:solidFill>
                <a:latin typeface="Comfortaa"/>
                <a:ea typeface="Comfortaa"/>
                <a:cs typeface="Comfortaa"/>
                <a:sym typeface="Comfortaa"/>
              </a:rPr>
              <a:t>KHÔNG</a:t>
            </a:r>
            <a:r>
              <a:rPr lang="en-US" sz="1500">
                <a:solidFill>
                  <a:srgbClr val="000000"/>
                </a:solidFill>
                <a:latin typeface="Comfortaa"/>
                <a:ea typeface="Comfortaa"/>
                <a:cs typeface="Comfortaa"/>
                <a:sym typeface="Comfortaa"/>
              </a:rPr>
              <a:t> (Negative) -&gt; False Alarm</a:t>
            </a:r>
            <a:endParaRPr sz="1500">
              <a:solidFill>
                <a:srgbClr val="000000"/>
              </a:solidFill>
              <a:latin typeface="Comfortaa"/>
              <a:ea typeface="Comfortaa"/>
              <a:cs typeface="Comfortaa"/>
              <a:sym typeface="Comfortaa"/>
            </a:endParaRPr>
          </a:p>
          <a:p>
            <a:pPr indent="-323850" lvl="0" marL="457200" rtl="0" algn="l">
              <a:lnSpc>
                <a:spcPct val="150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False negative: Hệ thống dự đoán hoặc kết luận là </a:t>
            </a:r>
            <a:r>
              <a:rPr b="1" lang="en-US" sz="1500">
                <a:solidFill>
                  <a:srgbClr val="000000"/>
                </a:solidFill>
                <a:latin typeface="Comfortaa"/>
                <a:ea typeface="Comfortaa"/>
                <a:cs typeface="Comfortaa"/>
                <a:sym typeface="Comfortaa"/>
              </a:rPr>
              <a:t>KHÔNG</a:t>
            </a:r>
            <a:r>
              <a:rPr lang="en-US" sz="1500">
                <a:solidFill>
                  <a:srgbClr val="000000"/>
                </a:solidFill>
                <a:latin typeface="Comfortaa"/>
                <a:ea typeface="Comfortaa"/>
                <a:cs typeface="Comfortaa"/>
                <a:sym typeface="Comfortaa"/>
              </a:rPr>
              <a:t> (Negative), nhưng thực tế bên ngoài lại là </a:t>
            </a:r>
            <a:r>
              <a:rPr b="1" lang="en-US" sz="1500">
                <a:solidFill>
                  <a:srgbClr val="000000"/>
                </a:solidFill>
                <a:latin typeface="Comfortaa"/>
                <a:ea typeface="Comfortaa"/>
                <a:cs typeface="Comfortaa"/>
                <a:sym typeface="Comfortaa"/>
              </a:rPr>
              <a:t>CÓ</a:t>
            </a:r>
            <a:r>
              <a:rPr lang="en-US" sz="1500">
                <a:solidFill>
                  <a:srgbClr val="000000"/>
                </a:solidFill>
                <a:latin typeface="Comfortaa"/>
                <a:ea typeface="Comfortaa"/>
                <a:cs typeface="Comfortaa"/>
                <a:sym typeface="Comfortaa"/>
              </a:rPr>
              <a:t> (Positive) -&gt; Miss Detection</a:t>
            </a:r>
            <a:endParaRPr sz="1500">
              <a:solidFill>
                <a:srgbClr val="000000"/>
              </a:solidFill>
              <a:latin typeface="Comfortaa"/>
              <a:ea typeface="Comfortaa"/>
              <a:cs typeface="Comfortaa"/>
              <a:sym typeface="Comforta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h4899c1dda387c451_0_39"/>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28" name="Google Shape;628;h4899c1dda387c451_0_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29" name="Google Shape;629;h4899c1dda387c451_0_39"/>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Surveillance: </a:t>
            </a:r>
            <a:endParaRPr sz="1500">
              <a:solidFill>
                <a:srgbClr val="000000"/>
              </a:solidFill>
              <a:latin typeface="Comfortaa"/>
              <a:ea typeface="Comfortaa"/>
              <a:cs typeface="Comfortaa"/>
              <a:sym typeface="Comfortaa"/>
            </a:endParaRPr>
          </a:p>
          <a:p>
            <a:pPr indent="-323850" lvl="1" marL="914400" rtl="0" algn="l">
              <a:lnSpc>
                <a:spcPct val="115000"/>
              </a:lnSpc>
              <a:spcBef>
                <a:spcPts val="160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Face: FD/FR, Face attribute (Age, Gender, Expression, Complexion, Bounding Box)</a:t>
            </a:r>
            <a:endParaRPr sz="1500">
              <a:solidFill>
                <a:srgbClr val="000000"/>
              </a:solidFill>
              <a:latin typeface="Comfortaa"/>
              <a:ea typeface="Comfortaa"/>
              <a:cs typeface="Comfortaa"/>
              <a:sym typeface="Comfortaa"/>
            </a:endParaRPr>
          </a:p>
          <a:p>
            <a:pPr indent="-323850" lvl="1" marL="914400" rtl="0" algn="l">
              <a:lnSpc>
                <a:spcPct val="115000"/>
              </a:lnSpc>
              <a:spcBef>
                <a:spcPts val="160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Human: People Counting, Crowd Detection, Intrusion, Queue, Loitering, Lince Crossing, Attribute (Clothing, Belonging, Color, Bounding Box)</a:t>
            </a:r>
            <a:endParaRPr sz="1500">
              <a:solidFill>
                <a:srgbClr val="000000"/>
              </a:solidFill>
              <a:latin typeface="Comfortaa"/>
              <a:ea typeface="Comfortaa"/>
              <a:cs typeface="Comfortaa"/>
              <a:sym typeface="Comfortaa"/>
            </a:endParaRPr>
          </a:p>
          <a:p>
            <a:pPr indent="-323670" lvl="0" marL="457200" rtl="0" algn="l">
              <a:lnSpc>
                <a:spcPct val="115000"/>
              </a:lnSpc>
              <a:spcBef>
                <a:spcPts val="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Traffic: </a:t>
            </a:r>
            <a:endParaRPr sz="1500">
              <a:solidFill>
                <a:srgbClr val="000000"/>
              </a:solidFill>
              <a:latin typeface="Comfortaa"/>
              <a:ea typeface="Comfortaa"/>
              <a:cs typeface="Comfortaa"/>
              <a:sym typeface="Comfortaa"/>
            </a:endParaRPr>
          </a:p>
          <a:p>
            <a:pPr indent="-323850" lvl="1" marL="914400" rtl="0" algn="l">
              <a:lnSpc>
                <a:spcPct val="115000"/>
              </a:lnSpc>
              <a:spcBef>
                <a:spcPts val="160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Vehicle detection, Classification (Car, truck, motobike,  bus, human), Red light, Parking, Lane Violation, Wrong way, Sidewalk</a:t>
            </a:r>
            <a:endParaRPr sz="1500">
              <a:solidFill>
                <a:srgbClr val="000000"/>
              </a:solidFill>
              <a:latin typeface="Comfortaa"/>
              <a:ea typeface="Comfortaa"/>
              <a:cs typeface="Comfortaa"/>
              <a:sym typeface="Comfortaa"/>
            </a:endParaRPr>
          </a:p>
          <a:p>
            <a:pPr indent="-323850" lvl="1" marL="914400" rtl="0" algn="l">
              <a:lnSpc>
                <a:spcPct val="115000"/>
              </a:lnSpc>
              <a:spcBef>
                <a:spcPts val="1600"/>
              </a:spcBef>
              <a:spcAft>
                <a:spcPts val="0"/>
              </a:spcAft>
              <a:buClr>
                <a:srgbClr val="000000"/>
              </a:buClr>
              <a:buSzPts val="1500"/>
              <a:buFont typeface="Comfortaa"/>
              <a:buChar char="○"/>
            </a:pPr>
            <a:r>
              <a:rPr lang="en-US" sz="1500">
                <a:solidFill>
                  <a:srgbClr val="000000"/>
                </a:solidFill>
                <a:latin typeface="Comfortaa"/>
                <a:ea typeface="Comfortaa"/>
                <a:cs typeface="Comfortaa"/>
                <a:sym typeface="Comfortaa"/>
              </a:rPr>
              <a:t>ALPR: Auto License Plate Recognition</a:t>
            </a:r>
            <a:endParaRPr sz="1500">
              <a:solidFill>
                <a:srgbClr val="000000"/>
              </a:solidFill>
              <a:latin typeface="Comfortaa"/>
              <a:ea typeface="Comfortaa"/>
              <a:cs typeface="Comfortaa"/>
              <a:sym typeface="Comfortaa"/>
            </a:endParaRPr>
          </a:p>
          <a:p>
            <a:pPr indent="0" lvl="0" marL="9144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h5152ee94080aa542_0_0"/>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35" name="Google Shape;635;h5152ee94080aa542_0_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36" name="Google Shape;636;h5152ee94080aa542_0_0"/>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37" name="Google Shape;637;h5152ee94080aa542_0_0"/>
          <p:cNvPicPr preferRelativeResize="0"/>
          <p:nvPr/>
        </p:nvPicPr>
        <p:blipFill>
          <a:blip r:embed="rId3">
            <a:alphaModFix/>
          </a:blip>
          <a:stretch>
            <a:fillRect/>
          </a:stretch>
        </p:blipFill>
        <p:spPr>
          <a:xfrm>
            <a:off x="2431625" y="1062557"/>
            <a:ext cx="4693424" cy="2030318"/>
          </a:xfrm>
          <a:prstGeom prst="rect">
            <a:avLst/>
          </a:prstGeom>
          <a:noFill/>
          <a:ln>
            <a:noFill/>
          </a:ln>
        </p:spPr>
      </p:pic>
      <p:pic>
        <p:nvPicPr>
          <p:cNvPr id="638" name="Google Shape;638;h5152ee94080aa542_0_0"/>
          <p:cNvPicPr preferRelativeResize="0"/>
          <p:nvPr/>
        </p:nvPicPr>
        <p:blipFill>
          <a:blip r:embed="rId4">
            <a:alphaModFix/>
          </a:blip>
          <a:stretch>
            <a:fillRect/>
          </a:stretch>
        </p:blipFill>
        <p:spPr>
          <a:xfrm>
            <a:off x="2431625" y="3092875"/>
            <a:ext cx="4693424" cy="20506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h5152ee94080aa542_0_17"/>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44" name="Google Shape;644;h5152ee94080aa542_0_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45" name="Google Shape;645;h5152ee94080aa542_0_17"/>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46" name="Google Shape;646;h5152ee94080aa542_0_17"/>
          <p:cNvPicPr preferRelativeResize="0"/>
          <p:nvPr/>
        </p:nvPicPr>
        <p:blipFill>
          <a:blip r:embed="rId3">
            <a:alphaModFix/>
          </a:blip>
          <a:stretch>
            <a:fillRect/>
          </a:stretch>
        </p:blipFill>
        <p:spPr>
          <a:xfrm>
            <a:off x="2397275" y="1187750"/>
            <a:ext cx="4470801" cy="2016499"/>
          </a:xfrm>
          <a:prstGeom prst="rect">
            <a:avLst/>
          </a:prstGeom>
          <a:noFill/>
          <a:ln>
            <a:noFill/>
          </a:ln>
        </p:spPr>
      </p:pic>
      <p:pic>
        <p:nvPicPr>
          <p:cNvPr id="647" name="Google Shape;647;h5152ee94080aa542_0_17"/>
          <p:cNvPicPr preferRelativeResize="0"/>
          <p:nvPr/>
        </p:nvPicPr>
        <p:blipFill>
          <a:blip r:embed="rId4">
            <a:alphaModFix/>
          </a:blip>
          <a:stretch>
            <a:fillRect/>
          </a:stretch>
        </p:blipFill>
        <p:spPr>
          <a:xfrm>
            <a:off x="2397275" y="3255284"/>
            <a:ext cx="4470802" cy="197616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h5152ee94080aa542_0_29"/>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53" name="Google Shape;653;h5152ee94080aa542_0_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54" name="Google Shape;654;h5152ee94080aa542_0_29"/>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55" name="Google Shape;655;h5152ee94080aa542_0_29"/>
          <p:cNvPicPr preferRelativeResize="0"/>
          <p:nvPr/>
        </p:nvPicPr>
        <p:blipFill>
          <a:blip r:embed="rId3">
            <a:alphaModFix/>
          </a:blip>
          <a:stretch>
            <a:fillRect/>
          </a:stretch>
        </p:blipFill>
        <p:spPr>
          <a:xfrm>
            <a:off x="5178207" y="3190275"/>
            <a:ext cx="3648644" cy="1918825"/>
          </a:xfrm>
          <a:prstGeom prst="rect">
            <a:avLst/>
          </a:prstGeom>
          <a:noFill/>
          <a:ln>
            <a:noFill/>
          </a:ln>
        </p:spPr>
      </p:pic>
      <p:pic>
        <p:nvPicPr>
          <p:cNvPr id="656" name="Google Shape;656;h5152ee94080aa542_0_29"/>
          <p:cNvPicPr preferRelativeResize="0"/>
          <p:nvPr/>
        </p:nvPicPr>
        <p:blipFill>
          <a:blip r:embed="rId4">
            <a:alphaModFix/>
          </a:blip>
          <a:stretch>
            <a:fillRect/>
          </a:stretch>
        </p:blipFill>
        <p:spPr>
          <a:xfrm>
            <a:off x="5178200" y="1188125"/>
            <a:ext cx="3692750" cy="1942025"/>
          </a:xfrm>
          <a:prstGeom prst="rect">
            <a:avLst/>
          </a:prstGeom>
          <a:noFill/>
          <a:ln>
            <a:noFill/>
          </a:ln>
        </p:spPr>
      </p:pic>
      <p:pic>
        <p:nvPicPr>
          <p:cNvPr id="657" name="Google Shape;657;h5152ee94080aa542_0_29"/>
          <p:cNvPicPr preferRelativeResize="0"/>
          <p:nvPr/>
        </p:nvPicPr>
        <p:blipFill>
          <a:blip r:embed="rId5">
            <a:alphaModFix/>
          </a:blip>
          <a:stretch>
            <a:fillRect/>
          </a:stretch>
        </p:blipFill>
        <p:spPr>
          <a:xfrm>
            <a:off x="0" y="1223875"/>
            <a:ext cx="4359697" cy="1966400"/>
          </a:xfrm>
          <a:prstGeom prst="rect">
            <a:avLst/>
          </a:prstGeom>
          <a:noFill/>
          <a:ln>
            <a:noFill/>
          </a:ln>
        </p:spPr>
      </p:pic>
      <p:pic>
        <p:nvPicPr>
          <p:cNvPr id="658" name="Google Shape;658;h5152ee94080aa542_0_29"/>
          <p:cNvPicPr preferRelativeResize="0"/>
          <p:nvPr/>
        </p:nvPicPr>
        <p:blipFill>
          <a:blip r:embed="rId6">
            <a:alphaModFix/>
          </a:blip>
          <a:stretch>
            <a:fillRect/>
          </a:stretch>
        </p:blipFill>
        <p:spPr>
          <a:xfrm>
            <a:off x="0" y="3240385"/>
            <a:ext cx="4359700" cy="196639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h5152ee94080aa542_0_43"/>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64" name="Google Shape;664;h5152ee94080aa542_0_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65" name="Google Shape;665;h5152ee94080aa542_0_43"/>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66" name="Google Shape;666;h5152ee94080aa542_0_43"/>
          <p:cNvPicPr preferRelativeResize="0"/>
          <p:nvPr/>
        </p:nvPicPr>
        <p:blipFill>
          <a:blip r:embed="rId3">
            <a:alphaModFix/>
          </a:blip>
          <a:stretch>
            <a:fillRect/>
          </a:stretch>
        </p:blipFill>
        <p:spPr>
          <a:xfrm>
            <a:off x="0" y="1846275"/>
            <a:ext cx="4445200" cy="1887950"/>
          </a:xfrm>
          <a:prstGeom prst="rect">
            <a:avLst/>
          </a:prstGeom>
          <a:noFill/>
          <a:ln>
            <a:noFill/>
          </a:ln>
        </p:spPr>
      </p:pic>
      <p:pic>
        <p:nvPicPr>
          <p:cNvPr id="667" name="Google Shape;667;h5152ee94080aa542_0_43"/>
          <p:cNvPicPr preferRelativeResize="0"/>
          <p:nvPr/>
        </p:nvPicPr>
        <p:blipFill>
          <a:blip r:embed="rId4">
            <a:alphaModFix/>
          </a:blip>
          <a:stretch>
            <a:fillRect/>
          </a:stretch>
        </p:blipFill>
        <p:spPr>
          <a:xfrm>
            <a:off x="4719000" y="504750"/>
            <a:ext cx="4238051" cy="2167215"/>
          </a:xfrm>
          <a:prstGeom prst="rect">
            <a:avLst/>
          </a:prstGeom>
          <a:noFill/>
          <a:ln>
            <a:noFill/>
          </a:ln>
        </p:spPr>
      </p:pic>
      <p:pic>
        <p:nvPicPr>
          <p:cNvPr id="668" name="Google Shape;668;h5152ee94080aa542_0_43"/>
          <p:cNvPicPr preferRelativeResize="0"/>
          <p:nvPr/>
        </p:nvPicPr>
        <p:blipFill>
          <a:blip r:embed="rId5">
            <a:alphaModFix/>
          </a:blip>
          <a:stretch>
            <a:fillRect/>
          </a:stretch>
        </p:blipFill>
        <p:spPr>
          <a:xfrm>
            <a:off x="4719000" y="2863424"/>
            <a:ext cx="4238058" cy="2067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5152ee94080aa542_0_57"/>
          <p:cNvSpPr txBox="1"/>
          <p:nvPr>
            <p:ph type="title"/>
          </p:nvPr>
        </p:nvSpPr>
        <p:spPr>
          <a:xfrm>
            <a:off x="727650" y="652922"/>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2600"/>
              <a:buNone/>
            </a:pPr>
            <a:r>
              <a:rPr lang="en-US"/>
              <a:t>AI &amp; Smart Features</a:t>
            </a:r>
            <a:endParaRPr/>
          </a:p>
        </p:txBody>
      </p:sp>
      <p:sp>
        <p:nvSpPr>
          <p:cNvPr id="674" name="Google Shape;674;h5152ee94080aa542_0_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75" name="Google Shape;675;h5152ee94080aa542_0_57"/>
          <p:cNvSpPr txBox="1"/>
          <p:nvPr>
            <p:ph idx="1" type="body"/>
          </p:nvPr>
        </p:nvSpPr>
        <p:spPr>
          <a:xfrm>
            <a:off x="596025" y="1332950"/>
            <a:ext cx="8489100" cy="37533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t/>
            </a:r>
            <a:endParaRPr sz="1500">
              <a:solidFill>
                <a:srgbClr val="000000"/>
              </a:solidFill>
              <a:latin typeface="Comfortaa"/>
              <a:ea typeface="Comfortaa"/>
              <a:cs typeface="Comfortaa"/>
              <a:sym typeface="Comfortaa"/>
            </a:endParaRPr>
          </a:p>
        </p:txBody>
      </p:sp>
      <p:pic>
        <p:nvPicPr>
          <p:cNvPr id="676" name="Google Shape;676;h5152ee94080aa542_0_57"/>
          <p:cNvPicPr preferRelativeResize="0"/>
          <p:nvPr/>
        </p:nvPicPr>
        <p:blipFill>
          <a:blip r:embed="rId3">
            <a:alphaModFix/>
          </a:blip>
          <a:stretch>
            <a:fillRect/>
          </a:stretch>
        </p:blipFill>
        <p:spPr>
          <a:xfrm>
            <a:off x="0" y="1942825"/>
            <a:ext cx="4368849" cy="2113326"/>
          </a:xfrm>
          <a:prstGeom prst="rect">
            <a:avLst/>
          </a:prstGeom>
          <a:noFill/>
          <a:ln>
            <a:noFill/>
          </a:ln>
        </p:spPr>
      </p:pic>
      <p:pic>
        <p:nvPicPr>
          <p:cNvPr id="677" name="Google Shape;677;h5152ee94080aa542_0_57"/>
          <p:cNvPicPr preferRelativeResize="0"/>
          <p:nvPr/>
        </p:nvPicPr>
        <p:blipFill>
          <a:blip r:embed="rId4">
            <a:alphaModFix/>
          </a:blip>
          <a:stretch>
            <a:fillRect/>
          </a:stretch>
        </p:blipFill>
        <p:spPr>
          <a:xfrm>
            <a:off x="4417075" y="1839108"/>
            <a:ext cx="4668050" cy="22597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h4899c1dda387c451_0_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83" name="Google Shape;683;h4899c1dda387c451_0_51"/>
          <p:cNvSpPr txBox="1"/>
          <p:nvPr>
            <p:ph idx="1" type="body"/>
          </p:nvPr>
        </p:nvSpPr>
        <p:spPr>
          <a:xfrm>
            <a:off x="327450" y="2174725"/>
            <a:ext cx="8489100" cy="1108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4000">
                <a:solidFill>
                  <a:srgbClr val="000000"/>
                </a:solidFill>
                <a:latin typeface="Comfortaa"/>
                <a:ea typeface="Comfortaa"/>
                <a:cs typeface="Comfortaa"/>
                <a:sym typeface="Comfortaa"/>
              </a:rPr>
              <a:t>Thanks!</a:t>
            </a:r>
            <a:endParaRPr sz="4000">
              <a:solidFill>
                <a:srgbClr val="000000"/>
              </a:solidFill>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Pavana">
      <a:dk1>
        <a:srgbClr val="00B19E"/>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008476"/>
      </a:hlink>
      <a:folHlink>
        <a:srgbClr val="00847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2021-10-02T02:36:34Z</dcterms:created>
  <dc:creator>Trang Nguyen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0x01010066D106403D953C409F2269B697D7397F</vt:lpwstr>
  </property>
  <property fmtid="{D5CDD505-2E9C-101B-9397-08002B2CF9AE}" pid="3" name="MediaServiceImageTags">
    <vt:lpwstr/>
  </property>
</Properties>
</file>