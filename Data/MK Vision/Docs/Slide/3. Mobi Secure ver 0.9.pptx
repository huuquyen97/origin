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s/modernComment_106_BE38E784.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6" r:id="rId3"/>
    <p:sldId id="274" r:id="rId4"/>
    <p:sldId id="268" r:id="rId5"/>
    <p:sldId id="267" r:id="rId6"/>
    <p:sldId id="258" r:id="rId7"/>
    <p:sldId id="269" r:id="rId8"/>
    <p:sldId id="270" r:id="rId9"/>
    <p:sldId id="271" r:id="rId10"/>
    <p:sldId id="262" r:id="rId11"/>
    <p:sldId id="260" r:id="rId12"/>
    <p:sldId id="263" r:id="rId13"/>
    <p:sldId id="264" r:id="rId14"/>
    <p:sldId id="265"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628D596-27CE-25E1-FD82-7C28AF86C100}" name="Cảnh Nguyễn" initials="CN" userId="S::canhnt@pavana.tech::f6d7d61d-a7ed-4dad-be06-895c6f2d40e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7"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omments/modernComment_106_BE38E784.xml><?xml version="1.0" encoding="utf-8"?>
<p188:cmLst xmlns:a="http://schemas.openxmlformats.org/drawingml/2006/main" xmlns:r="http://schemas.openxmlformats.org/officeDocument/2006/relationships" xmlns:p188="http://schemas.microsoft.com/office/powerpoint/2018/8/main">
  <p188:cm id="{9A52C6EF-CF67-434C-B03B-5ECDEEF6FF00}" authorId="{1628D596-27CE-25E1-FD82-7C28AF86C100}" created="2025-10-30T01:40:50.673">
    <pc:sldMkLst xmlns:pc="http://schemas.microsoft.com/office/powerpoint/2013/main/command">
      <pc:docMk/>
      <pc:sldMk cId="3191400324" sldId="262"/>
    </pc:sldMkLst>
    <p188:txBody>
      <a:bodyPr/>
      <a:lstStyle/>
      <a:p>
        <a:r>
          <a:rPr lang="en-US"/>
          <a:t>Lưu ý: 
Sửa Đồn Công An 
Trung tâm chỉ huy địa phương
Sửa Bộ Công An
Trung tâm chỉ huy trung ương
Bỏ Tường lửa và Cơ quan Nhà nước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971E4-D778-4451-B622-27E0BBE4C62C}"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15998-7F24-41F3-B3D3-C50ACBD82492}" type="slidenum">
              <a:rPr lang="en-US" smtClean="0"/>
              <a:t>‹#›</a:t>
            </a:fld>
            <a:endParaRPr lang="en-US"/>
          </a:p>
        </p:txBody>
      </p:sp>
    </p:spTree>
    <p:extLst>
      <p:ext uri="{BB962C8B-B14F-4D97-AF65-F5344CB8AC3E}">
        <p14:creationId xmlns:p14="http://schemas.microsoft.com/office/powerpoint/2010/main" val="3266873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t>Body police camera product, this product does not affect the working process of security units, police and police because the hands are freed and do not need to hold the camera, so it works in situations. </a:t>
            </a:r>
          </a:p>
          <a:p>
            <a:pPr marL="0" lvl="0" indent="0" algn="l" rtl="0">
              <a:spcBef>
                <a:spcPts val="0"/>
              </a:spcBef>
              <a:spcAft>
                <a:spcPts val="0"/>
              </a:spcAft>
              <a:buNone/>
            </a:pPr>
            <a:endParaRPr/>
          </a:p>
        </p:txBody>
      </p:sp>
      <p:sp>
        <p:nvSpPr>
          <p:cNvPr id="46" name="Google Shape;4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5" name="Google Shape;9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Thay đổi thông tin Đồn công an =&gt; Trung tâm chỉ huy. Bộ Công An =&gt; Trung tâm chỉ huy trung ương, bỏ Cơ quan nhà nước</a:t>
            </a:r>
            <a:endParaRPr lang="en-US" dirty="0"/>
          </a:p>
        </p:txBody>
      </p:sp>
      <p:sp>
        <p:nvSpPr>
          <p:cNvPr id="4" name="Slide Number Placeholder 3"/>
          <p:cNvSpPr>
            <a:spLocks noGrp="1"/>
          </p:cNvSpPr>
          <p:nvPr>
            <p:ph type="sldNum" sz="quarter" idx="5"/>
          </p:nvPr>
        </p:nvSpPr>
        <p:spPr/>
        <p:txBody>
          <a:bodyPr/>
          <a:lstStyle/>
          <a:p>
            <a:fld id="{86F15998-7F24-41F3-B3D3-C50ACBD82492}" type="slidenum">
              <a:rPr lang="en-US" smtClean="0"/>
              <a:t>10</a:t>
            </a:fld>
            <a:endParaRPr lang="en-US"/>
          </a:p>
        </p:txBody>
      </p:sp>
    </p:spTree>
    <p:extLst>
      <p:ext uri="{BB962C8B-B14F-4D97-AF65-F5344CB8AC3E}">
        <p14:creationId xmlns:p14="http://schemas.microsoft.com/office/powerpoint/2010/main" val="4098864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F15998-7F24-41F3-B3D3-C50ACBD82492}" type="slidenum">
              <a:rPr lang="en-US" smtClean="0"/>
              <a:t>14</a:t>
            </a:fld>
            <a:endParaRPr lang="en-US"/>
          </a:p>
        </p:txBody>
      </p:sp>
    </p:spTree>
    <p:extLst>
      <p:ext uri="{BB962C8B-B14F-4D97-AF65-F5344CB8AC3E}">
        <p14:creationId xmlns:p14="http://schemas.microsoft.com/office/powerpoint/2010/main" val="2942617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717CF-3173-4101-105C-24544A1491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BA16D8-259A-B708-A377-9CB275081A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893467-3451-8786-089F-46E7B114AE7D}"/>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5" name="Footer Placeholder 4">
            <a:extLst>
              <a:ext uri="{FF2B5EF4-FFF2-40B4-BE49-F238E27FC236}">
                <a16:creationId xmlns:a16="http://schemas.microsoft.com/office/drawing/2014/main" id="{BACFA050-9D6F-8A25-C9FC-59885F2C62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07B1E-D1F5-FED6-46E4-DE620735C2ED}"/>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228741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E613C-0994-06CE-A42B-DD2404090B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890F00-4E87-B28C-4B2B-BC35B4C673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0373F-EA36-3EE4-9B53-EC02AA264FE7}"/>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5" name="Footer Placeholder 4">
            <a:extLst>
              <a:ext uri="{FF2B5EF4-FFF2-40B4-BE49-F238E27FC236}">
                <a16:creationId xmlns:a16="http://schemas.microsoft.com/office/drawing/2014/main" id="{CC477F18-BE9E-5BCC-00D8-A68AC0F17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ABB173-7DE7-5D90-8756-E24354B5FB9F}"/>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570554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3FD7-C343-BE15-05B8-A96A785B86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CF5CFA-4742-A899-CCE1-1094A631B0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6AD15D-E0A6-A8E3-C5C4-B28E3E00C2A7}"/>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5" name="Footer Placeholder 4">
            <a:extLst>
              <a:ext uri="{FF2B5EF4-FFF2-40B4-BE49-F238E27FC236}">
                <a16:creationId xmlns:a16="http://schemas.microsoft.com/office/drawing/2014/main" id="{BC74ECB2-B8BB-C137-6D3B-5FE71AD8B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22B64B-B6DA-D44C-AB85-F7A8FFD8932F}"/>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3939420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D23B8-8AE1-5E58-61DF-E17242C35F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F75037-148E-9398-DE5C-BB8CE0DDC5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C9F0FE-E148-DE4F-199B-7685675F1E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D8E161-7FF8-10D0-956B-105789C014CA}"/>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6" name="Footer Placeholder 5">
            <a:extLst>
              <a:ext uri="{FF2B5EF4-FFF2-40B4-BE49-F238E27FC236}">
                <a16:creationId xmlns:a16="http://schemas.microsoft.com/office/drawing/2014/main" id="{8B973554-315D-525F-7A53-74C43BC7D8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339CBA-5A5E-83D6-6802-A46B54405EB4}"/>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2996534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2A54D-AABF-2BBE-B903-0F80BDDF1B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4ED278-2644-7591-185B-F92860F38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88BDD7-4F09-03BE-214C-F5862AF376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E8319A-A3CD-D9D8-BFEB-8FE47BCFC1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D28EDD-56D8-B72C-B295-94CAB66659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218E86-CDAA-7C83-CE78-9781677032EC}"/>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8" name="Footer Placeholder 7">
            <a:extLst>
              <a:ext uri="{FF2B5EF4-FFF2-40B4-BE49-F238E27FC236}">
                <a16:creationId xmlns:a16="http://schemas.microsoft.com/office/drawing/2014/main" id="{ADABEFC3-8A01-3E2D-AFAE-A74512F7A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A98A10-C791-FFFE-6693-EA3119D6D5C7}"/>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3133471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769CF-A4CE-2271-5BAF-1C73B0468A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4D02E3-8201-9226-B1FE-9A50D42E1C2E}"/>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4" name="Footer Placeholder 3">
            <a:extLst>
              <a:ext uri="{FF2B5EF4-FFF2-40B4-BE49-F238E27FC236}">
                <a16:creationId xmlns:a16="http://schemas.microsoft.com/office/drawing/2014/main" id="{DB9F97C2-1B95-AF69-8224-4FCADA6C3C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C08B83-B9DE-D274-B1E4-DAE4F2268BD9}"/>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3774750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1898D-C3D0-63D0-80C5-BB9EE0DDF2F0}"/>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3" name="Footer Placeholder 2">
            <a:extLst>
              <a:ext uri="{FF2B5EF4-FFF2-40B4-BE49-F238E27FC236}">
                <a16:creationId xmlns:a16="http://schemas.microsoft.com/office/drawing/2014/main" id="{D41785EE-A004-C4B3-5468-8B1B16D6DC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8DE8A2-047B-D88C-CD96-E018111C5AB5}"/>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668913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7597-6B20-66D9-0695-64CF1F5345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662EA8-7C6C-86F3-236E-D6BA6A197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BFDA69-C8F2-0641-AB10-E83280EAA2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F1E92C-665D-BB40-6A81-D9CBA04DFBC7}"/>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6" name="Footer Placeholder 5">
            <a:extLst>
              <a:ext uri="{FF2B5EF4-FFF2-40B4-BE49-F238E27FC236}">
                <a16:creationId xmlns:a16="http://schemas.microsoft.com/office/drawing/2014/main" id="{8019B98B-75D5-19A5-8CCA-3A9533005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86F890-8727-63A0-8EE9-EDE121CA65E9}"/>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2867812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4EF9-89FD-482D-CF2D-C52365DD8C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B7CDAB-A019-FE3D-304B-D9723CF6C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ED572C-5865-D987-68ED-992412FC5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752BE9-A4F2-55B0-4D2B-7C127104D598}"/>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6" name="Footer Placeholder 5">
            <a:extLst>
              <a:ext uri="{FF2B5EF4-FFF2-40B4-BE49-F238E27FC236}">
                <a16:creationId xmlns:a16="http://schemas.microsoft.com/office/drawing/2014/main" id="{A6D48E41-B65E-B88A-32E8-F78D42ECC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B2F14-4841-24C6-330A-2708A7DA43FB}"/>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2488916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1ED8-BD15-099A-E729-1994BABFD3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D69FF2-0ED8-9BEF-16C9-96A2C008B9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9DEB2-C0FF-8048-AFD1-2EEBF41CBE13}"/>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5" name="Footer Placeholder 4">
            <a:extLst>
              <a:ext uri="{FF2B5EF4-FFF2-40B4-BE49-F238E27FC236}">
                <a16:creationId xmlns:a16="http://schemas.microsoft.com/office/drawing/2014/main" id="{164D27AA-1AE6-CEBC-B42D-165BF12BE9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A5914E-3726-3062-D3B6-EB96B1C9BD7A}"/>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1217702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BCA9B1-852D-33B6-E001-E1E6659A0B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2A9E6F-13F6-E576-9C16-C1F1F87FF1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37B1E-2515-30A4-1BDB-E180A6DEF352}"/>
              </a:ext>
            </a:extLst>
          </p:cNvPr>
          <p:cNvSpPr>
            <a:spLocks noGrp="1"/>
          </p:cNvSpPr>
          <p:nvPr>
            <p:ph type="dt" sz="half" idx="10"/>
          </p:nvPr>
        </p:nvSpPr>
        <p:spPr/>
        <p:txBody>
          <a:bodyPr/>
          <a:lstStyle/>
          <a:p>
            <a:fld id="{7B516A51-2582-416D-81F2-CF804742FC36}" type="datetimeFigureOut">
              <a:rPr lang="en-US" smtClean="0"/>
              <a:t>11/18/2025</a:t>
            </a:fld>
            <a:endParaRPr lang="en-US"/>
          </a:p>
        </p:txBody>
      </p:sp>
      <p:sp>
        <p:nvSpPr>
          <p:cNvPr id="5" name="Footer Placeholder 4">
            <a:extLst>
              <a:ext uri="{FF2B5EF4-FFF2-40B4-BE49-F238E27FC236}">
                <a16:creationId xmlns:a16="http://schemas.microsoft.com/office/drawing/2014/main" id="{5AC040D3-B9A9-9BDD-10D0-CA2379196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D89D35-BDE3-7A9B-B343-B736DF64B56A}"/>
              </a:ext>
            </a:extLst>
          </p:cNvPr>
          <p:cNvSpPr>
            <a:spLocks noGrp="1"/>
          </p:cNvSpPr>
          <p:nvPr>
            <p:ph type="sldNum" sz="quarter" idx="12"/>
          </p:nvPr>
        </p:nvSpPr>
        <p:spPr/>
        <p:txBody>
          <a:bodyPr/>
          <a:lstStyle/>
          <a:p>
            <a:fld id="{9075B6BC-9C49-41B2-9C02-0F605165F473}" type="slidenum">
              <a:rPr lang="en-US" smtClean="0"/>
              <a:t>‹#›</a:t>
            </a:fld>
            <a:endParaRPr lang="en-US"/>
          </a:p>
        </p:txBody>
      </p:sp>
    </p:spTree>
    <p:extLst>
      <p:ext uri="{BB962C8B-B14F-4D97-AF65-F5344CB8AC3E}">
        <p14:creationId xmlns:p14="http://schemas.microsoft.com/office/powerpoint/2010/main" val="154719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5"/>
        <p:cNvGrpSpPr/>
        <p:nvPr/>
      </p:nvGrpSpPr>
      <p:grpSpPr>
        <a:xfrm>
          <a:off x="0" y="0"/>
          <a:ext cx="0" cy="0"/>
          <a:chOff x="0" y="0"/>
          <a:chExt cx="0" cy="0"/>
        </a:xfrm>
      </p:grpSpPr>
      <p:sp>
        <p:nvSpPr>
          <p:cNvPr id="16" name="Google Shape;16;p16"/>
          <p:cNvSpPr/>
          <p:nvPr/>
        </p:nvSpPr>
        <p:spPr>
          <a:xfrm>
            <a:off x="0" y="0"/>
            <a:ext cx="12192000" cy="650400"/>
          </a:xfrm>
          <a:prstGeom prst="rect">
            <a:avLst/>
          </a:prstGeom>
          <a:solidFill>
            <a:srgbClr val="F2F2F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Nunito Sans"/>
              <a:ea typeface="Nunito Sans"/>
              <a:cs typeface="Nunito Sans"/>
              <a:sym typeface="Nunito Sans"/>
            </a:endParaRPr>
          </a:p>
        </p:txBody>
      </p:sp>
      <p:sp>
        <p:nvSpPr>
          <p:cNvPr id="17" name="Google Shape;17;p16"/>
          <p:cNvSpPr txBox="1">
            <a:spLocks noGrp="1"/>
          </p:cNvSpPr>
          <p:nvPr>
            <p:ph type="title"/>
          </p:nvPr>
        </p:nvSpPr>
        <p:spPr>
          <a:xfrm>
            <a:off x="959053" y="1758200"/>
            <a:ext cx="5136947" cy="71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2"/>
              </a:buClr>
              <a:buSzPts val="2600"/>
              <a:buFont typeface="Arial"/>
              <a:buNone/>
              <a:defRPr sz="3467" b="1" i="0" u="none" strike="noStrike" cap="none">
                <a:solidFill>
                  <a:srgbClr val="303030"/>
                </a:solidFill>
                <a:latin typeface="Nunito Sans"/>
                <a:ea typeface="Nunito Sans"/>
                <a:cs typeface="Nunito Sans"/>
                <a:sym typeface="Nunito Sans"/>
              </a:defRPr>
            </a:lvl1pPr>
            <a:lvl2pPr marR="0" lvl="1"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2600"/>
              <a:buFont typeface="Arial"/>
              <a:buNone/>
              <a:defRPr sz="3467" b="0" i="0" u="none" strike="noStrike" cap="none">
                <a:solidFill>
                  <a:schemeClr val="dk2"/>
                </a:solidFill>
                <a:latin typeface="Arial"/>
                <a:ea typeface="Arial"/>
                <a:cs typeface="Arial"/>
                <a:sym typeface="Arial"/>
              </a:defRPr>
            </a:lvl9pPr>
          </a:lstStyle>
          <a:p>
            <a:endParaRPr/>
          </a:p>
        </p:txBody>
      </p:sp>
      <p:sp>
        <p:nvSpPr>
          <p:cNvPr id="18" name="Google Shape;18;p16"/>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1pPr>
            <a:lvl2pPr marL="0" lvl="1"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2pPr>
            <a:lvl3pPr marL="0" lvl="2"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3pPr>
            <a:lvl4pPr marL="0" lvl="3"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4pPr>
            <a:lvl5pPr marL="0" lvl="4"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5pPr>
            <a:lvl6pPr marL="0" lvl="5"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6pPr>
            <a:lvl7pPr marL="0" lvl="6"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7pPr>
            <a:lvl8pPr marL="0" lvl="7"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8pPr>
            <a:lvl9pPr marL="0" lvl="8" indent="0" algn="r">
              <a:lnSpc>
                <a:spcPct val="100000"/>
              </a:lnSpc>
              <a:spcBef>
                <a:spcPts val="0"/>
              </a:spcBef>
              <a:spcAft>
                <a:spcPts val="0"/>
              </a:spcAft>
              <a:buSzPts val="1000"/>
              <a:buNone/>
              <a:defRPr sz="1333" b="0" i="0" u="none" strike="noStrike" cap="none">
                <a:solidFill>
                  <a:schemeClr val="accent1"/>
                </a:solidFill>
                <a:latin typeface="Nunito Sans"/>
                <a:ea typeface="Nunito Sans"/>
                <a:cs typeface="Nunito Sans"/>
                <a:sym typeface="Nunito Sans"/>
              </a:defRPr>
            </a:lvl9pPr>
          </a:lstStyle>
          <a:p>
            <a:fld id="{00000000-1234-1234-1234-123412341234}" type="slidenum">
              <a:rPr lang="en-US" smtClean="0"/>
              <a:pPr/>
              <a:t>‹#›</a:t>
            </a:fld>
            <a:endParaRPr lang="en-US"/>
          </a:p>
        </p:txBody>
      </p:sp>
      <p:grpSp>
        <p:nvGrpSpPr>
          <p:cNvPr id="19" name="Google Shape;19;p16"/>
          <p:cNvGrpSpPr/>
          <p:nvPr/>
        </p:nvGrpSpPr>
        <p:grpSpPr>
          <a:xfrm>
            <a:off x="1107190" y="1588342"/>
            <a:ext cx="994351" cy="61103"/>
            <a:chOff x="830392" y="1191255"/>
            <a:chExt cx="745763" cy="45827"/>
          </a:xfrm>
        </p:grpSpPr>
        <p:sp>
          <p:nvSpPr>
            <p:cNvPr id="20" name="Google Shape;20;p16"/>
            <p:cNvSpPr/>
            <p:nvPr/>
          </p:nvSpPr>
          <p:spPr>
            <a:xfrm rot="-5400000">
              <a:off x="1366812" y="1027739"/>
              <a:ext cx="45826" cy="372859"/>
            </a:xfrm>
            <a:prstGeom prst="rect">
              <a:avLst/>
            </a:prstGeom>
            <a:solidFill>
              <a:srgbClr val="F4CB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Nunito Sans"/>
                <a:ea typeface="Nunito Sans"/>
                <a:cs typeface="Nunito Sans"/>
                <a:sym typeface="Nunito Sans"/>
              </a:endParaRPr>
            </a:p>
          </p:txBody>
        </p:sp>
        <p:sp>
          <p:nvSpPr>
            <p:cNvPr id="21" name="Google Shape;21;p16"/>
            <p:cNvSpPr/>
            <p:nvPr/>
          </p:nvSpPr>
          <p:spPr>
            <a:xfrm rot="-5400000">
              <a:off x="995485" y="1026163"/>
              <a:ext cx="45826" cy="376012"/>
            </a:xfrm>
            <a:prstGeom prst="rect">
              <a:avLst/>
            </a:prstGeom>
            <a:solidFill>
              <a:srgbClr val="003A8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Nunito Sans"/>
                <a:ea typeface="Nunito Sans"/>
                <a:cs typeface="Nunito Sans"/>
                <a:sym typeface="Nunito Sans"/>
              </a:endParaRPr>
            </a:p>
          </p:txBody>
        </p:sp>
      </p:grpSp>
      <p:pic>
        <p:nvPicPr>
          <p:cNvPr id="22" name="Google Shape;22;p16"/>
          <p:cNvPicPr preferRelativeResize="0"/>
          <p:nvPr/>
        </p:nvPicPr>
        <p:blipFill rotWithShape="1">
          <a:blip r:embed="rId2">
            <a:alphaModFix/>
          </a:blip>
          <a:srcRect t="665" b="31326"/>
          <a:stretch/>
        </p:blipFill>
        <p:spPr>
          <a:xfrm>
            <a:off x="10935214" y="229220"/>
            <a:ext cx="1029109" cy="263081"/>
          </a:xfrm>
          <a:prstGeom prst="rect">
            <a:avLst/>
          </a:prstGeom>
          <a:noFill/>
          <a:ln>
            <a:noFill/>
          </a:ln>
        </p:spPr>
      </p:pic>
      <p:sp>
        <p:nvSpPr>
          <p:cNvPr id="23" name="Google Shape;23;p16"/>
          <p:cNvSpPr txBox="1">
            <a:spLocks noGrp="1"/>
          </p:cNvSpPr>
          <p:nvPr>
            <p:ph type="body" idx="1"/>
          </p:nvPr>
        </p:nvSpPr>
        <p:spPr>
          <a:xfrm>
            <a:off x="972600" y="2771833"/>
            <a:ext cx="10251600" cy="3014800"/>
          </a:xfrm>
          <a:prstGeom prst="rect">
            <a:avLst/>
          </a:prstGeom>
          <a:noFill/>
          <a:ln>
            <a:noFill/>
          </a:ln>
        </p:spPr>
        <p:txBody>
          <a:bodyPr spcFirstLastPara="1" wrap="square" lIns="91425" tIns="45700" rIns="91425" bIns="45700" anchor="t" anchorCtr="0">
            <a:noAutofit/>
          </a:bodyPr>
          <a:lstStyle>
            <a:lvl1pPr marL="609585" marR="0" lvl="0" indent="-423323" algn="l" rtl="0">
              <a:lnSpc>
                <a:spcPct val="125000"/>
              </a:lnSpc>
              <a:spcBef>
                <a:spcPts val="0"/>
              </a:spcBef>
              <a:spcAft>
                <a:spcPts val="0"/>
              </a:spcAft>
              <a:buClr>
                <a:srgbClr val="000000"/>
              </a:buClr>
              <a:buSzPts val="1400"/>
              <a:buFont typeface="Nunito Sans"/>
              <a:buChar char="•"/>
              <a:defRPr sz="1867" b="0" i="0" u="none" strike="noStrike" cap="none">
                <a:solidFill>
                  <a:srgbClr val="424242"/>
                </a:solidFill>
                <a:latin typeface="Nunito Sans"/>
                <a:ea typeface="Nunito Sans"/>
                <a:cs typeface="Nunito Sans"/>
                <a:sym typeface="Nunito Sans"/>
              </a:defRPr>
            </a:lvl1pPr>
            <a:lvl2pPr marL="1219170" marR="0" lvl="1"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2pPr>
            <a:lvl3pPr marL="1828754" marR="0" lvl="2"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3pPr>
            <a:lvl4pPr marL="2438339" marR="0" lvl="3"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4pPr>
            <a:lvl5pPr marL="3047924" marR="0" lvl="4"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5pPr>
            <a:lvl6pPr marL="3657509" marR="0" lvl="5"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6pPr>
            <a:lvl7pPr marL="4267093" marR="0" lvl="6"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7pPr>
            <a:lvl8pPr marL="4876678" marR="0" lvl="7"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8pPr>
            <a:lvl9pPr marL="5486263" marR="0" lvl="8" indent="-30479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9pPr>
          </a:lstStyle>
          <a:p>
            <a:endParaRPr/>
          </a:p>
        </p:txBody>
      </p:sp>
      <p:sp>
        <p:nvSpPr>
          <p:cNvPr id="24" name="Google Shape;24;p16"/>
          <p:cNvSpPr txBox="1"/>
          <p:nvPr/>
        </p:nvSpPr>
        <p:spPr>
          <a:xfrm>
            <a:off x="970635" y="287935"/>
            <a:ext cx="3379893" cy="307722"/>
          </a:xfrm>
          <a:prstGeom prst="rect">
            <a:avLst/>
          </a:prstGeom>
          <a:noFill/>
          <a:ln>
            <a:noFill/>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1200" b="0" i="0" u="none" strike="noStrike" cap="none">
                <a:solidFill>
                  <a:srgbClr val="7F7F7F"/>
                </a:solidFill>
                <a:latin typeface="Nunito Sans"/>
                <a:ea typeface="Nunito Sans"/>
                <a:cs typeface="Nunito Sans"/>
                <a:sym typeface="Nunito Sans"/>
              </a:rPr>
              <a:t>Tài liệu chứa thông tin cần được bảo mật</a:t>
            </a:r>
            <a:endParaRPr sz="1600" b="0" i="0" u="none" strike="noStrike" cap="none">
              <a:solidFill>
                <a:srgbClr val="7F7F7F"/>
              </a:solidFill>
              <a:latin typeface="Nunito Sans"/>
              <a:ea typeface="Nunito Sans"/>
              <a:cs typeface="Nunito Sans"/>
              <a:sym typeface="Nunito Sans"/>
            </a:endParaRPr>
          </a:p>
        </p:txBody>
      </p:sp>
    </p:spTree>
    <p:extLst>
      <p:ext uri="{BB962C8B-B14F-4D97-AF65-F5344CB8AC3E}">
        <p14:creationId xmlns:p14="http://schemas.microsoft.com/office/powerpoint/2010/main" val="2062928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7D0101-A94B-F11C-979D-B36A8A85D2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839871-5CF2-8885-5543-07361806D5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E303C-D3D8-89F8-D767-86B0150DE7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16A51-2582-416D-81F2-CF804742FC36}" type="datetimeFigureOut">
              <a:rPr lang="en-US" smtClean="0"/>
              <a:t>11/18/2025</a:t>
            </a:fld>
            <a:endParaRPr lang="en-US"/>
          </a:p>
        </p:txBody>
      </p:sp>
      <p:sp>
        <p:nvSpPr>
          <p:cNvPr id="5" name="Footer Placeholder 4">
            <a:extLst>
              <a:ext uri="{FF2B5EF4-FFF2-40B4-BE49-F238E27FC236}">
                <a16:creationId xmlns:a16="http://schemas.microsoft.com/office/drawing/2014/main" id="{33186154-0039-31D1-37CE-AF7D50C70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52D595-016D-3807-27FF-4A703DCE1B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75B6BC-9C49-41B2-9C02-0F605165F473}" type="slidenum">
              <a:rPr lang="en-US" smtClean="0"/>
              <a:t>‹#›</a:t>
            </a:fld>
            <a:endParaRPr lang="en-US"/>
          </a:p>
        </p:txBody>
      </p:sp>
    </p:spTree>
    <p:extLst>
      <p:ext uri="{BB962C8B-B14F-4D97-AF65-F5344CB8AC3E}">
        <p14:creationId xmlns:p14="http://schemas.microsoft.com/office/powerpoint/2010/main" val="3417650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hyperlink" Target="https://youtu.be/IO_95kABXNQ" TargetMode="Externa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microsoft.com/office/2018/10/relationships/comments" Target="../comments/modernComment_106_BE38E78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Building the digital world. Together.">
            <a:extLst>
              <a:ext uri="{FF2B5EF4-FFF2-40B4-BE49-F238E27FC236}">
                <a16:creationId xmlns:a16="http://schemas.microsoft.com/office/drawing/2014/main" id="{9E145420-5CE1-D0C6-3A47-506A7E433AA4}"/>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B520925-2CA3-C98C-4407-EBDE2DE267C0}"/>
              </a:ext>
            </a:extLst>
          </p:cNvPr>
          <p:cNvSpPr/>
          <p:nvPr/>
        </p:nvSpPr>
        <p:spPr>
          <a:xfrm>
            <a:off x="-1" y="2769420"/>
            <a:ext cx="12192000" cy="29464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0CA8B61-4732-E5C0-C387-C62253CF01C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4990" y="3605011"/>
            <a:ext cx="2805797" cy="992001"/>
          </a:xfrm>
          <a:prstGeom prst="rect">
            <a:avLst/>
          </a:prstGeom>
        </p:spPr>
      </p:pic>
      <p:sp>
        <p:nvSpPr>
          <p:cNvPr id="7" name="TextBox 6">
            <a:extLst>
              <a:ext uri="{FF2B5EF4-FFF2-40B4-BE49-F238E27FC236}">
                <a16:creationId xmlns:a16="http://schemas.microsoft.com/office/drawing/2014/main" id="{990D7FF0-1C98-CB57-ED62-CF065E8FEF37}"/>
              </a:ext>
            </a:extLst>
          </p:cNvPr>
          <p:cNvSpPr txBox="1"/>
          <p:nvPr/>
        </p:nvSpPr>
        <p:spPr>
          <a:xfrm>
            <a:off x="3813606" y="3759828"/>
            <a:ext cx="7713404" cy="523220"/>
          </a:xfrm>
          <a:prstGeom prst="rect">
            <a:avLst/>
          </a:prstGeom>
          <a:noFill/>
        </p:spPr>
        <p:txBody>
          <a:bodyPr wrap="square" rtlCol="0">
            <a:spAutoFit/>
          </a:bodyPr>
          <a:lstStyle/>
          <a:p>
            <a:r>
              <a:rPr lang="vi-VN" sz="2800" b="1" dirty="0">
                <a:solidFill>
                  <a:schemeClr val="tx2"/>
                </a:solidFill>
              </a:rPr>
              <a:t>Sản phẩm Camera đeo người MobiSecure</a:t>
            </a:r>
            <a:endParaRPr lang="en-US" sz="2800" b="1" dirty="0">
              <a:solidFill>
                <a:schemeClr val="tx2"/>
              </a:solidFill>
            </a:endParaRPr>
          </a:p>
        </p:txBody>
      </p:sp>
      <p:pic>
        <p:nvPicPr>
          <p:cNvPr id="8" name="Picture 7">
            <a:extLst>
              <a:ext uri="{FF2B5EF4-FFF2-40B4-BE49-F238E27FC236}">
                <a16:creationId xmlns:a16="http://schemas.microsoft.com/office/drawing/2014/main" id="{F44B1D82-C8FE-1588-2728-493FD191349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68909" y="357194"/>
            <a:ext cx="1790997" cy="633214"/>
          </a:xfrm>
          <a:prstGeom prst="rect">
            <a:avLst/>
          </a:prstGeom>
        </p:spPr>
      </p:pic>
    </p:spTree>
    <p:extLst>
      <p:ext uri="{BB962C8B-B14F-4D97-AF65-F5344CB8AC3E}">
        <p14:creationId xmlns:p14="http://schemas.microsoft.com/office/powerpoint/2010/main" val="3167219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 up of a logo&#10;&#10;AI-generated content may be incorrect.">
            <a:extLst>
              <a:ext uri="{FF2B5EF4-FFF2-40B4-BE49-F238E27FC236}">
                <a16:creationId xmlns:a16="http://schemas.microsoft.com/office/drawing/2014/main" id="{2D60F42C-DD8B-C56D-67A2-30F499E7BFA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121460" y="136477"/>
            <a:ext cx="1790997" cy="633214"/>
          </a:xfrm>
          <a:prstGeom prst="rect">
            <a:avLst/>
          </a:prstGeom>
        </p:spPr>
      </p:pic>
      <p:sp>
        <p:nvSpPr>
          <p:cNvPr id="3" name="TextBox 2">
            <a:extLst>
              <a:ext uri="{FF2B5EF4-FFF2-40B4-BE49-F238E27FC236}">
                <a16:creationId xmlns:a16="http://schemas.microsoft.com/office/drawing/2014/main" id="{7A68F65B-2180-D59A-C80F-967528231D5C}"/>
              </a:ext>
            </a:extLst>
          </p:cNvPr>
          <p:cNvSpPr txBox="1"/>
          <p:nvPr/>
        </p:nvSpPr>
        <p:spPr>
          <a:xfrm>
            <a:off x="592170" y="782121"/>
            <a:ext cx="7480113" cy="5293757"/>
          </a:xfrm>
          <a:prstGeom prst="rect">
            <a:avLst/>
          </a:prstGeom>
          <a:noFill/>
        </p:spPr>
        <p:txBody>
          <a:bodyPr wrap="square" rtlCol="0">
            <a:spAutoFit/>
          </a:bodyPr>
          <a:lstStyle/>
          <a:p>
            <a:r>
              <a:rPr lang="vi-VN" sz="2500" b="1" dirty="0">
                <a:latin typeface="Nunito Sans" pitchFamily="2" charset="0"/>
              </a:rPr>
              <a:t>Giải pháp Body-Worn Camera trong thực tế</a:t>
            </a:r>
          </a:p>
          <a:p>
            <a:endParaRPr lang="vi-VN" sz="2500" b="1" dirty="0">
              <a:latin typeface="Nunito Sans" pitchFamily="2" charset="0"/>
            </a:endParaRPr>
          </a:p>
          <a:p>
            <a:r>
              <a:rPr lang="vi-VN" b="1" dirty="0">
                <a:latin typeface="Nunito Sans" pitchFamily="2" charset="0"/>
              </a:rPr>
              <a:t>1. Thực thi pháp luật &amp; an ninh</a:t>
            </a:r>
            <a:r>
              <a:rPr lang="vi-VN" dirty="0">
                <a:latin typeface="Nunito Sans" pitchFamily="2" charset="0"/>
              </a:rPr>
              <a:t/>
            </a:r>
            <a:br>
              <a:rPr lang="vi-VN" dirty="0">
                <a:latin typeface="Nunito Sans" pitchFamily="2" charset="0"/>
              </a:rPr>
            </a:br>
            <a:r>
              <a:rPr lang="vi-VN" dirty="0">
                <a:latin typeface="Nunito Sans" pitchFamily="2" charset="0"/>
              </a:rPr>
              <a:t>→ Ghi nhận bằng chứng trực quan, nâng cao tính minh bạch và hỗ trợ công tác điều tra.</a:t>
            </a:r>
          </a:p>
          <a:p>
            <a:r>
              <a:rPr lang="vi-VN" b="1" dirty="0">
                <a:latin typeface="Nunito Sans" pitchFamily="2" charset="0"/>
              </a:rPr>
              <a:t>2. Giám sát &amp; an toàn công nghiệp</a:t>
            </a:r>
            <a:r>
              <a:rPr lang="vi-VN" dirty="0">
                <a:latin typeface="Nunito Sans" pitchFamily="2" charset="0"/>
              </a:rPr>
              <a:t/>
            </a:r>
            <a:br>
              <a:rPr lang="vi-VN" dirty="0">
                <a:latin typeface="Nunito Sans" pitchFamily="2" charset="0"/>
              </a:rPr>
            </a:br>
            <a:r>
              <a:rPr lang="vi-VN" dirty="0">
                <a:latin typeface="Nunito Sans" pitchFamily="2" charset="0"/>
              </a:rPr>
              <a:t>→ Theo dõi hiện trường theo thời gian thực, giảm rủi ro và đảm bảo tuân thủ quy trình an toàn.</a:t>
            </a:r>
          </a:p>
          <a:p>
            <a:r>
              <a:rPr lang="vi-VN" b="1" dirty="0">
                <a:latin typeface="Nunito Sans" pitchFamily="2" charset="0"/>
              </a:rPr>
              <a:t>3. Cấp cứu &amp; y tế</a:t>
            </a:r>
            <a:r>
              <a:rPr lang="vi-VN" dirty="0">
                <a:latin typeface="Nunito Sans" pitchFamily="2" charset="0"/>
              </a:rPr>
              <a:t/>
            </a:r>
            <a:br>
              <a:rPr lang="vi-VN" dirty="0">
                <a:latin typeface="Nunito Sans" pitchFamily="2" charset="0"/>
              </a:rPr>
            </a:br>
            <a:r>
              <a:rPr lang="vi-VN" dirty="0">
                <a:latin typeface="Nunito Sans" pitchFamily="2" charset="0"/>
              </a:rPr>
              <a:t>→ Hỗ trợ ghi hình và truyền dữ liệu trong tình huống khẩn cấp, phục vụ đào tạo và xử lý hiệu quả.</a:t>
            </a:r>
          </a:p>
          <a:p>
            <a:r>
              <a:rPr lang="vi-VN" b="1" dirty="0">
                <a:latin typeface="Nunito Sans" pitchFamily="2" charset="0"/>
              </a:rPr>
              <a:t>4. Dịch vụ bảo vệ &amp; sự kiện</a:t>
            </a:r>
            <a:r>
              <a:rPr lang="vi-VN" dirty="0">
                <a:latin typeface="Nunito Sans" pitchFamily="2" charset="0"/>
              </a:rPr>
              <a:t/>
            </a:r>
            <a:br>
              <a:rPr lang="vi-VN" dirty="0">
                <a:latin typeface="Nunito Sans" pitchFamily="2" charset="0"/>
              </a:rPr>
            </a:br>
            <a:r>
              <a:rPr lang="vi-VN" dirty="0">
                <a:latin typeface="Nunito Sans" pitchFamily="2" charset="0"/>
              </a:rPr>
              <a:t>→ Tăng cường giám sát, đảm bảo trật tự và hỗ trợ xử lý tình huống nhanh chóng.</a:t>
            </a:r>
          </a:p>
          <a:p>
            <a:r>
              <a:rPr lang="vi-VN" b="1" dirty="0">
                <a:latin typeface="Nunito Sans" pitchFamily="2" charset="0"/>
              </a:rPr>
              <a:t>5. Bảo trì &amp; hỗ trợ kỹ thuật hiện trường</a:t>
            </a:r>
            <a:r>
              <a:rPr lang="vi-VN" dirty="0">
                <a:latin typeface="Nunito Sans" pitchFamily="2" charset="0"/>
              </a:rPr>
              <a:t/>
            </a:r>
            <a:br>
              <a:rPr lang="vi-VN" dirty="0">
                <a:latin typeface="Nunito Sans" pitchFamily="2" charset="0"/>
              </a:rPr>
            </a:br>
            <a:r>
              <a:rPr lang="vi-VN" dirty="0">
                <a:latin typeface="Nunito Sans" pitchFamily="2" charset="0"/>
              </a:rPr>
              <a:t>→ Ghi nhận quy trình làm việc, hỗ trợ hướng dẫn từ xa và nâng cao hiệu quả bảo trì.</a:t>
            </a:r>
          </a:p>
          <a:p>
            <a:endParaRPr lang="en-US" dirty="0">
              <a:latin typeface="Nunito Sans" pitchFamily="2" charset="0"/>
            </a:endParaRPr>
          </a:p>
        </p:txBody>
      </p:sp>
      <p:sp>
        <p:nvSpPr>
          <p:cNvPr id="4" name="AutoShape 2">
            <a:extLst>
              <a:ext uri="{FF2B5EF4-FFF2-40B4-BE49-F238E27FC236}">
                <a16:creationId xmlns:a16="http://schemas.microsoft.com/office/drawing/2014/main" id="{5D627B18-C169-0041-B1EB-850A9373769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9164" y="1761993"/>
            <a:ext cx="3646523" cy="3638813"/>
          </a:xfrm>
          <a:prstGeom prst="rect">
            <a:avLst/>
          </a:prstGeom>
        </p:spPr>
      </p:pic>
    </p:spTree>
    <p:extLst>
      <p:ext uri="{BB962C8B-B14F-4D97-AF65-F5344CB8AC3E}">
        <p14:creationId xmlns:p14="http://schemas.microsoft.com/office/powerpoint/2010/main" val="1708144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2"/>
          <p:cNvSpPr txBox="1">
            <a:spLocks noGrp="1"/>
          </p:cNvSpPr>
          <p:nvPr>
            <p:ph type="sldNum" idx="12"/>
          </p:nvPr>
        </p:nvSpPr>
        <p:spPr>
          <a:xfrm>
            <a:off x="11381736" y="6333135"/>
            <a:ext cx="731600" cy="524800"/>
          </a:xfrm>
          <a:prstGeom prst="rect">
            <a:avLst/>
          </a:prstGeom>
          <a:noFill/>
          <a:ln>
            <a:noFill/>
          </a:ln>
        </p:spPr>
        <p:txBody>
          <a:bodyPr spcFirstLastPara="1" vert="horz" wrap="square" lIns="121900" tIns="121900" rIns="121900" bIns="121900" rtlCol="0" anchor="ctr" anchorCtr="0">
            <a:noAutofit/>
          </a:bodyPr>
          <a:lstStyle/>
          <a:p>
            <a:fld id="{00000000-1234-1234-1234-123412341234}" type="slidenum">
              <a:rPr>
                <a:latin typeface="Nunito Sans" pitchFamily="2" charset="0"/>
              </a:rPr>
              <a:pPr/>
              <a:t>3</a:t>
            </a:fld>
            <a:endParaRPr>
              <a:latin typeface="Nunito Sans" pitchFamily="2" charset="0"/>
            </a:endParaRPr>
          </a:p>
        </p:txBody>
      </p:sp>
      <p:pic>
        <p:nvPicPr>
          <p:cNvPr id="49" name="Google Shape;49;p2"/>
          <p:cNvPicPr preferRelativeResize="0"/>
          <p:nvPr/>
        </p:nvPicPr>
        <p:blipFill rotWithShape="1">
          <a:blip r:embed="rId3">
            <a:alphaModFix/>
          </a:blip>
          <a:srcRect/>
          <a:stretch/>
        </p:blipFill>
        <p:spPr>
          <a:xfrm>
            <a:off x="7369542" y="1582746"/>
            <a:ext cx="2346620" cy="3861527"/>
          </a:xfrm>
          <a:prstGeom prst="rect">
            <a:avLst/>
          </a:prstGeom>
          <a:noFill/>
          <a:ln>
            <a:noFill/>
          </a:ln>
          <a:effectLst>
            <a:outerShdw blurRad="50800" dist="38100" dir="2700000" algn="tl" rotWithShape="0">
              <a:schemeClr val="lt1">
                <a:alpha val="40000"/>
              </a:schemeClr>
            </a:outerShdw>
          </a:effectLst>
        </p:spPr>
      </p:pic>
      <p:cxnSp>
        <p:nvCxnSpPr>
          <p:cNvPr id="51" name="Google Shape;51;p2"/>
          <p:cNvCxnSpPr/>
          <p:nvPr/>
        </p:nvCxnSpPr>
        <p:spPr>
          <a:xfrm rot="10800000">
            <a:off x="9526278" y="3852832"/>
            <a:ext cx="351239" cy="0"/>
          </a:xfrm>
          <a:prstGeom prst="straightConnector1">
            <a:avLst/>
          </a:prstGeom>
          <a:noFill/>
          <a:ln w="9525" cap="flat" cmpd="sng">
            <a:solidFill>
              <a:srgbClr val="EB5600"/>
            </a:solidFill>
            <a:prstDash val="solid"/>
            <a:round/>
            <a:headEnd type="none" w="sm" len="sm"/>
            <a:tailEnd type="oval" w="med" len="med"/>
          </a:ln>
        </p:spPr>
      </p:cxnSp>
      <p:cxnSp>
        <p:nvCxnSpPr>
          <p:cNvPr id="52" name="Google Shape;52;p2"/>
          <p:cNvCxnSpPr/>
          <p:nvPr/>
        </p:nvCxnSpPr>
        <p:spPr>
          <a:xfrm>
            <a:off x="8371735" y="935040"/>
            <a:ext cx="0" cy="1058979"/>
          </a:xfrm>
          <a:prstGeom prst="straightConnector1">
            <a:avLst/>
          </a:prstGeom>
          <a:noFill/>
          <a:ln w="9525" cap="flat" cmpd="sng">
            <a:solidFill>
              <a:srgbClr val="EB5600"/>
            </a:solidFill>
            <a:prstDash val="solid"/>
            <a:round/>
            <a:headEnd type="none" w="sm" len="sm"/>
            <a:tailEnd type="oval" w="med" len="med"/>
          </a:ln>
        </p:spPr>
      </p:cxnSp>
      <p:cxnSp>
        <p:nvCxnSpPr>
          <p:cNvPr id="53" name="Google Shape;53;p2"/>
          <p:cNvCxnSpPr/>
          <p:nvPr/>
        </p:nvCxnSpPr>
        <p:spPr>
          <a:xfrm>
            <a:off x="2278893" y="3301548"/>
            <a:ext cx="859976" cy="0"/>
          </a:xfrm>
          <a:prstGeom prst="straightConnector1">
            <a:avLst/>
          </a:prstGeom>
          <a:noFill/>
          <a:ln w="9525" cap="flat" cmpd="sng">
            <a:solidFill>
              <a:srgbClr val="EB5600"/>
            </a:solidFill>
            <a:prstDash val="solid"/>
            <a:round/>
            <a:headEnd type="none" w="sm" len="sm"/>
            <a:tailEnd type="oval" w="med" len="med"/>
          </a:ln>
        </p:spPr>
      </p:cxnSp>
      <p:cxnSp>
        <p:nvCxnSpPr>
          <p:cNvPr id="54" name="Google Shape;54;p2"/>
          <p:cNvCxnSpPr/>
          <p:nvPr/>
        </p:nvCxnSpPr>
        <p:spPr>
          <a:xfrm rot="10800000">
            <a:off x="4672469" y="3570695"/>
            <a:ext cx="394031" cy="0"/>
          </a:xfrm>
          <a:prstGeom prst="straightConnector1">
            <a:avLst/>
          </a:prstGeom>
          <a:noFill/>
          <a:ln w="9525" cap="flat" cmpd="sng">
            <a:solidFill>
              <a:srgbClr val="EB5600"/>
            </a:solidFill>
            <a:prstDash val="solid"/>
            <a:round/>
            <a:headEnd type="none" w="sm" len="sm"/>
            <a:tailEnd type="oval" w="med" len="med"/>
          </a:ln>
        </p:spPr>
      </p:cxnSp>
      <p:cxnSp>
        <p:nvCxnSpPr>
          <p:cNvPr id="55" name="Google Shape;55;p2"/>
          <p:cNvCxnSpPr/>
          <p:nvPr/>
        </p:nvCxnSpPr>
        <p:spPr>
          <a:xfrm rot="10800000">
            <a:off x="8813273" y="3164875"/>
            <a:ext cx="1064244" cy="0"/>
          </a:xfrm>
          <a:prstGeom prst="straightConnector1">
            <a:avLst/>
          </a:prstGeom>
          <a:noFill/>
          <a:ln w="9525" cap="flat" cmpd="sng">
            <a:solidFill>
              <a:srgbClr val="EB5600"/>
            </a:solidFill>
            <a:prstDash val="solid"/>
            <a:round/>
            <a:headEnd type="none" w="sm" len="sm"/>
            <a:tailEnd type="oval" w="med" len="med"/>
          </a:ln>
        </p:spPr>
      </p:cxnSp>
      <p:sp>
        <p:nvSpPr>
          <p:cNvPr id="56" name="Google Shape;56;p2"/>
          <p:cNvSpPr txBox="1"/>
          <p:nvPr/>
        </p:nvSpPr>
        <p:spPr>
          <a:xfrm>
            <a:off x="408530" y="3132275"/>
            <a:ext cx="1930645" cy="533297"/>
          </a:xfrm>
          <a:prstGeom prst="rect">
            <a:avLst/>
          </a:prstGeom>
          <a:noFill/>
          <a:ln>
            <a:noFill/>
          </a:ln>
        </p:spPr>
        <p:txBody>
          <a:bodyPr spcFirstLastPara="1" wrap="square" lIns="121900" tIns="60933" rIns="121900" bIns="60933" anchor="t" anchorCtr="0">
            <a:spAutoFit/>
          </a:bodyPr>
          <a:lstStyle/>
          <a:p>
            <a:pPr algn="r"/>
            <a:r>
              <a:rPr lang="en-US" sz="1333" dirty="0" err="1">
                <a:latin typeface="Nunito Sans" pitchFamily="2" charset="0"/>
              </a:rPr>
              <a:t>Ống</a:t>
            </a:r>
            <a:r>
              <a:rPr lang="en-US" sz="1333" dirty="0">
                <a:latin typeface="Nunito Sans" pitchFamily="2" charset="0"/>
              </a:rPr>
              <a:t> </a:t>
            </a:r>
            <a:r>
              <a:rPr lang="en-US" sz="1333" dirty="0" err="1">
                <a:latin typeface="Nunito Sans" pitchFamily="2" charset="0"/>
              </a:rPr>
              <a:t>kính</a:t>
            </a:r>
            <a:r>
              <a:rPr lang="en-US" sz="1333" dirty="0">
                <a:latin typeface="Nunito Sans" pitchFamily="2" charset="0"/>
              </a:rPr>
              <a:t> </a:t>
            </a:r>
            <a:r>
              <a:rPr lang="en-US" sz="1333" dirty="0" err="1">
                <a:latin typeface="Nunito Sans" pitchFamily="2" charset="0"/>
              </a:rPr>
              <a:t>góc</a:t>
            </a:r>
            <a:r>
              <a:rPr lang="en-US" sz="1333" dirty="0">
                <a:latin typeface="Nunito Sans" pitchFamily="2" charset="0"/>
              </a:rPr>
              <a:t> </a:t>
            </a:r>
            <a:r>
              <a:rPr lang="en-US" sz="1333" dirty="0" err="1">
                <a:latin typeface="Nunito Sans" pitchFamily="2" charset="0"/>
              </a:rPr>
              <a:t>rộng</a:t>
            </a:r>
            <a:r>
              <a:rPr lang="en-US" sz="1333" dirty="0">
                <a:latin typeface="Nunito Sans" pitchFamily="2" charset="0"/>
              </a:rPr>
              <a:t>, </a:t>
            </a:r>
            <a:r>
              <a:rPr lang="en-US" sz="1333" dirty="0" err="1">
                <a:latin typeface="Nunito Sans" pitchFamily="2" charset="0"/>
              </a:rPr>
              <a:t>độ</a:t>
            </a:r>
            <a:r>
              <a:rPr lang="en-US" sz="1333" dirty="0">
                <a:latin typeface="Nunito Sans" pitchFamily="2" charset="0"/>
              </a:rPr>
              <a:t> </a:t>
            </a:r>
            <a:r>
              <a:rPr lang="en-US" sz="1333" dirty="0" err="1">
                <a:latin typeface="Nunito Sans" pitchFamily="2" charset="0"/>
              </a:rPr>
              <a:t>nhạy</a:t>
            </a:r>
            <a:r>
              <a:rPr lang="en-US" sz="1333" dirty="0">
                <a:latin typeface="Nunito Sans" pitchFamily="2" charset="0"/>
              </a:rPr>
              <a:t> </a:t>
            </a:r>
            <a:r>
              <a:rPr lang="en-US" sz="1333" dirty="0" err="1">
                <a:latin typeface="Nunito Sans" pitchFamily="2" charset="0"/>
              </a:rPr>
              <a:t>cao</a:t>
            </a:r>
            <a:endParaRPr lang="en-US" sz="1333" dirty="0">
              <a:latin typeface="Nunito Sans" pitchFamily="2" charset="0"/>
            </a:endParaRPr>
          </a:p>
        </p:txBody>
      </p:sp>
      <p:sp>
        <p:nvSpPr>
          <p:cNvPr id="57" name="Google Shape;57;p2"/>
          <p:cNvSpPr txBox="1"/>
          <p:nvPr/>
        </p:nvSpPr>
        <p:spPr>
          <a:xfrm>
            <a:off x="331846" y="5789779"/>
            <a:ext cx="2026431" cy="738417"/>
          </a:xfrm>
          <a:prstGeom prst="rect">
            <a:avLst/>
          </a:prstGeom>
          <a:noFill/>
          <a:ln>
            <a:noFill/>
          </a:ln>
        </p:spPr>
        <p:txBody>
          <a:bodyPr spcFirstLastPara="1" wrap="square" lIns="121900" tIns="60933" rIns="121900" bIns="60933" anchor="t" anchorCtr="0">
            <a:spAutoFit/>
          </a:bodyPr>
          <a:lstStyle/>
          <a:p>
            <a:pPr algn="r"/>
            <a:r>
              <a:rPr lang="vi-VN" sz="1333" dirty="0">
                <a:latin typeface="Nunito Sans" pitchFamily="2" charset="0"/>
              </a:rPr>
              <a:t>Ăng-ten NFC đọc và xác thực căn cước công dân (CCCD).</a:t>
            </a:r>
          </a:p>
        </p:txBody>
      </p:sp>
      <p:cxnSp>
        <p:nvCxnSpPr>
          <p:cNvPr id="58" name="Google Shape;58;p2"/>
          <p:cNvCxnSpPr/>
          <p:nvPr/>
        </p:nvCxnSpPr>
        <p:spPr>
          <a:xfrm>
            <a:off x="2278893" y="5953771"/>
            <a:ext cx="859976" cy="0"/>
          </a:xfrm>
          <a:prstGeom prst="straightConnector1">
            <a:avLst/>
          </a:prstGeom>
          <a:noFill/>
          <a:ln w="9525" cap="flat" cmpd="sng">
            <a:solidFill>
              <a:srgbClr val="EB5600"/>
            </a:solidFill>
            <a:prstDash val="solid"/>
            <a:round/>
            <a:headEnd type="none" w="sm" len="sm"/>
            <a:tailEnd type="oval" w="med" len="med"/>
          </a:ln>
        </p:spPr>
      </p:cxnSp>
      <p:cxnSp>
        <p:nvCxnSpPr>
          <p:cNvPr id="59" name="Google Shape;59;p2"/>
          <p:cNvCxnSpPr/>
          <p:nvPr/>
        </p:nvCxnSpPr>
        <p:spPr>
          <a:xfrm rot="10800000">
            <a:off x="8228559" y="5350451"/>
            <a:ext cx="0" cy="572301"/>
          </a:xfrm>
          <a:prstGeom prst="straightConnector1">
            <a:avLst/>
          </a:prstGeom>
          <a:noFill/>
          <a:ln w="9525" cap="flat" cmpd="sng">
            <a:solidFill>
              <a:srgbClr val="EB5600"/>
            </a:solidFill>
            <a:prstDash val="solid"/>
            <a:round/>
            <a:headEnd type="none" w="sm" len="sm"/>
            <a:tailEnd type="triangle" w="med" len="med"/>
          </a:ln>
        </p:spPr>
      </p:cxnSp>
      <p:cxnSp>
        <p:nvCxnSpPr>
          <p:cNvPr id="60" name="Google Shape;60;p2"/>
          <p:cNvCxnSpPr/>
          <p:nvPr/>
        </p:nvCxnSpPr>
        <p:spPr>
          <a:xfrm>
            <a:off x="3945628" y="1928906"/>
            <a:ext cx="0" cy="794113"/>
          </a:xfrm>
          <a:prstGeom prst="straightConnector1">
            <a:avLst/>
          </a:prstGeom>
          <a:noFill/>
          <a:ln w="9525" cap="flat" cmpd="sng">
            <a:solidFill>
              <a:srgbClr val="EB5600"/>
            </a:solidFill>
            <a:prstDash val="solid"/>
            <a:round/>
            <a:headEnd type="none" w="sm" len="sm"/>
            <a:tailEnd type="oval" w="med" len="med"/>
          </a:ln>
        </p:spPr>
      </p:cxnSp>
      <p:sp>
        <p:nvSpPr>
          <p:cNvPr id="61" name="Google Shape;61;p2"/>
          <p:cNvSpPr txBox="1"/>
          <p:nvPr/>
        </p:nvSpPr>
        <p:spPr>
          <a:xfrm>
            <a:off x="3909344" y="1802668"/>
            <a:ext cx="3353764" cy="533297"/>
          </a:xfrm>
          <a:prstGeom prst="rect">
            <a:avLst/>
          </a:prstGeom>
          <a:noFill/>
          <a:ln>
            <a:noFill/>
          </a:ln>
        </p:spPr>
        <p:txBody>
          <a:bodyPr spcFirstLastPara="1" wrap="square" lIns="121900" tIns="60933" rIns="121900" bIns="60933" anchor="t" anchorCtr="0">
            <a:spAutoFit/>
          </a:bodyPr>
          <a:lstStyle/>
          <a:p>
            <a:r>
              <a:rPr lang="vi-VN" sz="1333" dirty="0">
                <a:latin typeface="Nunito Sans" pitchFamily="2" charset="0"/>
              </a:rPr>
              <a:t>Công nghệ đúc PC &amp; TPU chống sốc và chống nước.</a:t>
            </a:r>
          </a:p>
        </p:txBody>
      </p:sp>
      <p:sp>
        <p:nvSpPr>
          <p:cNvPr id="62" name="Google Shape;62;p2"/>
          <p:cNvSpPr txBox="1"/>
          <p:nvPr/>
        </p:nvSpPr>
        <p:spPr>
          <a:xfrm>
            <a:off x="7570270" y="880430"/>
            <a:ext cx="4404247" cy="533297"/>
          </a:xfrm>
          <a:prstGeom prst="rect">
            <a:avLst/>
          </a:prstGeom>
          <a:noFill/>
          <a:ln>
            <a:noFill/>
          </a:ln>
        </p:spPr>
        <p:txBody>
          <a:bodyPr spcFirstLastPara="1" wrap="square" lIns="121900" tIns="60933" rIns="121900" bIns="60933" anchor="t" anchorCtr="0">
            <a:spAutoFit/>
          </a:bodyPr>
          <a:lstStyle/>
          <a:p>
            <a:pPr lvl="0" algn="r"/>
            <a:r>
              <a:rPr lang="en-US" sz="1333" b="1" dirty="0" err="1">
                <a:latin typeface="Nunito Sans" pitchFamily="2" charset="0"/>
              </a:rPr>
              <a:t>Tháo</a:t>
            </a:r>
            <a:r>
              <a:rPr lang="en-US" sz="1333" b="1" dirty="0">
                <a:latin typeface="Nunito Sans" pitchFamily="2" charset="0"/>
              </a:rPr>
              <a:t> </a:t>
            </a:r>
            <a:r>
              <a:rPr lang="en-US" sz="1333" b="1" dirty="0" err="1">
                <a:latin typeface="Nunito Sans" pitchFamily="2" charset="0"/>
              </a:rPr>
              <a:t>lắp</a:t>
            </a:r>
            <a:r>
              <a:rPr lang="en-US" sz="1333" b="1" dirty="0">
                <a:latin typeface="Nunito Sans" pitchFamily="2" charset="0"/>
              </a:rPr>
              <a:t> </a:t>
            </a:r>
            <a:r>
              <a:rPr lang="en-US" sz="1333" b="1" dirty="0" err="1">
                <a:latin typeface="Nunito Sans" pitchFamily="2" charset="0"/>
              </a:rPr>
              <a:t>nhanh</a:t>
            </a:r>
            <a:r>
              <a:rPr lang="en-US" sz="1333" dirty="0">
                <a:latin typeface="Nunito Sans" pitchFamily="2" charset="0"/>
              </a:rPr>
              <a:t/>
            </a:r>
            <a:br>
              <a:rPr lang="en-US" sz="1333" dirty="0">
                <a:latin typeface="Nunito Sans" pitchFamily="2" charset="0"/>
              </a:rPr>
            </a:br>
            <a:r>
              <a:rPr lang="en-US" sz="1333" dirty="0" err="1">
                <a:latin typeface="Nunito Sans" pitchFamily="2" charset="0"/>
              </a:rPr>
              <a:t>Trên</a:t>
            </a:r>
            <a:r>
              <a:rPr lang="en-US" sz="1333" dirty="0">
                <a:latin typeface="Nunito Sans" pitchFamily="2" charset="0"/>
              </a:rPr>
              <a:t> </a:t>
            </a:r>
            <a:r>
              <a:rPr lang="en-US" sz="1333" dirty="0" err="1">
                <a:latin typeface="Nunito Sans" pitchFamily="2" charset="0"/>
              </a:rPr>
              <a:t>miếng</a:t>
            </a:r>
            <a:r>
              <a:rPr lang="en-US" sz="1333" dirty="0">
                <a:latin typeface="Nunito Sans" pitchFamily="2" charset="0"/>
              </a:rPr>
              <a:t> </a:t>
            </a:r>
            <a:r>
              <a:rPr lang="en-US" sz="1333" dirty="0" err="1">
                <a:latin typeface="Nunito Sans" pitchFamily="2" charset="0"/>
              </a:rPr>
              <a:t>đệm</a:t>
            </a:r>
            <a:r>
              <a:rPr lang="en-US" sz="1333" dirty="0">
                <a:latin typeface="Nunito Sans" pitchFamily="2" charset="0"/>
              </a:rPr>
              <a:t> </a:t>
            </a:r>
            <a:r>
              <a:rPr lang="en-US" sz="1333" dirty="0" err="1">
                <a:latin typeface="Nunito Sans" pitchFamily="2" charset="0"/>
              </a:rPr>
              <a:t>vai</a:t>
            </a:r>
            <a:r>
              <a:rPr lang="en-US" sz="1333" dirty="0">
                <a:latin typeface="Nunito Sans" pitchFamily="2" charset="0"/>
              </a:rPr>
              <a:t>, </a:t>
            </a:r>
            <a:r>
              <a:rPr lang="en-US" sz="1333" dirty="0" err="1">
                <a:latin typeface="Nunito Sans" pitchFamily="2" charset="0"/>
              </a:rPr>
              <a:t>áo</a:t>
            </a:r>
            <a:r>
              <a:rPr lang="en-US" sz="1333" dirty="0">
                <a:latin typeface="Nunito Sans" pitchFamily="2" charset="0"/>
              </a:rPr>
              <a:t> </a:t>
            </a:r>
            <a:r>
              <a:rPr lang="en-US" sz="1333" dirty="0" err="1">
                <a:latin typeface="Nunito Sans" pitchFamily="2" charset="0"/>
              </a:rPr>
              <a:t>giáp</a:t>
            </a:r>
            <a:r>
              <a:rPr lang="en-US" sz="1333" dirty="0">
                <a:latin typeface="Nunito Sans" pitchFamily="2" charset="0"/>
              </a:rPr>
              <a:t>, </a:t>
            </a:r>
            <a:r>
              <a:rPr lang="en-US" sz="1333" dirty="0" err="1">
                <a:latin typeface="Nunito Sans" pitchFamily="2" charset="0"/>
              </a:rPr>
              <a:t>mũ</a:t>
            </a:r>
            <a:r>
              <a:rPr lang="en-US" sz="1333" dirty="0">
                <a:latin typeface="Nunito Sans" pitchFamily="2" charset="0"/>
              </a:rPr>
              <a:t>, ô </a:t>
            </a:r>
            <a:r>
              <a:rPr lang="en-US" sz="1333" dirty="0" err="1">
                <a:latin typeface="Nunito Sans" pitchFamily="2" charset="0"/>
              </a:rPr>
              <a:t>tô</a:t>
            </a:r>
            <a:r>
              <a:rPr lang="en-US" sz="1333" dirty="0">
                <a:latin typeface="Nunito Sans" pitchFamily="2" charset="0"/>
              </a:rPr>
              <a:t>, </a:t>
            </a:r>
            <a:r>
              <a:rPr lang="en-US" sz="1333" dirty="0" err="1">
                <a:latin typeface="Nunito Sans" pitchFamily="2" charset="0"/>
              </a:rPr>
              <a:t>xe</a:t>
            </a:r>
            <a:r>
              <a:rPr lang="en-US" sz="1333" dirty="0">
                <a:latin typeface="Nunito Sans" pitchFamily="2" charset="0"/>
              </a:rPr>
              <a:t> </a:t>
            </a:r>
            <a:r>
              <a:rPr lang="en-US" sz="1333" dirty="0" err="1">
                <a:latin typeface="Nunito Sans" pitchFamily="2" charset="0"/>
              </a:rPr>
              <a:t>máy</a:t>
            </a:r>
            <a:r>
              <a:rPr lang="en-US" sz="1333" dirty="0">
                <a:latin typeface="Nunito Sans" pitchFamily="2" charset="0"/>
              </a:rPr>
              <a:t>.</a:t>
            </a:r>
            <a:endParaRPr sz="1200" dirty="0">
              <a:solidFill>
                <a:srgbClr val="424242"/>
              </a:solidFill>
              <a:latin typeface="Nunito Sans" pitchFamily="2" charset="0"/>
              <a:ea typeface="Nunito Sans"/>
              <a:cs typeface="Nunito Sans"/>
              <a:sym typeface="Nunito Sans"/>
            </a:endParaRPr>
          </a:p>
        </p:txBody>
      </p:sp>
      <p:sp>
        <p:nvSpPr>
          <p:cNvPr id="63" name="Google Shape;63;p2"/>
          <p:cNvSpPr txBox="1"/>
          <p:nvPr/>
        </p:nvSpPr>
        <p:spPr>
          <a:xfrm>
            <a:off x="9822596" y="3721927"/>
            <a:ext cx="2151921" cy="533297"/>
          </a:xfrm>
          <a:prstGeom prst="rect">
            <a:avLst/>
          </a:prstGeom>
          <a:noFill/>
          <a:ln>
            <a:noFill/>
          </a:ln>
        </p:spPr>
        <p:txBody>
          <a:bodyPr spcFirstLastPara="1" wrap="square" lIns="121900" tIns="60933" rIns="121900" bIns="60933" anchor="t" anchorCtr="0">
            <a:spAutoFit/>
          </a:bodyPr>
          <a:lstStyle/>
          <a:p>
            <a:r>
              <a:rPr lang="en-US" sz="1333" dirty="0" err="1">
                <a:latin typeface="Nunito Sans" pitchFamily="2" charset="0"/>
              </a:rPr>
              <a:t>Phím</a:t>
            </a:r>
            <a:r>
              <a:rPr lang="en-US" sz="1333" dirty="0">
                <a:latin typeface="Nunito Sans" pitchFamily="2" charset="0"/>
              </a:rPr>
              <a:t> quay video — </a:t>
            </a:r>
            <a:r>
              <a:rPr lang="en-US" sz="1333" dirty="0" err="1">
                <a:latin typeface="Nunito Sans" pitchFamily="2" charset="0"/>
              </a:rPr>
              <a:t>tiện</a:t>
            </a:r>
            <a:r>
              <a:rPr lang="en-US" sz="1333" dirty="0">
                <a:latin typeface="Nunito Sans" pitchFamily="2" charset="0"/>
              </a:rPr>
              <a:t> </a:t>
            </a:r>
            <a:r>
              <a:rPr lang="en-US" sz="1333" dirty="0" err="1">
                <a:latin typeface="Nunito Sans" pitchFamily="2" charset="0"/>
              </a:rPr>
              <a:t>lợi</a:t>
            </a:r>
            <a:r>
              <a:rPr lang="en-US" sz="1333" dirty="0">
                <a:latin typeface="Nunito Sans" pitchFamily="2" charset="0"/>
              </a:rPr>
              <a:t> </a:t>
            </a:r>
            <a:r>
              <a:rPr lang="en-US" sz="1333" dirty="0" err="1">
                <a:latin typeface="Nunito Sans" pitchFamily="2" charset="0"/>
              </a:rPr>
              <a:t>và</a:t>
            </a:r>
            <a:r>
              <a:rPr lang="en-US" sz="1333" dirty="0">
                <a:latin typeface="Nunito Sans" pitchFamily="2" charset="0"/>
              </a:rPr>
              <a:t> </a:t>
            </a:r>
            <a:r>
              <a:rPr lang="en-US" sz="1333" dirty="0" err="1">
                <a:latin typeface="Nunito Sans" pitchFamily="2" charset="0"/>
              </a:rPr>
              <a:t>đáng</a:t>
            </a:r>
            <a:r>
              <a:rPr lang="en-US" sz="1333" dirty="0">
                <a:latin typeface="Nunito Sans" pitchFamily="2" charset="0"/>
              </a:rPr>
              <a:t> tin </a:t>
            </a:r>
            <a:r>
              <a:rPr lang="en-US" sz="1333" dirty="0" err="1">
                <a:latin typeface="Nunito Sans" pitchFamily="2" charset="0"/>
              </a:rPr>
              <a:t>cậy</a:t>
            </a:r>
            <a:r>
              <a:rPr lang="en-US" sz="1333" dirty="0">
                <a:latin typeface="Nunito Sans" pitchFamily="2" charset="0"/>
              </a:rPr>
              <a:t>.</a:t>
            </a:r>
          </a:p>
        </p:txBody>
      </p:sp>
      <p:sp>
        <p:nvSpPr>
          <p:cNvPr id="64" name="Google Shape;64;p2"/>
          <p:cNvSpPr txBox="1"/>
          <p:nvPr/>
        </p:nvSpPr>
        <p:spPr>
          <a:xfrm>
            <a:off x="9822596" y="3014641"/>
            <a:ext cx="2151921" cy="738417"/>
          </a:xfrm>
          <a:prstGeom prst="rect">
            <a:avLst/>
          </a:prstGeom>
          <a:noFill/>
          <a:ln>
            <a:noFill/>
          </a:ln>
        </p:spPr>
        <p:txBody>
          <a:bodyPr spcFirstLastPara="1" wrap="square" lIns="121900" tIns="60933" rIns="121900" bIns="60933" anchor="t" anchorCtr="0">
            <a:spAutoFit/>
          </a:bodyPr>
          <a:lstStyle/>
          <a:p>
            <a:r>
              <a:rPr lang="en-US" sz="1333" dirty="0" err="1">
                <a:latin typeface="Nunito Sans" pitchFamily="2" charset="0"/>
              </a:rPr>
              <a:t>Màn</a:t>
            </a:r>
            <a:r>
              <a:rPr lang="en-US" sz="1333" dirty="0">
                <a:latin typeface="Nunito Sans" pitchFamily="2" charset="0"/>
              </a:rPr>
              <a:t> </a:t>
            </a:r>
            <a:r>
              <a:rPr lang="en-US" sz="1333" dirty="0" err="1">
                <a:latin typeface="Nunito Sans" pitchFamily="2" charset="0"/>
              </a:rPr>
              <a:t>hình</a:t>
            </a:r>
            <a:r>
              <a:rPr lang="en-US" sz="1333" dirty="0">
                <a:latin typeface="Nunito Sans" pitchFamily="2" charset="0"/>
              </a:rPr>
              <a:t> 2 inch — </a:t>
            </a:r>
            <a:r>
              <a:rPr lang="en-US" sz="1333" dirty="0" err="1">
                <a:latin typeface="Nunito Sans" pitchFamily="2" charset="0"/>
              </a:rPr>
              <a:t>độ</a:t>
            </a:r>
            <a:r>
              <a:rPr lang="en-US" sz="1333" dirty="0">
                <a:latin typeface="Nunito Sans" pitchFamily="2" charset="0"/>
              </a:rPr>
              <a:t> </a:t>
            </a:r>
            <a:r>
              <a:rPr lang="en-US" sz="1333" dirty="0" err="1">
                <a:latin typeface="Nunito Sans" pitchFamily="2" charset="0"/>
              </a:rPr>
              <a:t>sáng</a:t>
            </a:r>
            <a:r>
              <a:rPr lang="en-US" sz="1333" dirty="0">
                <a:latin typeface="Nunito Sans" pitchFamily="2" charset="0"/>
              </a:rPr>
              <a:t> </a:t>
            </a:r>
            <a:r>
              <a:rPr lang="en-US" sz="1333" dirty="0" err="1">
                <a:latin typeface="Nunito Sans" pitchFamily="2" charset="0"/>
              </a:rPr>
              <a:t>cao</a:t>
            </a:r>
            <a:r>
              <a:rPr lang="en-US" sz="1333" dirty="0">
                <a:latin typeface="Nunito Sans" pitchFamily="2" charset="0"/>
              </a:rPr>
              <a:t> </a:t>
            </a:r>
            <a:r>
              <a:rPr lang="en-US" sz="1333" dirty="0" err="1">
                <a:latin typeface="Nunito Sans" pitchFamily="2" charset="0"/>
              </a:rPr>
              <a:t>và</a:t>
            </a:r>
            <a:r>
              <a:rPr lang="en-US" sz="1333" dirty="0">
                <a:latin typeface="Nunito Sans" pitchFamily="2" charset="0"/>
              </a:rPr>
              <a:t> </a:t>
            </a:r>
            <a:r>
              <a:rPr lang="en-US" sz="1333" dirty="0" err="1">
                <a:latin typeface="Nunito Sans" pitchFamily="2" charset="0"/>
              </a:rPr>
              <a:t>hiển</a:t>
            </a:r>
            <a:r>
              <a:rPr lang="en-US" sz="1333" dirty="0">
                <a:latin typeface="Nunito Sans" pitchFamily="2" charset="0"/>
              </a:rPr>
              <a:t> </a:t>
            </a:r>
            <a:r>
              <a:rPr lang="en-US" sz="1333" dirty="0" err="1">
                <a:latin typeface="Nunito Sans" pitchFamily="2" charset="0"/>
              </a:rPr>
              <a:t>thị</a:t>
            </a:r>
            <a:r>
              <a:rPr lang="en-US" sz="1333" dirty="0">
                <a:latin typeface="Nunito Sans" pitchFamily="2" charset="0"/>
              </a:rPr>
              <a:t> </a:t>
            </a:r>
            <a:r>
              <a:rPr lang="en-US" sz="1333" dirty="0" err="1">
                <a:latin typeface="Nunito Sans" pitchFamily="2" charset="0"/>
              </a:rPr>
              <a:t>sắc</a:t>
            </a:r>
            <a:r>
              <a:rPr lang="en-US" sz="1333" dirty="0">
                <a:latin typeface="Nunito Sans" pitchFamily="2" charset="0"/>
              </a:rPr>
              <a:t> </a:t>
            </a:r>
            <a:r>
              <a:rPr lang="en-US" sz="1333" dirty="0" err="1">
                <a:latin typeface="Nunito Sans" pitchFamily="2" charset="0"/>
              </a:rPr>
              <a:t>nét</a:t>
            </a:r>
            <a:r>
              <a:rPr lang="en-US" sz="1333" dirty="0">
                <a:latin typeface="Nunito Sans" pitchFamily="2" charset="0"/>
              </a:rPr>
              <a:t>.</a:t>
            </a:r>
          </a:p>
        </p:txBody>
      </p:sp>
      <p:sp>
        <p:nvSpPr>
          <p:cNvPr id="65" name="Google Shape;65;p2"/>
          <p:cNvSpPr txBox="1"/>
          <p:nvPr/>
        </p:nvSpPr>
        <p:spPr>
          <a:xfrm>
            <a:off x="9822596" y="4635853"/>
            <a:ext cx="2151921" cy="677054"/>
          </a:xfrm>
          <a:prstGeom prst="rect">
            <a:avLst/>
          </a:prstGeom>
          <a:noFill/>
          <a:ln>
            <a:noFill/>
          </a:ln>
        </p:spPr>
        <p:txBody>
          <a:bodyPr spcFirstLastPara="1" wrap="square" lIns="121900" tIns="60933" rIns="121900" bIns="60933" anchor="t" anchorCtr="0">
            <a:spAutoFit/>
          </a:bodyPr>
          <a:lstStyle/>
          <a:p>
            <a:pPr lvl="0"/>
            <a:r>
              <a:rPr lang="vi-VN" sz="1200" dirty="0">
                <a:latin typeface="Nunito Sans" pitchFamily="2" charset="0"/>
              </a:rPr>
              <a:t>Phím cơ — có thể bấm khi đeo găng tay hoặc dưới mưa.</a:t>
            </a:r>
            <a:endParaRPr sz="1200" dirty="0">
              <a:solidFill>
                <a:srgbClr val="424242"/>
              </a:solidFill>
              <a:latin typeface="Nunito Sans" pitchFamily="2" charset="0"/>
              <a:ea typeface="Nunito Sans"/>
              <a:cs typeface="Nunito Sans"/>
              <a:sym typeface="Nunito Sans"/>
            </a:endParaRPr>
          </a:p>
        </p:txBody>
      </p:sp>
      <p:sp>
        <p:nvSpPr>
          <p:cNvPr id="66" name="Google Shape;66;p2"/>
          <p:cNvSpPr txBox="1"/>
          <p:nvPr/>
        </p:nvSpPr>
        <p:spPr>
          <a:xfrm>
            <a:off x="5036619" y="3383437"/>
            <a:ext cx="1705820" cy="533297"/>
          </a:xfrm>
          <a:prstGeom prst="rect">
            <a:avLst/>
          </a:prstGeom>
          <a:noFill/>
          <a:ln>
            <a:noFill/>
          </a:ln>
        </p:spPr>
        <p:txBody>
          <a:bodyPr spcFirstLastPara="1" wrap="square" lIns="121900" tIns="60933" rIns="121900" bIns="60933" anchor="t" anchorCtr="0">
            <a:spAutoFit/>
          </a:bodyPr>
          <a:lstStyle/>
          <a:p>
            <a:r>
              <a:rPr lang="en" sz="1333" dirty="0">
                <a:solidFill>
                  <a:srgbClr val="2C2C2C"/>
                </a:solidFill>
                <a:latin typeface="Nunito Sans" pitchFamily="2" charset="0"/>
                <a:ea typeface="Nunito Sans"/>
                <a:cs typeface="Nunito Sans"/>
                <a:sym typeface="Nunito Sans"/>
              </a:rPr>
              <a:t>4G SIM + 2 SAMs </a:t>
            </a:r>
            <a:r>
              <a:rPr lang="vi-VN" sz="1333" dirty="0">
                <a:solidFill>
                  <a:srgbClr val="2C2C2C"/>
                </a:solidFill>
                <a:latin typeface="Nunito Sans" pitchFamily="2" charset="0"/>
                <a:ea typeface="Nunito Sans"/>
                <a:cs typeface="Nunito Sans"/>
                <a:sym typeface="Nunito Sans"/>
              </a:rPr>
              <a:t>Kết nối thông minh</a:t>
            </a:r>
            <a:endParaRPr sz="1200" dirty="0">
              <a:solidFill>
                <a:srgbClr val="424242"/>
              </a:solidFill>
              <a:latin typeface="Nunito Sans" pitchFamily="2" charset="0"/>
              <a:ea typeface="Nunito Sans"/>
              <a:cs typeface="Nunito Sans"/>
              <a:sym typeface="Nunito Sans"/>
            </a:endParaRPr>
          </a:p>
        </p:txBody>
      </p:sp>
      <p:cxnSp>
        <p:nvCxnSpPr>
          <p:cNvPr id="67" name="Google Shape;67;p2"/>
          <p:cNvCxnSpPr/>
          <p:nvPr/>
        </p:nvCxnSpPr>
        <p:spPr>
          <a:xfrm rot="10800000">
            <a:off x="4704802" y="4753180"/>
            <a:ext cx="394031" cy="0"/>
          </a:xfrm>
          <a:prstGeom prst="straightConnector1">
            <a:avLst/>
          </a:prstGeom>
          <a:noFill/>
          <a:ln w="9525" cap="flat" cmpd="sng">
            <a:solidFill>
              <a:srgbClr val="EB5600"/>
            </a:solidFill>
            <a:prstDash val="solid"/>
            <a:round/>
            <a:headEnd type="none" w="sm" len="sm"/>
            <a:tailEnd type="oval" w="med" len="med"/>
          </a:ln>
        </p:spPr>
      </p:cxnSp>
      <p:cxnSp>
        <p:nvCxnSpPr>
          <p:cNvPr id="68" name="Google Shape;68;p2"/>
          <p:cNvCxnSpPr/>
          <p:nvPr/>
        </p:nvCxnSpPr>
        <p:spPr>
          <a:xfrm rot="10800000">
            <a:off x="4704801" y="5459369"/>
            <a:ext cx="394031" cy="0"/>
          </a:xfrm>
          <a:prstGeom prst="straightConnector1">
            <a:avLst/>
          </a:prstGeom>
          <a:noFill/>
          <a:ln w="9525" cap="flat" cmpd="sng">
            <a:solidFill>
              <a:srgbClr val="EB5600"/>
            </a:solidFill>
            <a:prstDash val="solid"/>
            <a:round/>
            <a:headEnd type="none" w="sm" len="sm"/>
            <a:tailEnd type="oval" w="med" len="med"/>
          </a:ln>
        </p:spPr>
      </p:cxnSp>
      <p:sp>
        <p:nvSpPr>
          <p:cNvPr id="69" name="Google Shape;69;p2"/>
          <p:cNvSpPr txBox="1"/>
          <p:nvPr/>
        </p:nvSpPr>
        <p:spPr>
          <a:xfrm>
            <a:off x="5036619" y="4598813"/>
            <a:ext cx="2378583" cy="533297"/>
          </a:xfrm>
          <a:prstGeom prst="rect">
            <a:avLst/>
          </a:prstGeom>
          <a:noFill/>
          <a:ln>
            <a:noFill/>
          </a:ln>
        </p:spPr>
        <p:txBody>
          <a:bodyPr spcFirstLastPara="1" wrap="square" lIns="121900" tIns="60933" rIns="121900" bIns="60933" anchor="t" anchorCtr="0">
            <a:spAutoFit/>
          </a:bodyPr>
          <a:lstStyle/>
          <a:p>
            <a:pPr lvl="0"/>
            <a:r>
              <a:rPr lang="en-US" sz="1333" dirty="0" err="1">
                <a:latin typeface="Nunito Sans" pitchFamily="2" charset="0"/>
              </a:rPr>
              <a:t>Nút</a:t>
            </a:r>
            <a:r>
              <a:rPr lang="en-US" sz="1333" dirty="0">
                <a:latin typeface="Nunito Sans" pitchFamily="2" charset="0"/>
              </a:rPr>
              <a:t> </a:t>
            </a:r>
            <a:r>
              <a:rPr lang="en-US" sz="1333" dirty="0" err="1">
                <a:latin typeface="Nunito Sans" pitchFamily="2" charset="0"/>
              </a:rPr>
              <a:t>chế</a:t>
            </a:r>
            <a:r>
              <a:rPr lang="en-US" sz="1333" dirty="0">
                <a:latin typeface="Nunito Sans" pitchFamily="2" charset="0"/>
              </a:rPr>
              <a:t> </a:t>
            </a:r>
            <a:r>
              <a:rPr lang="en-US" sz="1333" dirty="0" err="1">
                <a:latin typeface="Nunito Sans" pitchFamily="2" charset="0"/>
              </a:rPr>
              <a:t>độ</a:t>
            </a:r>
            <a:r>
              <a:rPr lang="en-US" sz="1333" dirty="0">
                <a:latin typeface="Nunito Sans" pitchFamily="2" charset="0"/>
              </a:rPr>
              <a:t> </a:t>
            </a:r>
            <a:r>
              <a:rPr lang="en-US" sz="1333" dirty="0" err="1">
                <a:latin typeface="Nunito Sans" pitchFamily="2" charset="0"/>
              </a:rPr>
              <a:t>im</a:t>
            </a:r>
            <a:r>
              <a:rPr lang="en-US" sz="1333" dirty="0">
                <a:latin typeface="Nunito Sans" pitchFamily="2" charset="0"/>
              </a:rPr>
              <a:t> </a:t>
            </a:r>
            <a:r>
              <a:rPr lang="en-US" sz="1333" dirty="0" err="1">
                <a:latin typeface="Nunito Sans" pitchFamily="2" charset="0"/>
              </a:rPr>
              <a:t>lặng</a:t>
            </a:r>
            <a:r>
              <a:rPr lang="en-US" sz="1333" dirty="0">
                <a:latin typeface="Nunito Sans" pitchFamily="2" charset="0"/>
              </a:rPr>
              <a:t> — </a:t>
            </a:r>
            <a:r>
              <a:rPr lang="en-US" sz="1333" dirty="0" err="1">
                <a:latin typeface="Nunito Sans" pitchFamily="2" charset="0"/>
              </a:rPr>
              <a:t>sử</a:t>
            </a:r>
            <a:r>
              <a:rPr lang="en-US" sz="1333" dirty="0">
                <a:latin typeface="Nunito Sans" pitchFamily="2" charset="0"/>
              </a:rPr>
              <a:t> </a:t>
            </a:r>
            <a:r>
              <a:rPr lang="en-US" sz="1333" dirty="0" err="1">
                <a:latin typeface="Nunito Sans" pitchFamily="2" charset="0"/>
              </a:rPr>
              <a:t>dụng</a:t>
            </a:r>
            <a:r>
              <a:rPr lang="en-US" sz="1333" dirty="0">
                <a:latin typeface="Nunito Sans" pitchFamily="2" charset="0"/>
              </a:rPr>
              <a:t> </a:t>
            </a:r>
            <a:r>
              <a:rPr lang="en-US" sz="1333" dirty="0" err="1">
                <a:latin typeface="Nunito Sans" pitchFamily="2" charset="0"/>
              </a:rPr>
              <a:t>khi</a:t>
            </a:r>
            <a:r>
              <a:rPr lang="en-US" sz="1333" dirty="0">
                <a:latin typeface="Nunito Sans" pitchFamily="2" charset="0"/>
              </a:rPr>
              <a:t> </a:t>
            </a:r>
            <a:r>
              <a:rPr lang="en-US" sz="1333" dirty="0" err="1">
                <a:latin typeface="Nunito Sans" pitchFamily="2" charset="0"/>
              </a:rPr>
              <a:t>tác</a:t>
            </a:r>
            <a:r>
              <a:rPr lang="en-US" sz="1333" dirty="0">
                <a:latin typeface="Nunito Sans" pitchFamily="2" charset="0"/>
              </a:rPr>
              <a:t> </a:t>
            </a:r>
            <a:r>
              <a:rPr lang="en-US" sz="1333" dirty="0" err="1">
                <a:latin typeface="Nunito Sans" pitchFamily="2" charset="0"/>
              </a:rPr>
              <a:t>chiến</a:t>
            </a:r>
            <a:r>
              <a:rPr lang="en-US" sz="1333" dirty="0">
                <a:latin typeface="Nunito Sans" pitchFamily="2" charset="0"/>
              </a:rPr>
              <a:t>.</a:t>
            </a:r>
            <a:endParaRPr sz="1333" dirty="0">
              <a:solidFill>
                <a:srgbClr val="424242"/>
              </a:solidFill>
              <a:latin typeface="Nunito Sans" pitchFamily="2" charset="0"/>
              <a:ea typeface="Nunito Sans"/>
              <a:cs typeface="Nunito Sans"/>
              <a:sym typeface="Nunito Sans"/>
            </a:endParaRPr>
          </a:p>
        </p:txBody>
      </p:sp>
      <p:sp>
        <p:nvSpPr>
          <p:cNvPr id="70" name="Google Shape;70;p2"/>
          <p:cNvSpPr txBox="1"/>
          <p:nvPr/>
        </p:nvSpPr>
        <p:spPr>
          <a:xfrm>
            <a:off x="5036620" y="5291928"/>
            <a:ext cx="2277161" cy="533297"/>
          </a:xfrm>
          <a:prstGeom prst="rect">
            <a:avLst/>
          </a:prstGeom>
          <a:noFill/>
          <a:ln>
            <a:noFill/>
          </a:ln>
        </p:spPr>
        <p:txBody>
          <a:bodyPr spcFirstLastPara="1" wrap="square" lIns="121900" tIns="60933" rIns="121900" bIns="60933" anchor="t" anchorCtr="0">
            <a:spAutoFit/>
          </a:bodyPr>
          <a:lstStyle/>
          <a:p>
            <a:r>
              <a:rPr lang="en" sz="1333" dirty="0">
                <a:solidFill>
                  <a:srgbClr val="2C2C2C"/>
                </a:solidFill>
                <a:latin typeface="Nunito Sans" pitchFamily="2" charset="0"/>
                <a:ea typeface="Nunito Sans"/>
                <a:cs typeface="Nunito Sans"/>
                <a:sym typeface="Nunito Sans"/>
              </a:rPr>
              <a:t>BUTTON CONNECT WiFi, 4G, Bluetooth, GPS</a:t>
            </a:r>
            <a:endParaRPr sz="1200" dirty="0">
              <a:solidFill>
                <a:srgbClr val="424242"/>
              </a:solidFill>
              <a:latin typeface="Nunito Sans" pitchFamily="2" charset="0"/>
              <a:ea typeface="Nunito Sans"/>
              <a:cs typeface="Nunito Sans"/>
              <a:sym typeface="Nunito Sans"/>
            </a:endParaRPr>
          </a:p>
        </p:txBody>
      </p:sp>
      <p:cxnSp>
        <p:nvCxnSpPr>
          <p:cNvPr id="71" name="Google Shape;71;p2"/>
          <p:cNvCxnSpPr/>
          <p:nvPr/>
        </p:nvCxnSpPr>
        <p:spPr>
          <a:xfrm rot="10800000">
            <a:off x="8813273" y="4785780"/>
            <a:ext cx="1064244" cy="0"/>
          </a:xfrm>
          <a:prstGeom prst="straightConnector1">
            <a:avLst/>
          </a:prstGeom>
          <a:noFill/>
          <a:ln w="9525" cap="flat" cmpd="sng">
            <a:solidFill>
              <a:srgbClr val="EB5600"/>
            </a:solidFill>
            <a:prstDash val="solid"/>
            <a:round/>
            <a:headEnd type="none" w="sm" len="sm"/>
            <a:tailEnd type="oval" w="med" len="med"/>
          </a:ln>
        </p:spPr>
      </p:cxnSp>
      <p:sp>
        <p:nvSpPr>
          <p:cNvPr id="72" name="Google Shape;72;p2"/>
          <p:cNvSpPr txBox="1"/>
          <p:nvPr/>
        </p:nvSpPr>
        <p:spPr>
          <a:xfrm>
            <a:off x="8152954" y="5767143"/>
            <a:ext cx="3900225" cy="533297"/>
          </a:xfrm>
          <a:prstGeom prst="rect">
            <a:avLst/>
          </a:prstGeom>
          <a:noFill/>
          <a:ln>
            <a:noFill/>
          </a:ln>
        </p:spPr>
        <p:txBody>
          <a:bodyPr spcFirstLastPara="1" wrap="square" lIns="121900" tIns="60933" rIns="121900" bIns="60933" anchor="t" anchorCtr="0">
            <a:spAutoFit/>
          </a:bodyPr>
          <a:lstStyle/>
          <a:p>
            <a:pPr lvl="0"/>
            <a:r>
              <a:rPr lang="en-US" sz="1333" dirty="0" err="1">
                <a:latin typeface="Nunito Sans" pitchFamily="2" charset="0"/>
              </a:rPr>
              <a:t>Cổng</a:t>
            </a:r>
            <a:r>
              <a:rPr lang="en-US" sz="1333" dirty="0">
                <a:latin typeface="Nunito Sans" pitchFamily="2" charset="0"/>
              </a:rPr>
              <a:t> </a:t>
            </a:r>
            <a:r>
              <a:rPr lang="en-US" sz="1333" dirty="0" err="1">
                <a:latin typeface="Nunito Sans" pitchFamily="2" charset="0"/>
              </a:rPr>
              <a:t>kết</a:t>
            </a:r>
            <a:r>
              <a:rPr lang="en-US" sz="1333" dirty="0">
                <a:latin typeface="Nunito Sans" pitchFamily="2" charset="0"/>
              </a:rPr>
              <a:t> </a:t>
            </a:r>
            <a:r>
              <a:rPr lang="en-US" sz="1333" dirty="0" err="1">
                <a:latin typeface="Nunito Sans" pitchFamily="2" charset="0"/>
              </a:rPr>
              <a:t>nối</a:t>
            </a:r>
            <a:r>
              <a:rPr lang="en-US" sz="1333" dirty="0">
                <a:latin typeface="Nunito Sans" pitchFamily="2" charset="0"/>
              </a:rPr>
              <a:t> camera </a:t>
            </a:r>
            <a:r>
              <a:rPr lang="en-US" sz="1333" dirty="0" err="1">
                <a:latin typeface="Nunito Sans" pitchFamily="2" charset="0"/>
              </a:rPr>
              <a:t>ngoài</a:t>
            </a:r>
            <a:r>
              <a:rPr lang="en-US" sz="1333" dirty="0">
                <a:latin typeface="Nunito Sans" pitchFamily="2" charset="0"/>
              </a:rPr>
              <a:t> / pin — </a:t>
            </a:r>
            <a:r>
              <a:rPr lang="en-US" sz="1333" dirty="0" err="1">
                <a:latin typeface="Nunito Sans" pitchFamily="2" charset="0"/>
              </a:rPr>
              <a:t>mở</a:t>
            </a:r>
            <a:r>
              <a:rPr lang="en-US" sz="1333" dirty="0">
                <a:latin typeface="Nunito Sans" pitchFamily="2" charset="0"/>
              </a:rPr>
              <a:t> </a:t>
            </a:r>
            <a:r>
              <a:rPr lang="en-US" sz="1333" dirty="0" err="1">
                <a:latin typeface="Nunito Sans" pitchFamily="2" charset="0"/>
              </a:rPr>
              <a:t>rộng</a:t>
            </a:r>
            <a:r>
              <a:rPr lang="en-US" sz="1333" dirty="0">
                <a:latin typeface="Nunito Sans" pitchFamily="2" charset="0"/>
              </a:rPr>
              <a:t> </a:t>
            </a:r>
            <a:r>
              <a:rPr lang="en-US" sz="1333" dirty="0" err="1">
                <a:latin typeface="Nunito Sans" pitchFamily="2" charset="0"/>
              </a:rPr>
              <a:t>tính</a:t>
            </a:r>
            <a:r>
              <a:rPr lang="en-US" sz="1333" dirty="0">
                <a:latin typeface="Nunito Sans" pitchFamily="2" charset="0"/>
              </a:rPr>
              <a:t> </a:t>
            </a:r>
            <a:r>
              <a:rPr lang="en-US" sz="1333" dirty="0" err="1">
                <a:latin typeface="Nunito Sans" pitchFamily="2" charset="0"/>
              </a:rPr>
              <a:t>năng</a:t>
            </a:r>
            <a:r>
              <a:rPr lang="en-US" sz="1333" dirty="0">
                <a:latin typeface="Nunito Sans" pitchFamily="2" charset="0"/>
              </a:rPr>
              <a:t> </a:t>
            </a:r>
            <a:r>
              <a:rPr lang="en-US" sz="1333" dirty="0" err="1">
                <a:latin typeface="Nunito Sans" pitchFamily="2" charset="0"/>
              </a:rPr>
              <a:t>và</a:t>
            </a:r>
            <a:r>
              <a:rPr lang="en-US" sz="1333" dirty="0">
                <a:latin typeface="Nunito Sans" pitchFamily="2" charset="0"/>
              </a:rPr>
              <a:t> </a:t>
            </a:r>
            <a:r>
              <a:rPr lang="en-US" sz="1333" dirty="0" err="1">
                <a:latin typeface="Nunito Sans" pitchFamily="2" charset="0"/>
              </a:rPr>
              <a:t>vận</a:t>
            </a:r>
            <a:r>
              <a:rPr lang="en-US" sz="1333" dirty="0">
                <a:latin typeface="Nunito Sans" pitchFamily="2" charset="0"/>
              </a:rPr>
              <a:t> </a:t>
            </a:r>
            <a:r>
              <a:rPr lang="en-US" sz="1333" dirty="0" err="1">
                <a:latin typeface="Nunito Sans" pitchFamily="2" charset="0"/>
              </a:rPr>
              <a:t>hành</a:t>
            </a:r>
            <a:r>
              <a:rPr lang="en-US" sz="1333" dirty="0">
                <a:latin typeface="Nunito Sans" pitchFamily="2" charset="0"/>
              </a:rPr>
              <a:t> </a:t>
            </a:r>
            <a:r>
              <a:rPr lang="en-US" sz="1333" dirty="0" err="1">
                <a:latin typeface="Nunito Sans" pitchFamily="2" charset="0"/>
              </a:rPr>
              <a:t>thuật</a:t>
            </a:r>
            <a:r>
              <a:rPr lang="en-US" sz="1333" dirty="0">
                <a:latin typeface="Nunito Sans" pitchFamily="2" charset="0"/>
              </a:rPr>
              <a:t> </a:t>
            </a:r>
            <a:r>
              <a:rPr lang="en-US" sz="1333" dirty="0" err="1">
                <a:latin typeface="Nunito Sans" pitchFamily="2" charset="0"/>
              </a:rPr>
              <a:t>toán</a:t>
            </a:r>
            <a:r>
              <a:rPr lang="en-US" sz="1333" dirty="0">
                <a:latin typeface="Nunito Sans" pitchFamily="2" charset="0"/>
              </a:rPr>
              <a:t> </a:t>
            </a:r>
            <a:r>
              <a:rPr lang="en-US" sz="1333" dirty="0" err="1">
                <a:latin typeface="Nunito Sans" pitchFamily="2" charset="0"/>
              </a:rPr>
              <a:t>nhận</a:t>
            </a:r>
            <a:r>
              <a:rPr lang="en-US" sz="1333" dirty="0">
                <a:latin typeface="Nunito Sans" pitchFamily="2" charset="0"/>
              </a:rPr>
              <a:t> </a:t>
            </a:r>
            <a:r>
              <a:rPr lang="en-US" sz="1333" dirty="0" err="1">
                <a:latin typeface="Nunito Sans" pitchFamily="2" charset="0"/>
              </a:rPr>
              <a:t>dạng</a:t>
            </a:r>
            <a:r>
              <a:rPr lang="en-US" sz="1333" dirty="0">
                <a:latin typeface="Nunito Sans" pitchFamily="2" charset="0"/>
              </a:rPr>
              <a:t>.</a:t>
            </a:r>
            <a:endParaRPr sz="1333" dirty="0">
              <a:solidFill>
                <a:srgbClr val="424242"/>
              </a:solidFill>
              <a:latin typeface="Nunito Sans" pitchFamily="2" charset="0"/>
              <a:ea typeface="Nunito Sans"/>
              <a:cs typeface="Nunito Sans"/>
              <a:sym typeface="Nunito Sans"/>
            </a:endParaRPr>
          </a:p>
        </p:txBody>
      </p:sp>
      <p:sp>
        <p:nvSpPr>
          <p:cNvPr id="73" name="Google Shape;73;p2"/>
          <p:cNvSpPr/>
          <p:nvPr/>
        </p:nvSpPr>
        <p:spPr>
          <a:xfrm>
            <a:off x="1050204" y="1535319"/>
            <a:ext cx="1050200" cy="106376"/>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Nunito Sans" pitchFamily="2" charset="0"/>
              <a:ea typeface="Arial"/>
              <a:cs typeface="Arial"/>
              <a:sym typeface="Arial"/>
            </a:endParaRPr>
          </a:p>
        </p:txBody>
      </p:sp>
      <p:pic>
        <p:nvPicPr>
          <p:cNvPr id="2" name="Picture 1" descr="A close up of a camera">
            <a:extLst>
              <a:ext uri="{FF2B5EF4-FFF2-40B4-BE49-F238E27FC236}">
                <a16:creationId xmlns:a16="http://schemas.microsoft.com/office/drawing/2014/main" id="{E718EB26-DD3B-B04A-87D2-FD43C2CD04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6680" y="2400449"/>
            <a:ext cx="2474240" cy="3709550"/>
          </a:xfrm>
          <a:prstGeom prst="rect">
            <a:avLst/>
          </a:prstGeom>
        </p:spPr>
      </p:pic>
      <p:sp>
        <p:nvSpPr>
          <p:cNvPr id="5" name="TextBox 4">
            <a:extLst>
              <a:ext uri="{FF2B5EF4-FFF2-40B4-BE49-F238E27FC236}">
                <a16:creationId xmlns:a16="http://schemas.microsoft.com/office/drawing/2014/main" id="{7E45A8B3-4299-6CA2-9414-99B1621E9F6C}"/>
              </a:ext>
            </a:extLst>
          </p:cNvPr>
          <p:cNvSpPr txBox="1"/>
          <p:nvPr/>
        </p:nvSpPr>
        <p:spPr>
          <a:xfrm>
            <a:off x="421644" y="841947"/>
            <a:ext cx="6008652" cy="923330"/>
          </a:xfrm>
          <a:prstGeom prst="rect">
            <a:avLst/>
          </a:prstGeom>
          <a:noFill/>
        </p:spPr>
        <p:txBody>
          <a:bodyPr wrap="square">
            <a:spAutoFit/>
          </a:bodyPr>
          <a:lstStyle/>
          <a:p>
            <a:pPr marL="285750" indent="-285750">
              <a:buFont typeface="Wingdings" panose="05000000000000000000" pitchFamily="2" charset="2"/>
              <a:buChar char="ü"/>
            </a:pPr>
            <a:r>
              <a:rPr lang="vi-VN" b="1" dirty="0">
                <a:latin typeface="Nunito Sans" pitchFamily="2" charset="0"/>
              </a:rPr>
              <a:t>Sản phẩm đạt chuẩn </a:t>
            </a:r>
            <a:r>
              <a:rPr lang="en-US" b="1" dirty="0">
                <a:latin typeface="Nunito Sans" pitchFamily="2" charset="0"/>
              </a:rPr>
              <a:t>QCVN 135:2024/BTTTT </a:t>
            </a:r>
            <a:endParaRPr lang="vi-VN" b="1" dirty="0">
              <a:latin typeface="Nunito Sans" pitchFamily="2" charset="0"/>
            </a:endParaRPr>
          </a:p>
          <a:p>
            <a:r>
              <a:rPr lang="en-US" b="1" dirty="0">
                <a:latin typeface="Nunito Sans" pitchFamily="2" charset="0"/>
              </a:rPr>
              <a:t>Quy </a:t>
            </a:r>
            <a:r>
              <a:rPr lang="en-US" b="1" dirty="0" err="1">
                <a:latin typeface="Nunito Sans" pitchFamily="2" charset="0"/>
              </a:rPr>
              <a:t>chuẩn</a:t>
            </a:r>
            <a:r>
              <a:rPr lang="en-US" b="1" dirty="0">
                <a:latin typeface="Nunito Sans" pitchFamily="2" charset="0"/>
              </a:rPr>
              <a:t> </a:t>
            </a:r>
            <a:r>
              <a:rPr lang="en-US" b="1" dirty="0" err="1">
                <a:latin typeface="Nunito Sans" pitchFamily="2" charset="0"/>
              </a:rPr>
              <a:t>kỹ</a:t>
            </a:r>
            <a:r>
              <a:rPr lang="en-US" b="1" dirty="0">
                <a:latin typeface="Nunito Sans" pitchFamily="2" charset="0"/>
              </a:rPr>
              <a:t> </a:t>
            </a:r>
            <a:r>
              <a:rPr lang="en-US" b="1" dirty="0" err="1">
                <a:latin typeface="Nunito Sans" pitchFamily="2" charset="0"/>
              </a:rPr>
              <a:t>thuật</a:t>
            </a:r>
            <a:r>
              <a:rPr lang="en-US" b="1" dirty="0">
                <a:latin typeface="Nunito Sans" pitchFamily="2" charset="0"/>
              </a:rPr>
              <a:t> </a:t>
            </a:r>
            <a:r>
              <a:rPr lang="en-US" b="1" dirty="0" err="1">
                <a:latin typeface="Nunito Sans" pitchFamily="2" charset="0"/>
              </a:rPr>
              <a:t>quốc</a:t>
            </a:r>
            <a:r>
              <a:rPr lang="en-US" b="1" dirty="0">
                <a:latin typeface="Nunito Sans" pitchFamily="2" charset="0"/>
              </a:rPr>
              <a:t> </a:t>
            </a:r>
            <a:r>
              <a:rPr lang="en-US" b="1" dirty="0" err="1">
                <a:latin typeface="Nunito Sans" pitchFamily="2" charset="0"/>
              </a:rPr>
              <a:t>gia</a:t>
            </a:r>
            <a:r>
              <a:rPr lang="en-US" b="1" dirty="0">
                <a:latin typeface="Nunito Sans" pitchFamily="2" charset="0"/>
              </a:rPr>
              <a:t> </a:t>
            </a:r>
            <a:r>
              <a:rPr lang="en-US" b="1" dirty="0" err="1">
                <a:latin typeface="Nunito Sans" pitchFamily="2" charset="0"/>
              </a:rPr>
              <a:t>về</a:t>
            </a:r>
            <a:r>
              <a:rPr lang="en-US" b="1" dirty="0">
                <a:latin typeface="Nunito Sans" pitchFamily="2" charset="0"/>
              </a:rPr>
              <a:t> </a:t>
            </a:r>
            <a:r>
              <a:rPr lang="en-US" b="1" dirty="0" err="1">
                <a:latin typeface="Nunito Sans" pitchFamily="2" charset="0"/>
              </a:rPr>
              <a:t>thiết</a:t>
            </a:r>
            <a:r>
              <a:rPr lang="en-US" b="1" dirty="0">
                <a:latin typeface="Nunito Sans" pitchFamily="2" charset="0"/>
              </a:rPr>
              <a:t> </a:t>
            </a:r>
            <a:r>
              <a:rPr lang="en-US" b="1" dirty="0" err="1">
                <a:latin typeface="Nunito Sans" pitchFamily="2" charset="0"/>
              </a:rPr>
              <a:t>bị</a:t>
            </a:r>
            <a:r>
              <a:rPr lang="en-US" b="1" dirty="0">
                <a:latin typeface="Nunito Sans" pitchFamily="2" charset="0"/>
              </a:rPr>
              <a:t> camera</a:t>
            </a:r>
            <a:endParaRPr lang="vi-VN" b="1" dirty="0">
              <a:latin typeface="Nunito Sans" pitchFamily="2" charset="0"/>
            </a:endParaRPr>
          </a:p>
          <a:p>
            <a:r>
              <a:rPr lang="en-US" b="1" dirty="0">
                <a:latin typeface="Nunito Sans" pitchFamily="2" charset="0"/>
              </a:rPr>
              <a:t> </a:t>
            </a:r>
            <a:r>
              <a:rPr lang="en-US" b="1" dirty="0" err="1">
                <a:latin typeface="Nunito Sans" pitchFamily="2" charset="0"/>
              </a:rPr>
              <a:t>giám</a:t>
            </a:r>
            <a:r>
              <a:rPr lang="en-US" b="1" dirty="0">
                <a:latin typeface="Nunito Sans" pitchFamily="2" charset="0"/>
              </a:rPr>
              <a:t> </a:t>
            </a:r>
            <a:r>
              <a:rPr lang="en-US" b="1" dirty="0" err="1">
                <a:latin typeface="Nunito Sans" pitchFamily="2" charset="0"/>
              </a:rPr>
              <a:t>sát</a:t>
            </a:r>
            <a:r>
              <a:rPr lang="en-US" b="1" dirty="0">
                <a:latin typeface="Nunito Sans" pitchFamily="2" charset="0"/>
              </a:rPr>
              <a:t> </a:t>
            </a:r>
            <a:r>
              <a:rPr lang="en-US" b="1" dirty="0" err="1">
                <a:latin typeface="Nunito Sans" pitchFamily="2" charset="0"/>
              </a:rPr>
              <a:t>sử</a:t>
            </a:r>
            <a:r>
              <a:rPr lang="en-US" b="1" dirty="0">
                <a:latin typeface="Nunito Sans" pitchFamily="2" charset="0"/>
              </a:rPr>
              <a:t> </a:t>
            </a:r>
            <a:r>
              <a:rPr lang="en-US" b="1" dirty="0" err="1">
                <a:latin typeface="Nunito Sans" pitchFamily="2" charset="0"/>
              </a:rPr>
              <a:t>dụng</a:t>
            </a:r>
            <a:r>
              <a:rPr lang="en-US" b="1" dirty="0">
                <a:latin typeface="Nunito Sans" pitchFamily="2" charset="0"/>
              </a:rPr>
              <a:t> </a:t>
            </a:r>
            <a:r>
              <a:rPr lang="en-US" b="1" dirty="0" err="1">
                <a:latin typeface="Nunito Sans" pitchFamily="2" charset="0"/>
              </a:rPr>
              <a:t>giao</a:t>
            </a:r>
            <a:r>
              <a:rPr lang="en-US" b="1" dirty="0">
                <a:latin typeface="Nunito Sans" pitchFamily="2" charset="0"/>
              </a:rPr>
              <a:t> </a:t>
            </a:r>
            <a:r>
              <a:rPr lang="en-US" b="1" dirty="0" err="1">
                <a:latin typeface="Nunito Sans" pitchFamily="2" charset="0"/>
              </a:rPr>
              <a:t>thức</a:t>
            </a:r>
            <a:r>
              <a:rPr lang="en-US" b="1" dirty="0">
                <a:latin typeface="Nunito Sans" pitchFamily="2" charset="0"/>
              </a:rPr>
              <a:t> Internet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pSp>
        <p:nvGrpSpPr>
          <p:cNvPr id="97" name="Google Shape;97;p5"/>
          <p:cNvGrpSpPr/>
          <p:nvPr/>
        </p:nvGrpSpPr>
        <p:grpSpPr>
          <a:xfrm>
            <a:off x="-41926" y="-65"/>
            <a:ext cx="12192000" cy="6858000"/>
            <a:chOff x="-597198" y="0"/>
            <a:chExt cx="9144000" cy="5143500"/>
          </a:xfrm>
        </p:grpSpPr>
        <p:sp>
          <p:nvSpPr>
            <p:cNvPr id="98" name="Google Shape;98;p5"/>
            <p:cNvSpPr/>
            <p:nvPr/>
          </p:nvSpPr>
          <p:spPr>
            <a:xfrm>
              <a:off x="-597198" y="0"/>
              <a:ext cx="2111188" cy="5143500"/>
            </a:xfrm>
            <a:prstGeom prst="rect">
              <a:avLst/>
            </a:prstGeom>
            <a:solidFill>
              <a:srgbClr val="C3C5C8"/>
            </a:solidFill>
            <a:ln>
              <a:noFill/>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pic>
          <p:nvPicPr>
            <p:cNvPr id="99" name="Google Shape;99;p5"/>
            <p:cNvPicPr preferRelativeResize="0"/>
            <p:nvPr/>
          </p:nvPicPr>
          <p:blipFill rotWithShape="1">
            <a:blip r:embed="rId3">
              <a:alphaModFix/>
            </a:blip>
            <a:srcRect r="7753"/>
            <a:stretch/>
          </p:blipFill>
          <p:spPr>
            <a:xfrm>
              <a:off x="1441277" y="0"/>
              <a:ext cx="7105525" cy="5143451"/>
            </a:xfrm>
            <a:prstGeom prst="rect">
              <a:avLst/>
            </a:prstGeom>
            <a:noFill/>
            <a:ln>
              <a:noFill/>
            </a:ln>
          </p:spPr>
        </p:pic>
      </p:grpSp>
      <p:sp>
        <p:nvSpPr>
          <p:cNvPr id="101" name="Google Shape;101;p5"/>
          <p:cNvSpPr txBox="1">
            <a:spLocks noGrp="1"/>
          </p:cNvSpPr>
          <p:nvPr>
            <p:ph type="sldNum" idx="12"/>
          </p:nvPr>
        </p:nvSpPr>
        <p:spPr>
          <a:xfrm>
            <a:off x="11381736" y="6333135"/>
            <a:ext cx="731600" cy="524800"/>
          </a:xfrm>
          <a:prstGeom prst="rect">
            <a:avLst/>
          </a:prstGeom>
          <a:noFill/>
          <a:ln>
            <a:noFill/>
          </a:ln>
        </p:spPr>
        <p:txBody>
          <a:bodyPr spcFirstLastPara="1" vert="horz" wrap="square" lIns="121900" tIns="121900" rIns="121900" bIns="121900" rtlCol="0" anchor="ctr" anchorCtr="0">
            <a:noAutofit/>
          </a:bodyPr>
          <a:lstStyle/>
          <a:p>
            <a:fld id="{00000000-1234-1234-1234-123412341234}" type="slidenum">
              <a:rPr>
                <a:solidFill>
                  <a:schemeClr val="lt1"/>
                </a:solidFill>
                <a:latin typeface="Nunito Sans"/>
                <a:ea typeface="Nunito Sans"/>
                <a:cs typeface="Nunito Sans"/>
                <a:sym typeface="Nunito Sans"/>
              </a:rPr>
              <a:pPr/>
              <a:t>4</a:t>
            </a:fld>
            <a:endParaRPr>
              <a:solidFill>
                <a:schemeClr val="lt1"/>
              </a:solidFill>
              <a:latin typeface="Nunito Sans"/>
              <a:ea typeface="Nunito Sans"/>
              <a:cs typeface="Nunito Sans"/>
              <a:sym typeface="Nunito Sans"/>
            </a:endParaRPr>
          </a:p>
        </p:txBody>
      </p:sp>
      <p:grpSp>
        <p:nvGrpSpPr>
          <p:cNvPr id="103" name="Google Shape;103;p5"/>
          <p:cNvGrpSpPr/>
          <p:nvPr/>
        </p:nvGrpSpPr>
        <p:grpSpPr>
          <a:xfrm>
            <a:off x="1107190" y="1588342"/>
            <a:ext cx="994351" cy="61103"/>
            <a:chOff x="830392" y="1191255"/>
            <a:chExt cx="745763" cy="45827"/>
          </a:xfrm>
        </p:grpSpPr>
        <p:sp>
          <p:nvSpPr>
            <p:cNvPr id="104" name="Google Shape;104;p5"/>
            <p:cNvSpPr/>
            <p:nvPr/>
          </p:nvSpPr>
          <p:spPr>
            <a:xfrm rot="-5400000">
              <a:off x="1366812" y="1027739"/>
              <a:ext cx="45826" cy="372859"/>
            </a:xfrm>
            <a:prstGeom prst="rect">
              <a:avLst/>
            </a:prstGeom>
            <a:solidFill>
              <a:srgbClr val="F4CB42"/>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Nunito Sans"/>
                <a:ea typeface="Nunito Sans"/>
                <a:cs typeface="Nunito Sans"/>
                <a:sym typeface="Nunito Sans"/>
              </a:endParaRPr>
            </a:p>
          </p:txBody>
        </p:sp>
        <p:sp>
          <p:nvSpPr>
            <p:cNvPr id="105" name="Google Shape;105;p5"/>
            <p:cNvSpPr/>
            <p:nvPr/>
          </p:nvSpPr>
          <p:spPr>
            <a:xfrm rot="-5400000">
              <a:off x="995485" y="1026163"/>
              <a:ext cx="45826" cy="376012"/>
            </a:xfrm>
            <a:prstGeom prst="rect">
              <a:avLst/>
            </a:prstGeom>
            <a:solidFill>
              <a:srgbClr val="003A85"/>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Nunito Sans"/>
                <a:ea typeface="Nunito Sans"/>
                <a:cs typeface="Nunito Sans"/>
                <a:sym typeface="Nunito Sans"/>
              </a:endParaRPr>
            </a:p>
          </p:txBody>
        </p:sp>
      </p:grpSp>
      <p:pic>
        <p:nvPicPr>
          <p:cNvPr id="106" name="Google Shape;106;p5"/>
          <p:cNvPicPr preferRelativeResize="0"/>
          <p:nvPr/>
        </p:nvPicPr>
        <p:blipFill rotWithShape="1">
          <a:blip r:embed="rId4">
            <a:alphaModFix/>
          </a:blip>
          <a:srcRect/>
          <a:stretch/>
        </p:blipFill>
        <p:spPr>
          <a:xfrm rot="-453494">
            <a:off x="6099396" y="2441329"/>
            <a:ext cx="2190552" cy="3604705"/>
          </a:xfrm>
          <a:prstGeom prst="rect">
            <a:avLst/>
          </a:prstGeom>
          <a:noFill/>
          <a:ln>
            <a:noFill/>
          </a:ln>
        </p:spPr>
      </p:pic>
      <p:pic>
        <p:nvPicPr>
          <p:cNvPr id="107" name="Google Shape;107;p5" descr="Video camera with solid fill">
            <a:hlinkClick r:id="rId5"/>
          </p:cNvPr>
          <p:cNvPicPr preferRelativeResize="0"/>
          <p:nvPr/>
        </p:nvPicPr>
        <p:blipFill rotWithShape="1">
          <a:blip r:embed="rId6">
            <a:alphaModFix/>
          </a:blip>
          <a:srcRect/>
          <a:stretch/>
        </p:blipFill>
        <p:spPr>
          <a:xfrm>
            <a:off x="1043213" y="5800249"/>
            <a:ext cx="691167" cy="691167"/>
          </a:xfrm>
          <a:prstGeom prst="rect">
            <a:avLst/>
          </a:prstGeom>
          <a:noFill/>
          <a:ln>
            <a:noFill/>
          </a:ln>
        </p:spPr>
      </p:pic>
      <p:sp>
        <p:nvSpPr>
          <p:cNvPr id="108" name="Google Shape;108;p5"/>
          <p:cNvSpPr txBox="1"/>
          <p:nvPr/>
        </p:nvSpPr>
        <p:spPr>
          <a:xfrm>
            <a:off x="1656849" y="6097089"/>
            <a:ext cx="1649863" cy="533297"/>
          </a:xfrm>
          <a:prstGeom prst="rect">
            <a:avLst/>
          </a:prstGeom>
          <a:noFill/>
          <a:ln>
            <a:noFill/>
          </a:ln>
        </p:spPr>
        <p:txBody>
          <a:bodyPr spcFirstLastPara="1" wrap="square" lIns="121900" tIns="60933" rIns="121900" bIns="60933" anchor="t" anchorCtr="0">
            <a:spAutoFit/>
          </a:bodyPr>
          <a:lstStyle/>
          <a:p>
            <a:r>
              <a:rPr lang="en" sz="1333" u="sng">
                <a:solidFill>
                  <a:schemeClr val="accent5"/>
                </a:solidFill>
                <a:latin typeface="Nunito Sans"/>
                <a:ea typeface="Nunito Sans"/>
                <a:cs typeface="Nunito Sans"/>
                <a:sym typeface="Nunito Sans"/>
                <a:hlinkClick r:id="rId5">
                  <a:extLst>
                    <a:ext uri="{A12FA001-AC4F-418D-AE19-62706E023703}">
                      <ahyp:hlinkClr xmlns:ahyp="http://schemas.microsoft.com/office/drawing/2018/hyperlinkcolor" xmlns="" val="tx"/>
                    </a:ext>
                  </a:extLst>
                </a:hlinkClick>
              </a:rPr>
              <a:t>click to watch video</a:t>
            </a:r>
            <a:endParaRPr sz="1333">
              <a:solidFill>
                <a:schemeClr val="accent5"/>
              </a:solidFill>
              <a:latin typeface="Nunito Sans"/>
              <a:ea typeface="Nunito Sans"/>
              <a:cs typeface="Nunito Sans"/>
              <a:sym typeface="Nunito Sans"/>
            </a:endParaRPr>
          </a:p>
        </p:txBody>
      </p:sp>
      <p:sp>
        <p:nvSpPr>
          <p:cNvPr id="2" name="TextBox 1">
            <a:extLst>
              <a:ext uri="{FF2B5EF4-FFF2-40B4-BE49-F238E27FC236}">
                <a16:creationId xmlns:a16="http://schemas.microsoft.com/office/drawing/2014/main" id="{8A000F83-C267-8FCD-E717-D4D09985348D}"/>
              </a:ext>
            </a:extLst>
          </p:cNvPr>
          <p:cNvSpPr txBox="1"/>
          <p:nvPr/>
        </p:nvSpPr>
        <p:spPr>
          <a:xfrm>
            <a:off x="372850" y="260183"/>
            <a:ext cx="6683604" cy="1318951"/>
          </a:xfrm>
          <a:prstGeom prst="rect">
            <a:avLst/>
          </a:prstGeom>
          <a:noFill/>
        </p:spPr>
        <p:txBody>
          <a:bodyPr wrap="square" rtlCol="0">
            <a:spAutoFit/>
          </a:bodyPr>
          <a:lstStyle/>
          <a:p>
            <a:pPr>
              <a:lnSpc>
                <a:spcPct val="150000"/>
              </a:lnSpc>
            </a:pPr>
            <a:r>
              <a:rPr lang="en-US" sz="2800" dirty="0" err="1">
                <a:latin typeface="Nunito Sans" pitchFamily="2" charset="0"/>
              </a:rPr>
              <a:t>Giải</a:t>
            </a:r>
            <a:r>
              <a:rPr lang="en-US" sz="2800" dirty="0">
                <a:latin typeface="Nunito Sans" pitchFamily="2" charset="0"/>
              </a:rPr>
              <a:t> </a:t>
            </a:r>
            <a:r>
              <a:rPr lang="en-US" sz="2800" dirty="0" err="1">
                <a:latin typeface="Nunito Sans" pitchFamily="2" charset="0"/>
              </a:rPr>
              <a:t>pháp</a:t>
            </a:r>
            <a:r>
              <a:rPr lang="en-US" sz="2800" dirty="0">
                <a:latin typeface="Nunito Sans" pitchFamily="2" charset="0"/>
              </a:rPr>
              <a:t> </a:t>
            </a:r>
            <a:r>
              <a:rPr lang="en-US" sz="2800" dirty="0" err="1">
                <a:latin typeface="Nunito Sans" pitchFamily="2" charset="0"/>
              </a:rPr>
              <a:t>khác</a:t>
            </a:r>
            <a:r>
              <a:rPr lang="en-US" sz="2800" dirty="0">
                <a:latin typeface="Nunito Sans" pitchFamily="2" charset="0"/>
              </a:rPr>
              <a:t> </a:t>
            </a:r>
            <a:r>
              <a:rPr lang="en-US" sz="2800" dirty="0" err="1">
                <a:latin typeface="Nunito Sans" pitchFamily="2" charset="0"/>
              </a:rPr>
              <a:t>biệt</a:t>
            </a:r>
            <a:r>
              <a:rPr lang="en-US" sz="2800" dirty="0">
                <a:latin typeface="Nunito Sans" pitchFamily="2" charset="0"/>
              </a:rPr>
              <a:t> </a:t>
            </a:r>
            <a:r>
              <a:rPr lang="en-US" sz="2800" dirty="0" err="1">
                <a:latin typeface="Nunito Sans" pitchFamily="2" charset="0"/>
              </a:rPr>
              <a:t>của</a:t>
            </a:r>
            <a:r>
              <a:rPr lang="en-US" sz="2800" dirty="0">
                <a:latin typeface="Nunito Sans" pitchFamily="2" charset="0"/>
              </a:rPr>
              <a:t> </a:t>
            </a:r>
            <a:r>
              <a:rPr lang="en-US" sz="2800" dirty="0" err="1">
                <a:latin typeface="Nunito Sans" pitchFamily="2" charset="0"/>
              </a:rPr>
              <a:t>MobiSecure</a:t>
            </a:r>
            <a:r>
              <a:rPr lang="en-US" sz="2800" dirty="0">
                <a:latin typeface="Nunito Sans" pitchFamily="2" charset="0"/>
              </a:rPr>
              <a:t> – </a:t>
            </a:r>
            <a:endParaRPr lang="vi-VN" sz="2800" dirty="0">
              <a:latin typeface="Nunito Sans" pitchFamily="2" charset="0"/>
            </a:endParaRPr>
          </a:p>
          <a:p>
            <a:pPr>
              <a:lnSpc>
                <a:spcPct val="150000"/>
              </a:lnSpc>
            </a:pPr>
            <a:r>
              <a:rPr lang="vi-VN" sz="2800" dirty="0">
                <a:latin typeface="Nunito Sans" pitchFamily="2" charset="0"/>
              </a:rPr>
              <a:t>Dấu ấn C</a:t>
            </a:r>
            <a:r>
              <a:rPr lang="en-US" sz="2800" dirty="0" err="1">
                <a:latin typeface="Nunito Sans" pitchFamily="2" charset="0"/>
              </a:rPr>
              <a:t>amera</a:t>
            </a:r>
            <a:r>
              <a:rPr lang="en-US" sz="2800" dirty="0">
                <a:latin typeface="Nunito Sans" pitchFamily="2" charset="0"/>
              </a:rPr>
              <a:t> </a:t>
            </a:r>
            <a:r>
              <a:rPr lang="vi-VN" sz="2800" dirty="0">
                <a:latin typeface="Nunito Sans" pitchFamily="2" charset="0"/>
              </a:rPr>
              <a:t>Make in </a:t>
            </a:r>
            <a:r>
              <a:rPr lang="en-US" sz="2800" dirty="0">
                <a:latin typeface="Nunito Sans" pitchFamily="2" charset="0"/>
              </a:rPr>
              <a:t>Việt Nam</a:t>
            </a:r>
            <a:endParaRPr lang="en-US" sz="2500" b="1" dirty="0">
              <a:latin typeface="Nunito Sans" pitchFamily="2" charset="0"/>
            </a:endParaRPr>
          </a:p>
        </p:txBody>
      </p:sp>
      <p:sp>
        <p:nvSpPr>
          <p:cNvPr id="3" name="TextBox 2">
            <a:extLst>
              <a:ext uri="{FF2B5EF4-FFF2-40B4-BE49-F238E27FC236}">
                <a16:creationId xmlns:a16="http://schemas.microsoft.com/office/drawing/2014/main" id="{74A03F3E-8107-0AE3-0DCB-03EFB79FCFC3}"/>
              </a:ext>
            </a:extLst>
          </p:cNvPr>
          <p:cNvSpPr txBox="1"/>
          <p:nvPr/>
        </p:nvSpPr>
        <p:spPr>
          <a:xfrm>
            <a:off x="533728" y="1884397"/>
            <a:ext cx="5050863" cy="2966197"/>
          </a:xfrm>
          <a:prstGeom prst="rect">
            <a:avLst/>
          </a:prstGeom>
          <a:noFill/>
        </p:spPr>
        <p:txBody>
          <a:bodyPr wrap="square" rtlCol="0">
            <a:spAutoFit/>
          </a:bodyPr>
          <a:lstStyle/>
          <a:p>
            <a:pPr algn="just">
              <a:lnSpc>
                <a:spcPct val="150000"/>
              </a:lnSpc>
              <a:buNone/>
            </a:pPr>
            <a:r>
              <a:rPr lang="vi-VN" b="1" dirty="0">
                <a:latin typeface="Nunito Sans" pitchFamily="2" charset="0"/>
              </a:rPr>
              <a:t>1. Ứng dụng AI và nhận diện khuôn mặt</a:t>
            </a:r>
          </a:p>
          <a:p>
            <a:pPr algn="just">
              <a:lnSpc>
                <a:spcPct val="150000"/>
              </a:lnSpc>
              <a:buFont typeface="Arial" panose="020B0604020202020204" pitchFamily="34" charset="0"/>
              <a:buChar char="•"/>
            </a:pPr>
            <a:r>
              <a:rPr lang="vi-VN" dirty="0">
                <a:latin typeface="Nunito Sans" pitchFamily="2" charset="0"/>
              </a:rPr>
              <a:t> Camera gắn trên người đầu tiên tại Việt Nam, ứng dụng AI nhận diện khuôn mặt chính xác cho người Việt</a:t>
            </a:r>
          </a:p>
          <a:p>
            <a:pPr algn="just">
              <a:lnSpc>
                <a:spcPct val="150000"/>
              </a:lnSpc>
              <a:buFont typeface="Arial" panose="020B0604020202020204" pitchFamily="34" charset="0"/>
              <a:buChar char="•"/>
            </a:pPr>
            <a:r>
              <a:rPr lang="vi-VN" dirty="0">
                <a:latin typeface="Nunito Sans" pitchFamily="2" charset="0"/>
              </a:rPr>
              <a:t> Hỗ trợ thư viện lên tới </a:t>
            </a:r>
            <a:r>
              <a:rPr lang="vi-VN" b="1" dirty="0">
                <a:latin typeface="Nunito Sans" pitchFamily="2" charset="0"/>
              </a:rPr>
              <a:t>20.000 khuôn mặt</a:t>
            </a:r>
            <a:r>
              <a:rPr lang="vi-VN" dirty="0">
                <a:latin typeface="Nunito Sans" pitchFamily="2" charset="0"/>
              </a:rPr>
              <a:t>, độ chính xác ≥ 90%.</a:t>
            </a:r>
          </a:p>
          <a:p>
            <a:pPr>
              <a:lnSpc>
                <a:spcPct val="150000"/>
              </a:lnSpc>
            </a:pPr>
            <a:endParaRPr lang="en-US" dirty="0">
              <a:latin typeface="Nunito Sans"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86;p4">
            <a:extLst>
              <a:ext uri="{FF2B5EF4-FFF2-40B4-BE49-F238E27FC236}">
                <a16:creationId xmlns:a16="http://schemas.microsoft.com/office/drawing/2014/main" id="{7B30D643-9F3B-40C6-1BF2-10EC7522EF19}"/>
              </a:ext>
            </a:extLst>
          </p:cNvPr>
          <p:cNvPicPr preferRelativeResize="0"/>
          <p:nvPr/>
        </p:nvPicPr>
        <p:blipFill rotWithShape="1">
          <a:blip r:embed="rId2">
            <a:alphaModFix/>
          </a:blip>
          <a:srcRect t="24845" b="22644"/>
          <a:stretch/>
        </p:blipFill>
        <p:spPr>
          <a:xfrm>
            <a:off x="-39757" y="4336737"/>
            <a:ext cx="12271513" cy="3945835"/>
          </a:xfrm>
          <a:prstGeom prst="rect">
            <a:avLst/>
          </a:prstGeom>
          <a:noFill/>
          <a:ln>
            <a:noFill/>
          </a:ln>
        </p:spPr>
      </p:pic>
      <p:pic>
        <p:nvPicPr>
          <p:cNvPr id="6" name="Google Shape;92;p4">
            <a:extLst>
              <a:ext uri="{FF2B5EF4-FFF2-40B4-BE49-F238E27FC236}">
                <a16:creationId xmlns:a16="http://schemas.microsoft.com/office/drawing/2014/main" id="{451523A6-6992-1E65-FFEA-F49E5FDFBA77}"/>
              </a:ext>
            </a:extLst>
          </p:cNvPr>
          <p:cNvPicPr preferRelativeResize="0"/>
          <p:nvPr/>
        </p:nvPicPr>
        <p:blipFill rotWithShape="1">
          <a:blip r:embed="rId3">
            <a:alphaModFix/>
          </a:blip>
          <a:srcRect/>
          <a:stretch/>
        </p:blipFill>
        <p:spPr>
          <a:xfrm rot="4438997">
            <a:off x="9748422" y="1036836"/>
            <a:ext cx="1269064" cy="1269064"/>
          </a:xfrm>
          <a:prstGeom prst="rect">
            <a:avLst/>
          </a:prstGeom>
          <a:noFill/>
          <a:ln>
            <a:noFill/>
          </a:ln>
        </p:spPr>
      </p:pic>
      <p:sp>
        <p:nvSpPr>
          <p:cNvPr id="2" name="TextBox 1">
            <a:extLst>
              <a:ext uri="{FF2B5EF4-FFF2-40B4-BE49-F238E27FC236}">
                <a16:creationId xmlns:a16="http://schemas.microsoft.com/office/drawing/2014/main" id="{E632EA27-5773-54F8-8E0E-6AF5FF388C8B}"/>
              </a:ext>
            </a:extLst>
          </p:cNvPr>
          <p:cNvSpPr txBox="1"/>
          <p:nvPr/>
        </p:nvSpPr>
        <p:spPr>
          <a:xfrm>
            <a:off x="330529" y="2043950"/>
            <a:ext cx="8742909" cy="2031325"/>
          </a:xfrm>
          <a:prstGeom prst="rect">
            <a:avLst/>
          </a:prstGeom>
          <a:noFill/>
        </p:spPr>
        <p:txBody>
          <a:bodyPr wrap="square" rtlCol="0">
            <a:spAutoFit/>
          </a:bodyPr>
          <a:lstStyle/>
          <a:p>
            <a:pPr>
              <a:lnSpc>
                <a:spcPct val="150000"/>
              </a:lnSpc>
            </a:pPr>
            <a:r>
              <a:rPr lang="vi-VN" b="1" dirty="0">
                <a:latin typeface="Nunito Sans" pitchFamily="2" charset="0"/>
              </a:rPr>
              <a:t>2. Tích hợp đọc thẻ căn cước công dân (ID Card Reading)</a:t>
            </a:r>
          </a:p>
          <a:p>
            <a:pPr>
              <a:lnSpc>
                <a:spcPct val="150000"/>
              </a:lnSpc>
            </a:pPr>
            <a:r>
              <a:rPr lang="vi-VN" dirty="0">
                <a:latin typeface="Nunito Sans" pitchFamily="2" charset="0"/>
              </a:rPr>
              <a:t>Hỗ trợ </a:t>
            </a:r>
            <a:r>
              <a:rPr lang="vi-VN" b="1" dirty="0">
                <a:latin typeface="Nunito Sans" pitchFamily="2" charset="0"/>
              </a:rPr>
              <a:t>NFC </a:t>
            </a:r>
            <a:r>
              <a:rPr lang="vi-VN" dirty="0">
                <a:latin typeface="Nunito Sans" pitchFamily="2" charset="0"/>
              </a:rPr>
              <a:t>để đọc </a:t>
            </a:r>
            <a:r>
              <a:rPr lang="vi-VN" b="1" dirty="0">
                <a:latin typeface="Nunito Sans" pitchFamily="2" charset="0"/>
              </a:rPr>
              <a:t>chíp điện tử trên thẻ căn cước công dân hoặc hộ chiếu điện tử</a:t>
            </a:r>
            <a:r>
              <a:rPr lang="vi-VN" dirty="0">
                <a:latin typeface="Nunito Sans" pitchFamily="2" charset="0"/>
              </a:rPr>
              <a:t>.</a:t>
            </a:r>
          </a:p>
          <a:p>
            <a:pPr marL="285750" indent="-285750">
              <a:lnSpc>
                <a:spcPct val="150000"/>
              </a:lnSpc>
              <a:buFont typeface="Wingdings" panose="05000000000000000000" pitchFamily="2" charset="2"/>
              <a:buChar char="§"/>
            </a:pPr>
            <a:r>
              <a:rPr lang="vi-VN" dirty="0">
                <a:latin typeface="Nunito Sans" pitchFamily="2" charset="0"/>
              </a:rPr>
              <a:t>Giúp rút ngắn thời gian kiểm tra danh tính trong khi tuần tra, kiểm soát.</a:t>
            </a:r>
          </a:p>
          <a:p>
            <a:pPr marL="285750" indent="-285750">
              <a:lnSpc>
                <a:spcPct val="150000"/>
              </a:lnSpc>
              <a:buFont typeface="Wingdings" panose="05000000000000000000" pitchFamily="2" charset="2"/>
              <a:buChar char="§"/>
            </a:pPr>
            <a:r>
              <a:rPr lang="vi-VN" dirty="0">
                <a:latin typeface="Nunito Sans" pitchFamily="2" charset="0"/>
              </a:rPr>
              <a:t>Hỗ trợ nhận dạng người bị truy nã hoặc người mất tích.</a:t>
            </a:r>
          </a:p>
          <a:p>
            <a:endParaRPr lang="en-US" dirty="0">
              <a:latin typeface="Nunito Sans" pitchFamily="2" charset="0"/>
            </a:endParaRPr>
          </a:p>
        </p:txBody>
      </p:sp>
      <p:pic>
        <p:nvPicPr>
          <p:cNvPr id="8" name="Picture 7">
            <a:extLst>
              <a:ext uri="{FF2B5EF4-FFF2-40B4-BE49-F238E27FC236}">
                <a16:creationId xmlns:a16="http://schemas.microsoft.com/office/drawing/2014/main" id="{146CCE31-7120-39F7-0D83-680E6912481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987096" y="288485"/>
            <a:ext cx="1574450" cy="553973"/>
          </a:xfrm>
          <a:prstGeom prst="rect">
            <a:avLst/>
          </a:prstGeom>
        </p:spPr>
      </p:pic>
      <p:sp>
        <p:nvSpPr>
          <p:cNvPr id="15" name="TextBox 14">
            <a:extLst>
              <a:ext uri="{FF2B5EF4-FFF2-40B4-BE49-F238E27FC236}">
                <a16:creationId xmlns:a16="http://schemas.microsoft.com/office/drawing/2014/main" id="{57860DCF-29F2-9377-CB98-9844603534AD}"/>
              </a:ext>
            </a:extLst>
          </p:cNvPr>
          <p:cNvSpPr txBox="1"/>
          <p:nvPr/>
        </p:nvSpPr>
        <p:spPr>
          <a:xfrm>
            <a:off x="630454" y="314866"/>
            <a:ext cx="6683604" cy="1318951"/>
          </a:xfrm>
          <a:prstGeom prst="rect">
            <a:avLst/>
          </a:prstGeom>
          <a:noFill/>
        </p:spPr>
        <p:txBody>
          <a:bodyPr wrap="square" rtlCol="0">
            <a:spAutoFit/>
          </a:bodyPr>
          <a:lstStyle/>
          <a:p>
            <a:pPr>
              <a:lnSpc>
                <a:spcPct val="150000"/>
              </a:lnSpc>
            </a:pPr>
            <a:r>
              <a:rPr lang="en-US" sz="2800" dirty="0" err="1">
                <a:latin typeface="Nunito Sans" pitchFamily="2" charset="0"/>
              </a:rPr>
              <a:t>Giải</a:t>
            </a:r>
            <a:r>
              <a:rPr lang="en-US" sz="2800" dirty="0">
                <a:latin typeface="Nunito Sans" pitchFamily="2" charset="0"/>
              </a:rPr>
              <a:t> </a:t>
            </a:r>
            <a:r>
              <a:rPr lang="en-US" sz="2800" dirty="0" err="1">
                <a:latin typeface="Nunito Sans" pitchFamily="2" charset="0"/>
              </a:rPr>
              <a:t>pháp</a:t>
            </a:r>
            <a:r>
              <a:rPr lang="en-US" sz="2800" dirty="0">
                <a:latin typeface="Nunito Sans" pitchFamily="2" charset="0"/>
              </a:rPr>
              <a:t> </a:t>
            </a:r>
            <a:r>
              <a:rPr lang="en-US" sz="2800" dirty="0" err="1">
                <a:latin typeface="Nunito Sans" pitchFamily="2" charset="0"/>
              </a:rPr>
              <a:t>khác</a:t>
            </a:r>
            <a:r>
              <a:rPr lang="en-US" sz="2800" dirty="0">
                <a:latin typeface="Nunito Sans" pitchFamily="2" charset="0"/>
              </a:rPr>
              <a:t> </a:t>
            </a:r>
            <a:r>
              <a:rPr lang="en-US" sz="2800" dirty="0" err="1">
                <a:latin typeface="Nunito Sans" pitchFamily="2" charset="0"/>
              </a:rPr>
              <a:t>biệt</a:t>
            </a:r>
            <a:r>
              <a:rPr lang="en-US" sz="2800" dirty="0">
                <a:latin typeface="Nunito Sans" pitchFamily="2" charset="0"/>
              </a:rPr>
              <a:t> </a:t>
            </a:r>
            <a:r>
              <a:rPr lang="en-US" sz="2800" dirty="0" err="1">
                <a:latin typeface="Nunito Sans" pitchFamily="2" charset="0"/>
              </a:rPr>
              <a:t>của</a:t>
            </a:r>
            <a:r>
              <a:rPr lang="en-US" sz="2800" dirty="0">
                <a:latin typeface="Nunito Sans" pitchFamily="2" charset="0"/>
              </a:rPr>
              <a:t> </a:t>
            </a:r>
            <a:r>
              <a:rPr lang="en-US" sz="2800" dirty="0" err="1">
                <a:latin typeface="Nunito Sans" pitchFamily="2" charset="0"/>
              </a:rPr>
              <a:t>MobiSecure</a:t>
            </a:r>
            <a:r>
              <a:rPr lang="en-US" sz="2800" dirty="0">
                <a:latin typeface="Nunito Sans" pitchFamily="2" charset="0"/>
              </a:rPr>
              <a:t> – </a:t>
            </a:r>
            <a:endParaRPr lang="vi-VN" sz="2800" dirty="0">
              <a:latin typeface="Nunito Sans" pitchFamily="2" charset="0"/>
            </a:endParaRPr>
          </a:p>
          <a:p>
            <a:pPr>
              <a:lnSpc>
                <a:spcPct val="150000"/>
              </a:lnSpc>
            </a:pPr>
            <a:r>
              <a:rPr lang="vi-VN" sz="2800" dirty="0">
                <a:latin typeface="Nunito Sans" pitchFamily="2" charset="0"/>
              </a:rPr>
              <a:t>Dấu ấn C</a:t>
            </a:r>
            <a:r>
              <a:rPr lang="en-US" sz="2800" dirty="0" err="1">
                <a:latin typeface="Nunito Sans" pitchFamily="2" charset="0"/>
              </a:rPr>
              <a:t>amera</a:t>
            </a:r>
            <a:r>
              <a:rPr lang="en-US" sz="2800" dirty="0">
                <a:latin typeface="Nunito Sans" pitchFamily="2" charset="0"/>
              </a:rPr>
              <a:t> </a:t>
            </a:r>
            <a:r>
              <a:rPr lang="vi-VN" sz="2800" dirty="0">
                <a:latin typeface="Nunito Sans" pitchFamily="2" charset="0"/>
              </a:rPr>
              <a:t>Make in </a:t>
            </a:r>
            <a:r>
              <a:rPr lang="en-US" sz="2800" dirty="0">
                <a:latin typeface="Nunito Sans" pitchFamily="2" charset="0"/>
              </a:rPr>
              <a:t>Việt Nam</a:t>
            </a:r>
            <a:endParaRPr lang="en-US" sz="2500" b="1" dirty="0">
              <a:latin typeface="Nunito Sans" pitchFamily="2" charset="0"/>
            </a:endParaRPr>
          </a:p>
        </p:txBody>
      </p:sp>
      <p:pic>
        <p:nvPicPr>
          <p:cNvPr id="20" name="Picture 19" descr="A close up of a camera">
            <a:extLst>
              <a:ext uri="{FF2B5EF4-FFF2-40B4-BE49-F238E27FC236}">
                <a16:creationId xmlns:a16="http://schemas.microsoft.com/office/drawing/2014/main" id="{951025C5-DF15-B266-F6CD-81FD268807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446614">
            <a:off x="9398718" y="1192341"/>
            <a:ext cx="2490912" cy="3734545"/>
          </a:xfrm>
          <a:prstGeom prst="rect">
            <a:avLst/>
          </a:prstGeom>
        </p:spPr>
      </p:pic>
    </p:spTree>
    <p:extLst>
      <p:ext uri="{BB962C8B-B14F-4D97-AF65-F5344CB8AC3E}">
        <p14:creationId xmlns:p14="http://schemas.microsoft.com/office/powerpoint/2010/main" val="680543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52BEC0E-22F8-46D0-9632-375DB541B06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F4BABA-C729-7218-0567-8AFB055A4860}"/>
              </a:ext>
            </a:extLst>
          </p:cNvPr>
          <p:cNvSpPr txBox="1"/>
          <p:nvPr/>
        </p:nvSpPr>
        <p:spPr>
          <a:xfrm>
            <a:off x="640080" y="2706624"/>
            <a:ext cx="6894576" cy="3483864"/>
          </a:xfrm>
          <a:prstGeom prst="rect">
            <a:avLst/>
          </a:prstGeom>
        </p:spPr>
        <p:txBody>
          <a:bodyPr vert="horz" lIns="91440" tIns="45720" rIns="91440" bIns="45720" rtlCol="0">
            <a:normAutofit/>
          </a:bodyPr>
          <a:lstStyle/>
          <a:p>
            <a:pPr>
              <a:lnSpc>
                <a:spcPct val="90000"/>
              </a:lnSpc>
              <a:spcAft>
                <a:spcPts val="600"/>
              </a:spcAft>
            </a:pPr>
            <a:r>
              <a:rPr lang="en-US" b="1" dirty="0"/>
              <a:t>3. Hiệu </a:t>
            </a:r>
            <a:r>
              <a:rPr lang="en-US" b="1" dirty="0" err="1"/>
              <a:t>năng</a:t>
            </a:r>
            <a:r>
              <a:rPr lang="en-US" b="1" dirty="0"/>
              <a:t> </a:t>
            </a:r>
            <a:r>
              <a:rPr lang="en-US" b="1" dirty="0" err="1"/>
              <a:t>mạnh</a:t>
            </a:r>
            <a:r>
              <a:rPr lang="en-US" b="1" dirty="0"/>
              <a:t> </a:t>
            </a:r>
            <a:r>
              <a:rPr lang="en-US" b="1" dirty="0" err="1"/>
              <a:t>mẽ</a:t>
            </a:r>
            <a:r>
              <a:rPr lang="en-US" b="1" dirty="0"/>
              <a:t> </a:t>
            </a:r>
            <a:r>
              <a:rPr lang="en-US" b="1" dirty="0" err="1"/>
              <a:t>và</a:t>
            </a:r>
            <a:r>
              <a:rPr lang="en-US" b="1" dirty="0"/>
              <a:t> </a:t>
            </a:r>
            <a:r>
              <a:rPr lang="en-US" b="1" dirty="0" err="1"/>
              <a:t>xử</a:t>
            </a:r>
            <a:r>
              <a:rPr lang="en-US" b="1" dirty="0"/>
              <a:t> </a:t>
            </a:r>
            <a:r>
              <a:rPr lang="en-US" b="1" dirty="0" err="1"/>
              <a:t>lý</a:t>
            </a:r>
            <a:r>
              <a:rPr lang="en-US" b="1" dirty="0"/>
              <a:t> </a:t>
            </a:r>
            <a:r>
              <a:rPr lang="en-US" b="1" dirty="0" err="1"/>
              <a:t>hình</a:t>
            </a:r>
            <a:r>
              <a:rPr lang="en-US" b="1" dirty="0"/>
              <a:t> </a:t>
            </a:r>
            <a:r>
              <a:rPr lang="en-US" b="1" dirty="0" err="1"/>
              <a:t>ảnh</a:t>
            </a:r>
            <a:r>
              <a:rPr lang="en-US" b="1" dirty="0"/>
              <a:t> </a:t>
            </a:r>
            <a:r>
              <a:rPr lang="en-US" b="1" dirty="0" err="1"/>
              <a:t>cao</a:t>
            </a:r>
            <a:r>
              <a:rPr lang="en-US" b="1" dirty="0"/>
              <a:t> </a:t>
            </a:r>
            <a:r>
              <a:rPr lang="en-US" b="1" dirty="0" err="1"/>
              <a:t>cấp</a:t>
            </a:r>
            <a:endParaRPr lang="en-US" b="1" dirty="0"/>
          </a:p>
          <a:p>
            <a:pPr indent="-228600">
              <a:lnSpc>
                <a:spcPct val="90000"/>
              </a:lnSpc>
              <a:spcAft>
                <a:spcPts val="600"/>
              </a:spcAft>
              <a:buFont typeface="Arial" panose="020B0604020202020204" pitchFamily="34" charset="0"/>
              <a:buChar char="•"/>
            </a:pPr>
            <a:r>
              <a:rPr lang="en-US" dirty="0" err="1"/>
              <a:t>Sử</a:t>
            </a:r>
            <a:r>
              <a:rPr lang="en-US" dirty="0"/>
              <a:t> </a:t>
            </a:r>
            <a:r>
              <a:rPr lang="en-US" dirty="0" err="1"/>
              <a:t>dụng</a:t>
            </a:r>
            <a:r>
              <a:rPr lang="en-US" dirty="0"/>
              <a:t> </a:t>
            </a:r>
            <a:r>
              <a:rPr lang="en-US" b="1" dirty="0" err="1"/>
              <a:t>cảm</a:t>
            </a:r>
            <a:r>
              <a:rPr lang="en-US" b="1" dirty="0"/>
              <a:t> </a:t>
            </a:r>
            <a:r>
              <a:rPr lang="en-US" b="1" dirty="0" err="1"/>
              <a:t>biến</a:t>
            </a:r>
            <a:r>
              <a:rPr lang="en-US" b="1" dirty="0"/>
              <a:t> </a:t>
            </a:r>
            <a:r>
              <a:rPr lang="en-US" b="1" dirty="0" err="1"/>
              <a:t>ảnh</a:t>
            </a:r>
            <a:r>
              <a:rPr lang="en-US" b="1" dirty="0"/>
              <a:t> Sony 1/2.8” CMOS</a:t>
            </a:r>
            <a:r>
              <a:rPr lang="en-US" dirty="0"/>
              <a:t>, </a:t>
            </a:r>
            <a:r>
              <a:rPr lang="en-US" dirty="0" err="1"/>
              <a:t>độ</a:t>
            </a:r>
            <a:r>
              <a:rPr lang="en-US" dirty="0"/>
              <a:t> </a:t>
            </a:r>
            <a:r>
              <a:rPr lang="en-US" dirty="0" err="1"/>
              <a:t>phân</a:t>
            </a:r>
            <a:r>
              <a:rPr lang="en-US" dirty="0"/>
              <a:t> </a:t>
            </a:r>
            <a:r>
              <a:rPr lang="en-US" dirty="0" err="1"/>
              <a:t>giải</a:t>
            </a:r>
            <a:r>
              <a:rPr lang="en-US" dirty="0"/>
              <a:t> </a:t>
            </a:r>
            <a:r>
              <a:rPr lang="en-US" b="1" dirty="0"/>
              <a:t>Full HD 1080p (2MP)</a:t>
            </a:r>
            <a:r>
              <a:rPr lang="en-US" dirty="0"/>
              <a:t>.</a:t>
            </a:r>
          </a:p>
          <a:p>
            <a:pPr indent="-228600">
              <a:lnSpc>
                <a:spcPct val="90000"/>
              </a:lnSpc>
              <a:spcAft>
                <a:spcPts val="600"/>
              </a:spcAft>
              <a:buFont typeface="Arial" panose="020B0604020202020204" pitchFamily="34" charset="0"/>
              <a:buChar char="•"/>
            </a:pPr>
            <a:r>
              <a:rPr lang="en-US" dirty="0" err="1"/>
              <a:t>Bộ</a:t>
            </a:r>
            <a:r>
              <a:rPr lang="en-US" dirty="0"/>
              <a:t> </a:t>
            </a:r>
            <a:r>
              <a:rPr lang="en-US" dirty="0" err="1"/>
              <a:t>xử</a:t>
            </a:r>
            <a:r>
              <a:rPr lang="en-US" dirty="0"/>
              <a:t> </a:t>
            </a:r>
            <a:r>
              <a:rPr lang="en-US" dirty="0" err="1"/>
              <a:t>lý</a:t>
            </a:r>
            <a:r>
              <a:rPr lang="en-US" dirty="0"/>
              <a:t> </a:t>
            </a:r>
            <a:r>
              <a:rPr lang="en-US" b="1" dirty="0"/>
              <a:t>Ambarella ISP + </a:t>
            </a:r>
            <a:r>
              <a:rPr lang="en-US" b="1" dirty="0" err="1"/>
              <a:t>CVflow</a:t>
            </a:r>
            <a:r>
              <a:rPr lang="en-US" b="1" dirty="0"/>
              <a:t>® AI Vision</a:t>
            </a:r>
            <a:r>
              <a:rPr lang="en-US" dirty="0"/>
              <a:t>, </a:t>
            </a:r>
            <a:r>
              <a:rPr lang="en-US" dirty="0" err="1"/>
              <a:t>hỗ</a:t>
            </a:r>
            <a:r>
              <a:rPr lang="en-US" dirty="0"/>
              <a:t> </a:t>
            </a:r>
            <a:r>
              <a:rPr lang="en-US" dirty="0" err="1"/>
              <a:t>trợ</a:t>
            </a:r>
            <a:r>
              <a:rPr lang="en-US" dirty="0"/>
              <a:t> </a:t>
            </a:r>
            <a:r>
              <a:rPr lang="en-US" dirty="0" err="1"/>
              <a:t>xử</a:t>
            </a:r>
            <a:r>
              <a:rPr lang="en-US" dirty="0"/>
              <a:t> </a:t>
            </a:r>
            <a:r>
              <a:rPr lang="en-US" dirty="0" err="1"/>
              <a:t>lý</a:t>
            </a:r>
            <a:r>
              <a:rPr lang="en-US" dirty="0"/>
              <a:t> video, </a:t>
            </a:r>
            <a:r>
              <a:rPr lang="en-US" dirty="0" err="1"/>
              <a:t>mã</a:t>
            </a:r>
            <a:r>
              <a:rPr lang="en-US" dirty="0"/>
              <a:t> </a:t>
            </a:r>
            <a:r>
              <a:rPr lang="en-US" dirty="0" err="1"/>
              <a:t>hóa</a:t>
            </a:r>
            <a:r>
              <a:rPr lang="en-US" dirty="0"/>
              <a:t> H.264.</a:t>
            </a:r>
          </a:p>
          <a:p>
            <a:pPr indent="-228600">
              <a:lnSpc>
                <a:spcPct val="90000"/>
              </a:lnSpc>
              <a:spcAft>
                <a:spcPts val="600"/>
              </a:spcAft>
              <a:buFont typeface="Arial" panose="020B0604020202020204" pitchFamily="34" charset="0"/>
              <a:buChar char="•"/>
            </a:pPr>
            <a:r>
              <a:rPr lang="en-US" dirty="0" err="1"/>
              <a:t>Hình</a:t>
            </a:r>
            <a:r>
              <a:rPr lang="en-US" dirty="0"/>
              <a:t> </a:t>
            </a:r>
            <a:r>
              <a:rPr lang="en-US" dirty="0" err="1"/>
              <a:t>ảnh</a:t>
            </a:r>
            <a:r>
              <a:rPr lang="en-US" dirty="0"/>
              <a:t> </a:t>
            </a:r>
            <a:r>
              <a:rPr lang="en-US" dirty="0" err="1"/>
              <a:t>sắc</a:t>
            </a:r>
            <a:r>
              <a:rPr lang="en-US" dirty="0"/>
              <a:t> </a:t>
            </a:r>
            <a:r>
              <a:rPr lang="en-US" dirty="0" err="1"/>
              <a:t>nét</a:t>
            </a:r>
            <a:r>
              <a:rPr lang="en-US" dirty="0"/>
              <a:t>, </a:t>
            </a:r>
            <a:r>
              <a:rPr lang="en-US" dirty="0" err="1"/>
              <a:t>kể</a:t>
            </a:r>
            <a:r>
              <a:rPr lang="en-US" dirty="0"/>
              <a:t> </a:t>
            </a:r>
            <a:r>
              <a:rPr lang="en-US" dirty="0" err="1"/>
              <a:t>cả</a:t>
            </a:r>
            <a:r>
              <a:rPr lang="en-US" dirty="0"/>
              <a:t> </a:t>
            </a:r>
            <a:r>
              <a:rPr lang="en-US" dirty="0" err="1"/>
              <a:t>trong</a:t>
            </a:r>
            <a:r>
              <a:rPr lang="en-US" dirty="0"/>
              <a:t> </a:t>
            </a:r>
            <a:r>
              <a:rPr lang="en-US" dirty="0" err="1"/>
              <a:t>điều</a:t>
            </a:r>
            <a:r>
              <a:rPr lang="en-US" dirty="0"/>
              <a:t> </a:t>
            </a:r>
            <a:r>
              <a:rPr lang="en-US" dirty="0" err="1"/>
              <a:t>kiện</a:t>
            </a:r>
            <a:r>
              <a:rPr lang="en-US" dirty="0"/>
              <a:t> </a:t>
            </a:r>
            <a:r>
              <a:rPr lang="en-US" dirty="0" err="1"/>
              <a:t>ánh</a:t>
            </a:r>
            <a:r>
              <a:rPr lang="en-US" dirty="0"/>
              <a:t> </a:t>
            </a:r>
            <a:r>
              <a:rPr lang="en-US" dirty="0" err="1"/>
              <a:t>sáng</a:t>
            </a:r>
            <a:r>
              <a:rPr lang="en-US" dirty="0"/>
              <a:t> </a:t>
            </a:r>
            <a:r>
              <a:rPr lang="en-US" dirty="0" err="1"/>
              <a:t>yếu</a:t>
            </a:r>
            <a:r>
              <a:rPr lang="en-US" dirty="0"/>
              <a:t> (0.001 lux).</a:t>
            </a:r>
          </a:p>
          <a:p>
            <a:pPr indent="-228600">
              <a:lnSpc>
                <a:spcPct val="90000"/>
              </a:lnSpc>
              <a:spcAft>
                <a:spcPts val="600"/>
              </a:spcAft>
              <a:buFont typeface="Arial" panose="020B0604020202020204" pitchFamily="34" charset="0"/>
              <a:buChar char="•"/>
            </a:pPr>
            <a:endParaRPr lang="en-US" dirty="0"/>
          </a:p>
        </p:txBody>
      </p:sp>
      <p:pic>
        <p:nvPicPr>
          <p:cNvPr id="10" name="Google Shape;137;p8">
            <a:extLst>
              <a:ext uri="{FF2B5EF4-FFF2-40B4-BE49-F238E27FC236}">
                <a16:creationId xmlns:a16="http://schemas.microsoft.com/office/drawing/2014/main" id="{42ACDDB2-9ED9-69F2-FA5E-A742CB2DC26D}"/>
              </a:ext>
            </a:extLst>
          </p:cNvPr>
          <p:cNvPicPr preferRelativeResize="0"/>
          <p:nvPr/>
        </p:nvPicPr>
        <p:blipFill rotWithShape="1">
          <a:blip r:embed="rId2"/>
          <a:srcRect b="28592"/>
          <a:stretch/>
        </p:blipFill>
        <p:spPr>
          <a:xfrm>
            <a:off x="7759753" y="1943131"/>
            <a:ext cx="4432247" cy="4780127"/>
          </a:xfrm>
          <a:prstGeom prst="rect">
            <a:avLst/>
          </a:prstGeom>
          <a:noFill/>
        </p:spPr>
      </p:pic>
      <p:pic>
        <p:nvPicPr>
          <p:cNvPr id="8" name="Picture 7">
            <a:extLst>
              <a:ext uri="{FF2B5EF4-FFF2-40B4-BE49-F238E27FC236}">
                <a16:creationId xmlns:a16="http://schemas.microsoft.com/office/drawing/2014/main" id="{F9FE06A3-00AD-2A5B-C0FC-1A4B69D05EA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150819" y="417592"/>
            <a:ext cx="1574450" cy="553973"/>
          </a:xfrm>
          <a:prstGeom prst="rect">
            <a:avLst/>
          </a:prstGeom>
        </p:spPr>
      </p:pic>
      <p:sp>
        <p:nvSpPr>
          <p:cNvPr id="2" name="TextBox 1">
            <a:extLst>
              <a:ext uri="{FF2B5EF4-FFF2-40B4-BE49-F238E27FC236}">
                <a16:creationId xmlns:a16="http://schemas.microsoft.com/office/drawing/2014/main" id="{3F79D6C0-8BB0-3E99-77F4-D24EBFC83031}"/>
              </a:ext>
            </a:extLst>
          </p:cNvPr>
          <p:cNvSpPr txBox="1"/>
          <p:nvPr/>
        </p:nvSpPr>
        <p:spPr>
          <a:xfrm>
            <a:off x="640080" y="592855"/>
            <a:ext cx="6683604" cy="1318951"/>
          </a:xfrm>
          <a:prstGeom prst="rect">
            <a:avLst/>
          </a:prstGeom>
          <a:noFill/>
        </p:spPr>
        <p:txBody>
          <a:bodyPr wrap="square" rtlCol="0">
            <a:spAutoFit/>
          </a:bodyPr>
          <a:lstStyle/>
          <a:p>
            <a:pPr>
              <a:lnSpc>
                <a:spcPct val="150000"/>
              </a:lnSpc>
            </a:pPr>
            <a:r>
              <a:rPr lang="en-US" sz="2800" dirty="0" err="1"/>
              <a:t>Giải</a:t>
            </a:r>
            <a:r>
              <a:rPr lang="en-US" sz="2800" dirty="0"/>
              <a:t> </a:t>
            </a:r>
            <a:r>
              <a:rPr lang="en-US" sz="2800" dirty="0" err="1"/>
              <a:t>pháp</a:t>
            </a:r>
            <a:r>
              <a:rPr lang="en-US" sz="2800" dirty="0"/>
              <a:t> </a:t>
            </a:r>
            <a:r>
              <a:rPr lang="en-US" sz="2800" dirty="0" err="1"/>
              <a:t>khác</a:t>
            </a:r>
            <a:r>
              <a:rPr lang="en-US" sz="2800" dirty="0"/>
              <a:t> </a:t>
            </a:r>
            <a:r>
              <a:rPr lang="en-US" sz="2800" dirty="0" err="1"/>
              <a:t>biệt</a:t>
            </a:r>
            <a:r>
              <a:rPr lang="en-US" sz="2800" dirty="0"/>
              <a:t> </a:t>
            </a:r>
            <a:r>
              <a:rPr lang="en-US" sz="2800" dirty="0" err="1"/>
              <a:t>của</a:t>
            </a:r>
            <a:r>
              <a:rPr lang="en-US" sz="2800" dirty="0"/>
              <a:t> </a:t>
            </a:r>
            <a:r>
              <a:rPr lang="en-US" sz="2800" dirty="0" err="1"/>
              <a:t>MobiSecure</a:t>
            </a:r>
            <a:r>
              <a:rPr lang="en-US" sz="2800" dirty="0"/>
              <a:t> – </a:t>
            </a:r>
            <a:endParaRPr lang="vi-VN" sz="2800" dirty="0"/>
          </a:p>
          <a:p>
            <a:pPr>
              <a:lnSpc>
                <a:spcPct val="150000"/>
              </a:lnSpc>
            </a:pPr>
            <a:r>
              <a:rPr lang="vi-VN" sz="2800" dirty="0"/>
              <a:t>Dấu ấn C</a:t>
            </a:r>
            <a:r>
              <a:rPr lang="en-US" sz="2800" dirty="0" err="1"/>
              <a:t>amera</a:t>
            </a:r>
            <a:r>
              <a:rPr lang="en-US" sz="2800" dirty="0"/>
              <a:t> </a:t>
            </a:r>
            <a:r>
              <a:rPr lang="vi-VN" sz="2800" dirty="0"/>
              <a:t>Make in </a:t>
            </a:r>
            <a:r>
              <a:rPr lang="en-US" sz="2800" dirty="0"/>
              <a:t>Việt Nam</a:t>
            </a:r>
            <a:endParaRPr lang="en-US" sz="2500" b="1" dirty="0"/>
          </a:p>
        </p:txBody>
      </p:sp>
    </p:spTree>
    <p:extLst>
      <p:ext uri="{BB962C8B-B14F-4D97-AF65-F5344CB8AC3E}">
        <p14:creationId xmlns:p14="http://schemas.microsoft.com/office/powerpoint/2010/main" val="2243735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16;p6" descr="A picture containing background pattern&#10;&#10;Description automatically generated">
            <a:extLst>
              <a:ext uri="{FF2B5EF4-FFF2-40B4-BE49-F238E27FC236}">
                <a16:creationId xmlns:a16="http://schemas.microsoft.com/office/drawing/2014/main" id="{FCA9184F-2B6D-F831-7EA6-8E20FEA2E2CA}"/>
              </a:ext>
            </a:extLst>
          </p:cNvPr>
          <p:cNvPicPr preferRelativeResize="0"/>
          <p:nvPr/>
        </p:nvPicPr>
        <p:blipFill rotWithShape="1">
          <a:blip r:embed="rId2">
            <a:alphaModFix/>
          </a:blip>
          <a:srcRect/>
          <a:stretch/>
        </p:blipFill>
        <p:spPr>
          <a:xfrm>
            <a:off x="5536849" y="1238125"/>
            <a:ext cx="5871942" cy="2238998"/>
          </a:xfrm>
          <a:prstGeom prst="rect">
            <a:avLst/>
          </a:prstGeom>
          <a:noFill/>
          <a:ln>
            <a:noFill/>
          </a:ln>
        </p:spPr>
      </p:pic>
      <p:pic>
        <p:nvPicPr>
          <p:cNvPr id="3" name="Google Shape;117;p6" descr="A picture containing text, electronics, screenshot, display&#10;&#10;Description automatically generated">
            <a:extLst>
              <a:ext uri="{FF2B5EF4-FFF2-40B4-BE49-F238E27FC236}">
                <a16:creationId xmlns:a16="http://schemas.microsoft.com/office/drawing/2014/main" id="{C342CCF3-ADE5-EBB8-792F-46CBEA85378D}"/>
              </a:ext>
            </a:extLst>
          </p:cNvPr>
          <p:cNvPicPr preferRelativeResize="0"/>
          <p:nvPr/>
        </p:nvPicPr>
        <p:blipFill rotWithShape="1">
          <a:blip r:embed="rId3">
            <a:alphaModFix/>
          </a:blip>
          <a:srcRect b="4143"/>
          <a:stretch/>
        </p:blipFill>
        <p:spPr>
          <a:xfrm>
            <a:off x="6322035" y="3196460"/>
            <a:ext cx="4755869" cy="3661540"/>
          </a:xfrm>
          <a:prstGeom prst="rect">
            <a:avLst/>
          </a:prstGeom>
          <a:noFill/>
          <a:ln>
            <a:noFill/>
          </a:ln>
        </p:spPr>
      </p:pic>
      <p:sp>
        <p:nvSpPr>
          <p:cNvPr id="5" name="TextBox 4">
            <a:extLst>
              <a:ext uri="{FF2B5EF4-FFF2-40B4-BE49-F238E27FC236}">
                <a16:creationId xmlns:a16="http://schemas.microsoft.com/office/drawing/2014/main" id="{9A892DBE-5663-B850-543E-B832EB260620}"/>
              </a:ext>
            </a:extLst>
          </p:cNvPr>
          <p:cNvSpPr txBox="1"/>
          <p:nvPr/>
        </p:nvSpPr>
        <p:spPr>
          <a:xfrm>
            <a:off x="783209" y="1872788"/>
            <a:ext cx="3995530" cy="4622869"/>
          </a:xfrm>
          <a:prstGeom prst="rect">
            <a:avLst/>
          </a:prstGeom>
          <a:noFill/>
        </p:spPr>
        <p:txBody>
          <a:bodyPr wrap="square" rtlCol="0">
            <a:spAutoFit/>
          </a:bodyPr>
          <a:lstStyle/>
          <a:p>
            <a:pPr>
              <a:lnSpc>
                <a:spcPct val="150000"/>
              </a:lnSpc>
            </a:pPr>
            <a:r>
              <a:rPr lang="vi-VN" b="1" dirty="0"/>
              <a:t>4. </a:t>
            </a:r>
            <a:r>
              <a:rPr lang="en-US" b="1" dirty="0" err="1"/>
              <a:t>Kết</a:t>
            </a:r>
            <a:r>
              <a:rPr lang="en-US" b="1" dirty="0"/>
              <a:t> </a:t>
            </a:r>
            <a:r>
              <a:rPr lang="en-US" b="1" dirty="0" err="1"/>
              <a:t>nối</a:t>
            </a:r>
            <a:r>
              <a:rPr lang="en-US" b="1" dirty="0"/>
              <a:t> </a:t>
            </a:r>
            <a:r>
              <a:rPr lang="en-US" b="1" dirty="0" err="1"/>
              <a:t>đa</a:t>
            </a:r>
            <a:r>
              <a:rPr lang="en-US" b="1" dirty="0"/>
              <a:t> </a:t>
            </a:r>
            <a:r>
              <a:rPr lang="en-US" b="1" dirty="0" err="1"/>
              <a:t>dạng</a:t>
            </a:r>
            <a:r>
              <a:rPr lang="en-US" b="1" dirty="0"/>
              <a:t> &amp; </a:t>
            </a:r>
            <a:r>
              <a:rPr lang="en-US" b="1" dirty="0" err="1"/>
              <a:t>hệ</a:t>
            </a:r>
            <a:r>
              <a:rPr lang="en-US" b="1" dirty="0"/>
              <a:t> </a:t>
            </a:r>
            <a:r>
              <a:rPr lang="en-US" b="1" dirty="0" err="1"/>
              <a:t>thống</a:t>
            </a:r>
            <a:r>
              <a:rPr lang="en-US" b="1" dirty="0"/>
              <a:t> </a:t>
            </a:r>
            <a:r>
              <a:rPr lang="en-US" b="1" dirty="0" err="1"/>
              <a:t>quản</a:t>
            </a:r>
            <a:r>
              <a:rPr lang="en-US" b="1" dirty="0"/>
              <a:t> </a:t>
            </a:r>
            <a:r>
              <a:rPr lang="en-US" b="1" dirty="0" err="1"/>
              <a:t>lý</a:t>
            </a:r>
            <a:r>
              <a:rPr lang="en-US" b="1" dirty="0"/>
              <a:t> </a:t>
            </a:r>
            <a:r>
              <a:rPr lang="en-US" b="1" dirty="0" err="1"/>
              <a:t>tập</a:t>
            </a:r>
            <a:r>
              <a:rPr lang="en-US" b="1" dirty="0"/>
              <a:t> </a:t>
            </a:r>
            <a:r>
              <a:rPr lang="en-US" b="1" dirty="0" err="1"/>
              <a:t>trung</a:t>
            </a:r>
            <a:endParaRPr lang="en-US" b="1" dirty="0"/>
          </a:p>
          <a:p>
            <a:pPr marL="285750" indent="-285750">
              <a:lnSpc>
                <a:spcPct val="150000"/>
              </a:lnSpc>
              <a:buFont typeface="Wingdings" panose="05000000000000000000" pitchFamily="2" charset="2"/>
              <a:buChar char="Ø"/>
            </a:pPr>
            <a:r>
              <a:rPr lang="en-US" dirty="0" err="1"/>
              <a:t>Hỗ</a:t>
            </a:r>
            <a:r>
              <a:rPr lang="en-US" dirty="0"/>
              <a:t> </a:t>
            </a:r>
            <a:r>
              <a:rPr lang="en-US" dirty="0" err="1"/>
              <a:t>trợ</a:t>
            </a:r>
            <a:r>
              <a:rPr lang="en-US" dirty="0"/>
              <a:t> </a:t>
            </a:r>
            <a:r>
              <a:rPr lang="en-US" b="1" dirty="0"/>
              <a:t>Wi-Fi (2.4 GHz &amp; 5 GHz), Bluetooth, 4G LTE, GPS &amp; GLONASS</a:t>
            </a:r>
            <a:r>
              <a:rPr lang="en-US" dirty="0"/>
              <a:t>, </a:t>
            </a:r>
            <a:r>
              <a:rPr lang="en-US" dirty="0" err="1"/>
              <a:t>giúp</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thời</a:t>
            </a:r>
            <a:r>
              <a:rPr lang="en-US" dirty="0"/>
              <a:t> </a:t>
            </a:r>
            <a:r>
              <a:rPr lang="en-US" dirty="0" err="1"/>
              <a:t>gian</a:t>
            </a:r>
            <a:r>
              <a:rPr lang="en-US" dirty="0"/>
              <a:t> </a:t>
            </a:r>
            <a:r>
              <a:rPr lang="en-US" dirty="0" err="1"/>
              <a:t>thực</a:t>
            </a:r>
            <a:r>
              <a:rPr lang="en-US" dirty="0"/>
              <a:t>.</a:t>
            </a:r>
            <a:endParaRPr lang="vi-VN" dirty="0"/>
          </a:p>
          <a:p>
            <a:pPr>
              <a:lnSpc>
                <a:spcPct val="150000"/>
              </a:lnSpc>
            </a:pPr>
            <a:r>
              <a:rPr lang="en-US" dirty="0" err="1"/>
              <a:t>Có</a:t>
            </a:r>
            <a:r>
              <a:rPr lang="en-US" dirty="0"/>
              <a:t> </a:t>
            </a:r>
            <a:r>
              <a:rPr lang="en-US" b="1" dirty="0" err="1"/>
              <a:t>phần</a:t>
            </a:r>
            <a:r>
              <a:rPr lang="en-US" b="1" dirty="0"/>
              <a:t> </a:t>
            </a:r>
            <a:r>
              <a:rPr lang="en-US" b="1" dirty="0" err="1"/>
              <a:t>mềm</a:t>
            </a:r>
            <a:r>
              <a:rPr lang="en-US" b="1" dirty="0"/>
              <a:t> </a:t>
            </a:r>
            <a:r>
              <a:rPr lang="en-US" b="1" dirty="0" err="1"/>
              <a:t>trung</a:t>
            </a:r>
            <a:r>
              <a:rPr lang="en-US" b="1" dirty="0"/>
              <a:t> </a:t>
            </a:r>
            <a:r>
              <a:rPr lang="en-US" b="1" dirty="0" err="1"/>
              <a:t>tâm</a:t>
            </a:r>
            <a:r>
              <a:rPr lang="en-US" b="1" dirty="0"/>
              <a:t> </a:t>
            </a:r>
            <a:r>
              <a:rPr lang="vi-VN" b="1" dirty="0"/>
              <a:t> COMS </a:t>
            </a:r>
            <a:r>
              <a:rPr lang="en-US" dirty="0" err="1"/>
              <a:t>để</a:t>
            </a:r>
            <a:r>
              <a:rPr lang="en-US" dirty="0"/>
              <a:t>:</a:t>
            </a:r>
            <a:endParaRPr lang="vi-VN" dirty="0"/>
          </a:p>
          <a:p>
            <a:pPr marL="285750" indent="-285750">
              <a:lnSpc>
                <a:spcPct val="150000"/>
              </a:lnSpc>
              <a:buFont typeface="Wingdings" panose="05000000000000000000" pitchFamily="2" charset="2"/>
              <a:buChar char="ü"/>
            </a:pPr>
            <a:r>
              <a:rPr lang="en-US" dirty="0" err="1"/>
              <a:t>Giám</a:t>
            </a:r>
            <a:r>
              <a:rPr lang="en-US" dirty="0"/>
              <a:t> </a:t>
            </a:r>
            <a:r>
              <a:rPr lang="en-US" dirty="0" err="1"/>
              <a:t>sát</a:t>
            </a:r>
            <a:r>
              <a:rPr lang="en-US" dirty="0"/>
              <a:t> </a:t>
            </a:r>
            <a:r>
              <a:rPr lang="en-US" dirty="0" err="1"/>
              <a:t>vị</a:t>
            </a:r>
            <a:r>
              <a:rPr lang="en-US" dirty="0"/>
              <a:t> </a:t>
            </a:r>
            <a:r>
              <a:rPr lang="en-US" dirty="0" err="1"/>
              <a:t>trí</a:t>
            </a:r>
            <a:r>
              <a:rPr lang="en-US" dirty="0"/>
              <a:t> </a:t>
            </a:r>
            <a:r>
              <a:rPr lang="en-US" dirty="0" err="1"/>
              <a:t>thiết</a:t>
            </a:r>
            <a:r>
              <a:rPr lang="en-US" dirty="0"/>
              <a:t> </a:t>
            </a:r>
            <a:r>
              <a:rPr lang="en-US" dirty="0" err="1"/>
              <a:t>bị</a:t>
            </a:r>
            <a:r>
              <a:rPr lang="en-US" dirty="0"/>
              <a:t> </a:t>
            </a:r>
            <a:r>
              <a:rPr lang="en-US" dirty="0" err="1"/>
              <a:t>theo</a:t>
            </a:r>
            <a:r>
              <a:rPr lang="en-US" dirty="0"/>
              <a:t> GPS.</a:t>
            </a:r>
            <a:endParaRPr lang="vi-VN" dirty="0"/>
          </a:p>
          <a:p>
            <a:pPr marL="285750" indent="-285750">
              <a:lnSpc>
                <a:spcPct val="150000"/>
              </a:lnSpc>
              <a:buFont typeface="Wingdings" panose="05000000000000000000" pitchFamily="2" charset="2"/>
              <a:buChar char="ü"/>
            </a:pPr>
            <a:r>
              <a:rPr lang="en-US" dirty="0"/>
              <a:t>Xem video </a:t>
            </a:r>
            <a:r>
              <a:rPr lang="en-US" dirty="0" err="1"/>
              <a:t>trực</a:t>
            </a:r>
            <a:r>
              <a:rPr lang="en-US" dirty="0"/>
              <a:t> </a:t>
            </a:r>
            <a:r>
              <a:rPr lang="en-US" dirty="0" err="1"/>
              <a:t>tiếp</a:t>
            </a:r>
            <a:r>
              <a:rPr lang="en-US" dirty="0"/>
              <a:t> (live view).</a:t>
            </a:r>
            <a:endParaRPr lang="vi-VN" dirty="0"/>
          </a:p>
          <a:p>
            <a:pPr marL="285750" indent="-285750">
              <a:lnSpc>
                <a:spcPct val="150000"/>
              </a:lnSpc>
              <a:buFont typeface="Wingdings" panose="05000000000000000000" pitchFamily="2" charset="2"/>
              <a:buChar char="ü"/>
            </a:pPr>
            <a:r>
              <a:rPr lang="en-US" dirty="0"/>
              <a:t>Quản </a:t>
            </a:r>
            <a:r>
              <a:rPr lang="en-US" dirty="0" err="1"/>
              <a:t>lý</a:t>
            </a:r>
            <a:r>
              <a:rPr lang="en-US" dirty="0"/>
              <a:t> </a:t>
            </a:r>
            <a:r>
              <a:rPr lang="en-US" dirty="0" err="1"/>
              <a:t>dữ</a:t>
            </a:r>
            <a:r>
              <a:rPr lang="en-US" dirty="0"/>
              <a:t> </a:t>
            </a:r>
            <a:r>
              <a:rPr lang="en-US" dirty="0" err="1"/>
              <a:t>liệu</a:t>
            </a:r>
            <a:r>
              <a:rPr lang="en-US" dirty="0"/>
              <a:t> </a:t>
            </a:r>
            <a:r>
              <a:rPr lang="en-US" dirty="0" err="1"/>
              <a:t>tuần</a:t>
            </a:r>
            <a:r>
              <a:rPr lang="en-US" dirty="0"/>
              <a:t> </a:t>
            </a:r>
            <a:r>
              <a:rPr lang="en-US" dirty="0" err="1"/>
              <a:t>tra</a:t>
            </a:r>
            <a:r>
              <a:rPr lang="en-US" dirty="0"/>
              <a:t>, </a:t>
            </a:r>
            <a:r>
              <a:rPr lang="en-US" dirty="0" err="1"/>
              <a:t>trích</a:t>
            </a:r>
            <a:r>
              <a:rPr lang="en-US" dirty="0"/>
              <a:t> </a:t>
            </a:r>
            <a:r>
              <a:rPr lang="en-US" dirty="0" err="1"/>
              <a:t>xuất</a:t>
            </a:r>
            <a:r>
              <a:rPr lang="en-US" dirty="0"/>
              <a:t> </a:t>
            </a:r>
            <a:r>
              <a:rPr lang="en-US" dirty="0" err="1"/>
              <a:t>báo</a:t>
            </a:r>
            <a:r>
              <a:rPr lang="en-US" dirty="0"/>
              <a:t> </a:t>
            </a:r>
            <a:r>
              <a:rPr lang="en-US" dirty="0" err="1"/>
              <a:t>cáo</a:t>
            </a:r>
            <a:r>
              <a:rPr lang="en-US" dirty="0"/>
              <a:t>, </a:t>
            </a:r>
            <a:r>
              <a:rPr lang="en-US" dirty="0" err="1"/>
              <a:t>và</a:t>
            </a:r>
            <a:r>
              <a:rPr lang="en-US" dirty="0"/>
              <a:t> </a:t>
            </a:r>
            <a:r>
              <a:rPr lang="en-US" dirty="0" err="1"/>
              <a:t>ra</a:t>
            </a:r>
            <a:r>
              <a:rPr lang="en-US" dirty="0"/>
              <a:t> </a:t>
            </a:r>
            <a:r>
              <a:rPr lang="en-US" dirty="0" err="1"/>
              <a:t>lệnh</a:t>
            </a:r>
            <a:r>
              <a:rPr lang="en-US" dirty="0"/>
              <a:t> </a:t>
            </a:r>
            <a:r>
              <a:rPr lang="en-US" dirty="0" err="1"/>
              <a:t>từ</a:t>
            </a:r>
            <a:r>
              <a:rPr lang="en-US" dirty="0"/>
              <a:t> xa.</a:t>
            </a:r>
          </a:p>
        </p:txBody>
      </p:sp>
      <p:pic>
        <p:nvPicPr>
          <p:cNvPr id="4" name="Picture 3">
            <a:extLst>
              <a:ext uri="{FF2B5EF4-FFF2-40B4-BE49-F238E27FC236}">
                <a16:creationId xmlns:a16="http://schemas.microsoft.com/office/drawing/2014/main" id="{19E485CC-65BC-BDC0-BE5B-687ABA3506F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987096" y="288485"/>
            <a:ext cx="1574450" cy="553973"/>
          </a:xfrm>
          <a:prstGeom prst="rect">
            <a:avLst/>
          </a:prstGeom>
        </p:spPr>
      </p:pic>
      <p:sp>
        <p:nvSpPr>
          <p:cNvPr id="7" name="TextBox 6">
            <a:extLst>
              <a:ext uri="{FF2B5EF4-FFF2-40B4-BE49-F238E27FC236}">
                <a16:creationId xmlns:a16="http://schemas.microsoft.com/office/drawing/2014/main" id="{D0FC8567-7DB9-B586-27C7-D171FBF9F0DA}"/>
              </a:ext>
            </a:extLst>
          </p:cNvPr>
          <p:cNvSpPr txBox="1"/>
          <p:nvPr/>
        </p:nvSpPr>
        <p:spPr>
          <a:xfrm>
            <a:off x="502634" y="362343"/>
            <a:ext cx="6683604" cy="1318951"/>
          </a:xfrm>
          <a:prstGeom prst="rect">
            <a:avLst/>
          </a:prstGeom>
          <a:noFill/>
        </p:spPr>
        <p:txBody>
          <a:bodyPr wrap="square" rtlCol="0">
            <a:spAutoFit/>
          </a:bodyPr>
          <a:lstStyle/>
          <a:p>
            <a:pPr>
              <a:lnSpc>
                <a:spcPct val="150000"/>
              </a:lnSpc>
            </a:pPr>
            <a:r>
              <a:rPr lang="en-US" sz="2800" dirty="0" err="1"/>
              <a:t>Giải</a:t>
            </a:r>
            <a:r>
              <a:rPr lang="en-US" sz="2800" dirty="0"/>
              <a:t> </a:t>
            </a:r>
            <a:r>
              <a:rPr lang="en-US" sz="2800" dirty="0" err="1"/>
              <a:t>pháp</a:t>
            </a:r>
            <a:r>
              <a:rPr lang="en-US" sz="2800" dirty="0"/>
              <a:t> </a:t>
            </a:r>
            <a:r>
              <a:rPr lang="en-US" sz="2800" dirty="0" err="1"/>
              <a:t>khác</a:t>
            </a:r>
            <a:r>
              <a:rPr lang="en-US" sz="2800" dirty="0"/>
              <a:t> </a:t>
            </a:r>
            <a:r>
              <a:rPr lang="en-US" sz="2800" dirty="0" err="1"/>
              <a:t>biệt</a:t>
            </a:r>
            <a:r>
              <a:rPr lang="en-US" sz="2800" dirty="0"/>
              <a:t> </a:t>
            </a:r>
            <a:r>
              <a:rPr lang="en-US" sz="2800" dirty="0" err="1"/>
              <a:t>của</a:t>
            </a:r>
            <a:r>
              <a:rPr lang="en-US" sz="2800" dirty="0"/>
              <a:t> </a:t>
            </a:r>
            <a:r>
              <a:rPr lang="en-US" sz="2800" dirty="0" err="1"/>
              <a:t>MobiSecure</a:t>
            </a:r>
            <a:r>
              <a:rPr lang="en-US" sz="2800" dirty="0"/>
              <a:t> – </a:t>
            </a:r>
            <a:endParaRPr lang="vi-VN" sz="2800" dirty="0"/>
          </a:p>
          <a:p>
            <a:pPr>
              <a:lnSpc>
                <a:spcPct val="150000"/>
              </a:lnSpc>
            </a:pPr>
            <a:r>
              <a:rPr lang="vi-VN" sz="2800" dirty="0"/>
              <a:t>Dấu ấn C</a:t>
            </a:r>
            <a:r>
              <a:rPr lang="en-US" sz="2800" dirty="0" err="1"/>
              <a:t>amera</a:t>
            </a:r>
            <a:r>
              <a:rPr lang="en-US" sz="2800" dirty="0"/>
              <a:t> </a:t>
            </a:r>
            <a:r>
              <a:rPr lang="vi-VN" sz="2800" dirty="0"/>
              <a:t>Make in </a:t>
            </a:r>
            <a:r>
              <a:rPr lang="en-US" sz="2800" dirty="0"/>
              <a:t>Việt Nam</a:t>
            </a:r>
            <a:endParaRPr lang="en-US" sz="2500" b="1" dirty="0"/>
          </a:p>
        </p:txBody>
      </p:sp>
    </p:spTree>
    <p:extLst>
      <p:ext uri="{BB962C8B-B14F-4D97-AF65-F5344CB8AC3E}">
        <p14:creationId xmlns:p14="http://schemas.microsoft.com/office/powerpoint/2010/main" val="2813393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873FE48-0DED-02D2-F8C1-C632E4D38E3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87096" y="288485"/>
            <a:ext cx="1574450" cy="553973"/>
          </a:xfrm>
          <a:prstGeom prst="rect">
            <a:avLst/>
          </a:prstGeom>
        </p:spPr>
      </p:pic>
      <p:sp>
        <p:nvSpPr>
          <p:cNvPr id="6" name="TextBox 5">
            <a:extLst>
              <a:ext uri="{FF2B5EF4-FFF2-40B4-BE49-F238E27FC236}">
                <a16:creationId xmlns:a16="http://schemas.microsoft.com/office/drawing/2014/main" id="{7FBA4997-76B0-C153-9A7B-28045C40C01F}"/>
              </a:ext>
            </a:extLst>
          </p:cNvPr>
          <p:cNvSpPr txBox="1"/>
          <p:nvPr/>
        </p:nvSpPr>
        <p:spPr>
          <a:xfrm>
            <a:off x="757980" y="2196659"/>
            <a:ext cx="6102626" cy="2550698"/>
          </a:xfrm>
          <a:prstGeom prst="rect">
            <a:avLst/>
          </a:prstGeom>
          <a:noFill/>
        </p:spPr>
        <p:txBody>
          <a:bodyPr wrap="square">
            <a:spAutoFit/>
          </a:bodyPr>
          <a:lstStyle/>
          <a:p>
            <a:pPr>
              <a:lnSpc>
                <a:spcPct val="150000"/>
              </a:lnSpc>
            </a:pPr>
            <a:r>
              <a:rPr lang="vi-VN" b="1" dirty="0">
                <a:latin typeface="Nunito Sans" pitchFamily="2" charset="0"/>
              </a:rPr>
              <a:t>5. Vận hành bền bỉ </a:t>
            </a:r>
          </a:p>
          <a:p>
            <a:pPr>
              <a:lnSpc>
                <a:spcPct val="150000"/>
              </a:lnSpc>
            </a:pPr>
            <a:r>
              <a:rPr lang="vi-VN" dirty="0">
                <a:latin typeface="Nunito Sans" pitchFamily="2" charset="0"/>
              </a:rPr>
              <a:t>Vỏ </a:t>
            </a:r>
            <a:r>
              <a:rPr lang="vi-VN" b="1" dirty="0">
                <a:latin typeface="Nunito Sans" pitchFamily="2" charset="0"/>
              </a:rPr>
              <a:t>nhựa ABS/PC</a:t>
            </a:r>
            <a:r>
              <a:rPr lang="vi-VN" dirty="0">
                <a:latin typeface="Nunito Sans" pitchFamily="2" charset="0"/>
              </a:rPr>
              <a:t>, đạt chuẩn </a:t>
            </a:r>
            <a:r>
              <a:rPr lang="vi-VN" b="1" dirty="0">
                <a:latin typeface="Nunito Sans" pitchFamily="2" charset="0"/>
              </a:rPr>
              <a:t>chống bụi, chống nước IP67</a:t>
            </a:r>
            <a:r>
              <a:rPr lang="vi-VN" dirty="0">
                <a:latin typeface="Nunito Sans" pitchFamily="2" charset="0"/>
              </a:rPr>
              <a:t>.</a:t>
            </a:r>
          </a:p>
          <a:p>
            <a:pPr marL="285750" indent="-285750">
              <a:lnSpc>
                <a:spcPct val="150000"/>
              </a:lnSpc>
              <a:buFont typeface="Wingdings" panose="05000000000000000000" pitchFamily="2" charset="2"/>
              <a:buChar char="ü"/>
            </a:pPr>
            <a:r>
              <a:rPr lang="vi-VN" dirty="0">
                <a:latin typeface="Nunito Sans" pitchFamily="2" charset="0"/>
              </a:rPr>
              <a:t>Hoạt động trong điều kiện môi trường khắc nghiệt (-10 °C → 45 °C, độ ẩm 90%).</a:t>
            </a:r>
          </a:p>
          <a:p>
            <a:pPr marL="285750" indent="-285750">
              <a:lnSpc>
                <a:spcPct val="150000"/>
              </a:lnSpc>
              <a:buFont typeface="Wingdings" panose="05000000000000000000" pitchFamily="2" charset="2"/>
              <a:buChar char="ü"/>
            </a:pPr>
            <a:r>
              <a:rPr lang="vi-VN" b="1" dirty="0">
                <a:latin typeface="Nunito Sans" pitchFamily="2" charset="0"/>
              </a:rPr>
              <a:t>Pin 4500 mAh</a:t>
            </a:r>
            <a:r>
              <a:rPr lang="vi-VN" dirty="0">
                <a:latin typeface="Nunito Sans" pitchFamily="2" charset="0"/>
              </a:rPr>
              <a:t>, hoạt động </a:t>
            </a:r>
            <a:r>
              <a:rPr lang="vi-VN" b="1" dirty="0">
                <a:latin typeface="Nunito Sans" pitchFamily="2" charset="0"/>
              </a:rPr>
              <a:t>trên 8 giờ</a:t>
            </a:r>
            <a:r>
              <a:rPr lang="vi-VN" dirty="0">
                <a:latin typeface="Nunito Sans" pitchFamily="2" charset="0"/>
              </a:rPr>
              <a:t> mỗi lần sạc.</a:t>
            </a:r>
          </a:p>
          <a:p>
            <a:pPr marL="285750" indent="-285750">
              <a:lnSpc>
                <a:spcPct val="150000"/>
              </a:lnSpc>
              <a:buFont typeface="Wingdings" panose="05000000000000000000" pitchFamily="2" charset="2"/>
              <a:buChar char="ü"/>
            </a:pPr>
            <a:r>
              <a:rPr lang="vi-VN" dirty="0">
                <a:latin typeface="Nunito Sans" pitchFamily="2" charset="0"/>
              </a:rPr>
              <a:t>Thiết kế nhỏ gọn, dễ mang theo.</a:t>
            </a:r>
          </a:p>
        </p:txBody>
      </p:sp>
      <p:sp>
        <p:nvSpPr>
          <p:cNvPr id="5" name="TextBox 4">
            <a:extLst>
              <a:ext uri="{FF2B5EF4-FFF2-40B4-BE49-F238E27FC236}">
                <a16:creationId xmlns:a16="http://schemas.microsoft.com/office/drawing/2014/main" id="{A2BD4CA9-805B-24C0-962D-96AC57E2F20E}"/>
              </a:ext>
            </a:extLst>
          </p:cNvPr>
          <p:cNvSpPr txBox="1"/>
          <p:nvPr/>
        </p:nvSpPr>
        <p:spPr>
          <a:xfrm>
            <a:off x="364690" y="565471"/>
            <a:ext cx="6683604" cy="1419619"/>
          </a:xfrm>
          <a:prstGeom prst="rect">
            <a:avLst/>
          </a:prstGeom>
          <a:noFill/>
        </p:spPr>
        <p:txBody>
          <a:bodyPr wrap="square" rtlCol="0">
            <a:spAutoFit/>
          </a:bodyPr>
          <a:lstStyle/>
          <a:p>
            <a:pPr>
              <a:lnSpc>
                <a:spcPct val="150000"/>
              </a:lnSpc>
            </a:pPr>
            <a:r>
              <a:rPr lang="en-US" sz="3000" dirty="0" err="1">
                <a:latin typeface="Nunito Sans" pitchFamily="2" charset="0"/>
              </a:rPr>
              <a:t>Giải</a:t>
            </a:r>
            <a:r>
              <a:rPr lang="en-US" sz="3000" dirty="0">
                <a:latin typeface="Nunito Sans" pitchFamily="2" charset="0"/>
              </a:rPr>
              <a:t> </a:t>
            </a:r>
            <a:r>
              <a:rPr lang="en-US" sz="3000" dirty="0" err="1">
                <a:latin typeface="Nunito Sans" pitchFamily="2" charset="0"/>
              </a:rPr>
              <a:t>pháp</a:t>
            </a:r>
            <a:r>
              <a:rPr lang="en-US" sz="3000" dirty="0">
                <a:latin typeface="Nunito Sans" pitchFamily="2" charset="0"/>
              </a:rPr>
              <a:t> </a:t>
            </a:r>
            <a:r>
              <a:rPr lang="en-US" sz="3000" dirty="0" err="1">
                <a:latin typeface="Nunito Sans" pitchFamily="2" charset="0"/>
              </a:rPr>
              <a:t>khác</a:t>
            </a:r>
            <a:r>
              <a:rPr lang="en-US" sz="3000" dirty="0">
                <a:latin typeface="Nunito Sans" pitchFamily="2" charset="0"/>
              </a:rPr>
              <a:t> </a:t>
            </a:r>
            <a:r>
              <a:rPr lang="en-US" sz="3000" dirty="0" err="1">
                <a:latin typeface="Nunito Sans" pitchFamily="2" charset="0"/>
              </a:rPr>
              <a:t>biệt</a:t>
            </a:r>
            <a:r>
              <a:rPr lang="en-US" sz="3000" dirty="0">
                <a:latin typeface="Nunito Sans" pitchFamily="2" charset="0"/>
              </a:rPr>
              <a:t> </a:t>
            </a:r>
            <a:r>
              <a:rPr lang="en-US" sz="3000" dirty="0" err="1">
                <a:latin typeface="Nunito Sans" pitchFamily="2" charset="0"/>
              </a:rPr>
              <a:t>của</a:t>
            </a:r>
            <a:r>
              <a:rPr lang="en-US" sz="3000" dirty="0">
                <a:latin typeface="Nunito Sans" pitchFamily="2" charset="0"/>
              </a:rPr>
              <a:t> </a:t>
            </a:r>
            <a:r>
              <a:rPr lang="en-US" sz="3000" dirty="0" err="1">
                <a:latin typeface="Nunito Sans" pitchFamily="2" charset="0"/>
              </a:rPr>
              <a:t>MobiSecure</a:t>
            </a:r>
            <a:r>
              <a:rPr lang="en-US" sz="3000" dirty="0">
                <a:latin typeface="Nunito Sans" pitchFamily="2" charset="0"/>
              </a:rPr>
              <a:t> – </a:t>
            </a:r>
            <a:endParaRPr lang="vi-VN" sz="3000" dirty="0">
              <a:latin typeface="Nunito Sans" pitchFamily="2" charset="0"/>
            </a:endParaRPr>
          </a:p>
          <a:p>
            <a:pPr>
              <a:lnSpc>
                <a:spcPct val="150000"/>
              </a:lnSpc>
            </a:pPr>
            <a:r>
              <a:rPr lang="vi-VN" sz="3000" dirty="0">
                <a:latin typeface="Nunito Sans" pitchFamily="2" charset="0"/>
              </a:rPr>
              <a:t>Dấu ấn C</a:t>
            </a:r>
            <a:r>
              <a:rPr lang="en-US" sz="3000" dirty="0" err="1">
                <a:latin typeface="Nunito Sans" pitchFamily="2" charset="0"/>
              </a:rPr>
              <a:t>amera</a:t>
            </a:r>
            <a:r>
              <a:rPr lang="en-US" sz="3000" dirty="0">
                <a:latin typeface="Nunito Sans" pitchFamily="2" charset="0"/>
              </a:rPr>
              <a:t> </a:t>
            </a:r>
            <a:r>
              <a:rPr lang="vi-VN" sz="3000" dirty="0">
                <a:latin typeface="Nunito Sans" pitchFamily="2" charset="0"/>
              </a:rPr>
              <a:t>Make in </a:t>
            </a:r>
            <a:r>
              <a:rPr lang="en-US" sz="3000" dirty="0">
                <a:latin typeface="Nunito Sans" pitchFamily="2" charset="0"/>
              </a:rPr>
              <a:t>Việt Nam</a:t>
            </a:r>
            <a:endParaRPr lang="en-US" sz="3000" b="1" dirty="0">
              <a:latin typeface="Nunito Sans" pitchFamily="2" charset="0"/>
            </a:endParaRPr>
          </a:p>
        </p:txBody>
      </p:sp>
      <p:pic>
        <p:nvPicPr>
          <p:cNvPr id="8" name="Picture 7" descr="A camera attached to a person's body&#10;&#10;AI-generated content may be incorrect.">
            <a:extLst>
              <a:ext uri="{FF2B5EF4-FFF2-40B4-BE49-F238E27FC236}">
                <a16:creationId xmlns:a16="http://schemas.microsoft.com/office/drawing/2014/main" id="{52F73AF4-08CE-396C-3ACA-6E645126C8B8}"/>
              </a:ext>
            </a:extLst>
          </p:cNvPr>
          <p:cNvPicPr>
            <a:picLocks noChangeAspect="1"/>
          </p:cNvPicPr>
          <p:nvPr/>
        </p:nvPicPr>
        <p:blipFill>
          <a:blip r:embed="rId3"/>
          <a:stretch>
            <a:fillRect/>
          </a:stretch>
        </p:blipFill>
        <p:spPr>
          <a:xfrm>
            <a:off x="6860606" y="1066732"/>
            <a:ext cx="3885312" cy="4664014"/>
          </a:xfrm>
          <a:prstGeom prst="rect">
            <a:avLst/>
          </a:prstGeom>
        </p:spPr>
      </p:pic>
    </p:spTree>
    <p:extLst>
      <p:ext uri="{BB962C8B-B14F-4D97-AF65-F5344CB8AC3E}">
        <p14:creationId xmlns:p14="http://schemas.microsoft.com/office/powerpoint/2010/main" val="1311861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78;p3">
            <a:extLst>
              <a:ext uri="{FF2B5EF4-FFF2-40B4-BE49-F238E27FC236}">
                <a16:creationId xmlns:a16="http://schemas.microsoft.com/office/drawing/2014/main" id="{651BE29E-37A4-71A3-E5CE-7A525AB69831}"/>
              </a:ext>
            </a:extLst>
          </p:cNvPr>
          <p:cNvPicPr preferRelativeResize="0"/>
          <p:nvPr/>
        </p:nvPicPr>
        <p:blipFill rotWithShape="1">
          <a:blip r:embed="rId2">
            <a:alphaModFix/>
          </a:blip>
          <a:srcRect l="142" r="-142" b="30050"/>
          <a:stretch/>
        </p:blipFill>
        <p:spPr>
          <a:xfrm>
            <a:off x="23648" y="3429000"/>
            <a:ext cx="12168352" cy="3700957"/>
          </a:xfrm>
          <a:prstGeom prst="rect">
            <a:avLst/>
          </a:prstGeom>
          <a:noFill/>
          <a:ln>
            <a:noFill/>
          </a:ln>
        </p:spPr>
      </p:pic>
      <p:sp>
        <p:nvSpPr>
          <p:cNvPr id="5" name="TextBox 4">
            <a:extLst>
              <a:ext uri="{FF2B5EF4-FFF2-40B4-BE49-F238E27FC236}">
                <a16:creationId xmlns:a16="http://schemas.microsoft.com/office/drawing/2014/main" id="{1DC5FBE3-61E9-40D8-69E6-0E0C21397578}"/>
              </a:ext>
            </a:extLst>
          </p:cNvPr>
          <p:cNvSpPr txBox="1"/>
          <p:nvPr/>
        </p:nvSpPr>
        <p:spPr>
          <a:xfrm>
            <a:off x="802584" y="1592212"/>
            <a:ext cx="10248873" cy="1719702"/>
          </a:xfrm>
          <a:prstGeom prst="rect">
            <a:avLst/>
          </a:prstGeom>
          <a:noFill/>
        </p:spPr>
        <p:txBody>
          <a:bodyPr wrap="square">
            <a:spAutoFit/>
          </a:bodyPr>
          <a:lstStyle/>
          <a:p>
            <a:pPr>
              <a:lnSpc>
                <a:spcPct val="150000"/>
              </a:lnSpc>
            </a:pPr>
            <a:r>
              <a:rPr lang="vi-VN" b="1" dirty="0">
                <a:latin typeface="Nunito Sans" pitchFamily="2" charset="0"/>
              </a:rPr>
              <a:t>6. Khả năng tích hợp linh hoạt và hỗ trợ lâu dài</a:t>
            </a:r>
          </a:p>
          <a:p>
            <a:pPr lvl="0" eaLnBrk="0" fontAlgn="base" hangingPunct="0">
              <a:lnSpc>
                <a:spcPct val="150000"/>
              </a:lnSpc>
              <a:spcBef>
                <a:spcPct val="0"/>
              </a:spcBef>
              <a:spcAft>
                <a:spcPct val="0"/>
              </a:spcAft>
              <a:buFontTx/>
              <a:buChar char="•"/>
            </a:pPr>
            <a:r>
              <a:rPr lang="vi-VN" altLang="en-US" b="1" dirty="0">
                <a:latin typeface="Nunito Sans" pitchFamily="2" charset="0"/>
              </a:rPr>
              <a:t> </a:t>
            </a:r>
            <a:r>
              <a:rPr lang="en-US" altLang="en-US" b="1" dirty="0">
                <a:latin typeface="Nunito Sans" pitchFamily="2" charset="0"/>
              </a:rPr>
              <a:t>API </a:t>
            </a:r>
            <a:r>
              <a:rPr lang="en-US" altLang="en-US" b="1" dirty="0" err="1">
                <a:latin typeface="Nunito Sans" pitchFamily="2" charset="0"/>
              </a:rPr>
              <a:t>linh</a:t>
            </a:r>
            <a:r>
              <a:rPr lang="en-US" altLang="en-US" b="1" dirty="0">
                <a:latin typeface="Nunito Sans" pitchFamily="2" charset="0"/>
              </a:rPr>
              <a:t> </a:t>
            </a:r>
            <a:r>
              <a:rPr lang="en-US" altLang="en-US" b="1" dirty="0" err="1">
                <a:latin typeface="Nunito Sans" pitchFamily="2" charset="0"/>
              </a:rPr>
              <a:t>hoạt</a:t>
            </a:r>
            <a:r>
              <a:rPr lang="en-US" altLang="en-US" dirty="0">
                <a:latin typeface="Nunito Sans" pitchFamily="2" charset="0"/>
              </a:rPr>
              <a:t> – </a:t>
            </a:r>
            <a:r>
              <a:rPr lang="en-US" altLang="en-US" dirty="0" err="1">
                <a:latin typeface="Nunito Sans" pitchFamily="2" charset="0"/>
              </a:rPr>
              <a:t>Kết</a:t>
            </a:r>
            <a:r>
              <a:rPr lang="en-US" altLang="en-US" dirty="0">
                <a:latin typeface="Nunito Sans" pitchFamily="2" charset="0"/>
              </a:rPr>
              <a:t> </a:t>
            </a:r>
            <a:r>
              <a:rPr lang="en-US" altLang="en-US" dirty="0" err="1">
                <a:latin typeface="Nunito Sans" pitchFamily="2" charset="0"/>
              </a:rPr>
              <a:t>nối</a:t>
            </a:r>
            <a:r>
              <a:rPr lang="en-US" altLang="en-US" dirty="0">
                <a:latin typeface="Nunito Sans" pitchFamily="2" charset="0"/>
              </a:rPr>
              <a:t> </a:t>
            </a:r>
            <a:r>
              <a:rPr lang="en-US" altLang="en-US" dirty="0" err="1">
                <a:latin typeface="Nunito Sans" pitchFamily="2" charset="0"/>
              </a:rPr>
              <a:t>liền</a:t>
            </a:r>
            <a:r>
              <a:rPr lang="en-US" altLang="en-US" dirty="0">
                <a:latin typeface="Nunito Sans" pitchFamily="2" charset="0"/>
              </a:rPr>
              <a:t> </a:t>
            </a:r>
            <a:r>
              <a:rPr lang="en-US" altLang="en-US" dirty="0" err="1">
                <a:latin typeface="Nunito Sans" pitchFamily="2" charset="0"/>
              </a:rPr>
              <a:t>mạch</a:t>
            </a:r>
            <a:r>
              <a:rPr lang="en-US" altLang="en-US" dirty="0">
                <a:latin typeface="Nunito Sans" pitchFamily="2" charset="0"/>
              </a:rPr>
              <a:t> </a:t>
            </a:r>
            <a:r>
              <a:rPr lang="en-US" altLang="en-US" dirty="0" err="1">
                <a:latin typeface="Nunito Sans" pitchFamily="2" charset="0"/>
              </a:rPr>
              <a:t>với</a:t>
            </a:r>
            <a:r>
              <a:rPr lang="en-US" altLang="en-US" dirty="0">
                <a:latin typeface="Nunito Sans" pitchFamily="2" charset="0"/>
              </a:rPr>
              <a:t> </a:t>
            </a:r>
            <a:r>
              <a:rPr lang="en-US" altLang="en-US" dirty="0" err="1">
                <a:latin typeface="Nunito Sans" pitchFamily="2" charset="0"/>
              </a:rPr>
              <a:t>hệ</a:t>
            </a:r>
            <a:r>
              <a:rPr lang="en-US" altLang="en-US" dirty="0">
                <a:latin typeface="Nunito Sans" pitchFamily="2" charset="0"/>
              </a:rPr>
              <a:t> </a:t>
            </a:r>
            <a:r>
              <a:rPr lang="en-US" altLang="en-US" dirty="0" err="1">
                <a:latin typeface="Nunito Sans" pitchFamily="2" charset="0"/>
              </a:rPr>
              <a:t>thống</a:t>
            </a:r>
            <a:r>
              <a:rPr lang="en-US" altLang="en-US" dirty="0">
                <a:latin typeface="Nunito Sans" pitchFamily="2" charset="0"/>
              </a:rPr>
              <a:t> </a:t>
            </a:r>
            <a:r>
              <a:rPr lang="en-US" altLang="en-US" dirty="0" err="1">
                <a:latin typeface="Nunito Sans" pitchFamily="2" charset="0"/>
              </a:rPr>
              <a:t>hiện</a:t>
            </a:r>
            <a:r>
              <a:rPr lang="en-US" altLang="en-US" dirty="0">
                <a:latin typeface="Nunito Sans" pitchFamily="2" charset="0"/>
              </a:rPr>
              <a:t> </a:t>
            </a:r>
            <a:r>
              <a:rPr lang="en-US" altLang="en-US" dirty="0" err="1">
                <a:latin typeface="Nunito Sans" pitchFamily="2" charset="0"/>
              </a:rPr>
              <a:t>có</a:t>
            </a:r>
            <a:r>
              <a:rPr lang="en-US" altLang="en-US" dirty="0">
                <a:latin typeface="Nunito Sans" pitchFamily="2" charset="0"/>
              </a:rPr>
              <a:t>.</a:t>
            </a:r>
          </a:p>
          <a:p>
            <a:pPr lvl="0" eaLnBrk="0" fontAlgn="base" hangingPunct="0">
              <a:lnSpc>
                <a:spcPct val="150000"/>
              </a:lnSpc>
              <a:spcBef>
                <a:spcPct val="0"/>
              </a:spcBef>
              <a:spcAft>
                <a:spcPct val="0"/>
              </a:spcAft>
              <a:buFontTx/>
              <a:buChar char="•"/>
            </a:pPr>
            <a:r>
              <a:rPr lang="vi-VN" altLang="en-US" b="1" dirty="0">
                <a:latin typeface="Nunito Sans" pitchFamily="2" charset="0"/>
              </a:rPr>
              <a:t> </a:t>
            </a:r>
            <a:r>
              <a:rPr lang="en-US" altLang="en-US" b="1" dirty="0">
                <a:latin typeface="Nunito Sans" pitchFamily="2" charset="0"/>
              </a:rPr>
              <a:t>SDK </a:t>
            </a:r>
            <a:r>
              <a:rPr lang="en-US" altLang="en-US" b="1" dirty="0" err="1">
                <a:latin typeface="Nunito Sans" pitchFamily="2" charset="0"/>
              </a:rPr>
              <a:t>tùy</a:t>
            </a:r>
            <a:r>
              <a:rPr lang="en-US" altLang="en-US" b="1" dirty="0">
                <a:latin typeface="Nunito Sans" pitchFamily="2" charset="0"/>
              </a:rPr>
              <a:t> </a:t>
            </a:r>
            <a:r>
              <a:rPr lang="en-US" altLang="en-US" b="1" dirty="0" err="1">
                <a:latin typeface="Nunito Sans" pitchFamily="2" charset="0"/>
              </a:rPr>
              <a:t>chỉnh</a:t>
            </a:r>
            <a:r>
              <a:rPr lang="en-US" altLang="en-US" dirty="0">
                <a:latin typeface="Nunito Sans" pitchFamily="2" charset="0"/>
              </a:rPr>
              <a:t> – </a:t>
            </a:r>
            <a:r>
              <a:rPr lang="en-US" altLang="en-US" dirty="0" err="1">
                <a:latin typeface="Nunito Sans" pitchFamily="2" charset="0"/>
              </a:rPr>
              <a:t>Thêm</a:t>
            </a:r>
            <a:r>
              <a:rPr lang="en-US" altLang="en-US" dirty="0">
                <a:latin typeface="Nunito Sans" pitchFamily="2" charset="0"/>
              </a:rPr>
              <a:t> </a:t>
            </a:r>
            <a:r>
              <a:rPr lang="en-US" altLang="en-US" dirty="0" err="1">
                <a:latin typeface="Nunito Sans" pitchFamily="2" charset="0"/>
              </a:rPr>
              <a:t>tính</a:t>
            </a:r>
            <a:r>
              <a:rPr lang="en-US" altLang="en-US" dirty="0">
                <a:latin typeface="Nunito Sans" pitchFamily="2" charset="0"/>
              </a:rPr>
              <a:t> </a:t>
            </a:r>
            <a:r>
              <a:rPr lang="en-US" altLang="en-US" dirty="0" err="1">
                <a:latin typeface="Nunito Sans" pitchFamily="2" charset="0"/>
              </a:rPr>
              <a:t>năng</a:t>
            </a:r>
            <a:r>
              <a:rPr lang="en-US" altLang="en-US" dirty="0">
                <a:latin typeface="Nunito Sans" pitchFamily="2" charset="0"/>
              </a:rPr>
              <a:t>, </a:t>
            </a:r>
            <a:r>
              <a:rPr lang="en-US" altLang="en-US" dirty="0" err="1">
                <a:latin typeface="Nunito Sans" pitchFamily="2" charset="0"/>
              </a:rPr>
              <a:t>nâng</a:t>
            </a:r>
            <a:r>
              <a:rPr lang="en-US" altLang="en-US" dirty="0">
                <a:latin typeface="Nunito Sans" pitchFamily="2" charset="0"/>
              </a:rPr>
              <a:t> </a:t>
            </a:r>
            <a:r>
              <a:rPr lang="en-US" altLang="en-US" dirty="0" err="1">
                <a:latin typeface="Nunito Sans" pitchFamily="2" charset="0"/>
              </a:rPr>
              <a:t>tầm</a:t>
            </a:r>
            <a:r>
              <a:rPr lang="en-US" altLang="en-US" dirty="0">
                <a:latin typeface="Nunito Sans" pitchFamily="2" charset="0"/>
              </a:rPr>
              <a:t> </a:t>
            </a:r>
            <a:r>
              <a:rPr lang="en-US" altLang="en-US" dirty="0" err="1">
                <a:latin typeface="Nunito Sans" pitchFamily="2" charset="0"/>
              </a:rPr>
              <a:t>sản</a:t>
            </a:r>
            <a:r>
              <a:rPr lang="en-US" altLang="en-US" dirty="0">
                <a:latin typeface="Nunito Sans" pitchFamily="2" charset="0"/>
              </a:rPr>
              <a:t> </a:t>
            </a:r>
            <a:r>
              <a:rPr lang="en-US" altLang="en-US" dirty="0" err="1">
                <a:latin typeface="Nunito Sans" pitchFamily="2" charset="0"/>
              </a:rPr>
              <a:t>phẩm</a:t>
            </a:r>
            <a:r>
              <a:rPr lang="en-US" altLang="en-US" dirty="0">
                <a:latin typeface="Nunito Sans" pitchFamily="2" charset="0"/>
              </a:rPr>
              <a:t>.</a:t>
            </a:r>
          </a:p>
          <a:p>
            <a:pPr lvl="0" eaLnBrk="0" fontAlgn="base" hangingPunct="0">
              <a:lnSpc>
                <a:spcPct val="150000"/>
              </a:lnSpc>
              <a:spcBef>
                <a:spcPct val="0"/>
              </a:spcBef>
              <a:spcAft>
                <a:spcPct val="0"/>
              </a:spcAft>
              <a:buFontTx/>
              <a:buChar char="•"/>
            </a:pPr>
            <a:r>
              <a:rPr lang="vi-VN" altLang="en-US" b="1" dirty="0">
                <a:latin typeface="Nunito Sans" pitchFamily="2" charset="0"/>
              </a:rPr>
              <a:t> </a:t>
            </a:r>
            <a:r>
              <a:rPr lang="en-US" altLang="en-US" b="1" dirty="0">
                <a:latin typeface="Nunito Sans" pitchFamily="2" charset="0"/>
              </a:rPr>
              <a:t>Library &amp; Platform</a:t>
            </a:r>
            <a:r>
              <a:rPr lang="en-US" altLang="en-US" dirty="0">
                <a:latin typeface="Nunito Sans" pitchFamily="2" charset="0"/>
              </a:rPr>
              <a:t> – </a:t>
            </a:r>
            <a:r>
              <a:rPr lang="en-US" altLang="en-US" dirty="0" err="1">
                <a:latin typeface="Nunito Sans" pitchFamily="2" charset="0"/>
              </a:rPr>
              <a:t>Nền</a:t>
            </a:r>
            <a:r>
              <a:rPr lang="en-US" altLang="en-US" dirty="0">
                <a:latin typeface="Nunito Sans" pitchFamily="2" charset="0"/>
              </a:rPr>
              <a:t> </a:t>
            </a:r>
            <a:r>
              <a:rPr lang="en-US" altLang="en-US" dirty="0" err="1">
                <a:latin typeface="Nunito Sans" pitchFamily="2" charset="0"/>
              </a:rPr>
              <a:t>tảng</a:t>
            </a:r>
            <a:r>
              <a:rPr lang="en-US" altLang="en-US" dirty="0">
                <a:latin typeface="Nunito Sans" pitchFamily="2" charset="0"/>
              </a:rPr>
              <a:t> </a:t>
            </a:r>
            <a:r>
              <a:rPr lang="en-US" altLang="en-US" dirty="0" err="1">
                <a:latin typeface="Nunito Sans" pitchFamily="2" charset="0"/>
              </a:rPr>
              <a:t>mở</a:t>
            </a:r>
            <a:r>
              <a:rPr lang="en-US" altLang="en-US" dirty="0">
                <a:latin typeface="Nunito Sans" pitchFamily="2" charset="0"/>
              </a:rPr>
              <a:t> </a:t>
            </a:r>
            <a:r>
              <a:rPr lang="en-US" altLang="en-US" dirty="0" err="1">
                <a:latin typeface="Nunito Sans" pitchFamily="2" charset="0"/>
              </a:rPr>
              <a:t>cho</a:t>
            </a:r>
            <a:r>
              <a:rPr lang="en-US" altLang="en-US" dirty="0">
                <a:latin typeface="Nunito Sans" pitchFamily="2" charset="0"/>
              </a:rPr>
              <a:t> </a:t>
            </a:r>
            <a:r>
              <a:rPr lang="en-US" altLang="en-US" dirty="0" err="1">
                <a:latin typeface="Nunito Sans" pitchFamily="2" charset="0"/>
              </a:rPr>
              <a:t>phát</a:t>
            </a:r>
            <a:r>
              <a:rPr lang="en-US" altLang="en-US" dirty="0">
                <a:latin typeface="Nunito Sans" pitchFamily="2" charset="0"/>
              </a:rPr>
              <a:t> </a:t>
            </a:r>
            <a:r>
              <a:rPr lang="en-US" altLang="en-US" dirty="0" err="1">
                <a:latin typeface="Nunito Sans" pitchFamily="2" charset="0"/>
              </a:rPr>
              <a:t>triển</a:t>
            </a:r>
            <a:r>
              <a:rPr lang="en-US" altLang="en-US" dirty="0">
                <a:latin typeface="Nunito Sans" pitchFamily="2" charset="0"/>
              </a:rPr>
              <a:t> </a:t>
            </a:r>
            <a:r>
              <a:rPr lang="en-US" altLang="en-US" dirty="0" err="1">
                <a:latin typeface="Nunito Sans" pitchFamily="2" charset="0"/>
              </a:rPr>
              <a:t>và</a:t>
            </a:r>
            <a:r>
              <a:rPr lang="en-US" altLang="en-US" dirty="0">
                <a:latin typeface="Nunito Sans" pitchFamily="2" charset="0"/>
              </a:rPr>
              <a:t> </a:t>
            </a:r>
            <a:r>
              <a:rPr lang="en-US" altLang="en-US" dirty="0" err="1">
                <a:latin typeface="Nunito Sans" pitchFamily="2" charset="0"/>
              </a:rPr>
              <a:t>sáng</a:t>
            </a:r>
            <a:r>
              <a:rPr lang="en-US" altLang="en-US" dirty="0">
                <a:latin typeface="Nunito Sans" pitchFamily="2" charset="0"/>
              </a:rPr>
              <a:t> </a:t>
            </a:r>
            <a:r>
              <a:rPr lang="en-US" altLang="en-US" dirty="0" err="1">
                <a:latin typeface="Nunito Sans" pitchFamily="2" charset="0"/>
              </a:rPr>
              <a:t>tạo</a:t>
            </a:r>
            <a:r>
              <a:rPr lang="en-US" altLang="en-US" dirty="0">
                <a:latin typeface="Nunito Sans" pitchFamily="2" charset="0"/>
              </a:rPr>
              <a:t>.</a:t>
            </a:r>
          </a:p>
        </p:txBody>
      </p:sp>
      <p:pic>
        <p:nvPicPr>
          <p:cNvPr id="4" name="Picture 3">
            <a:extLst>
              <a:ext uri="{FF2B5EF4-FFF2-40B4-BE49-F238E27FC236}">
                <a16:creationId xmlns:a16="http://schemas.microsoft.com/office/drawing/2014/main" id="{20CE8D21-69FF-553F-9D08-86C89D74C6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77470" y="361118"/>
            <a:ext cx="1574450" cy="553973"/>
          </a:xfrm>
          <a:prstGeom prst="rect">
            <a:avLst/>
          </a:prstGeom>
        </p:spPr>
      </p:pic>
      <p:sp>
        <p:nvSpPr>
          <p:cNvPr id="6" name="TextBox 5">
            <a:extLst>
              <a:ext uri="{FF2B5EF4-FFF2-40B4-BE49-F238E27FC236}">
                <a16:creationId xmlns:a16="http://schemas.microsoft.com/office/drawing/2014/main" id="{33479E02-2B1A-3CEB-7217-91E9988484A1}"/>
              </a:ext>
            </a:extLst>
          </p:cNvPr>
          <p:cNvSpPr txBox="1"/>
          <p:nvPr/>
        </p:nvSpPr>
        <p:spPr>
          <a:xfrm>
            <a:off x="802585" y="638104"/>
            <a:ext cx="6683604" cy="954107"/>
          </a:xfrm>
          <a:prstGeom prst="rect">
            <a:avLst/>
          </a:prstGeom>
          <a:noFill/>
        </p:spPr>
        <p:txBody>
          <a:bodyPr wrap="square" rtlCol="0">
            <a:spAutoFit/>
          </a:bodyPr>
          <a:lstStyle/>
          <a:p>
            <a:r>
              <a:rPr lang="en-US" sz="2800" dirty="0" err="1">
                <a:latin typeface="Nunito Sans" pitchFamily="2" charset="0"/>
              </a:rPr>
              <a:t>Giải</a:t>
            </a:r>
            <a:r>
              <a:rPr lang="en-US" sz="2800" dirty="0">
                <a:latin typeface="Nunito Sans" pitchFamily="2" charset="0"/>
              </a:rPr>
              <a:t> </a:t>
            </a:r>
            <a:r>
              <a:rPr lang="en-US" sz="2800" dirty="0" err="1">
                <a:latin typeface="Nunito Sans" pitchFamily="2" charset="0"/>
              </a:rPr>
              <a:t>pháp</a:t>
            </a:r>
            <a:r>
              <a:rPr lang="en-US" sz="2800" dirty="0">
                <a:latin typeface="Nunito Sans" pitchFamily="2" charset="0"/>
              </a:rPr>
              <a:t> </a:t>
            </a:r>
            <a:r>
              <a:rPr lang="en-US" sz="2800" dirty="0" err="1">
                <a:latin typeface="Nunito Sans" pitchFamily="2" charset="0"/>
              </a:rPr>
              <a:t>khác</a:t>
            </a:r>
            <a:r>
              <a:rPr lang="en-US" sz="2800" dirty="0">
                <a:latin typeface="Nunito Sans" pitchFamily="2" charset="0"/>
              </a:rPr>
              <a:t> </a:t>
            </a:r>
            <a:r>
              <a:rPr lang="en-US" sz="2800" dirty="0" err="1">
                <a:latin typeface="Nunito Sans" pitchFamily="2" charset="0"/>
              </a:rPr>
              <a:t>biệt</a:t>
            </a:r>
            <a:r>
              <a:rPr lang="en-US" sz="2800" dirty="0">
                <a:latin typeface="Nunito Sans" pitchFamily="2" charset="0"/>
              </a:rPr>
              <a:t> </a:t>
            </a:r>
            <a:r>
              <a:rPr lang="en-US" sz="2800" dirty="0" err="1">
                <a:latin typeface="Nunito Sans" pitchFamily="2" charset="0"/>
              </a:rPr>
              <a:t>của</a:t>
            </a:r>
            <a:r>
              <a:rPr lang="en-US" sz="2800" dirty="0">
                <a:latin typeface="Nunito Sans" pitchFamily="2" charset="0"/>
              </a:rPr>
              <a:t> </a:t>
            </a:r>
            <a:r>
              <a:rPr lang="en-US" sz="2800" dirty="0" err="1">
                <a:latin typeface="Nunito Sans" pitchFamily="2" charset="0"/>
              </a:rPr>
              <a:t>MobiSecure</a:t>
            </a:r>
            <a:r>
              <a:rPr lang="en-US" sz="2800" dirty="0">
                <a:latin typeface="Nunito Sans" pitchFamily="2" charset="0"/>
              </a:rPr>
              <a:t> – </a:t>
            </a:r>
            <a:endParaRPr lang="vi-VN" sz="2800" dirty="0">
              <a:latin typeface="Nunito Sans" pitchFamily="2" charset="0"/>
            </a:endParaRPr>
          </a:p>
          <a:p>
            <a:r>
              <a:rPr lang="vi-VN" sz="2800" dirty="0">
                <a:latin typeface="Nunito Sans" pitchFamily="2" charset="0"/>
              </a:rPr>
              <a:t>Dấu ấn C</a:t>
            </a:r>
            <a:r>
              <a:rPr lang="en-US" sz="2800" dirty="0" err="1">
                <a:latin typeface="Nunito Sans" pitchFamily="2" charset="0"/>
              </a:rPr>
              <a:t>amera</a:t>
            </a:r>
            <a:r>
              <a:rPr lang="en-US" sz="2800" dirty="0">
                <a:latin typeface="Nunito Sans" pitchFamily="2" charset="0"/>
              </a:rPr>
              <a:t> </a:t>
            </a:r>
            <a:r>
              <a:rPr lang="vi-VN" sz="2800" dirty="0">
                <a:latin typeface="Nunito Sans" pitchFamily="2" charset="0"/>
              </a:rPr>
              <a:t>Make in </a:t>
            </a:r>
            <a:r>
              <a:rPr lang="en-US" sz="2800" dirty="0">
                <a:latin typeface="Nunito Sans" pitchFamily="2" charset="0"/>
              </a:rPr>
              <a:t>Việt Nam</a:t>
            </a:r>
            <a:endParaRPr lang="en-US" sz="2500" b="1" dirty="0">
              <a:latin typeface="Nunito Sans" pitchFamily="2" charset="0"/>
            </a:endParaRPr>
          </a:p>
        </p:txBody>
      </p:sp>
    </p:spTree>
    <p:extLst>
      <p:ext uri="{BB962C8B-B14F-4D97-AF65-F5344CB8AC3E}">
        <p14:creationId xmlns:p14="http://schemas.microsoft.com/office/powerpoint/2010/main" val="4236442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FF57C-8377-C97C-AC37-2A44E8E79164}"/>
              </a:ext>
            </a:extLst>
          </p:cNvPr>
          <p:cNvSpPr>
            <a:spLocks noGrp="1"/>
          </p:cNvSpPr>
          <p:nvPr>
            <p:ph type="title"/>
          </p:nvPr>
        </p:nvSpPr>
        <p:spPr>
          <a:xfrm>
            <a:off x="542301" y="414834"/>
            <a:ext cx="10400071" cy="692349"/>
          </a:xfrm>
        </p:spPr>
        <p:txBody>
          <a:bodyPr>
            <a:normAutofit/>
          </a:bodyPr>
          <a:lstStyle/>
          <a:p>
            <a:r>
              <a:rPr lang="vi-VN" sz="3200" dirty="0">
                <a:latin typeface="Nunito Sans" pitchFamily="2" charset="0"/>
              </a:rPr>
              <a:t>Sơ đồ kiến trúc hệ thống</a:t>
            </a:r>
            <a:endParaRPr lang="en-US" sz="3200" dirty="0">
              <a:latin typeface="Nunito Sans" pitchFamily="2" charset="0"/>
            </a:endParaRPr>
          </a:p>
        </p:txBody>
      </p:sp>
      <p:pic>
        <p:nvPicPr>
          <p:cNvPr id="5" name="Picture 2">
            <a:extLst>
              <a:ext uri="{FF2B5EF4-FFF2-40B4-BE49-F238E27FC236}">
                <a16:creationId xmlns:a16="http://schemas.microsoft.com/office/drawing/2014/main" id="{32AAF70E-293D-595F-58BA-5068CE803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659836" y="1216027"/>
            <a:ext cx="9171844" cy="535784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92684D2-83C4-54D3-D5A3-7E908DEAC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858702" y="365125"/>
            <a:ext cx="1790997" cy="633214"/>
          </a:xfrm>
          <a:prstGeom prst="rect">
            <a:avLst/>
          </a:prstGeom>
        </p:spPr>
      </p:pic>
    </p:spTree>
    <p:extLst>
      <p:ext uri="{BB962C8B-B14F-4D97-AF65-F5344CB8AC3E}">
        <p14:creationId xmlns:p14="http://schemas.microsoft.com/office/powerpoint/2010/main" val="3191400324"/>
      </p:ext>
    </p:extLst>
  </p:cSld>
  <p:clrMapOvr>
    <a:masterClrMapping/>
  </p:clrMapOvr>
  <p:extLst>
    <p:ext uri="{6950BFC3-D8DA-4A85-94F7-54DA5524770B}">
      <p188:commentRel xmlns:p188="http://schemas.microsoft.com/office/powerpoint/2018/8/main" xmlns="" r:id="rId5"/>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36DFB3-F5BC-74AD-60CE-4C8897F12AD0}"/>
              </a:ext>
            </a:extLst>
          </p:cNvPr>
          <p:cNvSpPr txBox="1"/>
          <p:nvPr/>
        </p:nvSpPr>
        <p:spPr>
          <a:xfrm>
            <a:off x="1055456" y="838325"/>
            <a:ext cx="6505550" cy="553998"/>
          </a:xfrm>
          <a:prstGeom prst="rect">
            <a:avLst/>
          </a:prstGeom>
          <a:noFill/>
        </p:spPr>
        <p:txBody>
          <a:bodyPr wrap="square" rtlCol="0">
            <a:spAutoFit/>
          </a:bodyPr>
          <a:lstStyle/>
          <a:p>
            <a:r>
              <a:rPr lang="en-US" sz="3000" b="1" dirty="0" err="1">
                <a:latin typeface="Nunito Sans" pitchFamily="2" charset="0"/>
              </a:rPr>
              <a:t>Ứng</a:t>
            </a:r>
            <a:r>
              <a:rPr lang="en-US" sz="3000" b="1" dirty="0">
                <a:latin typeface="Nunito Sans" pitchFamily="2" charset="0"/>
              </a:rPr>
              <a:t> </a:t>
            </a:r>
            <a:r>
              <a:rPr lang="en-US" sz="3000" b="1" dirty="0" err="1">
                <a:latin typeface="Nunito Sans" pitchFamily="2" charset="0"/>
              </a:rPr>
              <a:t>dụng</a:t>
            </a:r>
            <a:r>
              <a:rPr lang="en-US" sz="3000" b="1" dirty="0">
                <a:latin typeface="Nunito Sans" pitchFamily="2" charset="0"/>
              </a:rPr>
              <a:t> </a:t>
            </a:r>
            <a:r>
              <a:rPr lang="en-US" sz="3000" b="1" dirty="0" err="1">
                <a:latin typeface="Nunito Sans" pitchFamily="2" charset="0"/>
              </a:rPr>
              <a:t>thực</a:t>
            </a:r>
            <a:r>
              <a:rPr lang="en-US" sz="3000" b="1" dirty="0">
                <a:latin typeface="Nunito Sans" pitchFamily="2" charset="0"/>
              </a:rPr>
              <a:t> </a:t>
            </a:r>
            <a:r>
              <a:rPr lang="en-US" sz="3000" b="1" dirty="0" err="1">
                <a:latin typeface="Nunito Sans" pitchFamily="2" charset="0"/>
              </a:rPr>
              <a:t>tiễn</a:t>
            </a:r>
            <a:r>
              <a:rPr lang="en-US" sz="3000" b="1" dirty="0">
                <a:latin typeface="Nunito Sans" pitchFamily="2" charset="0"/>
              </a:rPr>
              <a:t> </a:t>
            </a:r>
            <a:r>
              <a:rPr lang="vi-VN" sz="3000" b="1" dirty="0">
                <a:latin typeface="Nunito Sans" pitchFamily="2" charset="0"/>
              </a:rPr>
              <a:t>điển hình</a:t>
            </a:r>
          </a:p>
        </p:txBody>
      </p:sp>
      <p:sp>
        <p:nvSpPr>
          <p:cNvPr id="3" name="Rectangle 1">
            <a:extLst>
              <a:ext uri="{FF2B5EF4-FFF2-40B4-BE49-F238E27FC236}">
                <a16:creationId xmlns:a16="http://schemas.microsoft.com/office/drawing/2014/main" id="{7B0FAB72-4598-8589-349A-09E288C7AF1C}"/>
              </a:ext>
            </a:extLst>
          </p:cNvPr>
          <p:cNvSpPr>
            <a:spLocks noChangeArrowheads="1"/>
          </p:cNvSpPr>
          <p:nvPr/>
        </p:nvSpPr>
        <p:spPr bwMode="auto">
          <a:xfrm>
            <a:off x="893781" y="1919221"/>
            <a:ext cx="4716444"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err="1">
                <a:ln>
                  <a:noFill/>
                </a:ln>
                <a:solidFill>
                  <a:schemeClr val="tx1"/>
                </a:solidFill>
                <a:effectLst/>
                <a:latin typeface="Nunito Sans" pitchFamily="2" charset="0"/>
              </a:rPr>
              <a:t>Ghi</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lại</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hình</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ảnh</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và</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âm</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thanh</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thực</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tế</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trong</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quá</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trình</a:t>
            </a:r>
            <a:r>
              <a:rPr kumimoji="0" lang="vi-VN" altLang="en-US" sz="1800" b="0" i="0" u="none" strike="noStrike" cap="none" normalizeH="0" baseline="0" dirty="0">
                <a:ln>
                  <a:noFill/>
                </a:ln>
                <a:solidFill>
                  <a:schemeClr val="tx1"/>
                </a:solidFill>
                <a:effectLst/>
                <a:latin typeface="Nunito Sans" pitchFamily="2" charset="0"/>
              </a:rPr>
              <a:t> l</a:t>
            </a:r>
            <a:r>
              <a:rPr kumimoji="0" lang="en-US" altLang="en-US" sz="1800" b="0" i="0" u="none" strike="noStrike" cap="none" normalizeH="0" baseline="0" dirty="0" err="1">
                <a:ln>
                  <a:noFill/>
                </a:ln>
                <a:solidFill>
                  <a:schemeClr val="tx1"/>
                </a:solidFill>
                <a:effectLst/>
                <a:latin typeface="Nunito Sans" pitchFamily="2" charset="0"/>
              </a:rPr>
              <a:t>àm</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việc</a:t>
            </a:r>
            <a:r>
              <a:rPr lang="vi-VN" altLang="en-US" dirty="0">
                <a:latin typeface="Nunito Sans" pitchFamily="2" charset="0"/>
              </a:rPr>
              <a:t> nhờ độ phân giải Full HD 1080p, </a:t>
            </a:r>
          </a:p>
          <a:p>
            <a:pPr marR="0" lvl="0" algn="l" defTabSz="914400" rtl="0" eaLnBrk="0" fontAlgn="base" latinLnBrk="0" hangingPunct="0">
              <a:lnSpc>
                <a:spcPct val="150000"/>
              </a:lnSpc>
              <a:spcBef>
                <a:spcPct val="0"/>
              </a:spcBef>
              <a:spcAft>
                <a:spcPct val="0"/>
              </a:spcAft>
              <a:buClrTx/>
              <a:buSzTx/>
              <a:tabLst/>
            </a:pPr>
            <a:r>
              <a:rPr lang="vi-VN" altLang="en-US" dirty="0">
                <a:latin typeface="Nunito Sans" pitchFamily="2" charset="0"/>
              </a:rPr>
              <a:t>góc nhìn rộng 140 độ và hỗ trợ nhìn ban đêm sắc </a:t>
            </a:r>
            <a:r>
              <a:rPr lang="en-US" altLang="en-US" dirty="0" err="1">
                <a:latin typeface="Nunito Sans" pitchFamily="2" charset="0"/>
              </a:rPr>
              <a:t>nét</a:t>
            </a:r>
            <a:r>
              <a:rPr lang="en-US" altLang="en-US" dirty="0">
                <a:latin typeface="Nunito Sans" pitchFamily="2" charset="0"/>
              </a:rPr>
              <a:t>.</a:t>
            </a:r>
            <a:r>
              <a:rPr kumimoji="0" lang="en-US" altLang="en-US" sz="1800" b="0" i="0" u="none" strike="noStrike" cap="none" normalizeH="0" baseline="0" dirty="0">
                <a:ln>
                  <a:noFill/>
                </a:ln>
                <a:solidFill>
                  <a:schemeClr val="tx1"/>
                </a:solidFill>
                <a:effectLst/>
                <a:latin typeface="Nunito Sans" pitchFamily="2" charset="0"/>
              </a:rPr>
              <a:t> </a:t>
            </a:r>
            <a:endParaRPr lang="vi-VN" altLang="en-US" dirty="0">
              <a:latin typeface="Nunito Sans" pitchFamily="2"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vi-VN" altLang="en-US" sz="1800" b="0" i="0" u="none" strike="noStrike" cap="none" normalizeH="0" baseline="0" dirty="0">
                <a:ln>
                  <a:noFill/>
                </a:ln>
                <a:solidFill>
                  <a:schemeClr val="tx1"/>
                </a:solidFill>
                <a:effectLst/>
                <a:latin typeface="Nunito Sans" pitchFamily="2" charset="0"/>
              </a:rPr>
              <a:t>Hỗ trợ phản ứng với tình huống thực tế minh bạch, lưu lại bằng chứng hiệu quả tin cậy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vi-VN" altLang="en-US" b="1" dirty="0">
                <a:latin typeface="Nunito Sans" pitchFamily="2" charset="0"/>
              </a:rPr>
              <a:t>Tăng cường an toàn an ninh vượt trội </a:t>
            </a:r>
            <a:endParaRPr kumimoji="0" lang="vi-VN" altLang="en-US" sz="1800" b="0" i="0" u="none" strike="noStrike" cap="none" normalizeH="0" baseline="0" dirty="0">
              <a:ln>
                <a:noFill/>
              </a:ln>
              <a:solidFill>
                <a:schemeClr val="tx1"/>
              </a:solidFill>
              <a:effectLst/>
              <a:latin typeface="Nunito Sans" pitchFamily="2" charset="0"/>
            </a:endParaRPr>
          </a:p>
        </p:txBody>
      </p:sp>
      <p:pic>
        <p:nvPicPr>
          <p:cNvPr id="5" name="Picture 4">
            <a:extLst>
              <a:ext uri="{FF2B5EF4-FFF2-40B4-BE49-F238E27FC236}">
                <a16:creationId xmlns:a16="http://schemas.microsoft.com/office/drawing/2014/main" id="{D17C8AEF-8230-0D69-49E2-B2089C4A669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093258" y="314891"/>
            <a:ext cx="2263962" cy="80043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0287" y="2081213"/>
            <a:ext cx="5689600" cy="3200400"/>
          </a:xfrm>
          <a:prstGeom prst="rect">
            <a:avLst/>
          </a:prstGeom>
        </p:spPr>
      </p:pic>
    </p:spTree>
    <p:extLst>
      <p:ext uri="{BB962C8B-B14F-4D97-AF65-F5344CB8AC3E}">
        <p14:creationId xmlns:p14="http://schemas.microsoft.com/office/powerpoint/2010/main" val="1679863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41DF-29F2-7409-6D4A-AD51BE25D5A3}"/>
              </a:ext>
            </a:extLst>
          </p:cNvPr>
          <p:cNvSpPr>
            <a:spLocks noGrp="1"/>
          </p:cNvSpPr>
          <p:nvPr>
            <p:ph type="title"/>
          </p:nvPr>
        </p:nvSpPr>
        <p:spPr>
          <a:xfrm>
            <a:off x="838199" y="943897"/>
            <a:ext cx="5592097" cy="746791"/>
          </a:xfrm>
        </p:spPr>
        <p:txBody>
          <a:bodyPr>
            <a:normAutofit/>
          </a:bodyPr>
          <a:lstStyle/>
          <a:p>
            <a:r>
              <a:rPr lang="en-US" sz="2800" dirty="0" err="1">
                <a:latin typeface="Nunito Sans" pitchFamily="2" charset="0"/>
              </a:rPr>
              <a:t>Ứng</a:t>
            </a:r>
            <a:r>
              <a:rPr lang="en-US" sz="2800" dirty="0">
                <a:latin typeface="Nunito Sans" pitchFamily="2" charset="0"/>
              </a:rPr>
              <a:t> </a:t>
            </a:r>
            <a:r>
              <a:rPr lang="en-US" sz="2800" dirty="0" err="1">
                <a:latin typeface="Nunito Sans" pitchFamily="2" charset="0"/>
              </a:rPr>
              <a:t>dụng</a:t>
            </a:r>
            <a:r>
              <a:rPr lang="en-US" sz="2800" dirty="0">
                <a:latin typeface="Nunito Sans" pitchFamily="2" charset="0"/>
              </a:rPr>
              <a:t> </a:t>
            </a:r>
            <a:r>
              <a:rPr lang="en-US" sz="2800" dirty="0" err="1">
                <a:latin typeface="Nunito Sans" pitchFamily="2" charset="0"/>
              </a:rPr>
              <a:t>thực</a:t>
            </a:r>
            <a:r>
              <a:rPr lang="en-US" sz="2800" dirty="0">
                <a:latin typeface="Nunito Sans" pitchFamily="2" charset="0"/>
              </a:rPr>
              <a:t> </a:t>
            </a:r>
            <a:r>
              <a:rPr lang="en-US" sz="2800" dirty="0" err="1">
                <a:latin typeface="Nunito Sans" pitchFamily="2" charset="0"/>
              </a:rPr>
              <a:t>tiễn</a:t>
            </a:r>
            <a:r>
              <a:rPr lang="en-US" sz="2800" dirty="0">
                <a:latin typeface="Nunito Sans" pitchFamily="2" charset="0"/>
              </a:rPr>
              <a:t> </a:t>
            </a:r>
            <a:r>
              <a:rPr lang="vi-VN" sz="2800" dirty="0">
                <a:latin typeface="Nunito Sans" pitchFamily="2" charset="0"/>
              </a:rPr>
              <a:t>điển hình</a:t>
            </a:r>
            <a:endParaRPr lang="en-US" sz="3000" dirty="0">
              <a:latin typeface="Nunito Sans" pitchFamily="2" charset="0"/>
            </a:endParaRPr>
          </a:p>
        </p:txBody>
      </p:sp>
      <p:sp>
        <p:nvSpPr>
          <p:cNvPr id="4" name="Rectangle 1">
            <a:extLst>
              <a:ext uri="{FF2B5EF4-FFF2-40B4-BE49-F238E27FC236}">
                <a16:creationId xmlns:a16="http://schemas.microsoft.com/office/drawing/2014/main" id="{FD970B1C-6869-6609-EB9F-6B992D631318}"/>
              </a:ext>
            </a:extLst>
          </p:cNvPr>
          <p:cNvSpPr>
            <a:spLocks noGrp="1" noChangeArrowheads="1"/>
          </p:cNvSpPr>
          <p:nvPr>
            <p:ph idx="1"/>
          </p:nvPr>
        </p:nvSpPr>
        <p:spPr bwMode="auto">
          <a:xfrm>
            <a:off x="696133" y="1746801"/>
            <a:ext cx="356154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vi-VN"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Giúp</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chỉ</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huy</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trung</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tâm</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theo</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dõi</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trực</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tiếp</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giám</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sát</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và</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hỗ</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trợ</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ra</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quyết</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định</a:t>
            </a:r>
            <a:r>
              <a:rPr kumimoji="0" lang="en-US" altLang="en-US" sz="1800" b="1" i="0" u="none" strike="noStrike" cap="none" normalizeH="0" baseline="0" dirty="0">
                <a:ln>
                  <a:noFill/>
                </a:ln>
                <a:solidFill>
                  <a:schemeClr val="tx1"/>
                </a:solidFill>
                <a:effectLst/>
                <a:latin typeface="Nunito Sans" pitchFamily="2" charset="0"/>
              </a:rPr>
              <a:t> </a:t>
            </a:r>
            <a:r>
              <a:rPr kumimoji="0" lang="en-US" altLang="en-US" sz="1800" b="1" i="0" u="none" strike="noStrike" cap="none" normalizeH="0" baseline="0" dirty="0" err="1">
                <a:ln>
                  <a:noFill/>
                </a:ln>
                <a:solidFill>
                  <a:schemeClr val="tx1"/>
                </a:solidFill>
                <a:effectLst/>
                <a:latin typeface="Nunito Sans" pitchFamily="2" charset="0"/>
              </a:rPr>
              <a:t>nhanh</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trong</a:t>
            </a:r>
            <a:endParaRPr kumimoji="0" lang="vi-VN" altLang="en-US" sz="1800" b="0" i="0" u="none" strike="noStrike" cap="none" normalizeH="0" baseline="0" dirty="0">
              <a:ln>
                <a:noFill/>
              </a:ln>
              <a:solidFill>
                <a:schemeClr val="tx1"/>
              </a:solidFill>
              <a:effectLst/>
              <a:latin typeface="Nunito Sans" pitchFamily="2"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tình</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huống</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khẩn</a:t>
            </a:r>
            <a:r>
              <a:rPr kumimoji="0" lang="en-US" altLang="en-US" sz="1800" b="0" i="0" u="none" strike="noStrike" cap="none" normalizeH="0" baseline="0" dirty="0">
                <a:ln>
                  <a:noFill/>
                </a:ln>
                <a:solidFill>
                  <a:schemeClr val="tx1"/>
                </a:solidFill>
                <a:effectLst/>
                <a:latin typeface="Nunito Sans" pitchFamily="2" charset="0"/>
              </a:rPr>
              <a:t> </a:t>
            </a:r>
            <a:r>
              <a:rPr kumimoji="0" lang="en-US" altLang="en-US" sz="1800" b="0" i="0" u="none" strike="noStrike" cap="none" normalizeH="0" baseline="0" dirty="0" err="1">
                <a:ln>
                  <a:noFill/>
                </a:ln>
                <a:solidFill>
                  <a:schemeClr val="tx1"/>
                </a:solidFill>
                <a:effectLst/>
                <a:latin typeface="Nunito Sans" pitchFamily="2" charset="0"/>
              </a:rPr>
              <a:t>cấp</a:t>
            </a:r>
            <a:r>
              <a:rPr kumimoji="0" lang="en-US" altLang="en-US" sz="1800" b="0" i="0" u="none" strike="noStrike" cap="none" normalizeH="0" baseline="0" dirty="0">
                <a:ln>
                  <a:noFill/>
                </a:ln>
                <a:solidFill>
                  <a:schemeClr val="tx1"/>
                </a:solidFill>
                <a:effectLst/>
                <a:latin typeface="Nunito Sans" pitchFamily="2" charset="0"/>
              </a:rPr>
              <a:t>.</a:t>
            </a:r>
            <a:r>
              <a:rPr kumimoji="0" lang="vi-VN" altLang="en-US" sz="1800" b="0" i="0" u="none" strike="noStrike" cap="none" normalizeH="0" baseline="0" dirty="0">
                <a:ln>
                  <a:noFill/>
                </a:ln>
                <a:solidFill>
                  <a:schemeClr val="tx1"/>
                </a:solidFill>
                <a:effectLst/>
                <a:latin typeface="Nunito Sans" pitchFamily="2" charset="0"/>
              </a:rPr>
              <a:t> </a:t>
            </a:r>
          </a:p>
          <a:p>
            <a:pPr marR="0" lvl="0" algn="l" defTabSz="914400" rtl="0" eaLnBrk="0" fontAlgn="base" latinLnBrk="0" hangingPunct="0">
              <a:lnSpc>
                <a:spcPct val="150000"/>
              </a:lnSpc>
              <a:spcBef>
                <a:spcPct val="0"/>
              </a:spcBef>
              <a:spcAft>
                <a:spcPct val="0"/>
              </a:spcAft>
              <a:buClrTx/>
              <a:buSzTx/>
              <a:buFont typeface="Symbol" panose="05050102010706020507" pitchFamily="18" charset="2"/>
              <a:buChar char="Þ"/>
              <a:tabLst/>
            </a:pPr>
            <a:r>
              <a:rPr kumimoji="0" lang="en-US" altLang="en-US" sz="1800" b="0" i="0" u="none" strike="noStrike" cap="none" normalizeH="0" baseline="0" dirty="0">
                <a:ln>
                  <a:noFill/>
                </a:ln>
                <a:solidFill>
                  <a:schemeClr val="tx1"/>
                </a:solidFill>
                <a:effectLst/>
                <a:latin typeface="Nunito Sans" pitchFamily="2" charset="0"/>
              </a:rPr>
              <a:t> </a:t>
            </a:r>
            <a:r>
              <a:rPr kumimoji="0" lang="vi-VN" altLang="en-US" sz="1800" b="0" i="0" u="none" strike="noStrike" cap="none" normalizeH="0" baseline="0" dirty="0">
                <a:ln>
                  <a:noFill/>
                </a:ln>
                <a:solidFill>
                  <a:schemeClr val="tx1"/>
                </a:solidFill>
                <a:effectLst/>
                <a:latin typeface="Nunito Sans" pitchFamily="2" charset="0"/>
              </a:rPr>
              <a:t>Sống động trưc tiếp hoạt động tuần tra, ca trực, báo cáo sự cố và xử lý vi phạm</a:t>
            </a:r>
          </a:p>
          <a:p>
            <a:pPr marR="0" lvl="0" algn="l" defTabSz="914400" rtl="0" eaLnBrk="0" fontAlgn="base" latinLnBrk="0" hangingPunct="0">
              <a:lnSpc>
                <a:spcPct val="150000"/>
              </a:lnSpc>
              <a:spcBef>
                <a:spcPct val="0"/>
              </a:spcBef>
              <a:spcAft>
                <a:spcPct val="0"/>
              </a:spcAft>
              <a:buClrTx/>
              <a:buSzTx/>
              <a:buFont typeface="Symbol" panose="05050102010706020507" pitchFamily="18" charset="2"/>
              <a:buChar char="Þ"/>
              <a:tabLst/>
            </a:pPr>
            <a:r>
              <a:rPr lang="vi-VN" altLang="en-US" sz="1800" dirty="0">
                <a:latin typeface="Nunito Sans" pitchFamily="2" charset="0"/>
              </a:rPr>
              <a:t> Nhận diện khuôn mặt để phát hiện trường hợp đang được tìm kiếm, truy </a:t>
            </a:r>
            <a:r>
              <a:rPr lang="vi-VN" altLang="en-US" sz="1800" dirty="0" smtClean="0">
                <a:latin typeface="Nunito Sans" pitchFamily="2" charset="0"/>
              </a:rPr>
              <a:t>nã</a:t>
            </a:r>
            <a:endParaRPr lang="vi-VN" altLang="en-US" sz="1800" dirty="0">
              <a:latin typeface="Nunito Sans" pitchFamily="2" charset="0"/>
            </a:endParaRPr>
          </a:p>
        </p:txBody>
      </p:sp>
      <p:pic>
        <p:nvPicPr>
          <p:cNvPr id="6" name="Picture 5">
            <a:extLst>
              <a:ext uri="{FF2B5EF4-FFF2-40B4-BE49-F238E27FC236}">
                <a16:creationId xmlns:a16="http://schemas.microsoft.com/office/drawing/2014/main" id="{F5233116-83D3-0780-9D5F-C349E842833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16661" y="394692"/>
            <a:ext cx="1790997" cy="633214"/>
          </a:xfrm>
          <a:prstGeom prst="rect">
            <a:avLst/>
          </a:prstGeom>
        </p:spPr>
      </p:pic>
      <p:pic>
        <p:nvPicPr>
          <p:cNvPr id="3" name="Picture 2"/>
          <p:cNvPicPr>
            <a:picLocks noChangeAspect="1"/>
          </p:cNvPicPr>
          <p:nvPr/>
        </p:nvPicPr>
        <p:blipFill>
          <a:blip r:embed="rId3"/>
          <a:stretch>
            <a:fillRect/>
          </a:stretch>
        </p:blipFill>
        <p:spPr>
          <a:xfrm>
            <a:off x="4990212" y="1653579"/>
            <a:ext cx="6869299" cy="4084242"/>
          </a:xfrm>
          <a:prstGeom prst="rect">
            <a:avLst/>
          </a:prstGeom>
        </p:spPr>
      </p:pic>
    </p:spTree>
    <p:extLst>
      <p:ext uri="{BB962C8B-B14F-4D97-AF65-F5344CB8AC3E}">
        <p14:creationId xmlns:p14="http://schemas.microsoft.com/office/powerpoint/2010/main" val="20657931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AC255B-893D-0CB4-0F42-88A3C0B2015E}"/>
              </a:ext>
            </a:extLst>
          </p:cNvPr>
          <p:cNvSpPr>
            <a:spLocks noGrp="1"/>
          </p:cNvSpPr>
          <p:nvPr>
            <p:ph idx="1"/>
          </p:nvPr>
        </p:nvSpPr>
        <p:spPr>
          <a:xfrm>
            <a:off x="838200" y="1957387"/>
            <a:ext cx="4219575" cy="4219575"/>
          </a:xfrm>
        </p:spPr>
        <p:txBody>
          <a:bodyPr>
            <a:normAutofit/>
          </a:bodyPr>
          <a:lstStyle/>
          <a:p>
            <a:pPr>
              <a:lnSpc>
                <a:spcPct val="150000"/>
              </a:lnSpc>
            </a:pPr>
            <a:r>
              <a:rPr lang="vi-VN" sz="1800" dirty="0">
                <a:latin typeface="Nunito Sans" pitchFamily="2" charset="0"/>
              </a:rPr>
              <a:t>Giúp trung tâm chỉ huy liên lạc với nhóm người mang thiết bị trong cùng hệ thống, kể cả trong điều kiện thời tiết khắc nghiệt.</a:t>
            </a:r>
          </a:p>
          <a:p>
            <a:pPr>
              <a:lnSpc>
                <a:spcPct val="150000"/>
              </a:lnSpc>
              <a:buFont typeface="Symbol" panose="05050102010706020507" pitchFamily="18" charset="2"/>
              <a:buChar char="Þ"/>
            </a:pPr>
            <a:r>
              <a:rPr lang="vi-VN" sz="1800" dirty="0">
                <a:latin typeface="Nunito Sans" pitchFamily="2" charset="0"/>
              </a:rPr>
              <a:t> Kết nối thông tin kịp thời đảm bảo tính minh bạch và hiệu </a:t>
            </a:r>
            <a:r>
              <a:rPr lang="vi-VN" sz="1800" dirty="0" smtClean="0">
                <a:latin typeface="Nunito Sans" pitchFamily="2" charset="0"/>
              </a:rPr>
              <a:t>quả</a:t>
            </a:r>
            <a:endParaRPr lang="vi-VN" sz="1800" dirty="0">
              <a:latin typeface="Nunito Sans" pitchFamily="2" charset="0"/>
            </a:endParaRPr>
          </a:p>
        </p:txBody>
      </p:sp>
      <p:pic>
        <p:nvPicPr>
          <p:cNvPr id="4" name="Picture 3">
            <a:extLst>
              <a:ext uri="{FF2B5EF4-FFF2-40B4-BE49-F238E27FC236}">
                <a16:creationId xmlns:a16="http://schemas.microsoft.com/office/drawing/2014/main" id="{25DB2267-B819-36B6-6FC6-89244D9203A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42785" y="394692"/>
            <a:ext cx="1790997" cy="633214"/>
          </a:xfrm>
          <a:prstGeom prst="rect">
            <a:avLst/>
          </a:prstGeom>
        </p:spPr>
      </p:pic>
      <p:sp>
        <p:nvSpPr>
          <p:cNvPr id="7" name="Title 1">
            <a:extLst>
              <a:ext uri="{FF2B5EF4-FFF2-40B4-BE49-F238E27FC236}">
                <a16:creationId xmlns:a16="http://schemas.microsoft.com/office/drawing/2014/main" id="{98942D8F-7139-740C-592C-51FEF8C23ECF}"/>
              </a:ext>
            </a:extLst>
          </p:cNvPr>
          <p:cNvSpPr txBox="1">
            <a:spLocks/>
          </p:cNvSpPr>
          <p:nvPr/>
        </p:nvSpPr>
        <p:spPr>
          <a:xfrm>
            <a:off x="838199" y="943897"/>
            <a:ext cx="5592097" cy="7467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Nunito Sans" pitchFamily="2" charset="0"/>
              </a:rPr>
              <a:t>Ứng</a:t>
            </a:r>
            <a:r>
              <a:rPr lang="en-US" sz="2800" dirty="0">
                <a:latin typeface="Nunito Sans" pitchFamily="2" charset="0"/>
              </a:rPr>
              <a:t> </a:t>
            </a:r>
            <a:r>
              <a:rPr lang="en-US" sz="2800" dirty="0" err="1">
                <a:latin typeface="Nunito Sans" pitchFamily="2" charset="0"/>
              </a:rPr>
              <a:t>dụng</a:t>
            </a:r>
            <a:r>
              <a:rPr lang="en-US" sz="2800" dirty="0">
                <a:latin typeface="Nunito Sans" pitchFamily="2" charset="0"/>
              </a:rPr>
              <a:t> </a:t>
            </a:r>
            <a:r>
              <a:rPr lang="en-US" sz="2800" dirty="0" err="1">
                <a:latin typeface="Nunito Sans" pitchFamily="2" charset="0"/>
              </a:rPr>
              <a:t>thực</a:t>
            </a:r>
            <a:r>
              <a:rPr lang="en-US" sz="2800" dirty="0">
                <a:latin typeface="Nunito Sans" pitchFamily="2" charset="0"/>
              </a:rPr>
              <a:t> </a:t>
            </a:r>
            <a:r>
              <a:rPr lang="en-US" sz="2800" dirty="0" err="1">
                <a:latin typeface="Nunito Sans" pitchFamily="2" charset="0"/>
              </a:rPr>
              <a:t>tiễn</a:t>
            </a:r>
            <a:r>
              <a:rPr lang="en-US" sz="2800" dirty="0">
                <a:latin typeface="Nunito Sans" pitchFamily="2" charset="0"/>
              </a:rPr>
              <a:t> </a:t>
            </a:r>
            <a:r>
              <a:rPr lang="vi-VN" sz="2800" dirty="0">
                <a:latin typeface="Nunito Sans" pitchFamily="2" charset="0"/>
              </a:rPr>
              <a:t>điển hình</a:t>
            </a:r>
            <a:endParaRPr lang="en-US" sz="3000" dirty="0">
              <a:latin typeface="Nunito Sans" pitchFamily="2" charset="0"/>
            </a:endParaRPr>
          </a:p>
        </p:txBody>
      </p:sp>
      <p:pic>
        <p:nvPicPr>
          <p:cNvPr id="2" name="Picture 1"/>
          <p:cNvPicPr>
            <a:picLocks noChangeAspect="1"/>
          </p:cNvPicPr>
          <p:nvPr/>
        </p:nvPicPr>
        <p:blipFill>
          <a:blip r:embed="rId3"/>
          <a:stretch>
            <a:fillRect/>
          </a:stretch>
        </p:blipFill>
        <p:spPr>
          <a:xfrm>
            <a:off x="5622592" y="2000250"/>
            <a:ext cx="6111190" cy="3433699"/>
          </a:xfrm>
          <a:prstGeom prst="rect">
            <a:avLst/>
          </a:prstGeom>
        </p:spPr>
      </p:pic>
    </p:spTree>
    <p:extLst>
      <p:ext uri="{BB962C8B-B14F-4D97-AF65-F5344CB8AC3E}">
        <p14:creationId xmlns:p14="http://schemas.microsoft.com/office/powerpoint/2010/main" val="1850525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DECFA-E3A3-2486-ED8F-FE3244E79DCC}"/>
              </a:ext>
            </a:extLst>
          </p:cNvPr>
          <p:cNvSpPr>
            <a:spLocks noGrp="1"/>
          </p:cNvSpPr>
          <p:nvPr>
            <p:ph type="title"/>
          </p:nvPr>
        </p:nvSpPr>
        <p:spPr>
          <a:xfrm>
            <a:off x="532767" y="394692"/>
            <a:ext cx="9505589" cy="1267715"/>
          </a:xfrm>
        </p:spPr>
        <p:txBody>
          <a:bodyPr>
            <a:noAutofit/>
          </a:bodyPr>
          <a:lstStyle/>
          <a:p>
            <a:pPr>
              <a:lnSpc>
                <a:spcPct val="150000"/>
              </a:lnSpc>
            </a:pPr>
            <a:r>
              <a:rPr lang="vi-VN" sz="2500" b="1" dirty="0">
                <a:latin typeface="Nunito Sans" pitchFamily="2" charset="0"/>
              </a:rPr>
              <a:t>MobiSecure – Giải pháp an ninh tối ưu</a:t>
            </a:r>
            <a:br>
              <a:rPr lang="vi-VN" sz="2500" b="1" dirty="0">
                <a:latin typeface="Nunito Sans" pitchFamily="2" charset="0"/>
              </a:rPr>
            </a:br>
            <a:r>
              <a:rPr lang="vi-VN" sz="2500" b="1" dirty="0">
                <a:latin typeface="Nunito Sans" pitchFamily="2" charset="0"/>
              </a:rPr>
              <a:t>Nói không với rủi ro an toàn thông tin</a:t>
            </a:r>
            <a:endParaRPr lang="en-US" sz="2500" dirty="0">
              <a:latin typeface="Nunito Sans" pitchFamily="2" charset="0"/>
            </a:endParaRPr>
          </a:p>
        </p:txBody>
      </p:sp>
      <p:sp>
        <p:nvSpPr>
          <p:cNvPr id="3" name="Content Placeholder 2">
            <a:extLst>
              <a:ext uri="{FF2B5EF4-FFF2-40B4-BE49-F238E27FC236}">
                <a16:creationId xmlns:a16="http://schemas.microsoft.com/office/drawing/2014/main" id="{B739A480-002F-30CB-7804-B4DD2C613997}"/>
              </a:ext>
            </a:extLst>
          </p:cNvPr>
          <p:cNvSpPr>
            <a:spLocks noGrp="1"/>
          </p:cNvSpPr>
          <p:nvPr>
            <p:ph idx="1"/>
          </p:nvPr>
        </p:nvSpPr>
        <p:spPr>
          <a:xfrm>
            <a:off x="532767" y="1825625"/>
            <a:ext cx="11313042" cy="4637683"/>
          </a:xfrm>
        </p:spPr>
        <p:txBody>
          <a:bodyPr>
            <a:normAutofit/>
          </a:bodyPr>
          <a:lstStyle/>
          <a:p>
            <a:pPr>
              <a:lnSpc>
                <a:spcPct val="150000"/>
              </a:lnSpc>
            </a:pPr>
            <a:r>
              <a:rPr lang="vi-VN" sz="1800" dirty="0">
                <a:latin typeface="Nunito Sans" pitchFamily="2" charset="0"/>
              </a:rPr>
              <a:t>Sản phẩm </a:t>
            </a:r>
            <a:r>
              <a:rPr lang="vi-VN" sz="1800" b="1" dirty="0">
                <a:latin typeface="Nunito Sans" pitchFamily="2" charset="0"/>
              </a:rPr>
              <a:t>AI camera xử lý tại biên </a:t>
            </a:r>
            <a:r>
              <a:rPr lang="vi-VN" sz="1800" dirty="0">
                <a:latin typeface="Nunito Sans" pitchFamily="2" charset="0"/>
              </a:rPr>
              <a:t>đảm bảo tính bảo mật cao và nhanh chóng – Sản phẩm công nghiệp chiến lược được ưu tiên phát triển 2025 </a:t>
            </a:r>
          </a:p>
          <a:p>
            <a:pPr>
              <a:lnSpc>
                <a:spcPct val="150000"/>
              </a:lnSpc>
            </a:pPr>
            <a:r>
              <a:rPr lang="vi-VN" sz="1800" dirty="0">
                <a:latin typeface="Nunito Sans" pitchFamily="2" charset="0"/>
              </a:rPr>
              <a:t>Giải pháp MK Vision đồng bộ, giúp triển khai nhanh chóng và hiệu quả, kết nối camera với cơ sở dữ liệu dân cư để xác thực căn cước công dân</a:t>
            </a:r>
          </a:p>
          <a:p>
            <a:pPr>
              <a:lnSpc>
                <a:spcPct val="150000"/>
              </a:lnSpc>
            </a:pPr>
            <a:r>
              <a:rPr lang="en-US" sz="1800" b="1" dirty="0" err="1">
                <a:latin typeface="Nunito Sans" pitchFamily="2" charset="0"/>
              </a:rPr>
              <a:t>Khả</a:t>
            </a:r>
            <a:r>
              <a:rPr lang="en-US" sz="1800" b="1" dirty="0">
                <a:latin typeface="Nunito Sans" pitchFamily="2" charset="0"/>
              </a:rPr>
              <a:t> </a:t>
            </a:r>
            <a:r>
              <a:rPr lang="en-US" sz="1800" b="1" dirty="0" err="1">
                <a:latin typeface="Nunito Sans" pitchFamily="2" charset="0"/>
              </a:rPr>
              <a:t>năng</a:t>
            </a:r>
            <a:r>
              <a:rPr lang="en-US" sz="1800" b="1" dirty="0">
                <a:latin typeface="Nunito Sans" pitchFamily="2" charset="0"/>
              </a:rPr>
              <a:t> </a:t>
            </a:r>
            <a:r>
              <a:rPr lang="vi-VN" sz="1800" b="1" dirty="0">
                <a:latin typeface="Nunito Sans" pitchFamily="2" charset="0"/>
              </a:rPr>
              <a:t>tích hợp sâu</a:t>
            </a:r>
            <a:r>
              <a:rPr lang="en-US" sz="1800" b="1" dirty="0">
                <a:latin typeface="Nunito Sans" pitchFamily="2" charset="0"/>
              </a:rPr>
              <a:t>, </a:t>
            </a:r>
            <a:r>
              <a:rPr lang="vi-VN" sz="1800" b="1" dirty="0">
                <a:latin typeface="Nunito Sans" pitchFamily="2" charset="0"/>
              </a:rPr>
              <a:t>giải quyết bài toán cụ thể </a:t>
            </a:r>
          </a:p>
          <a:p>
            <a:pPr>
              <a:lnSpc>
                <a:spcPct val="150000"/>
              </a:lnSpc>
            </a:pPr>
            <a:r>
              <a:rPr lang="vi-VN" sz="1800" dirty="0">
                <a:latin typeface="Nunito Sans" pitchFamily="2" charset="0"/>
              </a:rPr>
              <a:t>Là giải pháp công nghệ thông minh mang lại Giá trị thương hiệu</a:t>
            </a:r>
          </a:p>
          <a:p>
            <a:pPr>
              <a:lnSpc>
                <a:spcPct val="150000"/>
              </a:lnSpc>
              <a:buFont typeface="Wingdings" panose="05000000000000000000" pitchFamily="2" charset="2"/>
              <a:buChar char="ü"/>
            </a:pPr>
            <a:r>
              <a:rPr lang="vi-VN" sz="1800" dirty="0">
                <a:latin typeface="Nunito Sans" pitchFamily="2" charset="0"/>
              </a:rPr>
              <a:t>Tạo dấu ấn thương hiệu chuyên nghiệp, minh bạch và đáng tin cậy </a:t>
            </a:r>
          </a:p>
          <a:p>
            <a:pPr>
              <a:lnSpc>
                <a:spcPct val="150000"/>
              </a:lnSpc>
              <a:buFont typeface="Wingdings" panose="05000000000000000000" pitchFamily="2" charset="2"/>
              <a:buChar char="ü"/>
            </a:pPr>
            <a:r>
              <a:rPr lang="vi-VN" sz="1800" dirty="0">
                <a:latin typeface="Nunito Sans" pitchFamily="2" charset="0"/>
              </a:rPr>
              <a:t>Tăng cường kiểm soát an ninh giám sát, giảm thiểu rủi ro và nâng cao hiệu quả vận hành doanh nghiệp </a:t>
            </a:r>
          </a:p>
        </p:txBody>
      </p:sp>
      <p:pic>
        <p:nvPicPr>
          <p:cNvPr id="4" name="Picture 3">
            <a:extLst>
              <a:ext uri="{FF2B5EF4-FFF2-40B4-BE49-F238E27FC236}">
                <a16:creationId xmlns:a16="http://schemas.microsoft.com/office/drawing/2014/main" id="{42530F33-1F5C-D9E5-E5E9-5CCBC5948C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53296" y="394692"/>
            <a:ext cx="1790997" cy="633214"/>
          </a:xfrm>
          <a:prstGeom prst="rect">
            <a:avLst/>
          </a:prstGeom>
        </p:spPr>
      </p:pic>
    </p:spTree>
    <p:extLst>
      <p:ext uri="{BB962C8B-B14F-4D97-AF65-F5344CB8AC3E}">
        <p14:creationId xmlns:p14="http://schemas.microsoft.com/office/powerpoint/2010/main" val="39048242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8164" y="-386510"/>
            <a:ext cx="12958763" cy="7295783"/>
          </a:xfrm>
          <a:prstGeom prst="rect">
            <a:avLst/>
          </a:prstGeom>
        </p:spPr>
      </p:pic>
    </p:spTree>
    <p:extLst>
      <p:ext uri="{BB962C8B-B14F-4D97-AF65-F5344CB8AC3E}">
        <p14:creationId xmlns:p14="http://schemas.microsoft.com/office/powerpoint/2010/main" val="33401933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1799</TotalTime>
  <Words>1056</Words>
  <Application>Microsoft Office PowerPoint</Application>
  <PresentationFormat>Widescreen</PresentationFormat>
  <Paragraphs>88</Paragraphs>
  <Slides>15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Nunito Sans</vt:lpstr>
      <vt:lpstr>Arial</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Sơ đồ kiến trúc hệ thống</vt:lpstr>
      <vt:lpstr>PowerPoint Presentation</vt:lpstr>
      <vt:lpstr>Ứng dụng thực tiễn điển hình</vt:lpstr>
      <vt:lpstr>PowerPoint Presentation</vt:lpstr>
      <vt:lpstr>MobiSecure – Giải pháp an ninh tối ưu Nói không với rủi ro an toàn thông tin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Cảnh Nguyễn</dc:creator>
  <cp:lastModifiedBy>LTC</cp:lastModifiedBy>
  <cp:revision>11</cp:revision>
  <dcterms:created xsi:type="dcterms:W3CDTF">2025-10-29T04:17:34Z</dcterms:created>
  <dcterms:modified xsi:type="dcterms:W3CDTF">2025-11-18T10:35:48Z</dcterms:modified>
</cp:coreProperties>
</file>