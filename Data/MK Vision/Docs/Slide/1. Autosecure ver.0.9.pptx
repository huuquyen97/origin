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Roboto"/>
      <p:regular r:id="rId28"/>
      <p:bold r:id="rId29"/>
      <p:italic r:id="rId30"/>
      <p:boldItalic r:id="rId31"/>
    </p:embeddedFont>
    <p:embeddedFont>
      <p:font typeface="Josefin Sans"/>
      <p:regular r:id="rId32"/>
      <p:bold r:id="rId33"/>
      <p:italic r:id="rId34"/>
      <p:boldItalic r:id="rId35"/>
    </p:embeddedFont>
    <p:embeddedFont>
      <p:font typeface="Quattrocento Sans"/>
      <p:regular r:id="rId36"/>
      <p:bold r:id="rId37"/>
      <p:italic r:id="rId38"/>
      <p:boldItalic r:id="rId39"/>
    </p:embeddedFont>
    <p:embeddedFont>
      <p:font typeface="Josefin Sans SemiBold"/>
      <p:regular r:id="rId40"/>
      <p:bold r:id="rId41"/>
      <p:italic r:id="rId42"/>
      <p:boldItalic r:id="rId43"/>
    </p:embeddedFont>
    <p:embeddedFont>
      <p:font typeface="Nunito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5LetKHa3xgRK3tLe0x42ZAZxt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JosefinSansSemiBold-regular.fntdata"/><Relationship Id="rId20" Type="http://schemas.openxmlformats.org/officeDocument/2006/relationships/slide" Target="slides/slide16.xml"/><Relationship Id="rId42" Type="http://schemas.openxmlformats.org/officeDocument/2006/relationships/font" Target="fonts/JosefinSansSemiBold-italic.fntdata"/><Relationship Id="rId41" Type="http://schemas.openxmlformats.org/officeDocument/2006/relationships/font" Target="fonts/JosefinSansSemiBold-bold.fntdata"/><Relationship Id="rId22" Type="http://schemas.openxmlformats.org/officeDocument/2006/relationships/slide" Target="slides/slide18.xml"/><Relationship Id="rId44" Type="http://schemas.openxmlformats.org/officeDocument/2006/relationships/font" Target="fonts/NunitoSans-regular.fntdata"/><Relationship Id="rId21" Type="http://schemas.openxmlformats.org/officeDocument/2006/relationships/slide" Target="slides/slide17.xml"/><Relationship Id="rId43" Type="http://schemas.openxmlformats.org/officeDocument/2006/relationships/font" Target="fonts/JosefinSansSemiBold-boldItalic.fntdata"/><Relationship Id="rId24" Type="http://schemas.openxmlformats.org/officeDocument/2006/relationships/slide" Target="slides/slide20.xml"/><Relationship Id="rId46" Type="http://schemas.openxmlformats.org/officeDocument/2006/relationships/font" Target="fonts/NunitoSans-italic.fntdata"/><Relationship Id="rId23" Type="http://schemas.openxmlformats.org/officeDocument/2006/relationships/slide" Target="slides/slide19.xml"/><Relationship Id="rId45" Type="http://schemas.openxmlformats.org/officeDocument/2006/relationships/font" Target="fonts/NunitoSans-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NunitoSans-boldItalic.fntdata"/><Relationship Id="rId28" Type="http://schemas.openxmlformats.org/officeDocument/2006/relationships/font" Target="fonts/Roboto-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7.xml"/><Relationship Id="rId33" Type="http://schemas.openxmlformats.org/officeDocument/2006/relationships/font" Target="fonts/JosefinSans-bold.fntdata"/><Relationship Id="rId10" Type="http://schemas.openxmlformats.org/officeDocument/2006/relationships/slide" Target="slides/slide6.xml"/><Relationship Id="rId32" Type="http://schemas.openxmlformats.org/officeDocument/2006/relationships/font" Target="fonts/JosefinSans-regular.fntdata"/><Relationship Id="rId13" Type="http://schemas.openxmlformats.org/officeDocument/2006/relationships/slide" Target="slides/slide9.xml"/><Relationship Id="rId35" Type="http://schemas.openxmlformats.org/officeDocument/2006/relationships/font" Target="fonts/JosefinSans-boldItalic.fntdata"/><Relationship Id="rId12" Type="http://schemas.openxmlformats.org/officeDocument/2006/relationships/slide" Target="slides/slide8.xml"/><Relationship Id="rId34" Type="http://schemas.openxmlformats.org/officeDocument/2006/relationships/font" Target="fonts/JosefinSans-italic.fntdata"/><Relationship Id="rId15" Type="http://schemas.openxmlformats.org/officeDocument/2006/relationships/slide" Target="slides/slide11.xml"/><Relationship Id="rId37" Type="http://schemas.openxmlformats.org/officeDocument/2006/relationships/font" Target="fonts/QuattrocentoSans-bold.fntdata"/><Relationship Id="rId14" Type="http://schemas.openxmlformats.org/officeDocument/2006/relationships/slide" Target="slides/slide10.xml"/><Relationship Id="rId36" Type="http://schemas.openxmlformats.org/officeDocument/2006/relationships/font" Target="fonts/QuattrocentoSans-regular.fntdata"/><Relationship Id="rId17" Type="http://schemas.openxmlformats.org/officeDocument/2006/relationships/slide" Target="slides/slide13.xml"/><Relationship Id="rId39" Type="http://schemas.openxmlformats.org/officeDocument/2006/relationships/font" Target="fonts/QuattrocentoSans-boldItalic.fntdata"/><Relationship Id="rId16" Type="http://schemas.openxmlformats.org/officeDocument/2006/relationships/slide" Target="slides/slide12.xml"/><Relationship Id="rId38" Type="http://schemas.openxmlformats.org/officeDocument/2006/relationships/font" Target="fonts/QuattrocentoSa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58" name="Google Shape;158;p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72" name="Google Shape;172;p7:notes"/>
          <p:cNvSpPr txBox="1"/>
          <p:nvPr>
            <p:ph idx="12" type="sldNum"/>
          </p:nvPr>
        </p:nvSpPr>
        <p:spPr>
          <a:xfrm>
            <a:off x="4143587" y="9119475"/>
            <a:ext cx="3169920" cy="481726"/>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8: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86" name="Google Shape;186;p8: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chemeClr val="dk1"/>
              </a:buClr>
              <a:buSzPts val="18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7" name="Google Shape;187;p8: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rgbClr val="000000"/>
                </a:solidFill>
                <a:latin typeface="Arial"/>
                <a:ea typeface="Arial"/>
                <a:cs typeface="Arial"/>
                <a:sym typeface="Arial"/>
              </a:rPr>
              <a:t>Tầm nhìn MK 2020</a:t>
            </a:r>
            <a:endParaRPr b="0" i="0" sz="1400" u="none" cap="none" strike="noStrike">
              <a:solidFill>
                <a:srgbClr val="000000"/>
              </a:solidFill>
              <a:latin typeface="Arial"/>
              <a:ea typeface="Arial"/>
              <a:cs typeface="Arial"/>
              <a:sym typeface="Arial"/>
            </a:endParaRPr>
          </a:p>
        </p:txBody>
      </p:sp>
      <p:sp>
        <p:nvSpPr>
          <p:cNvPr id="188" name="Google Shape;188;p8: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marR="0" rtl="0" algn="l">
              <a:lnSpc>
                <a:spcPct val="100000"/>
              </a:lnSpc>
              <a:spcBef>
                <a:spcPts val="0"/>
              </a:spcBef>
              <a:spcAft>
                <a:spcPts val="0"/>
              </a:spcAft>
              <a:buClr>
                <a:schemeClr val="dk1"/>
              </a:buClr>
              <a:buSzPts val="1400"/>
              <a:buFont typeface="Calibri"/>
              <a:buNone/>
            </a:pPr>
            <a:r>
              <a:rPr b="0" i="0" lang="en-US" sz="1400" u="none" cap="none" strike="noStrike">
                <a:solidFill>
                  <a:srgbClr val="000000"/>
                </a:solidFill>
                <a:latin typeface="Arial"/>
                <a:ea typeface="Arial"/>
                <a:cs typeface="Arial"/>
                <a:sym typeface="Arial"/>
              </a:rPr>
              <a:t>Tầm nhìn MK 2020</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t/>
            </a:r>
            <a:endParaRPr/>
          </a:p>
        </p:txBody>
      </p:sp>
      <p:sp>
        <p:nvSpPr>
          <p:cNvPr id="199" name="Google Shape;199;p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1: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t/>
            </a:r>
            <a:endParaRPr/>
          </a:p>
        </p:txBody>
      </p:sp>
      <p:sp>
        <p:nvSpPr>
          <p:cNvPr id="231" name="Google Shape;231;p11: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
        <p:nvSpPr>
          <p:cNvPr id="232" name="Google Shape;232;p11: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
        <p:nvSpPr>
          <p:cNvPr id="233" name="Google Shape;233;p11: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2: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t/>
            </a:r>
            <a:endParaRPr/>
          </a:p>
        </p:txBody>
      </p:sp>
      <p:sp>
        <p:nvSpPr>
          <p:cNvPr id="245" name="Google Shape;245;p12: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
        <p:nvSpPr>
          <p:cNvPr id="246" name="Google Shape;246;p12: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
        <p:nvSpPr>
          <p:cNvPr id="247" name="Google Shape;247;p12: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4: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t/>
            </a:r>
            <a:endParaRPr/>
          </a:p>
        </p:txBody>
      </p:sp>
      <p:sp>
        <p:nvSpPr>
          <p:cNvPr id="271" name="Google Shape;271;p14: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
        <p:nvSpPr>
          <p:cNvPr id="272" name="Google Shape;272;p14: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
        <p:nvSpPr>
          <p:cNvPr id="273" name="Google Shape;273;p14: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5: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2" name="Google Shape;292;p15: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
        <p:nvSpPr>
          <p:cNvPr id="293" name="Google Shape;293;p15: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400"/>
              <a:buFont typeface="Calibri"/>
              <a:buNone/>
            </a:pPr>
            <a:r>
              <a:rPr lang="en-US"/>
              <a:t>MK Vision 2020</a:t>
            </a:r>
            <a:endParaRPr/>
          </a:p>
        </p:txBody>
      </p:sp>
      <p:sp>
        <p:nvSpPr>
          <p:cNvPr id="294" name="Google Shape;294;p15: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400"/>
              <a:buFont typeface="Calibri"/>
              <a:buNone/>
            </a:pPr>
            <a:r>
              <a:rPr lang="en-US"/>
              <a:t>MK Vision 2020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6: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t/>
            </a:r>
            <a:endParaRPr/>
          </a:p>
        </p:txBody>
      </p:sp>
      <p:sp>
        <p:nvSpPr>
          <p:cNvPr id="302" name="Google Shape;302;p16: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200"/>
              <a:buFont typeface="Calibri"/>
              <a:buNone/>
            </a:pPr>
            <a:fld id="{00000000-1234-1234-1234-123412341234}" type="slidenum">
              <a:rPr lang="en-US"/>
              <a:t>‹#›</a:t>
            </a:fld>
            <a:endParaRPr/>
          </a:p>
        </p:txBody>
      </p:sp>
      <p:sp>
        <p:nvSpPr>
          <p:cNvPr id="303" name="Google Shape;303;p16: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
        <p:nvSpPr>
          <p:cNvPr id="304" name="Google Shape;304;p16: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7:notes"/>
          <p:cNvSpPr txBox="1"/>
          <p:nvPr>
            <p:ph idx="1" type="body"/>
          </p:nvPr>
        </p:nvSpPr>
        <p:spPr>
          <a:xfrm>
            <a:off x="731520" y="4620577"/>
            <a:ext cx="5852160" cy="3780473"/>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4" name="Google Shape;314;p17:notes"/>
          <p:cNvSpPr txBox="1"/>
          <p:nvPr>
            <p:ph idx="12" type="sldNum"/>
          </p:nvPr>
        </p:nvSpPr>
        <p:spPr>
          <a:xfrm>
            <a:off x="4143587" y="9119474"/>
            <a:ext cx="3169920" cy="481726"/>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
        <p:nvSpPr>
          <p:cNvPr id="315" name="Google Shape;315;p17:notes"/>
          <p:cNvSpPr txBox="1"/>
          <p:nvPr>
            <p:ph idx="11" type="ftr"/>
          </p:nvPr>
        </p:nvSpPr>
        <p:spPr>
          <a:xfrm>
            <a:off x="0" y="9119474"/>
            <a:ext cx="3169920" cy="481726"/>
          </a:xfrm>
          <a:prstGeom prst="rect">
            <a:avLst/>
          </a:prstGeom>
          <a:noFill/>
          <a:ln>
            <a:noFill/>
          </a:ln>
        </p:spPr>
        <p:txBody>
          <a:bodyPr anchorCtr="0" anchor="b" bIns="48325" lIns="96650" spcFirstLastPara="1" rIns="96650" wrap="square" tIns="48325">
            <a:noAutofit/>
          </a:bodyPr>
          <a:lstStyle/>
          <a:p>
            <a:pPr indent="0" lvl="0" marL="0" rtl="0" algn="l">
              <a:spcBef>
                <a:spcPts val="0"/>
              </a:spcBef>
              <a:spcAft>
                <a:spcPts val="0"/>
              </a:spcAft>
              <a:buClr>
                <a:schemeClr val="dk1"/>
              </a:buClr>
              <a:buSzPts val="1400"/>
              <a:buFont typeface="Calibri"/>
              <a:buNone/>
            </a:pPr>
            <a:r>
              <a:rPr lang="en-US"/>
              <a:t>MK Vision 2020</a:t>
            </a:r>
            <a:endParaRPr/>
          </a:p>
        </p:txBody>
      </p:sp>
      <p:sp>
        <p:nvSpPr>
          <p:cNvPr id="316" name="Google Shape;316;p17:notes"/>
          <p:cNvSpPr txBox="1"/>
          <p:nvPr>
            <p:ph idx="3" type="hdr"/>
          </p:nvPr>
        </p:nvSpPr>
        <p:spPr>
          <a:xfrm>
            <a:off x="0" y="0"/>
            <a:ext cx="3169920" cy="481727"/>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Clr>
                <a:schemeClr val="dk1"/>
              </a:buClr>
              <a:buSzPts val="1400"/>
              <a:buFont typeface="Calibri"/>
              <a:buNone/>
            </a:pPr>
            <a:r>
              <a:rPr lang="en-US"/>
              <a:t>MK Vision 2020</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18:notes"/>
          <p:cNvSpPr txBox="1"/>
          <p:nvPr>
            <p:ph idx="1" type="body"/>
          </p:nvPr>
        </p:nvSpPr>
        <p:spPr>
          <a:xfrm>
            <a:off x="731520" y="4620577"/>
            <a:ext cx="5852100" cy="378060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39" name="Google Shape;339;p18:notes"/>
          <p:cNvSpPr txBox="1"/>
          <p:nvPr>
            <p:ph idx="12" type="sldNum"/>
          </p:nvPr>
        </p:nvSpPr>
        <p:spPr>
          <a:xfrm>
            <a:off x="4143587" y="9119474"/>
            <a:ext cx="3169800" cy="48180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
        <p:nvSpPr>
          <p:cNvPr id="340" name="Google Shape;340;p18:notes"/>
          <p:cNvSpPr txBox="1"/>
          <p:nvPr>
            <p:ph idx="11" type="ftr"/>
          </p:nvPr>
        </p:nvSpPr>
        <p:spPr>
          <a:xfrm>
            <a:off x="0" y="9119474"/>
            <a:ext cx="3169800" cy="481800"/>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rPr lang="en-US"/>
              <a:t>MK Vision 2020</a:t>
            </a:r>
            <a:endParaRPr/>
          </a:p>
        </p:txBody>
      </p:sp>
      <p:sp>
        <p:nvSpPr>
          <p:cNvPr id="341" name="Google Shape;341;p18:notes"/>
          <p:cNvSpPr txBox="1"/>
          <p:nvPr>
            <p:ph idx="3" type="hdr"/>
          </p:nvPr>
        </p:nvSpPr>
        <p:spPr>
          <a:xfrm>
            <a:off x="0" y="0"/>
            <a:ext cx="3169800" cy="48180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9:notes"/>
          <p:cNvSpPr/>
          <p:nvPr>
            <p:ph idx="2" type="sldImg"/>
          </p:nvPr>
        </p:nvSpPr>
        <p:spPr>
          <a:xfrm>
            <a:off x="777875" y="1200150"/>
            <a:ext cx="5759450" cy="32400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9:notes"/>
          <p:cNvSpPr txBox="1"/>
          <p:nvPr>
            <p:ph idx="1" type="body"/>
          </p:nvPr>
        </p:nvSpPr>
        <p:spPr>
          <a:xfrm>
            <a:off x="731520" y="4620577"/>
            <a:ext cx="5852100" cy="378060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9" name="Google Shape;349;p19:notes"/>
          <p:cNvSpPr txBox="1"/>
          <p:nvPr>
            <p:ph idx="12" type="sldNum"/>
          </p:nvPr>
        </p:nvSpPr>
        <p:spPr>
          <a:xfrm>
            <a:off x="4143587" y="9119474"/>
            <a:ext cx="3169800" cy="481800"/>
          </a:xfrm>
          <a:prstGeom prst="rect">
            <a:avLst/>
          </a:prstGeom>
          <a:noFill/>
          <a:ln>
            <a:noFill/>
          </a:ln>
        </p:spPr>
        <p:txBody>
          <a:bodyPr anchorCtr="0" anchor="b" bIns="48325" lIns="96650" spcFirstLastPara="1" rIns="96650" wrap="square" tIns="48325">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
        <p:nvSpPr>
          <p:cNvPr id="350" name="Google Shape;350;p19:notes"/>
          <p:cNvSpPr txBox="1"/>
          <p:nvPr>
            <p:ph idx="11" type="ftr"/>
          </p:nvPr>
        </p:nvSpPr>
        <p:spPr>
          <a:xfrm>
            <a:off x="0" y="9119474"/>
            <a:ext cx="3169800" cy="481800"/>
          </a:xfrm>
          <a:prstGeom prst="rect">
            <a:avLst/>
          </a:prstGeom>
          <a:noFill/>
          <a:ln>
            <a:noFill/>
          </a:ln>
        </p:spPr>
        <p:txBody>
          <a:bodyPr anchorCtr="0" anchor="b"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rPr lang="en-US"/>
              <a:t>MK Vision 2020</a:t>
            </a:r>
            <a:endParaRPr/>
          </a:p>
        </p:txBody>
      </p:sp>
      <p:sp>
        <p:nvSpPr>
          <p:cNvPr id="351" name="Google Shape;351;p19:notes"/>
          <p:cNvSpPr txBox="1"/>
          <p:nvPr>
            <p:ph idx="3" type="hdr"/>
          </p:nvPr>
        </p:nvSpPr>
        <p:spPr>
          <a:xfrm>
            <a:off x="0" y="0"/>
            <a:ext cx="3169800" cy="481800"/>
          </a:xfrm>
          <a:prstGeom prst="rect">
            <a:avLst/>
          </a:prstGeom>
          <a:noFill/>
          <a:ln>
            <a:noFill/>
          </a:ln>
        </p:spPr>
        <p:txBody>
          <a:bodyPr anchorCtr="0" anchor="t" bIns="48325" lIns="96650" spcFirstLastPara="1" rIns="96650" wrap="square" tIns="48325">
            <a:noAutofit/>
          </a:bodyPr>
          <a:lstStyle/>
          <a:p>
            <a:pPr indent="0" lvl="0" marL="0" rtl="0" algn="l">
              <a:lnSpc>
                <a:spcPct val="100000"/>
              </a:lnSpc>
              <a:spcBef>
                <a:spcPts val="0"/>
              </a:spcBef>
              <a:spcAft>
                <a:spcPts val="0"/>
              </a:spcAft>
              <a:buClr>
                <a:schemeClr val="dk1"/>
              </a:buClr>
              <a:buSzPts val="1200"/>
              <a:buFont typeface="Calibri"/>
              <a:buNone/>
            </a:pPr>
            <a:r>
              <a:rPr lang="en-US"/>
              <a:t>MK Vision 2020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0:notes"/>
          <p:cNvSpPr txBox="1"/>
          <p:nvPr>
            <p:ph idx="1" type="body"/>
          </p:nvPr>
        </p:nvSpPr>
        <p:spPr>
          <a:xfrm>
            <a:off x="701040" y="4473892"/>
            <a:ext cx="5608320" cy="3660458"/>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Clr>
                <a:schemeClr val="dk1"/>
              </a:buClr>
              <a:buSzPts val="1200"/>
              <a:buFont typeface="Calibri"/>
              <a:buNone/>
            </a:pPr>
            <a:r>
              <a:t/>
            </a:r>
            <a:endParaRPr/>
          </a:p>
        </p:txBody>
      </p:sp>
      <p:sp>
        <p:nvSpPr>
          <p:cNvPr id="358" name="Google Shape;358;p20:notes"/>
          <p:cNvSpPr/>
          <p:nvPr>
            <p:ph idx="2" type="sldImg"/>
          </p:nvPr>
        </p:nvSpPr>
        <p:spPr>
          <a:xfrm>
            <a:off x="717550" y="1162050"/>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5"/>
          <p:cNvSpPr/>
          <p:nvPr/>
        </p:nvSpPr>
        <p:spPr>
          <a:xfrm>
            <a:off x="9896613" y="6356350"/>
            <a:ext cx="1420744" cy="365126"/>
          </a:xfrm>
          <a:custGeom>
            <a:rect b="b" l="l" r="r" t="t"/>
            <a:pathLst>
              <a:path extrusionOk="0" h="729751" w="2538265">
                <a:moveTo>
                  <a:pt x="0" y="0"/>
                </a:moveTo>
                <a:lnTo>
                  <a:pt x="2538265" y="0"/>
                </a:lnTo>
                <a:lnTo>
                  <a:pt x="2538265" y="729751"/>
                </a:lnTo>
                <a:lnTo>
                  <a:pt x="0" y="729751"/>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 and text 2">
    <p:spTree>
      <p:nvGrpSpPr>
        <p:cNvPr id="22" name="Shape 22"/>
        <p:cNvGrpSpPr/>
        <p:nvPr/>
      </p:nvGrpSpPr>
      <p:grpSpPr>
        <a:xfrm>
          <a:off x="0" y="0"/>
          <a:ext cx="0" cy="0"/>
          <a:chOff x="0" y="0"/>
          <a:chExt cx="0" cy="0"/>
        </a:xfrm>
      </p:grpSpPr>
      <p:sp>
        <p:nvSpPr>
          <p:cNvPr id="23" name="Google Shape;23;p26"/>
          <p:cNvSpPr txBox="1"/>
          <p:nvPr>
            <p:ph idx="1" type="subTitle"/>
          </p:nvPr>
        </p:nvSpPr>
        <p:spPr>
          <a:xfrm>
            <a:off x="6892633" y="2178500"/>
            <a:ext cx="4036400" cy="632800"/>
          </a:xfrm>
          <a:prstGeom prst="rect">
            <a:avLst/>
          </a:prstGeom>
          <a:noFill/>
          <a:ln>
            <a:noFill/>
          </a:ln>
        </p:spPr>
        <p:txBody>
          <a:bodyPr anchorCtr="0" anchor="t" bIns="0" lIns="91425" spcFirstLastPara="1" rIns="91425" wrap="square" tIns="91425">
            <a:noAutofit/>
          </a:bodyPr>
          <a:lstStyle>
            <a:lvl1pPr lvl="0" algn="l">
              <a:lnSpc>
                <a:spcPct val="100000"/>
              </a:lnSpc>
              <a:spcBef>
                <a:spcPts val="0"/>
              </a:spcBef>
              <a:spcAft>
                <a:spcPts val="0"/>
              </a:spcAft>
              <a:buClr>
                <a:schemeClr val="dk1"/>
              </a:buClr>
              <a:buSzPts val="1800"/>
              <a:buFont typeface="Josefin Sans"/>
              <a:buNone/>
              <a:defRPr sz="2133">
                <a:solidFill>
                  <a:schemeClr val="dk1"/>
                </a:solidFill>
                <a:latin typeface="Josefin Sans"/>
                <a:ea typeface="Josefin Sans"/>
                <a:cs typeface="Josefin Sans"/>
                <a:sym typeface="Josefin Sans"/>
              </a:defRPr>
            </a:lvl1pPr>
            <a:lvl2pPr lvl="1"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2pPr>
            <a:lvl3pPr lvl="2"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3pPr>
            <a:lvl4pPr lvl="3"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4pPr>
            <a:lvl5pPr lvl="4"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5pPr>
            <a:lvl6pPr lvl="5"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6pPr>
            <a:lvl7pPr lvl="6"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7pPr>
            <a:lvl8pPr lvl="7"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8pPr>
            <a:lvl9pPr lvl="8" algn="l">
              <a:lnSpc>
                <a:spcPct val="100000"/>
              </a:lnSpc>
              <a:spcBef>
                <a:spcPts val="0"/>
              </a:spcBef>
              <a:spcAft>
                <a:spcPts val="0"/>
              </a:spcAft>
              <a:buClr>
                <a:schemeClr val="dk1"/>
              </a:buClr>
              <a:buSzPts val="1600"/>
              <a:buFont typeface="Josefin Sans"/>
              <a:buNone/>
              <a:defRPr sz="2133">
                <a:solidFill>
                  <a:schemeClr val="dk1"/>
                </a:solidFill>
                <a:latin typeface="Josefin Sans"/>
                <a:ea typeface="Josefin Sans"/>
                <a:cs typeface="Josefin Sans"/>
                <a:sym typeface="Josefin Sans"/>
              </a:defRPr>
            </a:lvl9pPr>
          </a:lstStyle>
          <a:p/>
        </p:txBody>
      </p:sp>
      <p:sp>
        <p:nvSpPr>
          <p:cNvPr id="24" name="Google Shape;24;p26"/>
          <p:cNvSpPr txBox="1"/>
          <p:nvPr>
            <p:ph idx="2" type="subTitle"/>
          </p:nvPr>
        </p:nvSpPr>
        <p:spPr>
          <a:xfrm>
            <a:off x="6892633" y="1348900"/>
            <a:ext cx="3549600" cy="52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1"/>
              </a:buClr>
              <a:buSzPts val="2400"/>
              <a:buFont typeface="Josefin Sans"/>
              <a:buNone/>
              <a:defRPr b="1" sz="3733">
                <a:solidFill>
                  <a:schemeClr val="accent1"/>
                </a:solidFill>
                <a:latin typeface="Josefin Sans"/>
                <a:ea typeface="Josefin Sans"/>
                <a:cs typeface="Josefin Sans"/>
                <a:sym typeface="Josefin Sans"/>
              </a:defRPr>
            </a:lvl1pPr>
            <a:lvl2pPr lvl="1"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2pPr>
            <a:lvl3pPr lvl="2"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3pPr>
            <a:lvl4pPr lvl="3"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4pPr>
            <a:lvl5pPr lvl="4"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5pPr>
            <a:lvl6pPr lvl="5"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6pPr>
            <a:lvl7pPr lvl="6"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7pPr>
            <a:lvl8pPr lvl="7"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8pPr>
            <a:lvl9pPr lvl="8" algn="l">
              <a:lnSpc>
                <a:spcPct val="100000"/>
              </a:lnSpc>
              <a:spcBef>
                <a:spcPts val="0"/>
              </a:spcBef>
              <a:spcAft>
                <a:spcPts val="0"/>
              </a:spcAft>
              <a:buClr>
                <a:schemeClr val="accent1"/>
              </a:buClr>
              <a:buSzPts val="1800"/>
              <a:buFont typeface="Josefin Sans SemiBold"/>
              <a:buNone/>
              <a:defRPr sz="2400">
                <a:solidFill>
                  <a:schemeClr val="accent1"/>
                </a:solidFill>
                <a:latin typeface="Josefin Sans SemiBold"/>
                <a:ea typeface="Josefin Sans SemiBold"/>
                <a:cs typeface="Josefin Sans SemiBold"/>
                <a:sym typeface="Josefin Sans SemiBold"/>
              </a:defRPr>
            </a:lvl9pPr>
          </a:lstStyle>
          <a:p/>
        </p:txBody>
      </p:sp>
      <p:sp>
        <p:nvSpPr>
          <p:cNvPr id="25" name="Google Shape;25;p26"/>
          <p:cNvSpPr txBox="1"/>
          <p:nvPr>
            <p:ph idx="3" type="subTitle"/>
          </p:nvPr>
        </p:nvSpPr>
        <p:spPr>
          <a:xfrm>
            <a:off x="6892633" y="3622800"/>
            <a:ext cx="4036400" cy="1522000"/>
          </a:xfrm>
          <a:prstGeom prst="rect">
            <a:avLst/>
          </a:prstGeom>
          <a:noFill/>
          <a:ln>
            <a:noFill/>
          </a:ln>
        </p:spPr>
        <p:txBody>
          <a:bodyPr anchorCtr="0" anchor="t" bIns="0" lIns="91425" spcFirstLastPara="1" rIns="91425" wrap="square" tIns="91425">
            <a:noAutofit/>
          </a:bodyPr>
          <a:lstStyle>
            <a:lvl1pPr lvl="0" algn="l">
              <a:lnSpc>
                <a:spcPct val="100000"/>
              </a:lnSpc>
              <a:spcBef>
                <a:spcPts val="0"/>
              </a:spcBef>
              <a:spcAft>
                <a:spcPts val="0"/>
              </a:spcAft>
              <a:buClr>
                <a:schemeClr val="dk1"/>
              </a:buClr>
              <a:buSzPts val="1600"/>
              <a:buFont typeface="Josefin Sans"/>
              <a:buNone/>
              <a:defRPr sz="1867">
                <a:solidFill>
                  <a:schemeClr val="dk1"/>
                </a:solidFill>
                <a:latin typeface="Josefin Sans"/>
                <a:ea typeface="Josefin Sans"/>
                <a:cs typeface="Josefin Sans"/>
                <a:sym typeface="Josefin Sans"/>
              </a:defRPr>
            </a:lvl1pPr>
            <a:lvl2pPr lvl="1"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2pPr>
            <a:lvl3pPr lvl="2"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3pPr>
            <a:lvl4pPr lvl="3"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4pPr>
            <a:lvl5pPr lvl="4"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5pPr>
            <a:lvl6pPr lvl="5"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6pPr>
            <a:lvl7pPr lvl="6"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7pPr>
            <a:lvl8pPr lvl="7"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8pPr>
            <a:lvl9pPr lvl="8" algn="l">
              <a:lnSpc>
                <a:spcPct val="100000"/>
              </a:lnSpc>
              <a:spcBef>
                <a:spcPts val="0"/>
              </a:spcBef>
              <a:spcAft>
                <a:spcPts val="0"/>
              </a:spcAft>
              <a:buClr>
                <a:schemeClr val="dk1"/>
              </a:buClr>
              <a:buSzPts val="1400"/>
              <a:buFont typeface="Josefin Sans"/>
              <a:buNone/>
              <a:defRPr>
                <a:solidFill>
                  <a:schemeClr val="dk1"/>
                </a:solidFill>
                <a:latin typeface="Josefin Sans"/>
                <a:ea typeface="Josefin Sans"/>
                <a:cs typeface="Josefin Sans"/>
                <a:sym typeface="Josefi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26" name="Shape 26"/>
        <p:cNvGrpSpPr/>
        <p:nvPr/>
      </p:nvGrpSpPr>
      <p:grpSpPr>
        <a:xfrm>
          <a:off x="0" y="0"/>
          <a:ext cx="0" cy="0"/>
          <a:chOff x="0" y="0"/>
          <a:chExt cx="0" cy="0"/>
        </a:xfrm>
      </p:grpSpPr>
      <p:sp>
        <p:nvSpPr>
          <p:cNvPr id="27" name="Google Shape;27;p27"/>
          <p:cNvSpPr txBox="1"/>
          <p:nvPr>
            <p:ph type="title"/>
          </p:nvPr>
        </p:nvSpPr>
        <p:spPr>
          <a:xfrm>
            <a:off x="1961200" y="635379"/>
            <a:ext cx="8269600" cy="763600"/>
          </a:xfrm>
          <a:prstGeom prst="rect">
            <a:avLst/>
          </a:prstGeom>
          <a:noFill/>
          <a:ln>
            <a:noFill/>
          </a:ln>
        </p:spPr>
        <p:txBody>
          <a:bodyPr anchorCtr="0" anchor="t" bIns="91425" lIns="91425" spcFirstLastPara="1" rIns="91425" wrap="square" tIns="91425">
            <a:noAutofit/>
          </a:bodyPr>
          <a:lstStyle>
            <a:lvl1pPr lvl="0" algn="ctr">
              <a:lnSpc>
                <a:spcPct val="90000"/>
              </a:lnSpc>
              <a:spcBef>
                <a:spcPts val="0"/>
              </a:spcBef>
              <a:spcAft>
                <a:spcPts val="0"/>
              </a:spcAft>
              <a:buClr>
                <a:schemeClr val="dk1"/>
              </a:buClr>
              <a:buSzPts val="2800"/>
              <a:buFont typeface="Josefin Sans"/>
              <a:buNone/>
              <a:defRPr b="1">
                <a:latin typeface="Josefin Sans"/>
                <a:ea typeface="Josefin Sans"/>
                <a:cs typeface="Josefin Sans"/>
                <a:sym typeface="Josefin San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sp>
        <p:nvSpPr>
          <p:cNvPr id="29" name="Google Shape;29;p28"/>
          <p:cNvSpPr txBox="1"/>
          <p:nvPr>
            <p:ph type="title"/>
          </p:nvPr>
        </p:nvSpPr>
        <p:spPr>
          <a:xfrm>
            <a:off x="972600" y="1758200"/>
            <a:ext cx="10251600" cy="7136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2"/>
              </a:buClr>
              <a:buSzPts val="2600"/>
              <a:buFont typeface="Arial"/>
              <a:buNone/>
              <a:defRPr b="0" i="0" sz="3467" u="none" cap="none" strike="noStrike">
                <a:solidFill>
                  <a:srgbClr val="2C2C2C"/>
                </a:solidFill>
                <a:latin typeface="Nunito Sans"/>
                <a:ea typeface="Nunito Sans"/>
                <a:cs typeface="Nunito Sans"/>
                <a:sym typeface="Nunito Sans"/>
              </a:defRPr>
            </a:lvl1pPr>
            <a:lvl2pPr lvl="1"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2pPr>
            <a:lvl3pPr lvl="2"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3pPr>
            <a:lvl4pPr lvl="3"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4pPr>
            <a:lvl5pPr lvl="4"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5pPr>
            <a:lvl6pPr lvl="5"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6pPr>
            <a:lvl7pPr lvl="6"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7pPr>
            <a:lvl8pPr lvl="7"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8pPr>
            <a:lvl9pPr lvl="8" marR="0" algn="l">
              <a:lnSpc>
                <a:spcPct val="100000"/>
              </a:lnSpc>
              <a:spcBef>
                <a:spcPts val="0"/>
              </a:spcBef>
              <a:spcAft>
                <a:spcPts val="0"/>
              </a:spcAft>
              <a:buClr>
                <a:schemeClr val="dk2"/>
              </a:buClr>
              <a:buSzPts val="2600"/>
              <a:buFont typeface="Arial"/>
              <a:buNone/>
              <a:defRPr b="0" i="0" sz="3467" u="none" cap="none" strike="noStrike">
                <a:solidFill>
                  <a:schemeClr val="dk2"/>
                </a:solidFill>
                <a:latin typeface="Arial"/>
                <a:ea typeface="Arial"/>
                <a:cs typeface="Arial"/>
                <a:sym typeface="Arial"/>
              </a:defRPr>
            </a:lvl9pPr>
          </a:lstStyle>
          <a:p/>
        </p:txBody>
      </p:sp>
      <p:sp>
        <p:nvSpPr>
          <p:cNvPr id="30" name="Google Shape;30;p28"/>
          <p:cNvSpPr txBox="1"/>
          <p:nvPr>
            <p:ph idx="1" type="body"/>
          </p:nvPr>
        </p:nvSpPr>
        <p:spPr>
          <a:xfrm>
            <a:off x="972600" y="2771833"/>
            <a:ext cx="10251600" cy="3014800"/>
          </a:xfrm>
          <a:prstGeom prst="rect">
            <a:avLst/>
          </a:prstGeom>
          <a:noFill/>
          <a:ln>
            <a:noFill/>
          </a:ln>
        </p:spPr>
        <p:txBody>
          <a:bodyPr anchorCtr="0" anchor="t" bIns="91425" lIns="91425" spcFirstLastPara="1" rIns="91425" wrap="square" tIns="91425">
            <a:noAutofit/>
          </a:bodyPr>
          <a:lstStyle>
            <a:lvl1pPr indent="-311150" lvl="0" marL="457200" marR="0" algn="l">
              <a:lnSpc>
                <a:spcPct val="125000"/>
              </a:lnSpc>
              <a:spcBef>
                <a:spcPts val="0"/>
              </a:spcBef>
              <a:spcAft>
                <a:spcPts val="0"/>
              </a:spcAft>
              <a:buClr>
                <a:srgbClr val="000000"/>
              </a:buClr>
              <a:buSzPts val="1300"/>
              <a:buFont typeface="Arial"/>
              <a:buChar char="●"/>
              <a:defRPr b="0" i="0" sz="1867" u="none" cap="none" strike="noStrike">
                <a:solidFill>
                  <a:srgbClr val="2C2C2C"/>
                </a:solidFill>
                <a:latin typeface="Nunito Sans"/>
                <a:ea typeface="Nunito Sans"/>
                <a:cs typeface="Nunito Sans"/>
                <a:sym typeface="Nunito Sans"/>
              </a:defRPr>
            </a:lvl1pPr>
            <a:lvl2pPr indent="-298450" lvl="1" marL="9144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2pPr>
            <a:lvl3pPr indent="-298450" lvl="2" marL="13716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3pPr>
            <a:lvl4pPr indent="-298450" lvl="3" marL="18288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4pPr>
            <a:lvl5pPr indent="-298450" lvl="4" marL="22860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5pPr>
            <a:lvl6pPr indent="-298450" lvl="5" marL="27432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6pPr>
            <a:lvl7pPr indent="-298450" lvl="6" marL="32004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7pPr>
            <a:lvl8pPr indent="-298450" lvl="7" marL="3657600" marR="0" algn="l">
              <a:lnSpc>
                <a:spcPct val="100000"/>
              </a:lnSpc>
              <a:spcBef>
                <a:spcPts val="2133"/>
              </a:spcBef>
              <a:spcAft>
                <a:spcPts val="0"/>
              </a:spcAft>
              <a:buClr>
                <a:srgbClr val="000000"/>
              </a:buClr>
              <a:buSzPts val="1100"/>
              <a:buFont typeface="Arial"/>
              <a:buChar char="○"/>
              <a:defRPr b="0" i="0" sz="1867" u="none" cap="none" strike="noStrike">
                <a:solidFill>
                  <a:srgbClr val="000000"/>
                </a:solidFill>
                <a:latin typeface="Arial"/>
                <a:ea typeface="Arial"/>
                <a:cs typeface="Arial"/>
                <a:sym typeface="Arial"/>
              </a:defRPr>
            </a:lvl8pPr>
            <a:lvl9pPr indent="-298450" lvl="8" marL="4114800" marR="0" algn="l">
              <a:lnSpc>
                <a:spcPct val="100000"/>
              </a:lnSpc>
              <a:spcBef>
                <a:spcPts val="2133"/>
              </a:spcBef>
              <a:spcAft>
                <a:spcPts val="2133"/>
              </a:spcAft>
              <a:buClr>
                <a:srgbClr val="000000"/>
              </a:buClr>
              <a:buSzPts val="1100"/>
              <a:buFont typeface="Arial"/>
              <a:buChar char="■"/>
              <a:defRPr b="0" i="0" sz="1867" u="none" cap="none" strike="noStrike">
                <a:solidFill>
                  <a:srgbClr val="000000"/>
                </a:solidFill>
                <a:latin typeface="Arial"/>
                <a:ea typeface="Arial"/>
                <a:cs typeface="Arial"/>
                <a:sym typeface="Arial"/>
              </a:defRPr>
            </a:lvl9pPr>
          </a:lstStyle>
          <a:p/>
        </p:txBody>
      </p:sp>
      <p:sp>
        <p:nvSpPr>
          <p:cNvPr id="31" name="Google Shape;31;p28"/>
          <p:cNvSpPr txBox="1"/>
          <p:nvPr>
            <p:ph idx="12" type="sldNum"/>
          </p:nvPr>
        </p:nvSpPr>
        <p:spPr>
          <a:xfrm>
            <a:off x="11381736" y="6333135"/>
            <a:ext cx="731600" cy="52480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1pPr>
            <a:lvl2pPr indent="0" lvl="1"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2pPr>
            <a:lvl3pPr indent="0" lvl="2"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3pPr>
            <a:lvl4pPr indent="0" lvl="3"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4pPr>
            <a:lvl5pPr indent="0" lvl="4"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5pPr>
            <a:lvl6pPr indent="0" lvl="5"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6pPr>
            <a:lvl7pPr indent="0" lvl="6"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7pPr>
            <a:lvl8pPr indent="0" lvl="7"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8pPr>
            <a:lvl9pPr indent="0" lvl="8" marL="0" algn="r">
              <a:lnSpc>
                <a:spcPct val="100000"/>
              </a:lnSpc>
              <a:spcBef>
                <a:spcPts val="0"/>
              </a:spcBef>
              <a:spcAft>
                <a:spcPts val="0"/>
              </a:spcAft>
              <a:buClr>
                <a:srgbClr val="2C2C2C"/>
              </a:buClr>
              <a:buSzPts val="1000"/>
              <a:buFont typeface="Nunito Sans"/>
              <a:buNone/>
              <a:defRPr b="0" i="0" sz="1333" u="none" cap="none" strike="noStrike">
                <a:solidFill>
                  <a:srgbClr val="2C2C2C"/>
                </a:solidFill>
                <a:latin typeface="Nunito Sans"/>
                <a:ea typeface="Nunito Sans"/>
                <a:cs typeface="Nunito Sans"/>
                <a:sym typeface="Nuni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 name="Shape 32"/>
        <p:cNvGrpSpPr/>
        <p:nvPr/>
      </p:nvGrpSpPr>
      <p:grpSpPr>
        <a:xfrm>
          <a:off x="0" y="0"/>
          <a:ext cx="0" cy="0"/>
          <a:chOff x="0" y="0"/>
          <a:chExt cx="0" cy="0"/>
        </a:xfrm>
      </p:grpSpPr>
      <p:sp>
        <p:nvSpPr>
          <p:cNvPr id="33" name="Google Shape;33;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5" name="Google Shape;3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2" name="Google Shape;72;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6"/>
          <p:cNvSpPr/>
          <p:nvPr>
            <p:ph idx="2" type="pic"/>
          </p:nvPr>
        </p:nvSpPr>
        <p:spPr>
          <a:xfrm>
            <a:off x="5183188" y="987425"/>
            <a:ext cx="6172200" cy="4873625"/>
          </a:xfrm>
          <a:prstGeom prst="rect">
            <a:avLst/>
          </a:prstGeom>
          <a:noFill/>
          <a:ln>
            <a:noFill/>
          </a:ln>
        </p:spPr>
      </p:sp>
      <p:sp>
        <p:nvSpPr>
          <p:cNvPr id="79" name="Google Shape;79;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0" name="Google Shape;8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4.jpg"/><Relationship Id="rId5" Type="http://schemas.openxmlformats.org/officeDocument/2006/relationships/image" Target="../media/image1.png"/><Relationship Id="rId6" Type="http://schemas.openxmlformats.org/officeDocument/2006/relationships/image" Target="../media/image36.png"/><Relationship Id="rId7" Type="http://schemas.openxmlformats.org/officeDocument/2006/relationships/image" Target="../media/image5.png"/><Relationship Id="rId8"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19.png"/><Relationship Id="rId6" Type="http://schemas.openxmlformats.org/officeDocument/2006/relationships/image" Target="../media/image7.png"/><Relationship Id="rId7"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1.png"/><Relationship Id="rId5" Type="http://schemas.openxmlformats.org/officeDocument/2006/relationships/image" Target="../media/image37.png"/><Relationship Id="rId6"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4.png"/><Relationship Id="rId4" Type="http://schemas.openxmlformats.org/officeDocument/2006/relationships/image" Target="../media/image17.png"/><Relationship Id="rId5"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5.jpg"/><Relationship Id="rId5" Type="http://schemas.openxmlformats.org/officeDocument/2006/relationships/image" Target="../media/image21.jpg"/><Relationship Id="rId6" Type="http://schemas.openxmlformats.org/officeDocument/2006/relationships/image" Target="../media/image32.jpg"/><Relationship Id="rId7" Type="http://schemas.openxmlformats.org/officeDocument/2006/relationships/image" Target="../media/image3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bagps.vn/quy-dinh-lap-camera-giam-sat-theo-nghi-dinh-102020-thong-tu-122020-d938" TargetMode="External"/><Relationship Id="rId4" Type="http://schemas.openxmlformats.org/officeDocument/2006/relationships/image" Target="../media/image29.png"/><Relationship Id="rId5" Type="http://schemas.openxmlformats.org/officeDocument/2006/relationships/image" Target="../media/image41.png"/><Relationship Id="rId6"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0.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9.jpg"/><Relationship Id="rId4" Type="http://schemas.openxmlformats.org/officeDocument/2006/relationships/image" Target="../media/image44.png"/><Relationship Id="rId5" Type="http://schemas.openxmlformats.org/officeDocument/2006/relationships/image" Target="../media/image57.png"/><Relationship Id="rId6" Type="http://schemas.openxmlformats.org/officeDocument/2006/relationships/image" Target="../media/image46.png"/><Relationship Id="rId7" Type="http://schemas.openxmlformats.org/officeDocument/2006/relationships/image" Target="../media/image49.png"/><Relationship Id="rId8"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3.png"/></Relationships>
</file>

<file path=ppt/slides/_rels/slide17.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65.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1.png"/><Relationship Id="rId4" Type="http://schemas.openxmlformats.org/officeDocument/2006/relationships/image" Target="../media/image40.png"/><Relationship Id="rId9" Type="http://schemas.openxmlformats.org/officeDocument/2006/relationships/image" Target="../media/image61.jp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6.png"/><Relationship Id="rId8" Type="http://schemas.openxmlformats.org/officeDocument/2006/relationships/image" Target="../media/image5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2.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
          <p:cNvSpPr/>
          <p:nvPr/>
        </p:nvSpPr>
        <p:spPr>
          <a:xfrm>
            <a:off x="0" y="1762125"/>
            <a:ext cx="12192000" cy="3486150"/>
          </a:xfrm>
          <a:prstGeom prst="rect">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Building the digital world. Together." id="100" name="Google Shape;100;p1"/>
          <p:cNvPicPr preferRelativeResize="0"/>
          <p:nvPr/>
        </p:nvPicPr>
        <p:blipFill rotWithShape="1">
          <a:blip r:embed="rId3">
            <a:alphaModFix/>
          </a:blip>
          <a:srcRect b="0" l="0" r="0" t="0"/>
          <a:stretch/>
        </p:blipFill>
        <p:spPr>
          <a:xfrm>
            <a:off x="-1" y="0"/>
            <a:ext cx="12192001" cy="6858000"/>
          </a:xfrm>
          <a:prstGeom prst="rect">
            <a:avLst/>
          </a:prstGeom>
          <a:noFill/>
          <a:ln>
            <a:noFill/>
          </a:ln>
        </p:spPr>
      </p:pic>
      <p:sp>
        <p:nvSpPr>
          <p:cNvPr id="101" name="Google Shape;101;p1"/>
          <p:cNvSpPr/>
          <p:nvPr/>
        </p:nvSpPr>
        <p:spPr>
          <a:xfrm>
            <a:off x="0" y="3047134"/>
            <a:ext cx="12192000" cy="2946400"/>
          </a:xfrm>
          <a:prstGeom prst="rect">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
          <p:cNvSpPr txBox="1"/>
          <p:nvPr/>
        </p:nvSpPr>
        <p:spPr>
          <a:xfrm>
            <a:off x="1217045" y="4520334"/>
            <a:ext cx="10384773" cy="918625"/>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95959"/>
              </a:buClr>
              <a:buSzPts val="3200"/>
              <a:buFont typeface="Quattrocento Sans"/>
              <a:buNone/>
            </a:pPr>
            <a:r>
              <a:rPr b="1" i="0" lang="en-US" sz="3200" u="none" cap="none" strike="noStrike">
                <a:solidFill>
                  <a:srgbClr val="595959"/>
                </a:solidFill>
                <a:latin typeface="Quattrocento Sans"/>
                <a:ea typeface="Quattrocento Sans"/>
                <a:cs typeface="Quattrocento Sans"/>
                <a:sym typeface="Quattrocento Sans"/>
              </a:rPr>
              <a:t>SẢN PHẨM CAMERA THÔNG MINH ỨNG DỤNG CÔNG NGHỆ AI</a:t>
            </a:r>
            <a:endParaRPr b="1" i="0" sz="3200" u="none" cap="none" strike="noStrike">
              <a:solidFill>
                <a:srgbClr val="595959"/>
              </a:solidFill>
              <a:latin typeface="Quattrocento Sans"/>
              <a:ea typeface="Quattrocento Sans"/>
              <a:cs typeface="Quattrocento Sans"/>
              <a:sym typeface="Quattrocento Sans"/>
            </a:endParaRPr>
          </a:p>
        </p:txBody>
      </p:sp>
      <p:pic>
        <p:nvPicPr>
          <p:cNvPr id="103" name="Google Shape;103;p1"/>
          <p:cNvPicPr preferRelativeResize="0"/>
          <p:nvPr/>
        </p:nvPicPr>
        <p:blipFill rotWithShape="1">
          <a:blip r:embed="rId4">
            <a:alphaModFix/>
          </a:blip>
          <a:srcRect b="0" l="0" r="0" t="0"/>
          <a:stretch/>
        </p:blipFill>
        <p:spPr>
          <a:xfrm>
            <a:off x="1343416" y="3775075"/>
            <a:ext cx="2065264" cy="73018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White Tech Background Images - Free Download on Freepik" id="108" name="Google Shape;108;p2"/>
          <p:cNvPicPr preferRelativeResize="0"/>
          <p:nvPr/>
        </p:nvPicPr>
        <p:blipFill rotWithShape="1">
          <a:blip r:embed="rId3">
            <a:alphaModFix amt="50000"/>
          </a:blip>
          <a:srcRect b="-3491" l="21364" r="24616" t="16552"/>
          <a:stretch/>
        </p:blipFill>
        <p:spPr>
          <a:xfrm rot="10800000">
            <a:off x="505955" y="-117562"/>
            <a:ext cx="5783284" cy="6293475"/>
          </a:xfrm>
          <a:prstGeom prst="rect">
            <a:avLst/>
          </a:prstGeom>
          <a:noFill/>
          <a:ln>
            <a:noFill/>
          </a:ln>
        </p:spPr>
      </p:pic>
      <p:pic>
        <p:nvPicPr>
          <p:cNvPr descr="White Tech Background Images - Free Download on Freepik" id="109" name="Google Shape;109;p2"/>
          <p:cNvPicPr preferRelativeResize="0"/>
          <p:nvPr/>
        </p:nvPicPr>
        <p:blipFill rotWithShape="1">
          <a:blip r:embed="rId4">
            <a:alphaModFix/>
          </a:blip>
          <a:srcRect b="-3491" l="21364" r="24616" t="16552"/>
          <a:stretch/>
        </p:blipFill>
        <p:spPr>
          <a:xfrm>
            <a:off x="1347818" y="820948"/>
            <a:ext cx="4294644" cy="4673509"/>
          </a:xfrm>
          <a:prstGeom prst="rect">
            <a:avLst/>
          </a:prstGeom>
          <a:noFill/>
          <a:ln>
            <a:noFill/>
          </a:ln>
        </p:spPr>
      </p:pic>
      <p:grpSp>
        <p:nvGrpSpPr>
          <p:cNvPr id="110" name="Google Shape;110;p2"/>
          <p:cNvGrpSpPr/>
          <p:nvPr/>
        </p:nvGrpSpPr>
        <p:grpSpPr>
          <a:xfrm>
            <a:off x="1186940" y="604304"/>
            <a:ext cx="4616400" cy="5106800"/>
            <a:chOff x="1161875" y="585750"/>
            <a:chExt cx="3462300" cy="3830100"/>
          </a:xfrm>
        </p:grpSpPr>
        <p:sp>
          <p:nvSpPr>
            <p:cNvPr id="111" name="Google Shape;111;p2"/>
            <p:cNvSpPr/>
            <p:nvPr/>
          </p:nvSpPr>
          <p:spPr>
            <a:xfrm>
              <a:off x="1161875" y="585750"/>
              <a:ext cx="3462300" cy="3830100"/>
            </a:xfrm>
            <a:prstGeom prst="rect">
              <a:avLst/>
            </a:prstGeom>
            <a:noFill/>
            <a:ln cap="flat" cmpd="sng" w="9525">
              <a:solidFill>
                <a:schemeClr val="accent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spcBef>
                  <a:spcPts val="0"/>
                </a:spcBef>
                <a:spcAft>
                  <a:spcPts val="0"/>
                </a:spcAft>
                <a:buNone/>
              </a:pPr>
              <a:r>
                <a:t/>
              </a:r>
              <a:endParaRPr sz="2400">
                <a:solidFill>
                  <a:srgbClr val="FD0000"/>
                </a:solidFill>
                <a:latin typeface="Calibri"/>
                <a:ea typeface="Calibri"/>
                <a:cs typeface="Calibri"/>
                <a:sym typeface="Calibri"/>
              </a:endParaRPr>
            </a:p>
          </p:txBody>
        </p:sp>
        <p:pic>
          <p:nvPicPr>
            <p:cNvPr id="112" name="Google Shape;112;p2"/>
            <p:cNvPicPr preferRelativeResize="0"/>
            <p:nvPr/>
          </p:nvPicPr>
          <p:blipFill rotWithShape="1">
            <a:blip r:embed="rId5">
              <a:alphaModFix/>
            </a:blip>
            <a:srcRect b="0" l="0" r="0" t="0"/>
            <a:stretch/>
          </p:blipFill>
          <p:spPr>
            <a:xfrm>
              <a:off x="1912393" y="2084310"/>
              <a:ext cx="2222515" cy="832978"/>
            </a:xfrm>
            <a:prstGeom prst="rect">
              <a:avLst/>
            </a:prstGeom>
            <a:noFill/>
            <a:ln>
              <a:noFill/>
            </a:ln>
          </p:spPr>
        </p:pic>
      </p:grpSp>
      <p:grpSp>
        <p:nvGrpSpPr>
          <p:cNvPr id="113" name="Google Shape;113;p2"/>
          <p:cNvGrpSpPr/>
          <p:nvPr/>
        </p:nvGrpSpPr>
        <p:grpSpPr>
          <a:xfrm>
            <a:off x="6388663" y="2716533"/>
            <a:ext cx="5121687" cy="3514571"/>
            <a:chOff x="1958884" y="1717913"/>
            <a:chExt cx="3841265" cy="2635928"/>
          </a:xfrm>
        </p:grpSpPr>
        <p:sp>
          <p:nvSpPr>
            <p:cNvPr id="114" name="Google Shape;114;p2"/>
            <p:cNvSpPr txBox="1"/>
            <p:nvPr/>
          </p:nvSpPr>
          <p:spPr>
            <a:xfrm>
              <a:off x="2310350" y="1717913"/>
              <a:ext cx="3489799" cy="2635928"/>
            </a:xfrm>
            <a:prstGeom prst="rect">
              <a:avLst/>
            </a:prstGeom>
            <a:noFill/>
            <a:ln>
              <a:noFill/>
            </a:ln>
          </p:spPr>
          <p:txBody>
            <a:bodyPr anchorCtr="0" anchor="t" bIns="45700" lIns="91400" spcFirstLastPara="1" rIns="91400" wrap="square" tIns="45700">
              <a:normAutofit/>
            </a:bodyPr>
            <a:lstStyle/>
            <a:p>
              <a:pPr indent="0" lvl="0" marL="0" marR="0" rtl="0" algn="l">
                <a:lnSpc>
                  <a:spcPct val="125000"/>
                </a:lnSpc>
                <a:spcBef>
                  <a:spcPts val="0"/>
                </a:spcBef>
                <a:spcAft>
                  <a:spcPts val="0"/>
                </a:spcAft>
                <a:buClr>
                  <a:schemeClr val="dk1"/>
                </a:buClr>
                <a:buSzPts val="1600"/>
                <a:buFont typeface="Josefin Sans"/>
                <a:buNone/>
              </a:pPr>
              <a:r>
                <a:rPr b="0" i="0" lang="en-US" sz="1600" u="none" cap="none" strike="noStrike">
                  <a:solidFill>
                    <a:schemeClr val="dk1"/>
                  </a:solidFill>
                  <a:latin typeface="Nunito Sans"/>
                  <a:ea typeface="Nunito Sans"/>
                  <a:cs typeface="Nunito Sans"/>
                  <a:sym typeface="Nunito Sans"/>
                </a:rPr>
                <a:t>Thành lập vào ngày 09/07/2020</a:t>
              </a:r>
              <a:endParaRPr/>
            </a:p>
            <a:p>
              <a:pPr indent="0" lvl="0" marL="0" marR="0" rtl="0" algn="l">
                <a:lnSpc>
                  <a:spcPct val="125000"/>
                </a:lnSpc>
                <a:spcBef>
                  <a:spcPts val="1000"/>
                </a:spcBef>
                <a:spcAft>
                  <a:spcPts val="0"/>
                </a:spcAft>
                <a:buClr>
                  <a:schemeClr val="lt1"/>
                </a:buClr>
                <a:buSzPts val="1600"/>
                <a:buFont typeface="Josefin Sans"/>
                <a:buNone/>
              </a:pPr>
              <a:r>
                <a:t/>
              </a:r>
              <a:endParaRPr b="0" i="0" sz="1600" u="none" cap="none" strike="noStrike">
                <a:solidFill>
                  <a:schemeClr val="dk1"/>
                </a:solidFill>
                <a:latin typeface="Nunito Sans"/>
                <a:ea typeface="Nunito Sans"/>
                <a:cs typeface="Nunito Sans"/>
                <a:sym typeface="Nunito Sans"/>
              </a:endParaRPr>
            </a:p>
            <a:p>
              <a:pPr indent="0" lvl="0" marL="0" marR="0" rtl="0" algn="l">
                <a:lnSpc>
                  <a:spcPct val="125000"/>
                </a:lnSpc>
                <a:spcBef>
                  <a:spcPts val="1000"/>
                </a:spcBef>
                <a:spcAft>
                  <a:spcPts val="0"/>
                </a:spcAft>
                <a:buClr>
                  <a:schemeClr val="dk1"/>
                </a:buClr>
                <a:buSzPts val="1600"/>
                <a:buFont typeface="Josefin Sans"/>
                <a:buNone/>
              </a:pPr>
              <a:r>
                <a:rPr b="0" i="0" lang="en-US" sz="1600" u="none" cap="none" strike="noStrike">
                  <a:solidFill>
                    <a:schemeClr val="dk1"/>
                  </a:solidFill>
                  <a:latin typeface="Nunito Sans"/>
                  <a:ea typeface="Nunito Sans"/>
                  <a:cs typeface="Nunito Sans"/>
                  <a:sym typeface="Nunito Sans"/>
                </a:rPr>
                <a:t>Công nghệ lõi do kỹ sư MK Vision làm chủ</a:t>
              </a:r>
              <a:endParaRPr/>
            </a:p>
            <a:p>
              <a:pPr indent="0" lvl="0" marL="0" marR="0" rtl="0" algn="l">
                <a:lnSpc>
                  <a:spcPct val="125000"/>
                </a:lnSpc>
                <a:spcBef>
                  <a:spcPts val="1000"/>
                </a:spcBef>
                <a:spcAft>
                  <a:spcPts val="0"/>
                </a:spcAft>
                <a:buClr>
                  <a:schemeClr val="lt1"/>
                </a:buClr>
                <a:buSzPts val="1600"/>
                <a:buFont typeface="Josefin Sans"/>
                <a:buNone/>
              </a:pPr>
              <a:r>
                <a:t/>
              </a:r>
              <a:endParaRPr b="0" i="0" sz="1600" u="none" cap="none" strike="noStrike">
                <a:solidFill>
                  <a:schemeClr val="dk1"/>
                </a:solidFill>
                <a:latin typeface="Nunito Sans"/>
                <a:ea typeface="Nunito Sans"/>
                <a:cs typeface="Nunito Sans"/>
                <a:sym typeface="Nunito Sans"/>
              </a:endParaRPr>
            </a:p>
            <a:p>
              <a:pPr indent="0" lvl="0" marL="0" marR="0" rtl="0" algn="l">
                <a:lnSpc>
                  <a:spcPct val="125000"/>
                </a:lnSpc>
                <a:spcBef>
                  <a:spcPts val="1000"/>
                </a:spcBef>
                <a:spcAft>
                  <a:spcPts val="0"/>
                </a:spcAft>
                <a:buClr>
                  <a:schemeClr val="dk1"/>
                </a:buClr>
                <a:buSzPts val="1600"/>
                <a:buFont typeface="Josefin Sans"/>
                <a:buNone/>
              </a:pPr>
              <a:r>
                <a:rPr b="0" i="0" lang="en-US" sz="1600" u="none" cap="none" strike="noStrike">
                  <a:solidFill>
                    <a:schemeClr val="dk1"/>
                  </a:solidFill>
                  <a:latin typeface="Nunito Sans"/>
                  <a:ea typeface="Nunito Sans"/>
                  <a:cs typeface="Nunito Sans"/>
                  <a:sym typeface="Nunito Sans"/>
                </a:rPr>
                <a:t>Lô C-1B, IZ Thăng Long, Bình Xuyên, Vĩnh Phúc</a:t>
              </a:r>
              <a:endParaRPr b="0" i="0" sz="1600" u="none" cap="none" strike="noStrike">
                <a:solidFill>
                  <a:schemeClr val="dk1"/>
                </a:solidFill>
                <a:latin typeface="Nunito Sans"/>
                <a:ea typeface="Nunito Sans"/>
                <a:cs typeface="Nunito Sans"/>
                <a:sym typeface="Nunito Sans"/>
              </a:endParaRPr>
            </a:p>
          </p:txBody>
        </p:sp>
        <p:pic>
          <p:nvPicPr>
            <p:cNvPr descr="Factory" id="115" name="Google Shape;115;p2"/>
            <p:cNvPicPr preferRelativeResize="0"/>
            <p:nvPr/>
          </p:nvPicPr>
          <p:blipFill rotWithShape="1">
            <a:blip r:embed="rId6">
              <a:alphaModFix/>
            </a:blip>
            <a:srcRect b="0" l="0" r="0" t="0"/>
            <a:stretch/>
          </p:blipFill>
          <p:spPr>
            <a:xfrm>
              <a:off x="1994064" y="3016827"/>
              <a:ext cx="297285" cy="297285"/>
            </a:xfrm>
            <a:prstGeom prst="rect">
              <a:avLst/>
            </a:prstGeom>
            <a:noFill/>
            <a:ln>
              <a:noFill/>
            </a:ln>
          </p:spPr>
        </p:pic>
        <p:pic>
          <p:nvPicPr>
            <p:cNvPr descr="Processor" id="116" name="Google Shape;116;p2"/>
            <p:cNvPicPr preferRelativeResize="0"/>
            <p:nvPr/>
          </p:nvPicPr>
          <p:blipFill rotWithShape="1">
            <a:blip r:embed="rId7">
              <a:alphaModFix/>
            </a:blip>
            <a:srcRect b="0" l="0" r="0" t="0"/>
            <a:stretch/>
          </p:blipFill>
          <p:spPr>
            <a:xfrm>
              <a:off x="1994064" y="2413468"/>
              <a:ext cx="248744" cy="248744"/>
            </a:xfrm>
            <a:prstGeom prst="rect">
              <a:avLst/>
            </a:prstGeom>
            <a:noFill/>
            <a:ln>
              <a:noFill/>
            </a:ln>
          </p:spPr>
        </p:pic>
        <p:pic>
          <p:nvPicPr>
            <p:cNvPr descr="Open hand with plant" id="117" name="Google Shape;117;p2"/>
            <p:cNvPicPr preferRelativeResize="0"/>
            <p:nvPr/>
          </p:nvPicPr>
          <p:blipFill rotWithShape="1">
            <a:blip r:embed="rId8">
              <a:alphaModFix/>
            </a:blip>
            <a:srcRect b="0" l="0" r="0" t="0"/>
            <a:stretch/>
          </p:blipFill>
          <p:spPr>
            <a:xfrm>
              <a:off x="1958884" y="1751525"/>
              <a:ext cx="297285" cy="297285"/>
            </a:xfrm>
            <a:prstGeom prst="rect">
              <a:avLst/>
            </a:prstGeom>
            <a:noFill/>
            <a:ln>
              <a:noFill/>
            </a:ln>
          </p:spPr>
        </p:pic>
      </p:grpSp>
      <p:sp>
        <p:nvSpPr>
          <p:cNvPr id="118" name="Google Shape;118;p2"/>
          <p:cNvSpPr txBox="1"/>
          <p:nvPr>
            <p:ph idx="2" type="subTitle"/>
          </p:nvPr>
        </p:nvSpPr>
        <p:spPr>
          <a:xfrm>
            <a:off x="6096001" y="1271289"/>
            <a:ext cx="5520236" cy="524800"/>
          </a:xfrm>
          <a:prstGeom prst="rect">
            <a:avLst/>
          </a:prstGeom>
          <a:noFill/>
          <a:ln>
            <a:noFill/>
          </a:ln>
        </p:spPr>
        <p:txBody>
          <a:bodyPr anchorCtr="0" anchor="t" bIns="91425" lIns="91425" spcFirstLastPara="1" rIns="91425" wrap="square" tIns="91425">
            <a:noAutofit/>
          </a:bodyPr>
          <a:lstStyle/>
          <a:p>
            <a:pPr indent="-228600" lvl="0" marL="228600" rtl="0" algn="l">
              <a:lnSpc>
                <a:spcPct val="100000"/>
              </a:lnSpc>
              <a:spcBef>
                <a:spcPts val="0"/>
              </a:spcBef>
              <a:spcAft>
                <a:spcPts val="0"/>
              </a:spcAft>
              <a:buSzPts val="2400"/>
              <a:buNone/>
            </a:pPr>
            <a:r>
              <a:rPr lang="en-US" sz="3200"/>
              <a:t>THÔNG TIN CÔNG 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3"/>
          <p:cNvPicPr preferRelativeResize="0"/>
          <p:nvPr/>
        </p:nvPicPr>
        <p:blipFill rotWithShape="1">
          <a:blip r:embed="rId3">
            <a:alphaModFix/>
          </a:blip>
          <a:srcRect b="0" l="0" r="0" t="0"/>
          <a:stretch/>
        </p:blipFill>
        <p:spPr>
          <a:xfrm>
            <a:off x="287605" y="911544"/>
            <a:ext cx="7384427" cy="3821765"/>
          </a:xfrm>
          <a:prstGeom prst="rect">
            <a:avLst/>
          </a:prstGeom>
          <a:noFill/>
          <a:ln>
            <a:noFill/>
          </a:ln>
        </p:spPr>
      </p:pic>
      <p:grpSp>
        <p:nvGrpSpPr>
          <p:cNvPr id="124" name="Google Shape;124;p3"/>
          <p:cNvGrpSpPr/>
          <p:nvPr/>
        </p:nvGrpSpPr>
        <p:grpSpPr>
          <a:xfrm>
            <a:off x="6646886" y="318085"/>
            <a:ext cx="5257508" cy="5329624"/>
            <a:chOff x="4985164" y="699943"/>
            <a:chExt cx="3943131" cy="3997218"/>
          </a:xfrm>
        </p:grpSpPr>
        <p:pic>
          <p:nvPicPr>
            <p:cNvPr id="125" name="Google Shape;125;p3"/>
            <p:cNvPicPr preferRelativeResize="0"/>
            <p:nvPr/>
          </p:nvPicPr>
          <p:blipFill rotWithShape="1">
            <a:blip r:embed="rId4">
              <a:alphaModFix/>
            </a:blip>
            <a:srcRect b="0" l="0" r="0" t="0"/>
            <a:stretch/>
          </p:blipFill>
          <p:spPr>
            <a:xfrm>
              <a:off x="4985164" y="699943"/>
              <a:ext cx="1872000" cy="1247220"/>
            </a:xfrm>
            <a:prstGeom prst="rect">
              <a:avLst/>
            </a:prstGeom>
            <a:noFill/>
            <a:ln>
              <a:noFill/>
            </a:ln>
            <a:effectLst>
              <a:outerShdw blurRad="292100" rotWithShape="0" algn="tl" dir="2700000" dist="139700">
                <a:srgbClr val="333333">
                  <a:alpha val="64706"/>
                </a:srgbClr>
              </a:outerShdw>
            </a:effectLst>
          </p:spPr>
        </p:pic>
        <p:pic>
          <p:nvPicPr>
            <p:cNvPr id="126" name="Google Shape;126;p3"/>
            <p:cNvPicPr preferRelativeResize="0"/>
            <p:nvPr/>
          </p:nvPicPr>
          <p:blipFill rotWithShape="1">
            <a:blip r:embed="rId5">
              <a:alphaModFix/>
            </a:blip>
            <a:srcRect b="0" l="0" r="0" t="0"/>
            <a:stretch/>
          </p:blipFill>
          <p:spPr>
            <a:xfrm>
              <a:off x="7056295" y="2009587"/>
              <a:ext cx="1872000" cy="1246752"/>
            </a:xfrm>
            <a:prstGeom prst="rect">
              <a:avLst/>
            </a:prstGeom>
            <a:noFill/>
            <a:ln>
              <a:noFill/>
            </a:ln>
            <a:effectLst>
              <a:outerShdw blurRad="292100" rotWithShape="0" algn="tl" dir="2700000" dist="139700">
                <a:srgbClr val="333333">
                  <a:alpha val="64706"/>
                </a:srgbClr>
              </a:outerShdw>
            </a:effectLst>
          </p:spPr>
        </p:pic>
        <p:pic>
          <p:nvPicPr>
            <p:cNvPr id="127" name="Google Shape;127;p3"/>
            <p:cNvPicPr preferRelativeResize="0"/>
            <p:nvPr/>
          </p:nvPicPr>
          <p:blipFill rotWithShape="1">
            <a:blip r:embed="rId6">
              <a:alphaModFix/>
            </a:blip>
            <a:srcRect b="0" l="0" r="0" t="0"/>
            <a:stretch/>
          </p:blipFill>
          <p:spPr>
            <a:xfrm>
              <a:off x="4985164" y="2070549"/>
              <a:ext cx="1873347" cy="1170841"/>
            </a:xfrm>
            <a:prstGeom prst="rect">
              <a:avLst/>
            </a:prstGeom>
            <a:noFill/>
            <a:ln>
              <a:noFill/>
            </a:ln>
            <a:effectLst>
              <a:outerShdw blurRad="292100" rotWithShape="0" algn="tl" dir="2700000" dist="139700">
                <a:srgbClr val="333333">
                  <a:alpha val="64706"/>
                </a:srgbClr>
              </a:outerShdw>
            </a:effectLst>
          </p:spPr>
        </p:pic>
        <p:pic>
          <p:nvPicPr>
            <p:cNvPr id="128" name="Google Shape;128;p3"/>
            <p:cNvPicPr preferRelativeResize="0"/>
            <p:nvPr/>
          </p:nvPicPr>
          <p:blipFill rotWithShape="1">
            <a:blip r:embed="rId7">
              <a:alphaModFix/>
            </a:blip>
            <a:srcRect b="0" l="0" r="0" t="0"/>
            <a:stretch/>
          </p:blipFill>
          <p:spPr>
            <a:xfrm>
              <a:off x="7056295" y="3447805"/>
              <a:ext cx="1871999" cy="1249356"/>
            </a:xfrm>
            <a:prstGeom prst="rect">
              <a:avLst/>
            </a:prstGeom>
            <a:noFill/>
            <a:ln>
              <a:noFill/>
            </a:ln>
            <a:effectLst>
              <a:outerShdw blurRad="292100" rotWithShape="0" algn="tl" dir="2700000" dist="139700">
                <a:srgbClr val="333333">
                  <a:alpha val="64706"/>
                </a:srgbClr>
              </a:outerShdw>
            </a:effectLst>
          </p:spPr>
        </p:pic>
      </p:grpSp>
      <p:sp>
        <p:nvSpPr>
          <p:cNvPr id="129" name="Google Shape;129;p3"/>
          <p:cNvSpPr txBox="1"/>
          <p:nvPr/>
        </p:nvSpPr>
        <p:spPr>
          <a:xfrm>
            <a:off x="287607" y="5033533"/>
            <a:ext cx="5008600" cy="1080167"/>
          </a:xfrm>
          <a:prstGeom prst="rect">
            <a:avLst/>
          </a:prstGeom>
          <a:solidFill>
            <a:schemeClr val="accent3">
              <a:alpha val="49804"/>
            </a:schemeClr>
          </a:solid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1467">
                <a:solidFill>
                  <a:schemeClr val="accent1"/>
                </a:solidFill>
                <a:latin typeface="Nunito Sans"/>
                <a:ea typeface="Nunito Sans"/>
                <a:cs typeface="Nunito Sans"/>
                <a:sym typeface="Nunito Sans"/>
              </a:rPr>
              <a:t>Khánh thành nhà máy  vào tháng 11 năm 2023</a:t>
            </a:r>
            <a:endParaRPr/>
          </a:p>
          <a:p>
            <a:pPr indent="0" lvl="0" marL="0" marR="0" rtl="0" algn="l">
              <a:lnSpc>
                <a:spcPct val="150000"/>
              </a:lnSpc>
              <a:spcBef>
                <a:spcPts val="0"/>
              </a:spcBef>
              <a:spcAft>
                <a:spcPts val="0"/>
              </a:spcAft>
              <a:buNone/>
            </a:pPr>
            <a:r>
              <a:rPr b="1" lang="en-US" sz="1467">
                <a:solidFill>
                  <a:schemeClr val="accent1"/>
                </a:solidFill>
                <a:latin typeface="Nunito Sans"/>
                <a:ea typeface="Nunito Sans"/>
                <a:cs typeface="Nunito Sans"/>
                <a:sym typeface="Nunito Sans"/>
              </a:rPr>
              <a:t>Tại trung tâm công nghiệp tỉnh Vĩnh Phúc</a:t>
            </a:r>
            <a:endParaRPr/>
          </a:p>
          <a:p>
            <a:pPr indent="0" lvl="0" marL="0" marR="0" rtl="0" algn="l">
              <a:lnSpc>
                <a:spcPct val="150000"/>
              </a:lnSpc>
              <a:spcBef>
                <a:spcPts val="0"/>
              </a:spcBef>
              <a:spcAft>
                <a:spcPts val="0"/>
              </a:spcAft>
              <a:buNone/>
            </a:pPr>
            <a:r>
              <a:rPr b="1" lang="en-US" sz="1467">
                <a:solidFill>
                  <a:schemeClr val="accent1"/>
                </a:solidFill>
                <a:latin typeface="Nunito Sans"/>
                <a:ea typeface="Nunito Sans"/>
                <a:cs typeface="Nunito Sans"/>
                <a:sym typeface="Nunito Sans"/>
              </a:rPr>
              <a:t>Khả năng sản xuất: Lên tới 2.000.000 thiết bị mỗi năm</a:t>
            </a:r>
            <a:endParaRPr/>
          </a:p>
        </p:txBody>
      </p:sp>
      <p:sp>
        <p:nvSpPr>
          <p:cNvPr id="130" name="Google Shape;130;p3"/>
          <p:cNvSpPr txBox="1"/>
          <p:nvPr/>
        </p:nvSpPr>
        <p:spPr>
          <a:xfrm>
            <a:off x="178399" y="5994028"/>
            <a:ext cx="3196347" cy="387029"/>
          </a:xfrm>
          <a:prstGeom prst="rect">
            <a:avLst/>
          </a:prstGeom>
          <a:noFill/>
          <a:ln>
            <a:noFill/>
          </a:ln>
        </p:spPr>
        <p:txBody>
          <a:bodyPr anchorCtr="0" anchor="ctr" bIns="60925" lIns="121900" spcFirstLastPara="1" rIns="121900" wrap="square" tIns="60925">
            <a:noAutofit/>
          </a:bodyPr>
          <a:lstStyle/>
          <a:p>
            <a:pPr indent="0" lvl="0" marL="0" marR="0" rtl="0" algn="l">
              <a:lnSpc>
                <a:spcPct val="150000"/>
              </a:lnSpc>
              <a:spcBef>
                <a:spcPts val="0"/>
              </a:spcBef>
              <a:spcAft>
                <a:spcPts val="0"/>
              </a:spcAft>
              <a:buClr>
                <a:schemeClr val="dk2"/>
              </a:buClr>
              <a:buSzPts val="1393"/>
              <a:buFont typeface="Quattrocento Sans"/>
              <a:buNone/>
            </a:pPr>
            <a:r>
              <a:t/>
            </a:r>
            <a:endParaRPr b="1" i="0" sz="1467" u="none" cap="none" strike="noStrike">
              <a:solidFill>
                <a:schemeClr val="accent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4"/>
          <p:cNvSpPr/>
          <p:nvPr/>
        </p:nvSpPr>
        <p:spPr>
          <a:xfrm>
            <a:off x="9199012" y="3228325"/>
            <a:ext cx="385011" cy="4233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7" name="Google Shape;137;p4"/>
          <p:cNvSpPr txBox="1"/>
          <p:nvPr/>
        </p:nvSpPr>
        <p:spPr>
          <a:xfrm>
            <a:off x="178399" y="5994028"/>
            <a:ext cx="2321844" cy="387029"/>
          </a:xfrm>
          <a:prstGeom prst="rect">
            <a:avLst/>
          </a:prstGeom>
          <a:noFill/>
          <a:ln>
            <a:noFill/>
          </a:ln>
        </p:spPr>
        <p:txBody>
          <a:bodyPr anchorCtr="0" anchor="ctr" bIns="60925" lIns="121900" spcFirstLastPara="1" rIns="121900" wrap="square" tIns="60925">
            <a:noAutofit/>
          </a:bodyPr>
          <a:lstStyle/>
          <a:p>
            <a:pPr indent="0" lvl="0" marL="0" marR="0" rtl="0" algn="l">
              <a:lnSpc>
                <a:spcPct val="90000"/>
              </a:lnSpc>
              <a:spcBef>
                <a:spcPts val="0"/>
              </a:spcBef>
              <a:spcAft>
                <a:spcPts val="0"/>
              </a:spcAft>
              <a:buClr>
                <a:schemeClr val="dk2"/>
              </a:buClr>
              <a:buSzPts val="1393"/>
              <a:buFont typeface="Quattrocento Sans"/>
              <a:buNone/>
            </a:pPr>
            <a:r>
              <a:rPr b="1" i="0" lang="en-US" sz="1467" u="none" cap="none" strike="noStrike">
                <a:solidFill>
                  <a:schemeClr val="accent1"/>
                </a:solidFill>
                <a:latin typeface="Nunito Sans"/>
                <a:ea typeface="Nunito Sans"/>
                <a:cs typeface="Nunito Sans"/>
                <a:sym typeface="Nunito Sans"/>
              </a:rPr>
              <a:t>Thị trường quốc tế</a:t>
            </a:r>
            <a:endParaRPr/>
          </a:p>
        </p:txBody>
      </p:sp>
      <p:pic>
        <p:nvPicPr>
          <p:cNvPr id="138" name="Google Shape;138;p4"/>
          <p:cNvPicPr preferRelativeResize="0"/>
          <p:nvPr/>
        </p:nvPicPr>
        <p:blipFill rotWithShape="1">
          <a:blip r:embed="rId3">
            <a:alphaModFix/>
          </a:blip>
          <a:srcRect b="0" l="0" r="0" t="0"/>
          <a:stretch/>
        </p:blipFill>
        <p:spPr>
          <a:xfrm>
            <a:off x="1436792" y="733348"/>
            <a:ext cx="9318417" cy="49899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p:nvPr/>
        </p:nvSpPr>
        <p:spPr>
          <a:xfrm>
            <a:off x="836581" y="4621349"/>
            <a:ext cx="1930443" cy="980977"/>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44" name="Google Shape;144;p5"/>
          <p:cNvSpPr txBox="1"/>
          <p:nvPr/>
        </p:nvSpPr>
        <p:spPr>
          <a:xfrm>
            <a:off x="783254" y="4980738"/>
            <a:ext cx="2037096" cy="356251"/>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lang="en-US" sz="1400">
                <a:solidFill>
                  <a:srgbClr val="1F3864"/>
                </a:solidFill>
                <a:latin typeface="Nunito Sans"/>
                <a:ea typeface="Nunito Sans"/>
                <a:cs typeface="Nunito Sans"/>
                <a:sym typeface="Nunito Sans"/>
              </a:rPr>
              <a:t>THIẾT KẾ GIẢI PHÁP</a:t>
            </a:r>
            <a:endParaRPr b="1" sz="1400">
              <a:solidFill>
                <a:srgbClr val="1F3864"/>
              </a:solidFill>
              <a:latin typeface="Nunito Sans"/>
              <a:ea typeface="Nunito Sans"/>
              <a:cs typeface="Nunito Sans"/>
              <a:sym typeface="Nunito Sans"/>
            </a:endParaRPr>
          </a:p>
        </p:txBody>
      </p:sp>
      <p:sp>
        <p:nvSpPr>
          <p:cNvPr id="145" name="Google Shape;145;p5"/>
          <p:cNvSpPr txBox="1"/>
          <p:nvPr>
            <p:ph type="title"/>
          </p:nvPr>
        </p:nvSpPr>
        <p:spPr>
          <a:xfrm>
            <a:off x="178400" y="5994028"/>
            <a:ext cx="2588624" cy="387029"/>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b="1" lang="en-US" sz="1467">
                <a:solidFill>
                  <a:schemeClr val="accent1"/>
                </a:solidFill>
              </a:rPr>
              <a:t>Lĩnh vực kinh doanh</a:t>
            </a:r>
            <a:endParaRPr b="1" sz="1467">
              <a:solidFill>
                <a:schemeClr val="accent1"/>
              </a:solidFill>
            </a:endParaRPr>
          </a:p>
        </p:txBody>
      </p:sp>
      <p:sp>
        <p:nvSpPr>
          <p:cNvPr id="146" name="Google Shape;146;p5"/>
          <p:cNvSpPr/>
          <p:nvPr/>
        </p:nvSpPr>
        <p:spPr>
          <a:xfrm>
            <a:off x="9239877" y="4575509"/>
            <a:ext cx="2440159" cy="980977"/>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47" name="Google Shape;147;p5"/>
          <p:cNvSpPr txBox="1"/>
          <p:nvPr/>
        </p:nvSpPr>
        <p:spPr>
          <a:xfrm>
            <a:off x="9215899" y="4949959"/>
            <a:ext cx="2563519" cy="387029"/>
          </a:xfrm>
          <a:prstGeom prst="rect">
            <a:avLst/>
          </a:prstGeom>
          <a:noFill/>
          <a:ln>
            <a:noFill/>
          </a:ln>
        </p:spPr>
        <p:txBody>
          <a:bodyPr anchorCtr="0" anchor="t" bIns="60950" lIns="121900" spcFirstLastPara="1" rIns="121900" wrap="square" tIns="60950">
            <a:spAutoFit/>
          </a:bodyPr>
          <a:lstStyle/>
          <a:p>
            <a:pPr indent="0" lvl="0" marL="0" marR="0" rtl="0" algn="ctr">
              <a:lnSpc>
                <a:spcPct val="130000"/>
              </a:lnSpc>
              <a:spcBef>
                <a:spcPts val="0"/>
              </a:spcBef>
              <a:spcAft>
                <a:spcPts val="0"/>
              </a:spcAft>
              <a:buNone/>
            </a:pPr>
            <a:r>
              <a:rPr b="1" lang="en-US" sz="1400">
                <a:solidFill>
                  <a:srgbClr val="1F3864"/>
                </a:solidFill>
                <a:latin typeface="Nunito Sans"/>
                <a:ea typeface="Nunito Sans"/>
                <a:cs typeface="Nunito Sans"/>
                <a:sym typeface="Nunito Sans"/>
              </a:rPr>
              <a:t>DỊCH VỤ GIA TĂNG</a:t>
            </a:r>
            <a:endParaRPr b="1" sz="2400">
              <a:solidFill>
                <a:srgbClr val="1F3864"/>
              </a:solidFill>
              <a:latin typeface="Nunito Sans"/>
              <a:ea typeface="Nunito Sans"/>
              <a:cs typeface="Nunito Sans"/>
              <a:sym typeface="Nunito Sans"/>
            </a:endParaRPr>
          </a:p>
        </p:txBody>
      </p:sp>
      <p:sp>
        <p:nvSpPr>
          <p:cNvPr id="148" name="Google Shape;148;p5"/>
          <p:cNvSpPr/>
          <p:nvPr/>
        </p:nvSpPr>
        <p:spPr>
          <a:xfrm>
            <a:off x="6511405" y="4588230"/>
            <a:ext cx="2057323" cy="980977"/>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49" name="Google Shape;149;p5"/>
          <p:cNvSpPr txBox="1"/>
          <p:nvPr/>
        </p:nvSpPr>
        <p:spPr>
          <a:xfrm>
            <a:off x="6258309" y="4933433"/>
            <a:ext cx="2563519" cy="387029"/>
          </a:xfrm>
          <a:prstGeom prst="rect">
            <a:avLst/>
          </a:prstGeom>
          <a:noFill/>
          <a:ln>
            <a:noFill/>
          </a:ln>
        </p:spPr>
        <p:txBody>
          <a:bodyPr anchorCtr="0" anchor="t" bIns="60950" lIns="121900" spcFirstLastPara="1" rIns="121900" wrap="square" tIns="60950">
            <a:spAutoFit/>
          </a:bodyPr>
          <a:lstStyle/>
          <a:p>
            <a:pPr indent="0" lvl="0" marL="0" marR="0" rtl="0" algn="ctr">
              <a:lnSpc>
                <a:spcPct val="130000"/>
              </a:lnSpc>
              <a:spcBef>
                <a:spcPts val="0"/>
              </a:spcBef>
              <a:spcAft>
                <a:spcPts val="0"/>
              </a:spcAft>
              <a:buNone/>
            </a:pPr>
            <a:r>
              <a:rPr b="1" lang="en-US" sz="1400">
                <a:solidFill>
                  <a:srgbClr val="1F3864"/>
                </a:solidFill>
                <a:latin typeface="Nunito Sans"/>
                <a:ea typeface="Nunito Sans"/>
                <a:cs typeface="Nunito Sans"/>
                <a:sym typeface="Nunito Sans"/>
              </a:rPr>
              <a:t>CHẾ TẠO</a:t>
            </a:r>
            <a:endParaRPr b="1" sz="2400">
              <a:solidFill>
                <a:srgbClr val="1F3864"/>
              </a:solidFill>
              <a:latin typeface="Nunito Sans"/>
              <a:ea typeface="Nunito Sans"/>
              <a:cs typeface="Nunito Sans"/>
              <a:sym typeface="Nunito Sans"/>
            </a:endParaRPr>
          </a:p>
        </p:txBody>
      </p:sp>
      <p:sp>
        <p:nvSpPr>
          <p:cNvPr id="150" name="Google Shape;150;p5"/>
          <p:cNvSpPr/>
          <p:nvPr/>
        </p:nvSpPr>
        <p:spPr>
          <a:xfrm>
            <a:off x="3673993" y="4575509"/>
            <a:ext cx="1930443" cy="980977"/>
          </a:xfrm>
          <a:prstGeom prst="rect">
            <a:avLst/>
          </a:prstGeom>
          <a:solidFill>
            <a:schemeClr val="accent5">
              <a:alpha val="4980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51" name="Google Shape;151;p5"/>
          <p:cNvSpPr txBox="1"/>
          <p:nvPr/>
        </p:nvSpPr>
        <p:spPr>
          <a:xfrm>
            <a:off x="3993549" y="4980738"/>
            <a:ext cx="1313180" cy="356251"/>
          </a:xfrm>
          <a:prstGeom prst="rect">
            <a:avLst/>
          </a:prstGeom>
          <a:noFill/>
          <a:ln>
            <a:noFill/>
          </a:ln>
        </p:spPr>
        <p:txBody>
          <a:bodyPr anchorCtr="0" anchor="t" bIns="45700" lIns="91425" spcFirstLastPara="1" rIns="91425" wrap="square" tIns="45700">
            <a:spAutoFit/>
          </a:bodyPr>
          <a:lstStyle/>
          <a:p>
            <a:pPr indent="0" lvl="0" marL="0" marR="0" rtl="0" algn="ctr">
              <a:lnSpc>
                <a:spcPct val="130000"/>
              </a:lnSpc>
              <a:spcBef>
                <a:spcPts val="0"/>
              </a:spcBef>
              <a:spcAft>
                <a:spcPts val="0"/>
              </a:spcAft>
              <a:buNone/>
            </a:pPr>
            <a:r>
              <a:rPr b="1" lang="en-US" sz="1400">
                <a:solidFill>
                  <a:srgbClr val="1F3864"/>
                </a:solidFill>
                <a:latin typeface="Nunito Sans"/>
                <a:ea typeface="Nunito Sans"/>
                <a:cs typeface="Nunito Sans"/>
                <a:sym typeface="Nunito Sans"/>
              </a:rPr>
              <a:t>PHÁT TRIỂN</a:t>
            </a:r>
            <a:endParaRPr b="1" sz="1400">
              <a:solidFill>
                <a:srgbClr val="1F3864"/>
              </a:solidFill>
              <a:latin typeface="Nunito Sans"/>
              <a:ea typeface="Nunito Sans"/>
              <a:cs typeface="Nunito Sans"/>
              <a:sym typeface="Nunito Sans"/>
            </a:endParaRPr>
          </a:p>
        </p:txBody>
      </p:sp>
      <p:pic>
        <p:nvPicPr>
          <p:cNvPr descr="Engineering Design and Project Implementation – Watts-on Consultants" id="152" name="Google Shape;152;p5"/>
          <p:cNvPicPr preferRelativeResize="0"/>
          <p:nvPr/>
        </p:nvPicPr>
        <p:blipFill rotWithShape="1">
          <a:blip r:embed="rId3">
            <a:alphaModFix/>
          </a:blip>
          <a:srcRect b="-3" l="33993" r="31338" t="3"/>
          <a:stretch/>
        </p:blipFill>
        <p:spPr>
          <a:xfrm>
            <a:off x="442663" y="1255675"/>
            <a:ext cx="2635075" cy="3483595"/>
          </a:xfrm>
          <a:prstGeom prst="rect">
            <a:avLst/>
          </a:prstGeom>
          <a:noFill/>
          <a:ln>
            <a:noFill/>
          </a:ln>
          <a:effectLst>
            <a:outerShdw blurRad="292100" rotWithShape="0" algn="tl" dir="2700000" dist="139700">
              <a:srgbClr val="333333">
                <a:alpha val="64706"/>
              </a:srgbClr>
            </a:outerShdw>
          </a:effectLst>
        </p:spPr>
      </p:pic>
      <p:pic>
        <p:nvPicPr>
          <p:cNvPr id="153" name="Google Shape;153;p5"/>
          <p:cNvPicPr preferRelativeResize="0"/>
          <p:nvPr/>
        </p:nvPicPr>
        <p:blipFill rotWithShape="1">
          <a:blip r:embed="rId4">
            <a:alphaModFix/>
          </a:blip>
          <a:srcRect b="0" l="28726" r="28726" t="0"/>
          <a:stretch/>
        </p:blipFill>
        <p:spPr>
          <a:xfrm>
            <a:off x="3332596" y="1240183"/>
            <a:ext cx="2635075" cy="3483595"/>
          </a:xfrm>
          <a:prstGeom prst="rect">
            <a:avLst/>
          </a:prstGeom>
          <a:noFill/>
          <a:ln>
            <a:noFill/>
          </a:ln>
          <a:effectLst>
            <a:outerShdw blurRad="292100" rotWithShape="0" algn="tl" dir="2700000" dist="139700">
              <a:srgbClr val="333333">
                <a:alpha val="64706"/>
              </a:srgbClr>
            </a:outerShdw>
          </a:effectLst>
        </p:spPr>
      </p:pic>
      <p:pic>
        <p:nvPicPr>
          <p:cNvPr id="154" name="Google Shape;154;p5"/>
          <p:cNvPicPr preferRelativeResize="0"/>
          <p:nvPr/>
        </p:nvPicPr>
        <p:blipFill rotWithShape="1">
          <a:blip r:embed="rId5">
            <a:alphaModFix/>
          </a:blip>
          <a:srcRect b="-80" l="38447" r="16167" t="80"/>
          <a:stretch/>
        </p:blipFill>
        <p:spPr>
          <a:xfrm>
            <a:off x="6222529" y="1234712"/>
            <a:ext cx="2635075" cy="3483595"/>
          </a:xfrm>
          <a:prstGeom prst="rect">
            <a:avLst/>
          </a:prstGeom>
          <a:noFill/>
          <a:ln>
            <a:noFill/>
          </a:ln>
          <a:effectLst>
            <a:outerShdw blurRad="292100" rotWithShape="0" algn="tl" dir="2700000" dist="139700">
              <a:srgbClr val="333333">
                <a:alpha val="64706"/>
              </a:srgbClr>
            </a:outerShdw>
          </a:effectLst>
        </p:spPr>
      </p:pic>
      <p:pic>
        <p:nvPicPr>
          <p:cNvPr id="155" name="Google Shape;155;p5"/>
          <p:cNvPicPr preferRelativeResize="0"/>
          <p:nvPr/>
        </p:nvPicPr>
        <p:blipFill rotWithShape="1">
          <a:blip r:embed="rId6">
            <a:alphaModFix/>
          </a:blip>
          <a:srcRect b="0" l="24786" r="24786" t="0"/>
          <a:stretch/>
        </p:blipFill>
        <p:spPr>
          <a:xfrm>
            <a:off x="9112461" y="1224793"/>
            <a:ext cx="2635075" cy="3483595"/>
          </a:xfrm>
          <a:prstGeom prst="rect">
            <a:avLst/>
          </a:prstGeom>
          <a:noFill/>
          <a:ln>
            <a:noFill/>
          </a:ln>
          <a:effectLst>
            <a:outerShdw blurRad="292100" rotWithShape="0" algn="tl" dir="2700000" dist="139700">
              <a:srgbClr val="333333">
                <a:alpha val="64706"/>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A close-up of a camera&#10;&#10;Description automatically generated" id="160" name="Google Shape;160;p6"/>
          <p:cNvPicPr preferRelativeResize="0"/>
          <p:nvPr/>
        </p:nvPicPr>
        <p:blipFill rotWithShape="1">
          <a:blip r:embed="rId3">
            <a:alphaModFix/>
          </a:blip>
          <a:srcRect b="0" l="6796" r="0" t="0"/>
          <a:stretch/>
        </p:blipFill>
        <p:spPr>
          <a:xfrm>
            <a:off x="1" y="-1"/>
            <a:ext cx="7331017" cy="5899149"/>
          </a:xfrm>
          <a:prstGeom prst="rect">
            <a:avLst/>
          </a:prstGeom>
          <a:noFill/>
          <a:ln>
            <a:noFill/>
          </a:ln>
        </p:spPr>
      </p:pic>
      <p:sp>
        <p:nvSpPr>
          <p:cNvPr id="161" name="Google Shape;161;p6"/>
          <p:cNvSpPr/>
          <p:nvPr/>
        </p:nvSpPr>
        <p:spPr>
          <a:xfrm rot="10800000">
            <a:off x="1660433" y="-1"/>
            <a:ext cx="9061143" cy="5899148"/>
          </a:xfrm>
          <a:prstGeom prst="rect">
            <a:avLst/>
          </a:prstGeom>
          <a:gradFill>
            <a:gsLst>
              <a:gs pos="0">
                <a:srgbClr val="FFFFFF">
                  <a:alpha val="0"/>
                </a:srgbClr>
              </a:gs>
              <a:gs pos="19000">
                <a:srgbClr val="FFFFFF">
                  <a:alpha val="37255"/>
                </a:srgbClr>
              </a:gs>
              <a:gs pos="35000">
                <a:srgbClr val="FFFFFF">
                  <a:alpha val="76471"/>
                </a:srgbClr>
              </a:gs>
              <a:gs pos="48000">
                <a:schemeClr val="lt1"/>
              </a:gs>
              <a:gs pos="100000">
                <a:schemeClr val="lt1"/>
              </a:gs>
            </a:gsLst>
            <a:lin ang="10800000" scaled="0"/>
          </a:grad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62" name="Google Shape;162;p6"/>
          <p:cNvSpPr/>
          <p:nvPr/>
        </p:nvSpPr>
        <p:spPr>
          <a:xfrm rot="10800000">
            <a:off x="1579155" y="615405"/>
            <a:ext cx="10612845" cy="5283743"/>
          </a:xfrm>
          <a:prstGeom prst="rect">
            <a:avLst/>
          </a:prstGeom>
          <a:gradFill>
            <a:gsLst>
              <a:gs pos="0">
                <a:srgbClr val="FFFFFF">
                  <a:alpha val="0"/>
                </a:srgbClr>
              </a:gs>
              <a:gs pos="19000">
                <a:srgbClr val="FFFFFF">
                  <a:alpha val="37255"/>
                </a:srgbClr>
              </a:gs>
              <a:gs pos="35000">
                <a:srgbClr val="FFFFFF">
                  <a:alpha val="76471"/>
                </a:srgbClr>
              </a:gs>
              <a:gs pos="48000">
                <a:schemeClr val="lt1"/>
              </a:gs>
              <a:gs pos="100000">
                <a:schemeClr val="lt1"/>
              </a:gs>
            </a:gsLst>
            <a:lin ang="10800000" scaled="0"/>
          </a:gradFill>
          <a:ln>
            <a:noFill/>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63" name="Google Shape;163;p6"/>
          <p:cNvSpPr txBox="1"/>
          <p:nvPr>
            <p:ph idx="4294967295" type="body"/>
          </p:nvPr>
        </p:nvSpPr>
        <p:spPr>
          <a:xfrm>
            <a:off x="5940100" y="953956"/>
            <a:ext cx="5940145" cy="3014133"/>
          </a:xfrm>
          <a:prstGeom prst="rect">
            <a:avLst/>
          </a:prstGeom>
          <a:noFill/>
          <a:ln>
            <a:noFill/>
          </a:ln>
        </p:spPr>
        <p:txBody>
          <a:bodyPr anchorCtr="0" anchor="t" bIns="45700" lIns="91400" spcFirstLastPara="1" rIns="91400" wrap="square" tIns="45700">
            <a:noAutofit/>
          </a:bodyPr>
          <a:lstStyle/>
          <a:p>
            <a:pPr indent="0" lvl="0" marL="0" rtl="0" algn="l">
              <a:lnSpc>
                <a:spcPct val="125000"/>
              </a:lnSpc>
              <a:spcBef>
                <a:spcPts val="0"/>
              </a:spcBef>
              <a:spcAft>
                <a:spcPts val="0"/>
              </a:spcAft>
              <a:buClr>
                <a:schemeClr val="dk1"/>
              </a:buClr>
              <a:buSzPts val="1600"/>
              <a:buNone/>
            </a:pPr>
            <a:r>
              <a:rPr lang="en-US" sz="1467">
                <a:solidFill>
                  <a:schemeClr val="dk2"/>
                </a:solidFill>
                <a:latin typeface="Nunito Sans"/>
                <a:ea typeface="Nunito Sans"/>
                <a:cs typeface="Nunito Sans"/>
                <a:sym typeface="Nunito Sans"/>
              </a:rPr>
              <a:t>ĐỊnh hướng của MK Vision là nghiên cứu, phát triển và sản xuất các thiết bị camera AI có khả năng xử lý cục bộ các thuật toán phân tích dữ liệu trên chính phần cứng của thiết bị (AI-on-Edge). </a:t>
            </a:r>
            <a:endParaRPr/>
          </a:p>
          <a:p>
            <a:pPr indent="0" lvl="0" marL="0" rtl="0" algn="l">
              <a:lnSpc>
                <a:spcPct val="125000"/>
              </a:lnSpc>
              <a:spcBef>
                <a:spcPts val="0"/>
              </a:spcBef>
              <a:spcAft>
                <a:spcPts val="0"/>
              </a:spcAft>
              <a:buClr>
                <a:schemeClr val="dk1"/>
              </a:buClr>
              <a:buSzPts val="1600"/>
              <a:buNone/>
            </a:pPr>
            <a:r>
              <a:t/>
            </a:r>
            <a:endParaRPr sz="1467">
              <a:solidFill>
                <a:schemeClr val="dk2"/>
              </a:solidFill>
              <a:latin typeface="Nunito Sans"/>
              <a:ea typeface="Nunito Sans"/>
              <a:cs typeface="Nunito Sans"/>
              <a:sym typeface="Nunito Sans"/>
            </a:endParaRPr>
          </a:p>
          <a:p>
            <a:pPr indent="-126994" lvl="0" marL="228594" rtl="0" algn="l">
              <a:lnSpc>
                <a:spcPct val="125000"/>
              </a:lnSpc>
              <a:spcBef>
                <a:spcPts val="1000"/>
              </a:spcBef>
              <a:spcAft>
                <a:spcPts val="0"/>
              </a:spcAft>
              <a:buClr>
                <a:schemeClr val="dk1"/>
              </a:buClr>
              <a:buSzPts val="1600"/>
              <a:buFont typeface="Noto Sans Symbols"/>
              <a:buNone/>
            </a:pPr>
            <a:r>
              <a:t/>
            </a:r>
            <a:endParaRPr sz="1467">
              <a:latin typeface="Nunito Sans"/>
              <a:ea typeface="Nunito Sans"/>
              <a:cs typeface="Nunito Sans"/>
              <a:sym typeface="Nunito Sans"/>
            </a:endParaRPr>
          </a:p>
          <a:p>
            <a:pPr indent="-126994" lvl="0" marL="228594" rtl="0" algn="l">
              <a:lnSpc>
                <a:spcPct val="125000"/>
              </a:lnSpc>
              <a:spcBef>
                <a:spcPts val="1000"/>
              </a:spcBef>
              <a:spcAft>
                <a:spcPts val="0"/>
              </a:spcAft>
              <a:buClr>
                <a:schemeClr val="dk1"/>
              </a:buClr>
              <a:buSzPts val="1600"/>
              <a:buFont typeface="Noto Sans Symbols"/>
              <a:buNone/>
            </a:pPr>
            <a:r>
              <a:t/>
            </a:r>
            <a:endParaRPr sz="1467">
              <a:latin typeface="Nunito Sans"/>
              <a:ea typeface="Nunito Sans"/>
              <a:cs typeface="Nunito Sans"/>
              <a:sym typeface="Nunito Sans"/>
            </a:endParaRPr>
          </a:p>
          <a:p>
            <a:pPr indent="-126994" lvl="0" marL="228594" rtl="0" algn="l">
              <a:lnSpc>
                <a:spcPct val="125000"/>
              </a:lnSpc>
              <a:spcBef>
                <a:spcPts val="1000"/>
              </a:spcBef>
              <a:spcAft>
                <a:spcPts val="0"/>
              </a:spcAft>
              <a:buClr>
                <a:schemeClr val="dk1"/>
              </a:buClr>
              <a:buSzPts val="1600"/>
              <a:buFont typeface="Noto Sans Symbols"/>
              <a:buNone/>
            </a:pPr>
            <a:r>
              <a:t/>
            </a:r>
            <a:endParaRPr sz="1467">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t/>
            </a:r>
            <a:endParaRPr b="1" sz="1467" u="sng">
              <a:solidFill>
                <a:schemeClr val="dk2"/>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t/>
            </a:r>
            <a:endParaRPr b="1" sz="1467" u="sng">
              <a:solidFill>
                <a:schemeClr val="dk2"/>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t/>
            </a:r>
            <a:endParaRPr b="1" sz="1467" u="sng">
              <a:solidFill>
                <a:schemeClr val="dk2"/>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t/>
            </a:r>
            <a:endParaRPr b="1" sz="1467" u="sng">
              <a:solidFill>
                <a:schemeClr val="dk2"/>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rPr b="1" lang="en-US" sz="1467" u="sng">
                <a:solidFill>
                  <a:schemeClr val="dk2"/>
                </a:solidFill>
                <a:latin typeface="Nunito Sans"/>
                <a:ea typeface="Nunito Sans"/>
                <a:cs typeface="Nunito Sans"/>
                <a:sym typeface="Nunito Sans"/>
              </a:rPr>
              <a:t>Đây là những yếu tố quyết định trong dự án camera quy mô lớn</a:t>
            </a:r>
            <a:endParaRPr sz="1467">
              <a:solidFill>
                <a:schemeClr val="dk2"/>
              </a:solidFill>
              <a:latin typeface="Nunito Sans"/>
              <a:ea typeface="Nunito Sans"/>
              <a:cs typeface="Nunito Sans"/>
              <a:sym typeface="Nunito Sans"/>
            </a:endParaRPr>
          </a:p>
        </p:txBody>
      </p:sp>
      <p:grpSp>
        <p:nvGrpSpPr>
          <p:cNvPr id="164" name="Google Shape;164;p6"/>
          <p:cNvGrpSpPr/>
          <p:nvPr/>
        </p:nvGrpSpPr>
        <p:grpSpPr>
          <a:xfrm>
            <a:off x="6251853" y="2197307"/>
            <a:ext cx="5316635" cy="1504533"/>
            <a:chOff x="1297577" y="2876550"/>
            <a:chExt cx="6548846" cy="1853232"/>
          </a:xfrm>
        </p:grpSpPr>
        <p:pic>
          <p:nvPicPr>
            <p:cNvPr descr="Edge AI for Computer Vision - viso.ai" id="165" name="Google Shape;165;p6"/>
            <p:cNvPicPr preferRelativeResize="0"/>
            <p:nvPr/>
          </p:nvPicPr>
          <p:blipFill rotWithShape="1">
            <a:blip r:embed="rId4">
              <a:alphaModFix/>
            </a:blip>
            <a:srcRect b="0" l="0" r="0" t="0"/>
            <a:stretch/>
          </p:blipFill>
          <p:spPr>
            <a:xfrm>
              <a:off x="1297577" y="2876550"/>
              <a:ext cx="6548846" cy="1853232"/>
            </a:xfrm>
            <a:prstGeom prst="rect">
              <a:avLst/>
            </a:prstGeom>
            <a:noFill/>
            <a:ln>
              <a:noFill/>
            </a:ln>
          </p:spPr>
        </p:pic>
        <p:sp>
          <p:nvSpPr>
            <p:cNvPr id="166" name="Google Shape;166;p6"/>
            <p:cNvSpPr/>
            <p:nvPr/>
          </p:nvSpPr>
          <p:spPr>
            <a:xfrm>
              <a:off x="1428206" y="4397829"/>
              <a:ext cx="2473234" cy="20029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grpSp>
      <p:sp>
        <p:nvSpPr>
          <p:cNvPr id="167" name="Google Shape;167;p6"/>
          <p:cNvSpPr txBox="1"/>
          <p:nvPr/>
        </p:nvSpPr>
        <p:spPr>
          <a:xfrm>
            <a:off x="178400" y="5994028"/>
            <a:ext cx="1930443" cy="3870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467" u="none" cap="none" strike="noStrike">
                <a:solidFill>
                  <a:schemeClr val="accent1"/>
                </a:solidFill>
                <a:latin typeface="Arial"/>
                <a:ea typeface="Arial"/>
                <a:cs typeface="Arial"/>
                <a:sym typeface="Arial"/>
              </a:rPr>
              <a:t>Công nghệ cốt lõi</a:t>
            </a:r>
            <a:endParaRPr/>
          </a:p>
        </p:txBody>
      </p:sp>
      <p:pic>
        <p:nvPicPr>
          <p:cNvPr descr="Reduce Cost Icon Images – Browse 10,070 Stock Photos, Vectors, and Video |  Adobe Stock" id="168" name="Google Shape;168;p6"/>
          <p:cNvPicPr preferRelativeResize="0"/>
          <p:nvPr/>
        </p:nvPicPr>
        <p:blipFill rotWithShape="1">
          <a:blip r:embed="rId5">
            <a:alphaModFix/>
          </a:blip>
          <a:srcRect b="0" l="0" r="0" t="0"/>
          <a:stretch/>
        </p:blipFill>
        <p:spPr>
          <a:xfrm>
            <a:off x="7195670" y="4857245"/>
            <a:ext cx="3216139" cy="10418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pic>
        <p:nvPicPr>
          <p:cNvPr id="175" name="Google Shape;175;p7"/>
          <p:cNvPicPr preferRelativeResize="0"/>
          <p:nvPr/>
        </p:nvPicPr>
        <p:blipFill rotWithShape="1">
          <a:blip r:embed="rId3">
            <a:alphaModFix/>
          </a:blip>
          <a:srcRect b="0" l="0" r="0" t="0"/>
          <a:stretch/>
        </p:blipFill>
        <p:spPr>
          <a:xfrm rot="5400000">
            <a:off x="2671865" y="-2671863"/>
            <a:ext cx="6848273" cy="12192003"/>
          </a:xfrm>
          <a:prstGeom prst="rect">
            <a:avLst/>
          </a:prstGeom>
          <a:noFill/>
          <a:ln>
            <a:noFill/>
          </a:ln>
        </p:spPr>
      </p:pic>
      <p:sp>
        <p:nvSpPr>
          <p:cNvPr id="176" name="Google Shape;176;p7"/>
          <p:cNvSpPr/>
          <p:nvPr/>
        </p:nvSpPr>
        <p:spPr>
          <a:xfrm>
            <a:off x="9146" y="-9722"/>
            <a:ext cx="12192001" cy="6848276"/>
          </a:xfrm>
          <a:prstGeom prst="rect">
            <a:avLst/>
          </a:prstGeom>
          <a:solidFill>
            <a:srgbClr val="FFFFFF">
              <a:alpha val="74118"/>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2800">
              <a:solidFill>
                <a:schemeClr val="lt1"/>
              </a:solidFill>
              <a:latin typeface="Calibri"/>
              <a:ea typeface="Calibri"/>
              <a:cs typeface="Calibri"/>
              <a:sym typeface="Calibri"/>
            </a:endParaRPr>
          </a:p>
        </p:txBody>
      </p:sp>
      <p:sp>
        <p:nvSpPr>
          <p:cNvPr id="177" name="Google Shape;177;p7"/>
          <p:cNvSpPr/>
          <p:nvPr/>
        </p:nvSpPr>
        <p:spPr>
          <a:xfrm>
            <a:off x="-9146" y="2958070"/>
            <a:ext cx="12210292" cy="1872855"/>
          </a:xfrm>
          <a:prstGeom prst="rect">
            <a:avLst/>
          </a:prstGeom>
          <a:solidFill>
            <a:srgbClr val="AEABAB">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Calibri"/>
              <a:ea typeface="Calibri"/>
              <a:cs typeface="Calibri"/>
              <a:sym typeface="Calibri"/>
            </a:endParaRPr>
          </a:p>
        </p:txBody>
      </p:sp>
      <p:sp>
        <p:nvSpPr>
          <p:cNvPr id="178" name="Google Shape;178;p7"/>
          <p:cNvSpPr txBox="1"/>
          <p:nvPr/>
        </p:nvSpPr>
        <p:spPr>
          <a:xfrm>
            <a:off x="1043846" y="3228038"/>
            <a:ext cx="10122599" cy="1172623"/>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None/>
            </a:pPr>
            <a:r>
              <a:rPr b="1" lang="en-US" sz="3000">
                <a:solidFill>
                  <a:srgbClr val="3F3F3F"/>
                </a:solidFill>
                <a:latin typeface="Calibri"/>
                <a:ea typeface="Calibri"/>
                <a:cs typeface="Calibri"/>
                <a:sym typeface="Calibri"/>
              </a:rPr>
              <a:t>Autosecure</a:t>
            </a:r>
            <a:endParaRPr b="1" sz="3000">
              <a:solidFill>
                <a:srgbClr val="3F3F3F"/>
              </a:solidFill>
              <a:latin typeface="Calibri"/>
              <a:ea typeface="Calibri"/>
              <a:cs typeface="Calibri"/>
              <a:sym typeface="Calibri"/>
            </a:endParaRPr>
          </a:p>
        </p:txBody>
      </p:sp>
      <p:pic>
        <p:nvPicPr>
          <p:cNvPr id="179" name="Google Shape;179;p7"/>
          <p:cNvPicPr preferRelativeResize="0"/>
          <p:nvPr/>
        </p:nvPicPr>
        <p:blipFill rotWithShape="1">
          <a:blip r:embed="rId4">
            <a:alphaModFix/>
          </a:blip>
          <a:srcRect b="0" l="0" r="0" t="0"/>
          <a:stretch/>
        </p:blipFill>
        <p:spPr>
          <a:xfrm>
            <a:off x="1277879" y="1959718"/>
            <a:ext cx="1756696" cy="907009"/>
          </a:xfrm>
          <a:prstGeom prst="rect">
            <a:avLst/>
          </a:prstGeom>
          <a:noFill/>
          <a:ln>
            <a:noFill/>
          </a:ln>
        </p:spPr>
      </p:pic>
      <p:pic>
        <p:nvPicPr>
          <p:cNvPr id="180" name="Google Shape;180;p7"/>
          <p:cNvPicPr preferRelativeResize="0"/>
          <p:nvPr/>
        </p:nvPicPr>
        <p:blipFill rotWithShape="1">
          <a:blip r:embed="rId5">
            <a:alphaModFix/>
          </a:blip>
          <a:srcRect b="0" l="0" r="0" t="0"/>
          <a:stretch/>
        </p:blipFill>
        <p:spPr>
          <a:xfrm>
            <a:off x="5784262" y="3034848"/>
            <a:ext cx="3029339" cy="1887420"/>
          </a:xfrm>
          <a:prstGeom prst="rect">
            <a:avLst/>
          </a:prstGeom>
          <a:noFill/>
          <a:ln>
            <a:noFill/>
          </a:ln>
        </p:spPr>
      </p:pic>
      <p:sp>
        <p:nvSpPr>
          <p:cNvPr id="181" name="Google Shape;181;p7"/>
          <p:cNvSpPr/>
          <p:nvPr/>
        </p:nvSpPr>
        <p:spPr>
          <a:xfrm>
            <a:off x="9023354" y="3003609"/>
            <a:ext cx="1756696" cy="1887420"/>
          </a:xfrm>
          <a:custGeom>
            <a:rect b="b" l="l" r="r" t="t"/>
            <a:pathLst>
              <a:path extrusionOk="0" h="5734993" w="5494702">
                <a:moveTo>
                  <a:pt x="0" y="0"/>
                </a:moveTo>
                <a:lnTo>
                  <a:pt x="5494702" y="0"/>
                </a:lnTo>
                <a:lnTo>
                  <a:pt x="5494702" y="5734993"/>
                </a:lnTo>
                <a:lnTo>
                  <a:pt x="0" y="5734993"/>
                </a:lnTo>
                <a:lnTo>
                  <a:pt x="0" y="0"/>
                </a:lnTo>
                <a:close/>
              </a:path>
            </a:pathLst>
          </a:custGeom>
          <a:blipFill rotWithShape="1">
            <a:blip r:embed="rId6">
              <a:alphaModFix/>
            </a:blip>
            <a:stretch>
              <a:fillRect b="0" l="-29140" r="-29774" t="0"/>
            </a:stretch>
          </a:blipFill>
          <a:ln>
            <a:noFill/>
          </a:ln>
        </p:spPr>
      </p:sp>
      <p:sp>
        <p:nvSpPr>
          <p:cNvPr id="182" name="Google Shape;182;p7"/>
          <p:cNvSpPr/>
          <p:nvPr/>
        </p:nvSpPr>
        <p:spPr>
          <a:xfrm>
            <a:off x="3817813" y="2984736"/>
            <a:ext cx="1756696" cy="1846189"/>
          </a:xfrm>
          <a:custGeom>
            <a:rect b="b" l="l" r="r" t="t"/>
            <a:pathLst>
              <a:path extrusionOk="0" h="5830742" w="5363706">
                <a:moveTo>
                  <a:pt x="0" y="0"/>
                </a:moveTo>
                <a:lnTo>
                  <a:pt x="5363706" y="0"/>
                </a:lnTo>
                <a:lnTo>
                  <a:pt x="5363706" y="5830742"/>
                </a:lnTo>
                <a:lnTo>
                  <a:pt x="0" y="5830742"/>
                </a:lnTo>
                <a:lnTo>
                  <a:pt x="0" y="0"/>
                </a:lnTo>
                <a:close/>
              </a:path>
            </a:pathLst>
          </a:custGeom>
          <a:blipFill rotWithShape="1">
            <a:blip r:embed="rId7">
              <a:alphaModFix/>
            </a:blip>
            <a:stretch>
              <a:fillRect b="-37926" l="-85403" r="-77472" t="-20768"/>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ph type="title"/>
          </p:nvPr>
        </p:nvSpPr>
        <p:spPr>
          <a:xfrm>
            <a:off x="203918" y="2856197"/>
            <a:ext cx="5570708" cy="1524000"/>
          </a:xfrm>
          <a:prstGeom prst="rect">
            <a:avLst/>
          </a:prstGeom>
          <a:noFill/>
          <a:ln>
            <a:noFill/>
          </a:ln>
        </p:spPr>
        <p:txBody>
          <a:bodyPr anchorCtr="0" anchor="ctr" bIns="45700" lIns="91400" spcFirstLastPara="1" rIns="91400"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200">
                <a:solidFill>
                  <a:srgbClr val="1C3678"/>
                </a:solidFill>
                <a:latin typeface="Calibri"/>
                <a:ea typeface="Calibri"/>
                <a:cs typeface="Calibri"/>
                <a:sym typeface="Calibri"/>
              </a:rPr>
              <a:t>1. Giải pháp quản lý đội xe thông minh</a:t>
            </a:r>
            <a:endParaRPr b="1" sz="3200">
              <a:solidFill>
                <a:srgbClr val="1C3678"/>
              </a:solidFill>
              <a:latin typeface="Calibri"/>
              <a:ea typeface="Calibri"/>
              <a:cs typeface="Calibri"/>
              <a:sym typeface="Calibri"/>
            </a:endParaRPr>
          </a:p>
        </p:txBody>
      </p:sp>
      <p:sp>
        <p:nvSpPr>
          <p:cNvPr id="191" name="Google Shape;191;p8"/>
          <p:cNvSpPr txBox="1"/>
          <p:nvPr>
            <p:ph idx="1" type="body"/>
          </p:nvPr>
        </p:nvSpPr>
        <p:spPr>
          <a:xfrm>
            <a:off x="203918" y="4087223"/>
            <a:ext cx="5776469" cy="2234861"/>
          </a:xfrm>
          <a:prstGeom prst="rect">
            <a:avLst/>
          </a:prstGeom>
          <a:noFill/>
          <a:ln>
            <a:noFill/>
          </a:ln>
        </p:spPr>
        <p:txBody>
          <a:bodyPr anchorCtr="0" anchor="t" bIns="45700" lIns="91400" spcFirstLastPara="1" rIns="91400" wrap="square" tIns="45700">
            <a:normAutofit/>
          </a:bodyPr>
          <a:lstStyle/>
          <a:p>
            <a:pPr indent="0" lvl="0" marL="0" rtl="0" algn="just">
              <a:lnSpc>
                <a:spcPct val="160000"/>
              </a:lnSpc>
              <a:spcBef>
                <a:spcPts val="1000"/>
              </a:spcBef>
              <a:spcAft>
                <a:spcPts val="0"/>
              </a:spcAft>
              <a:buClr>
                <a:schemeClr val="dk1"/>
              </a:buClr>
              <a:buSzPts val="2000"/>
              <a:buNone/>
            </a:pPr>
            <a:r>
              <a:rPr lang="en-US" sz="1467">
                <a:latin typeface="Nunito Sans"/>
                <a:ea typeface="Nunito Sans"/>
                <a:cs typeface="Nunito Sans"/>
                <a:sym typeface="Nunito Sans"/>
              </a:rPr>
              <a:t>Khả năng AI-on-Edge cung cấp các giải pháp có thể mở rộng, đáng tin cậy và tiết kiệm chi phí để triển khai quy mô lớn trong ngành vận tải. Điều này sẽ trao quyền cho các doanh nghiệp tối ưu hóa hoạt động, cải thiện độ an toàn và đưa ra quyết định dựa trên dữ liệu để quản lý đội xe tốt hơn.</a:t>
            </a:r>
            <a:endParaRPr sz="1467">
              <a:latin typeface="Nunito Sans"/>
              <a:ea typeface="Nunito Sans"/>
              <a:cs typeface="Nunito Sans"/>
              <a:sym typeface="Nunito Sans"/>
            </a:endParaRPr>
          </a:p>
        </p:txBody>
      </p:sp>
      <p:pic>
        <p:nvPicPr>
          <p:cNvPr descr="Fleetminder Features &amp; Benefits" id="192" name="Google Shape;192;p8"/>
          <p:cNvPicPr preferRelativeResize="0"/>
          <p:nvPr/>
        </p:nvPicPr>
        <p:blipFill rotWithShape="1">
          <a:blip r:embed="rId3">
            <a:alphaModFix/>
          </a:blip>
          <a:srcRect b="0" l="0" r="0" t="19212"/>
          <a:stretch/>
        </p:blipFill>
        <p:spPr>
          <a:xfrm>
            <a:off x="0" y="-1330898"/>
            <a:ext cx="12192000" cy="4078409"/>
          </a:xfrm>
          <a:prstGeom prst="rect">
            <a:avLst/>
          </a:prstGeom>
          <a:noFill/>
          <a:ln>
            <a:noFill/>
          </a:ln>
        </p:spPr>
      </p:pic>
      <p:pic>
        <p:nvPicPr>
          <p:cNvPr descr="The molding of the professional truck driver - FreightWaves" id="193" name="Google Shape;193;p8"/>
          <p:cNvPicPr preferRelativeResize="0"/>
          <p:nvPr/>
        </p:nvPicPr>
        <p:blipFill rotWithShape="1">
          <a:blip r:embed="rId4">
            <a:alphaModFix/>
          </a:blip>
          <a:srcRect b="0" l="0" r="0" t="0"/>
          <a:stretch/>
        </p:blipFill>
        <p:spPr>
          <a:xfrm>
            <a:off x="6614243" y="2878822"/>
            <a:ext cx="2636924" cy="1483269"/>
          </a:xfrm>
          <a:prstGeom prst="rect">
            <a:avLst/>
          </a:prstGeom>
          <a:noFill/>
          <a:ln>
            <a:noFill/>
          </a:ln>
        </p:spPr>
      </p:pic>
      <p:pic>
        <p:nvPicPr>
          <p:cNvPr descr="Great Africa - Ethiopia 🇪🇹 police vehicles 🚖 | Facebook" id="194" name="Google Shape;194;p8"/>
          <p:cNvPicPr preferRelativeResize="0"/>
          <p:nvPr/>
        </p:nvPicPr>
        <p:blipFill rotWithShape="1">
          <a:blip r:embed="rId5">
            <a:alphaModFix/>
          </a:blip>
          <a:srcRect b="0" l="0" r="0" t="0"/>
          <a:stretch/>
        </p:blipFill>
        <p:spPr>
          <a:xfrm>
            <a:off x="9351159" y="2885414"/>
            <a:ext cx="2636924" cy="1476677"/>
          </a:xfrm>
          <a:prstGeom prst="rect">
            <a:avLst/>
          </a:prstGeom>
          <a:noFill/>
          <a:ln>
            <a:noFill/>
          </a:ln>
        </p:spPr>
      </p:pic>
      <p:pic>
        <p:nvPicPr>
          <p:cNvPr descr="Family Medical Practice Invests in New Ambulance Fleet for HCMC Emergency  Response - Family Medical Practice" id="195" name="Google Shape;195;p8"/>
          <p:cNvPicPr preferRelativeResize="0"/>
          <p:nvPr/>
        </p:nvPicPr>
        <p:blipFill rotWithShape="1">
          <a:blip r:embed="rId6">
            <a:alphaModFix/>
          </a:blip>
          <a:srcRect b="0" l="0" r="28296" t="0"/>
          <a:stretch/>
        </p:blipFill>
        <p:spPr>
          <a:xfrm>
            <a:off x="6614243" y="4442927"/>
            <a:ext cx="2636924" cy="1805583"/>
          </a:xfrm>
          <a:prstGeom prst="rect">
            <a:avLst/>
          </a:prstGeom>
          <a:noFill/>
          <a:ln>
            <a:noFill/>
          </a:ln>
        </p:spPr>
      </p:pic>
      <p:pic>
        <p:nvPicPr>
          <p:cNvPr descr="Addis Ababa welcomes new meter-run taxi services | CGTN Africa" id="196" name="Google Shape;196;p8"/>
          <p:cNvPicPr preferRelativeResize="0"/>
          <p:nvPr/>
        </p:nvPicPr>
        <p:blipFill rotWithShape="1">
          <a:blip r:embed="rId7">
            <a:alphaModFix/>
          </a:blip>
          <a:srcRect b="0" l="24471" r="0" t="0"/>
          <a:stretch/>
        </p:blipFill>
        <p:spPr>
          <a:xfrm>
            <a:off x="9351158" y="4442928"/>
            <a:ext cx="2636925" cy="18019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descr="A close-up of a camera&#10;&#10;Description automatically generated with medium confidence" id="201" name="Google Shape;201;p9"/>
          <p:cNvPicPr preferRelativeResize="0"/>
          <p:nvPr/>
        </p:nvPicPr>
        <p:blipFill rotWithShape="1">
          <a:blip r:embed="rId3">
            <a:alphaModFix/>
          </a:blip>
          <a:srcRect b="0" l="0" r="0" t="0"/>
          <a:stretch/>
        </p:blipFill>
        <p:spPr>
          <a:xfrm>
            <a:off x="3804467" y="1432803"/>
            <a:ext cx="2368835" cy="3391589"/>
          </a:xfrm>
          <a:prstGeom prst="rect">
            <a:avLst/>
          </a:prstGeom>
          <a:noFill/>
          <a:ln>
            <a:noFill/>
          </a:ln>
        </p:spPr>
      </p:pic>
      <p:pic>
        <p:nvPicPr>
          <p:cNvPr id="202" name="Google Shape;202;p9"/>
          <p:cNvPicPr preferRelativeResize="0"/>
          <p:nvPr/>
        </p:nvPicPr>
        <p:blipFill rotWithShape="1">
          <a:blip r:embed="rId4">
            <a:alphaModFix/>
          </a:blip>
          <a:srcRect b="0" l="0" r="0" t="0"/>
          <a:stretch/>
        </p:blipFill>
        <p:spPr>
          <a:xfrm>
            <a:off x="5750533" y="1006324"/>
            <a:ext cx="2626283" cy="4595992"/>
          </a:xfrm>
          <a:prstGeom prst="rect">
            <a:avLst/>
          </a:prstGeom>
          <a:noFill/>
          <a:ln>
            <a:noFill/>
          </a:ln>
        </p:spPr>
      </p:pic>
      <p:cxnSp>
        <p:nvCxnSpPr>
          <p:cNvPr id="203" name="Google Shape;203;p9"/>
          <p:cNvCxnSpPr/>
          <p:nvPr/>
        </p:nvCxnSpPr>
        <p:spPr>
          <a:xfrm>
            <a:off x="4441327" y="2200452"/>
            <a:ext cx="0" cy="794113"/>
          </a:xfrm>
          <a:prstGeom prst="straightConnector1">
            <a:avLst/>
          </a:prstGeom>
          <a:noFill/>
          <a:ln cap="flat" cmpd="sng" w="9525">
            <a:solidFill>
              <a:srgbClr val="EB5600"/>
            </a:solidFill>
            <a:prstDash val="solid"/>
            <a:round/>
            <a:headEnd len="sm" w="sm" type="none"/>
            <a:tailEnd len="med" w="med" type="oval"/>
          </a:ln>
        </p:spPr>
      </p:cxnSp>
      <p:sp>
        <p:nvSpPr>
          <p:cNvPr id="204" name="Google Shape;204;p9"/>
          <p:cNvSpPr txBox="1"/>
          <p:nvPr/>
        </p:nvSpPr>
        <p:spPr>
          <a:xfrm>
            <a:off x="641505" y="2103842"/>
            <a:ext cx="3848583" cy="533297"/>
          </a:xfrm>
          <a:prstGeom prst="rect">
            <a:avLst/>
          </a:prstGeom>
          <a:noFill/>
          <a:ln>
            <a:noFill/>
          </a:ln>
        </p:spPr>
        <p:txBody>
          <a:bodyPr anchorCtr="0" anchor="t" bIns="60925" lIns="121900" spcFirstLastPara="1" rIns="121900" wrap="square" tIns="60925">
            <a:spAutoFit/>
          </a:bodyPr>
          <a:lstStyle/>
          <a:p>
            <a:pPr indent="0" lvl="0" marL="0" marR="0" rtl="0" algn="r">
              <a:spcBef>
                <a:spcPts val="0"/>
              </a:spcBef>
              <a:spcAft>
                <a:spcPts val="0"/>
              </a:spcAft>
              <a:buNone/>
            </a:pPr>
            <a:r>
              <a:rPr b="1" lang="en-US" sz="1333">
                <a:solidFill>
                  <a:schemeClr val="dk1"/>
                </a:solidFill>
                <a:latin typeface="Nunito Sans"/>
                <a:ea typeface="Nunito Sans"/>
                <a:cs typeface="Nunito Sans"/>
                <a:sym typeface="Nunito Sans"/>
              </a:rPr>
              <a:t>Ambarella CV SoC </a:t>
            </a:r>
            <a:endParaRPr/>
          </a:p>
          <a:p>
            <a:pPr indent="0" lvl="0" marL="0" marR="0" rtl="0" algn="r">
              <a:spcBef>
                <a:spcPts val="0"/>
              </a:spcBef>
              <a:spcAft>
                <a:spcPts val="0"/>
              </a:spcAft>
              <a:buNone/>
            </a:pPr>
            <a:r>
              <a:rPr lang="en-US" sz="1333">
                <a:solidFill>
                  <a:schemeClr val="dk1"/>
                </a:solidFill>
                <a:latin typeface="Nunito Sans"/>
                <a:ea typeface="Nunito Sans"/>
                <a:cs typeface="Nunito Sans"/>
                <a:sym typeface="Nunito Sans"/>
              </a:rPr>
              <a:t>Xử lý AI tại biên</a:t>
            </a:r>
            <a:endParaRPr sz="1200">
              <a:solidFill>
                <a:srgbClr val="424242"/>
              </a:solidFill>
              <a:latin typeface="Nunito Sans"/>
              <a:ea typeface="Nunito Sans"/>
              <a:cs typeface="Nunito Sans"/>
              <a:sym typeface="Nunito Sans"/>
            </a:endParaRPr>
          </a:p>
        </p:txBody>
      </p:sp>
      <p:cxnSp>
        <p:nvCxnSpPr>
          <p:cNvPr id="205" name="Google Shape;205;p9"/>
          <p:cNvCxnSpPr/>
          <p:nvPr/>
        </p:nvCxnSpPr>
        <p:spPr>
          <a:xfrm>
            <a:off x="3129783" y="3484663"/>
            <a:ext cx="859976" cy="0"/>
          </a:xfrm>
          <a:prstGeom prst="straightConnector1">
            <a:avLst/>
          </a:prstGeom>
          <a:noFill/>
          <a:ln cap="flat" cmpd="sng" w="9525">
            <a:solidFill>
              <a:srgbClr val="EB5600"/>
            </a:solidFill>
            <a:prstDash val="solid"/>
            <a:round/>
            <a:headEnd len="sm" w="sm" type="none"/>
            <a:tailEnd len="med" w="med" type="oval"/>
          </a:ln>
        </p:spPr>
      </p:cxnSp>
      <p:sp>
        <p:nvSpPr>
          <p:cNvPr id="206" name="Google Shape;206;p9"/>
          <p:cNvSpPr txBox="1"/>
          <p:nvPr/>
        </p:nvSpPr>
        <p:spPr>
          <a:xfrm>
            <a:off x="821231" y="3315391"/>
            <a:ext cx="2368835" cy="738417"/>
          </a:xfrm>
          <a:prstGeom prst="rect">
            <a:avLst/>
          </a:prstGeom>
          <a:noFill/>
          <a:ln>
            <a:noFill/>
          </a:ln>
        </p:spPr>
        <p:txBody>
          <a:bodyPr anchorCtr="0" anchor="t" bIns="60925" lIns="121900" spcFirstLastPara="1" rIns="121900" wrap="square" tIns="60925">
            <a:spAutoFit/>
          </a:bodyPr>
          <a:lstStyle/>
          <a:p>
            <a:pPr indent="0" lvl="0" marL="0" marR="0" rtl="0" algn="r">
              <a:spcBef>
                <a:spcPts val="0"/>
              </a:spcBef>
              <a:spcAft>
                <a:spcPts val="0"/>
              </a:spcAft>
              <a:buNone/>
            </a:pPr>
            <a:r>
              <a:rPr b="1" lang="en-US" sz="1333">
                <a:solidFill>
                  <a:schemeClr val="dk1"/>
                </a:solidFill>
                <a:latin typeface="Nunito Sans"/>
                <a:ea typeface="Nunito Sans"/>
                <a:cs typeface="Nunito Sans"/>
                <a:sym typeface="Nunito Sans"/>
              </a:rPr>
              <a:t>Chế độ xem kép 360</a:t>
            </a:r>
            <a:endParaRPr/>
          </a:p>
          <a:p>
            <a:pPr indent="0" lvl="0" marL="0" marR="0" rtl="0" algn="r">
              <a:spcBef>
                <a:spcPts val="0"/>
              </a:spcBef>
              <a:spcAft>
                <a:spcPts val="0"/>
              </a:spcAft>
              <a:buNone/>
            </a:pPr>
            <a:r>
              <a:rPr lang="en-US" sz="1333">
                <a:solidFill>
                  <a:schemeClr val="dk1"/>
                </a:solidFill>
                <a:latin typeface="Nunito Sans"/>
                <a:ea typeface="Nunito Sans"/>
                <a:cs typeface="Nunito Sans"/>
                <a:sym typeface="Nunito Sans"/>
              </a:rPr>
              <a:t>Quay video phía trước và trong cabin cùng lúc </a:t>
            </a:r>
            <a:endParaRPr sz="1200">
              <a:solidFill>
                <a:srgbClr val="424242"/>
              </a:solidFill>
              <a:latin typeface="Nunito Sans"/>
              <a:ea typeface="Nunito Sans"/>
              <a:cs typeface="Nunito Sans"/>
              <a:sym typeface="Nunito Sans"/>
            </a:endParaRPr>
          </a:p>
        </p:txBody>
      </p:sp>
      <p:cxnSp>
        <p:nvCxnSpPr>
          <p:cNvPr id="207" name="Google Shape;207;p9"/>
          <p:cNvCxnSpPr/>
          <p:nvPr/>
        </p:nvCxnSpPr>
        <p:spPr>
          <a:xfrm rot="10800000">
            <a:off x="4381044" y="3867151"/>
            <a:ext cx="0" cy="893991"/>
          </a:xfrm>
          <a:prstGeom prst="straightConnector1">
            <a:avLst/>
          </a:prstGeom>
          <a:noFill/>
          <a:ln cap="flat" cmpd="sng" w="9525">
            <a:solidFill>
              <a:srgbClr val="EB5600"/>
            </a:solidFill>
            <a:prstDash val="solid"/>
            <a:round/>
            <a:headEnd len="sm" w="sm" type="none"/>
            <a:tailEnd len="med" w="med" type="oval"/>
          </a:ln>
        </p:spPr>
      </p:cxnSp>
      <p:sp>
        <p:nvSpPr>
          <p:cNvPr id="208" name="Google Shape;208;p9"/>
          <p:cNvSpPr txBox="1"/>
          <p:nvPr/>
        </p:nvSpPr>
        <p:spPr>
          <a:xfrm>
            <a:off x="2133249" y="4754161"/>
            <a:ext cx="2571863" cy="728286"/>
          </a:xfrm>
          <a:prstGeom prst="rect">
            <a:avLst/>
          </a:prstGeom>
          <a:noFill/>
          <a:ln>
            <a:noFill/>
          </a:ln>
        </p:spPr>
        <p:txBody>
          <a:bodyPr anchorCtr="0" anchor="t" bIns="60925" lIns="121900" spcFirstLastPara="1" rIns="121900" wrap="square" tIns="60925">
            <a:spAutoFit/>
          </a:bodyPr>
          <a:lstStyle/>
          <a:p>
            <a:pPr indent="0" lvl="0" marL="0" marR="0" rtl="0" algn="r">
              <a:spcBef>
                <a:spcPts val="0"/>
              </a:spcBef>
              <a:spcAft>
                <a:spcPts val="0"/>
              </a:spcAft>
              <a:buNone/>
            </a:pPr>
            <a:r>
              <a:rPr b="1" lang="en-US" sz="1333">
                <a:solidFill>
                  <a:schemeClr val="dk1"/>
                </a:solidFill>
                <a:latin typeface="Nunito Sans"/>
                <a:ea typeface="Nunito Sans"/>
                <a:cs typeface="Nunito Sans"/>
                <a:sym typeface="Nunito Sans"/>
              </a:rPr>
              <a:t>Vỏ kim loại</a:t>
            </a:r>
            <a:endParaRPr/>
          </a:p>
          <a:p>
            <a:pPr indent="0" lvl="0" marL="0" marR="0" rtl="0" algn="r">
              <a:spcBef>
                <a:spcPts val="0"/>
              </a:spcBef>
              <a:spcAft>
                <a:spcPts val="0"/>
              </a:spcAft>
              <a:buNone/>
            </a:pPr>
            <a:r>
              <a:rPr lang="en-US" sz="1400">
                <a:solidFill>
                  <a:schemeClr val="dk1"/>
                </a:solidFill>
                <a:latin typeface="Roboto"/>
                <a:ea typeface="Roboto"/>
                <a:cs typeface="Roboto"/>
                <a:sym typeface="Roboto"/>
              </a:rPr>
              <a:t>Hiệu suất lâu dài</a:t>
            </a:r>
            <a:br>
              <a:rPr lang="en-US" sz="1333">
                <a:solidFill>
                  <a:srgbClr val="2C2C2C"/>
                </a:solidFill>
                <a:latin typeface="Nunito Sans"/>
                <a:ea typeface="Nunito Sans"/>
                <a:cs typeface="Nunito Sans"/>
                <a:sym typeface="Nunito Sans"/>
              </a:rPr>
            </a:br>
            <a:endParaRPr sz="1200">
              <a:solidFill>
                <a:srgbClr val="424242"/>
              </a:solidFill>
              <a:latin typeface="Nunito Sans"/>
              <a:ea typeface="Nunito Sans"/>
              <a:cs typeface="Nunito Sans"/>
              <a:sym typeface="Nunito Sans"/>
            </a:endParaRPr>
          </a:p>
        </p:txBody>
      </p:sp>
      <p:cxnSp>
        <p:nvCxnSpPr>
          <p:cNvPr id="209" name="Google Shape;209;p9"/>
          <p:cNvCxnSpPr/>
          <p:nvPr/>
        </p:nvCxnSpPr>
        <p:spPr>
          <a:xfrm rot="10800000">
            <a:off x="7162827" y="4231294"/>
            <a:ext cx="0" cy="893991"/>
          </a:xfrm>
          <a:prstGeom prst="straightConnector1">
            <a:avLst/>
          </a:prstGeom>
          <a:noFill/>
          <a:ln cap="flat" cmpd="sng" w="9525">
            <a:solidFill>
              <a:srgbClr val="EB5600"/>
            </a:solidFill>
            <a:prstDash val="solid"/>
            <a:round/>
            <a:headEnd len="sm" w="sm" type="none"/>
            <a:tailEnd len="med" w="med" type="oval"/>
          </a:ln>
        </p:spPr>
      </p:cxnSp>
      <p:sp>
        <p:nvSpPr>
          <p:cNvPr id="210" name="Google Shape;210;p9"/>
          <p:cNvSpPr txBox="1"/>
          <p:nvPr/>
        </p:nvSpPr>
        <p:spPr>
          <a:xfrm>
            <a:off x="6465885" y="5145305"/>
            <a:ext cx="2571863" cy="543620"/>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333">
                <a:solidFill>
                  <a:schemeClr val="dk1"/>
                </a:solidFill>
                <a:latin typeface="Nunito Sans"/>
                <a:ea typeface="Nunito Sans"/>
                <a:cs typeface="Nunito Sans"/>
                <a:sym typeface="Nunito Sans"/>
              </a:rPr>
              <a:t>Hỗ trợ 4G LTE</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Tự động upload</a:t>
            </a:r>
            <a:endParaRPr sz="1200">
              <a:solidFill>
                <a:srgbClr val="424242"/>
              </a:solidFill>
              <a:latin typeface="Nunito Sans"/>
              <a:ea typeface="Nunito Sans"/>
              <a:cs typeface="Nunito Sans"/>
              <a:sym typeface="Nunito Sans"/>
            </a:endParaRPr>
          </a:p>
        </p:txBody>
      </p:sp>
      <p:cxnSp>
        <p:nvCxnSpPr>
          <p:cNvPr id="211" name="Google Shape;211;p9"/>
          <p:cNvCxnSpPr>
            <a:stCxn id="202" idx="3"/>
          </p:cNvCxnSpPr>
          <p:nvPr/>
        </p:nvCxnSpPr>
        <p:spPr>
          <a:xfrm flipH="1">
            <a:off x="7198716" y="3304320"/>
            <a:ext cx="1178100" cy="11100"/>
          </a:xfrm>
          <a:prstGeom prst="straightConnector1">
            <a:avLst/>
          </a:prstGeom>
          <a:noFill/>
          <a:ln cap="flat" cmpd="sng" w="9525">
            <a:solidFill>
              <a:srgbClr val="EB5600"/>
            </a:solidFill>
            <a:prstDash val="solid"/>
            <a:round/>
            <a:headEnd len="sm" w="sm" type="none"/>
            <a:tailEnd len="med" w="med" type="oval"/>
          </a:ln>
        </p:spPr>
      </p:cxnSp>
      <p:sp>
        <p:nvSpPr>
          <p:cNvPr id="212" name="Google Shape;212;p9"/>
          <p:cNvSpPr txBox="1"/>
          <p:nvPr/>
        </p:nvSpPr>
        <p:spPr>
          <a:xfrm>
            <a:off x="8400089" y="3038420"/>
            <a:ext cx="2571863" cy="543620"/>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333">
                <a:solidFill>
                  <a:schemeClr val="dk1"/>
                </a:solidFill>
                <a:latin typeface="Nunito Sans"/>
                <a:ea typeface="Nunito Sans"/>
                <a:cs typeface="Nunito Sans"/>
                <a:sym typeface="Nunito Sans"/>
              </a:rPr>
              <a:t>Khe cắm Micro-SD</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Quay video lên tới 72h</a:t>
            </a:r>
            <a:endParaRPr sz="1200">
              <a:solidFill>
                <a:srgbClr val="424242"/>
              </a:solidFill>
              <a:latin typeface="Nunito Sans"/>
              <a:ea typeface="Nunito Sans"/>
              <a:cs typeface="Nunito Sans"/>
              <a:sym typeface="Nunito Sans"/>
            </a:endParaRPr>
          </a:p>
        </p:txBody>
      </p:sp>
      <p:cxnSp>
        <p:nvCxnSpPr>
          <p:cNvPr id="213" name="Google Shape;213;p9"/>
          <p:cNvCxnSpPr/>
          <p:nvPr/>
        </p:nvCxnSpPr>
        <p:spPr>
          <a:xfrm rot="10800000">
            <a:off x="7358066" y="3961777"/>
            <a:ext cx="2464015" cy="0"/>
          </a:xfrm>
          <a:prstGeom prst="straightConnector1">
            <a:avLst/>
          </a:prstGeom>
          <a:noFill/>
          <a:ln cap="flat" cmpd="sng" w="9525">
            <a:solidFill>
              <a:srgbClr val="EB5600"/>
            </a:solidFill>
            <a:prstDash val="solid"/>
            <a:round/>
            <a:headEnd len="sm" w="sm" type="none"/>
            <a:tailEnd len="med" w="med" type="oval"/>
          </a:ln>
        </p:spPr>
      </p:cxnSp>
      <p:sp>
        <p:nvSpPr>
          <p:cNvPr id="214" name="Google Shape;214;p9"/>
          <p:cNvSpPr txBox="1"/>
          <p:nvPr/>
        </p:nvSpPr>
        <p:spPr>
          <a:xfrm>
            <a:off x="9845354" y="3695877"/>
            <a:ext cx="2571863" cy="759064"/>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333">
                <a:solidFill>
                  <a:schemeClr val="dk1"/>
                </a:solidFill>
                <a:latin typeface="Nunito Sans"/>
                <a:ea typeface="Nunito Sans"/>
                <a:cs typeface="Nunito Sans"/>
                <a:sym typeface="Nunito Sans"/>
              </a:rPr>
              <a:t>Máy đo gia tốc</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Phát hiện hành vi lái xe bất thường</a:t>
            </a:r>
            <a:endParaRPr sz="1200">
              <a:solidFill>
                <a:srgbClr val="424242"/>
              </a:solidFill>
              <a:latin typeface="Nunito Sans"/>
              <a:ea typeface="Nunito Sans"/>
              <a:cs typeface="Nunito Sans"/>
              <a:sym typeface="Nunito Sans"/>
            </a:endParaRPr>
          </a:p>
        </p:txBody>
      </p:sp>
      <p:cxnSp>
        <p:nvCxnSpPr>
          <p:cNvPr id="215" name="Google Shape;215;p9"/>
          <p:cNvCxnSpPr>
            <a:stCxn id="216" idx="1"/>
          </p:cNvCxnSpPr>
          <p:nvPr/>
        </p:nvCxnSpPr>
        <p:spPr>
          <a:xfrm flipH="1">
            <a:off x="6833354" y="2349055"/>
            <a:ext cx="991800" cy="21300"/>
          </a:xfrm>
          <a:prstGeom prst="straightConnector1">
            <a:avLst/>
          </a:prstGeom>
          <a:noFill/>
          <a:ln cap="flat" cmpd="sng" w="9525">
            <a:solidFill>
              <a:srgbClr val="EB5600"/>
            </a:solidFill>
            <a:prstDash val="solid"/>
            <a:round/>
            <a:headEnd len="sm" w="sm" type="none"/>
            <a:tailEnd len="med" w="med" type="oval"/>
          </a:ln>
        </p:spPr>
      </p:cxnSp>
      <p:sp>
        <p:nvSpPr>
          <p:cNvPr id="216" name="Google Shape;216;p9"/>
          <p:cNvSpPr txBox="1"/>
          <p:nvPr/>
        </p:nvSpPr>
        <p:spPr>
          <a:xfrm>
            <a:off x="7825154" y="2077245"/>
            <a:ext cx="2571863" cy="543620"/>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333">
                <a:solidFill>
                  <a:schemeClr val="dk1"/>
                </a:solidFill>
                <a:latin typeface="Nunito Sans"/>
                <a:ea typeface="Nunito Sans"/>
                <a:cs typeface="Nunito Sans"/>
                <a:sym typeface="Nunito Sans"/>
              </a:rPr>
              <a:t>Hệ thống giám sát lái xe</a:t>
            </a:r>
            <a:endParaRPr/>
          </a:p>
          <a:p>
            <a:pPr indent="0" lvl="0" marL="0" marR="0" rtl="0" algn="l">
              <a:spcBef>
                <a:spcPts val="0"/>
              </a:spcBef>
              <a:spcAft>
                <a:spcPts val="0"/>
              </a:spcAft>
              <a:buNone/>
            </a:pPr>
            <a:r>
              <a:rPr lang="en-US" sz="1400">
                <a:solidFill>
                  <a:schemeClr val="dk1"/>
                </a:solidFill>
                <a:latin typeface="Roboto"/>
                <a:ea typeface="Roboto"/>
                <a:cs typeface="Roboto"/>
                <a:sym typeface="Roboto"/>
              </a:rPr>
              <a:t>Tận dụng khả năng xử lý</a:t>
            </a:r>
            <a:endParaRPr sz="1200">
              <a:solidFill>
                <a:srgbClr val="424242"/>
              </a:solidFill>
              <a:latin typeface="Nunito Sans"/>
              <a:ea typeface="Nunito Sans"/>
              <a:cs typeface="Nunito Sans"/>
              <a:sym typeface="Nunito Sans"/>
            </a:endParaRPr>
          </a:p>
        </p:txBody>
      </p:sp>
      <p:sp>
        <p:nvSpPr>
          <p:cNvPr id="217" name="Google Shape;217;p9"/>
          <p:cNvSpPr txBox="1"/>
          <p:nvPr/>
        </p:nvSpPr>
        <p:spPr>
          <a:xfrm>
            <a:off x="4219144" y="1166155"/>
            <a:ext cx="3900225" cy="533297"/>
          </a:xfrm>
          <a:prstGeom prst="rect">
            <a:avLst/>
          </a:prstGeom>
          <a:noFill/>
          <a:ln>
            <a:noFill/>
          </a:ln>
        </p:spPr>
        <p:txBody>
          <a:bodyPr anchorCtr="0" anchor="t" bIns="60925" lIns="121900" spcFirstLastPara="1" rIns="121900" wrap="square" tIns="60925">
            <a:spAutoFit/>
          </a:bodyPr>
          <a:lstStyle/>
          <a:p>
            <a:pPr indent="0" lvl="0" marL="0" marR="0" rtl="0" algn="l">
              <a:spcBef>
                <a:spcPts val="0"/>
              </a:spcBef>
              <a:spcAft>
                <a:spcPts val="0"/>
              </a:spcAft>
              <a:buNone/>
            </a:pPr>
            <a:r>
              <a:rPr b="1" lang="en-US" sz="1333">
                <a:solidFill>
                  <a:schemeClr val="dk1"/>
                </a:solidFill>
                <a:latin typeface="Nunito Sans"/>
                <a:ea typeface="Nunito Sans"/>
                <a:cs typeface="Nunito Sans"/>
                <a:sym typeface="Nunito Sans"/>
              </a:rPr>
              <a:t>USB-C</a:t>
            </a:r>
            <a:endParaRPr/>
          </a:p>
          <a:p>
            <a:pPr indent="0" lvl="0" marL="0" marR="0" rtl="0" algn="l">
              <a:spcBef>
                <a:spcPts val="0"/>
              </a:spcBef>
              <a:spcAft>
                <a:spcPts val="0"/>
              </a:spcAft>
              <a:buNone/>
            </a:pPr>
            <a:r>
              <a:rPr lang="en-US" sz="1333">
                <a:solidFill>
                  <a:schemeClr val="dk1"/>
                </a:solidFill>
                <a:latin typeface="Nunito Sans"/>
                <a:ea typeface="Nunito Sans"/>
                <a:cs typeface="Nunito Sans"/>
                <a:sym typeface="Nunito Sans"/>
              </a:rPr>
              <a:t>Nguồn &amp; Aux </a:t>
            </a:r>
            <a:endParaRPr sz="1200">
              <a:solidFill>
                <a:srgbClr val="424242"/>
              </a:solidFill>
              <a:latin typeface="Nunito Sans"/>
              <a:ea typeface="Nunito Sans"/>
              <a:cs typeface="Nunito Sans"/>
              <a:sym typeface="Nunito Sans"/>
            </a:endParaRPr>
          </a:p>
        </p:txBody>
      </p:sp>
      <p:cxnSp>
        <p:nvCxnSpPr>
          <p:cNvPr id="218" name="Google Shape;218;p9"/>
          <p:cNvCxnSpPr/>
          <p:nvPr/>
        </p:nvCxnSpPr>
        <p:spPr>
          <a:xfrm>
            <a:off x="4717312" y="1680189"/>
            <a:ext cx="0" cy="668867"/>
          </a:xfrm>
          <a:prstGeom prst="straightConnector1">
            <a:avLst/>
          </a:prstGeom>
          <a:noFill/>
          <a:ln cap="flat" cmpd="sng" w="9525">
            <a:solidFill>
              <a:srgbClr val="EB5600"/>
            </a:solidFill>
            <a:prstDash val="solid"/>
            <a:round/>
            <a:headEnd len="sm" w="sm" type="none"/>
            <a:tailEnd len="med" w="med" type="oval"/>
          </a:ln>
        </p:spPr>
      </p:cxnSp>
      <p:sp>
        <p:nvSpPr>
          <p:cNvPr id="219" name="Google Shape;219;p9"/>
          <p:cNvSpPr txBox="1"/>
          <p:nvPr/>
        </p:nvSpPr>
        <p:spPr>
          <a:xfrm>
            <a:off x="178399" y="5994028"/>
            <a:ext cx="2190332" cy="38702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1467" u="none" cap="none" strike="noStrike">
                <a:solidFill>
                  <a:schemeClr val="accent1"/>
                </a:solidFill>
                <a:latin typeface="Arial"/>
                <a:ea typeface="Arial"/>
                <a:cs typeface="Arial"/>
                <a:sym typeface="Arial"/>
              </a:rPr>
              <a:t>Camera hành trình AI</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0"/>
          <p:cNvSpPr txBox="1"/>
          <p:nvPr>
            <p:ph type="title"/>
          </p:nvPr>
        </p:nvSpPr>
        <p:spPr>
          <a:xfrm>
            <a:off x="1046375" y="635379"/>
            <a:ext cx="10850251" cy="722082"/>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2800"/>
              <a:buFont typeface="Josefin Sans"/>
              <a:buNone/>
            </a:pPr>
            <a:r>
              <a:rPr lang="en-US" sz="2400">
                <a:latin typeface="Nunito Sans"/>
                <a:ea typeface="Nunito Sans"/>
                <a:cs typeface="Nunito Sans"/>
                <a:sym typeface="Nunito Sans"/>
              </a:rPr>
              <a:t>Thiết bị đáp ứng </a:t>
            </a:r>
            <a:r>
              <a:rPr lang="en-US" sz="2400" u="sng">
                <a:solidFill>
                  <a:schemeClr val="hlink"/>
                </a:solidFill>
                <a:latin typeface="Nunito Sans"/>
                <a:ea typeface="Nunito Sans"/>
                <a:cs typeface="Nunito Sans"/>
                <a:sym typeface="Nunito Sans"/>
                <a:hlinkClick r:id="rId3"/>
              </a:rPr>
              <a:t>Nghị đinh 10/2020/NĐ-CP</a:t>
            </a:r>
            <a:r>
              <a:rPr lang="en-US" sz="2400" u="sng">
                <a:latin typeface="Nunito Sans"/>
                <a:ea typeface="Nunito Sans"/>
                <a:cs typeface="Nunito Sans"/>
                <a:sym typeface="Nunito Sans"/>
              </a:rPr>
              <a:t>, căn cứ pháp lý</a:t>
            </a:r>
            <a:endParaRPr b="0" sz="2400">
              <a:latin typeface="Nunito Sans"/>
              <a:ea typeface="Nunito Sans"/>
              <a:cs typeface="Nunito Sans"/>
              <a:sym typeface="Nunito Sans"/>
            </a:endParaRPr>
          </a:p>
        </p:txBody>
      </p:sp>
      <p:pic>
        <p:nvPicPr>
          <p:cNvPr id="225" name="Google Shape;225;p10"/>
          <p:cNvPicPr preferRelativeResize="0"/>
          <p:nvPr/>
        </p:nvPicPr>
        <p:blipFill rotWithShape="1">
          <a:blip r:embed="rId4">
            <a:alphaModFix/>
          </a:blip>
          <a:srcRect b="0" l="0" r="0" t="0"/>
          <a:stretch/>
        </p:blipFill>
        <p:spPr>
          <a:xfrm>
            <a:off x="7892435" y="1357461"/>
            <a:ext cx="3179039" cy="4306559"/>
          </a:xfrm>
          <a:prstGeom prst="rect">
            <a:avLst/>
          </a:prstGeom>
          <a:noFill/>
          <a:ln>
            <a:noFill/>
          </a:ln>
        </p:spPr>
      </p:pic>
      <p:pic>
        <p:nvPicPr>
          <p:cNvPr id="226" name="Google Shape;226;p10"/>
          <p:cNvPicPr preferRelativeResize="0"/>
          <p:nvPr/>
        </p:nvPicPr>
        <p:blipFill rotWithShape="1">
          <a:blip r:embed="rId5">
            <a:alphaModFix/>
          </a:blip>
          <a:srcRect b="0" l="0" r="0" t="0"/>
          <a:stretch/>
        </p:blipFill>
        <p:spPr>
          <a:xfrm>
            <a:off x="1358630" y="1435545"/>
            <a:ext cx="3150139" cy="4228475"/>
          </a:xfrm>
          <a:prstGeom prst="rect">
            <a:avLst/>
          </a:prstGeom>
          <a:noFill/>
          <a:ln>
            <a:noFill/>
          </a:ln>
        </p:spPr>
      </p:pic>
      <p:pic>
        <p:nvPicPr>
          <p:cNvPr id="227" name="Google Shape;227;p10"/>
          <p:cNvPicPr preferRelativeResize="0"/>
          <p:nvPr/>
        </p:nvPicPr>
        <p:blipFill rotWithShape="1">
          <a:blip r:embed="rId6">
            <a:alphaModFix/>
          </a:blip>
          <a:srcRect b="0" l="0" r="0" t="0"/>
          <a:stretch/>
        </p:blipFill>
        <p:spPr>
          <a:xfrm>
            <a:off x="4708076" y="1435544"/>
            <a:ext cx="3041399" cy="41575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11"/>
          <p:cNvPicPr preferRelativeResize="0"/>
          <p:nvPr/>
        </p:nvPicPr>
        <p:blipFill rotWithShape="1">
          <a:blip r:embed="rId3">
            <a:alphaModFix/>
          </a:blip>
          <a:srcRect b="0" l="5282" r="2726" t="0"/>
          <a:stretch/>
        </p:blipFill>
        <p:spPr>
          <a:xfrm>
            <a:off x="596347" y="1276656"/>
            <a:ext cx="6215743" cy="3226280"/>
          </a:xfrm>
          <a:prstGeom prst="rect">
            <a:avLst/>
          </a:prstGeom>
          <a:noFill/>
          <a:ln>
            <a:noFill/>
          </a:ln>
          <a:effectLst>
            <a:reflection blurRad="0" dir="0" dist="0" endA="300" endPos="35000" kx="0" rotWithShape="0" algn="bl" stA="52000" stPos="0" sy="-100000" ky="0"/>
          </a:effectLst>
        </p:spPr>
      </p:pic>
      <p:pic>
        <p:nvPicPr>
          <p:cNvPr id="236" name="Google Shape;236;p11"/>
          <p:cNvPicPr preferRelativeResize="0"/>
          <p:nvPr/>
        </p:nvPicPr>
        <p:blipFill rotWithShape="1">
          <a:blip r:embed="rId4">
            <a:alphaModFix/>
          </a:blip>
          <a:srcRect b="0" l="0" r="0" t="0"/>
          <a:stretch/>
        </p:blipFill>
        <p:spPr>
          <a:xfrm>
            <a:off x="7016391" y="5537262"/>
            <a:ext cx="372980" cy="372980"/>
          </a:xfrm>
          <a:prstGeom prst="rect">
            <a:avLst/>
          </a:prstGeom>
          <a:noFill/>
          <a:ln>
            <a:noFill/>
          </a:ln>
        </p:spPr>
      </p:pic>
      <p:sp>
        <p:nvSpPr>
          <p:cNvPr id="237" name="Google Shape;237;p11"/>
          <p:cNvSpPr txBox="1"/>
          <p:nvPr/>
        </p:nvSpPr>
        <p:spPr>
          <a:xfrm>
            <a:off x="7421846" y="5602465"/>
            <a:ext cx="21112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Cảm biến gia tốc chính xác</a:t>
            </a:r>
            <a:endParaRPr sz="1800">
              <a:solidFill>
                <a:schemeClr val="dk1"/>
              </a:solidFill>
              <a:latin typeface="Calibri"/>
              <a:ea typeface="Calibri"/>
              <a:cs typeface="Calibri"/>
              <a:sym typeface="Calibri"/>
            </a:endParaRPr>
          </a:p>
        </p:txBody>
      </p:sp>
      <p:sp>
        <p:nvSpPr>
          <p:cNvPr id="238" name="Google Shape;238;p11"/>
          <p:cNvSpPr txBox="1"/>
          <p:nvPr/>
        </p:nvSpPr>
        <p:spPr>
          <a:xfrm>
            <a:off x="10239645" y="5602465"/>
            <a:ext cx="149329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Kết nối tốc độ cao</a:t>
            </a:r>
            <a:endParaRPr sz="1800">
              <a:solidFill>
                <a:schemeClr val="dk1"/>
              </a:solidFill>
              <a:latin typeface="Calibri"/>
              <a:ea typeface="Calibri"/>
              <a:cs typeface="Calibri"/>
              <a:sym typeface="Calibri"/>
            </a:endParaRPr>
          </a:p>
        </p:txBody>
      </p:sp>
      <p:sp>
        <p:nvSpPr>
          <p:cNvPr id="239" name="Google Shape;239;p11"/>
          <p:cNvSpPr txBox="1"/>
          <p:nvPr/>
        </p:nvSpPr>
        <p:spPr>
          <a:xfrm>
            <a:off x="9752095" y="5571687"/>
            <a:ext cx="47801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alibri"/>
              <a:buNone/>
            </a:pPr>
            <a:r>
              <a:rPr b="1" lang="en-US" sz="2000">
                <a:solidFill>
                  <a:schemeClr val="dk1"/>
                </a:solidFill>
                <a:latin typeface="Calibri"/>
                <a:ea typeface="Calibri"/>
                <a:cs typeface="Calibri"/>
                <a:sym typeface="Calibri"/>
              </a:rPr>
              <a:t>4G</a:t>
            </a:r>
            <a:endParaRPr b="1" sz="1600">
              <a:solidFill>
                <a:schemeClr val="dk1"/>
              </a:solidFill>
              <a:latin typeface="Calibri"/>
              <a:ea typeface="Calibri"/>
              <a:cs typeface="Calibri"/>
              <a:sym typeface="Calibri"/>
            </a:endParaRPr>
          </a:p>
        </p:txBody>
      </p:sp>
      <p:sp>
        <p:nvSpPr>
          <p:cNvPr id="240" name="Google Shape;240;p11"/>
          <p:cNvSpPr txBox="1"/>
          <p:nvPr/>
        </p:nvSpPr>
        <p:spPr>
          <a:xfrm>
            <a:off x="762000" y="145622"/>
            <a:ext cx="7599575" cy="74058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rPr b="1" lang="en-US" sz="3200">
                <a:solidFill>
                  <a:srgbClr val="1C3678"/>
                </a:solidFill>
                <a:latin typeface="Calibri"/>
                <a:ea typeface="Calibri"/>
                <a:cs typeface="Calibri"/>
                <a:sym typeface="Calibri"/>
              </a:rPr>
              <a:t>1.1 Tính năng bảo vệ thông minh</a:t>
            </a:r>
            <a:endParaRPr b="1" sz="3200">
              <a:solidFill>
                <a:srgbClr val="1C3678"/>
              </a:solidFill>
              <a:latin typeface="Calibri"/>
              <a:ea typeface="Calibri"/>
              <a:cs typeface="Calibri"/>
              <a:sym typeface="Calibri"/>
            </a:endParaRPr>
          </a:p>
        </p:txBody>
      </p:sp>
      <p:sp>
        <p:nvSpPr>
          <p:cNvPr id="241" name="Google Shape;241;p11"/>
          <p:cNvSpPr txBox="1"/>
          <p:nvPr/>
        </p:nvSpPr>
        <p:spPr>
          <a:xfrm>
            <a:off x="7016391" y="811668"/>
            <a:ext cx="4413609" cy="4514113"/>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chemeClr val="dk1"/>
              </a:buClr>
              <a:buSzPts val="3600"/>
              <a:buFont typeface="Nunito Sans"/>
              <a:buNone/>
            </a:pPr>
            <a:r>
              <a:rPr lang="en-US" sz="1500">
                <a:solidFill>
                  <a:schemeClr val="dk1"/>
                </a:solidFill>
                <a:latin typeface="Nunito Sans"/>
                <a:ea typeface="Nunito Sans"/>
                <a:cs typeface="Nunito Sans"/>
                <a:sym typeface="Nunito Sans"/>
              </a:rPr>
              <a:t>- Kết nối </a:t>
            </a:r>
            <a:r>
              <a:rPr b="1" lang="en-US" sz="1500">
                <a:solidFill>
                  <a:schemeClr val="dk1"/>
                </a:solidFill>
                <a:latin typeface="Nunito Sans"/>
                <a:ea typeface="Nunito Sans"/>
                <a:cs typeface="Nunito Sans"/>
                <a:sym typeface="Nunito Sans"/>
              </a:rPr>
              <a:t>4G tốc độ cao </a:t>
            </a:r>
            <a:r>
              <a:rPr lang="en-US" sz="1500">
                <a:solidFill>
                  <a:schemeClr val="dk1"/>
                </a:solidFill>
                <a:latin typeface="Nunito Sans"/>
                <a:ea typeface="Nunito Sans"/>
                <a:cs typeface="Nunito Sans"/>
                <a:sym typeface="Nunito Sans"/>
              </a:rPr>
              <a:t>truyền dữ liệu và video theo thời gian thực.</a:t>
            </a:r>
            <a:endParaRPr/>
          </a:p>
          <a:p>
            <a:pPr indent="0" lvl="0" marL="0" marR="0" rtl="0" algn="l">
              <a:lnSpc>
                <a:spcPct val="130000"/>
              </a:lnSpc>
              <a:spcBef>
                <a:spcPts val="0"/>
              </a:spcBef>
              <a:spcAft>
                <a:spcPts val="0"/>
              </a:spcAft>
              <a:buClr>
                <a:schemeClr val="dk1"/>
              </a:buClr>
              <a:buSzPts val="3600"/>
              <a:buFont typeface="Nunito Sans"/>
              <a:buNone/>
            </a:pPr>
            <a:r>
              <a:rPr lang="en-US" sz="1500">
                <a:solidFill>
                  <a:schemeClr val="dk1"/>
                </a:solidFill>
                <a:latin typeface="Nunito Sans"/>
                <a:ea typeface="Nunito Sans"/>
                <a:cs typeface="Nunito Sans"/>
                <a:sym typeface="Nunito Sans"/>
              </a:rPr>
              <a:t>- Tích hợp </a:t>
            </a:r>
            <a:r>
              <a:rPr b="1" lang="en-US" sz="1500">
                <a:solidFill>
                  <a:schemeClr val="dk1"/>
                </a:solidFill>
                <a:latin typeface="Nunito Sans"/>
                <a:ea typeface="Nunito Sans"/>
                <a:cs typeface="Nunito Sans"/>
                <a:sym typeface="Nunito Sans"/>
              </a:rPr>
              <a:t>FleetFocus AI</a:t>
            </a:r>
            <a:r>
              <a:rPr lang="en-US" sz="1500">
                <a:solidFill>
                  <a:schemeClr val="dk1"/>
                </a:solidFill>
                <a:latin typeface="Nunito Sans"/>
                <a:ea typeface="Nunito Sans"/>
                <a:cs typeface="Nunito Sans"/>
                <a:sym typeface="Nunito Sans"/>
              </a:rPr>
              <a:t> ứng dụng cảm biến gia tốc, </a:t>
            </a:r>
            <a:r>
              <a:rPr b="1" lang="en-US" sz="1500">
                <a:solidFill>
                  <a:schemeClr val="dk1"/>
                </a:solidFill>
                <a:latin typeface="Nunito Sans"/>
                <a:ea typeface="Nunito Sans"/>
                <a:cs typeface="Nunito Sans"/>
                <a:sym typeface="Nunito Sans"/>
              </a:rPr>
              <a:t>tự động khóa và bảo vệ video</a:t>
            </a:r>
            <a:r>
              <a:rPr lang="en-US" sz="1500">
                <a:solidFill>
                  <a:schemeClr val="dk1"/>
                </a:solidFill>
                <a:latin typeface="Nunito Sans"/>
                <a:ea typeface="Nunito Sans"/>
                <a:cs typeface="Nunito Sans"/>
                <a:sym typeface="Nunito Sans"/>
              </a:rPr>
              <a:t> khi phát hiện </a:t>
            </a:r>
            <a:r>
              <a:rPr b="1" lang="en-US" sz="1500">
                <a:solidFill>
                  <a:schemeClr val="dk1"/>
                </a:solidFill>
                <a:latin typeface="Nunito Sans"/>
                <a:ea typeface="Nunito Sans"/>
                <a:cs typeface="Nunito Sans"/>
                <a:sym typeface="Nunito Sans"/>
              </a:rPr>
              <a:t>phanh gấp, cua gấp, tăng tốc hoặc va chạm</a:t>
            </a:r>
            <a:r>
              <a:rPr lang="en-US" sz="1500">
                <a:solidFill>
                  <a:schemeClr val="dk1"/>
                </a:solidFill>
                <a:latin typeface="Nunito Sans"/>
                <a:ea typeface="Nunito Sans"/>
                <a:cs typeface="Nunito Sans"/>
                <a:sym typeface="Nunito Sans"/>
              </a:rPr>
              <a:t>, đảm bảo giám sát liên tục và an toàn dữ liệu.</a:t>
            </a:r>
            <a:endParaRPr/>
          </a:p>
          <a:p>
            <a:pPr indent="0" lvl="0" marL="0" marR="0" rtl="0" algn="l">
              <a:lnSpc>
                <a:spcPct val="130000"/>
              </a:lnSpc>
              <a:spcBef>
                <a:spcPts val="0"/>
              </a:spcBef>
              <a:spcAft>
                <a:spcPts val="0"/>
              </a:spcAft>
              <a:buClr>
                <a:schemeClr val="dk1"/>
              </a:buClr>
              <a:buSzPts val="3600"/>
              <a:buFont typeface="Calibri"/>
              <a:buNone/>
            </a:pPr>
            <a:r>
              <a:t/>
            </a:r>
            <a:endParaRPr b="1" sz="1500">
              <a:solidFill>
                <a:schemeClr val="dk1"/>
              </a:solidFill>
              <a:latin typeface="Nunito Sans"/>
              <a:ea typeface="Nunito Sans"/>
              <a:cs typeface="Nunito Sans"/>
              <a:sym typeface="Nunito Sans"/>
            </a:endParaRPr>
          </a:p>
          <a:p>
            <a:pPr indent="0" lvl="0" marL="0" marR="0" rtl="0" algn="l">
              <a:lnSpc>
                <a:spcPct val="130000"/>
              </a:lnSpc>
              <a:spcBef>
                <a:spcPts val="0"/>
              </a:spcBef>
              <a:spcAft>
                <a:spcPts val="0"/>
              </a:spcAft>
              <a:buClr>
                <a:schemeClr val="dk1"/>
              </a:buClr>
              <a:buSzPts val="3600"/>
              <a:buFont typeface="Nunito Sans"/>
              <a:buNone/>
            </a:pPr>
            <a:r>
              <a:rPr b="1" lang="en-US" sz="1500">
                <a:solidFill>
                  <a:schemeClr val="dk1"/>
                </a:solidFill>
                <a:latin typeface="Nunito Sans"/>
                <a:ea typeface="Nunito Sans"/>
                <a:cs typeface="Nunito Sans"/>
                <a:sym typeface="Nunito Sans"/>
              </a:rPr>
              <a:t>- Quản lý thời gian thực: </a:t>
            </a:r>
            <a:r>
              <a:rPr lang="en-US" sz="1500">
                <a:solidFill>
                  <a:schemeClr val="dk1"/>
                </a:solidFill>
                <a:latin typeface="Nunito Sans"/>
                <a:ea typeface="Nunito Sans"/>
                <a:cs typeface="Nunito Sans"/>
                <a:sym typeface="Nunito Sans"/>
              </a:rPr>
              <a:t> AutoSecure có khả năng theo dõi trực tiếp video từ camera. Đồng thời, tích hợp thêm khả năng định vị GPS và quản lý đội xe giúp trung tâm quản lý dễ dàng nắm bắt và xử lý kịp thời các tình huống diễn ra.</a:t>
            </a:r>
            <a:endParaRPr b="1" sz="1500">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12"/>
          <p:cNvPicPr preferRelativeResize="0"/>
          <p:nvPr/>
        </p:nvPicPr>
        <p:blipFill rotWithShape="1">
          <a:blip r:embed="rId3">
            <a:alphaModFix/>
          </a:blip>
          <a:srcRect b="0" l="0" r="0" t="0"/>
          <a:stretch/>
        </p:blipFill>
        <p:spPr>
          <a:xfrm>
            <a:off x="882587" y="1041456"/>
            <a:ext cx="5796694" cy="3311587"/>
          </a:xfrm>
          <a:prstGeom prst="rect">
            <a:avLst/>
          </a:prstGeom>
          <a:noFill/>
          <a:ln>
            <a:noFill/>
          </a:ln>
          <a:effectLst>
            <a:reflection blurRad="0" dir="0" dist="0" endA="300" endPos="35000" kx="0" rotWithShape="0" algn="bl" stA="52000" stPos="0" sy="-100000" ky="0"/>
          </a:effectLst>
        </p:spPr>
      </p:pic>
      <p:sp>
        <p:nvSpPr>
          <p:cNvPr id="250" name="Google Shape;250;p12"/>
          <p:cNvSpPr txBox="1"/>
          <p:nvPr>
            <p:ph idx="1" type="body"/>
          </p:nvPr>
        </p:nvSpPr>
        <p:spPr>
          <a:xfrm>
            <a:off x="7149846" y="1093742"/>
            <a:ext cx="4678325" cy="4401774"/>
          </a:xfrm>
          <a:prstGeom prst="rect">
            <a:avLst/>
          </a:prstGeom>
          <a:noFill/>
          <a:ln>
            <a:noFill/>
          </a:ln>
        </p:spPr>
        <p:txBody>
          <a:bodyPr anchorCtr="0" anchor="t" bIns="45700" lIns="91425" spcFirstLastPara="1" rIns="91425" wrap="square" tIns="45700">
            <a:noAutofit/>
          </a:bodyPr>
          <a:lstStyle/>
          <a:p>
            <a:pPr indent="0" lvl="0" marL="0" rtl="0" algn="l">
              <a:lnSpc>
                <a:spcPct val="125000"/>
              </a:lnSpc>
              <a:spcBef>
                <a:spcPts val="0"/>
              </a:spcBef>
              <a:spcAft>
                <a:spcPts val="0"/>
              </a:spcAft>
              <a:buClr>
                <a:schemeClr val="dk1"/>
              </a:buClr>
              <a:buSzPts val="1600"/>
              <a:buNone/>
            </a:pPr>
            <a:r>
              <a:rPr lang="en-US" sz="1500">
                <a:solidFill>
                  <a:schemeClr val="dk1"/>
                </a:solidFill>
                <a:latin typeface="Nunito Sans"/>
                <a:ea typeface="Nunito Sans"/>
                <a:cs typeface="Nunito Sans"/>
                <a:sym typeface="Nunito Sans"/>
              </a:rPr>
              <a:t>AutoSecure sử dụng chip AI xử lý hình ảnh để giám sát hành vi tài xế trong thời gian thực.</a:t>
            </a:r>
            <a:endParaRPr/>
          </a:p>
          <a:p>
            <a:pPr indent="0" lvl="0" marL="0" rtl="0" algn="l">
              <a:lnSpc>
                <a:spcPct val="125000"/>
              </a:lnSpc>
              <a:spcBef>
                <a:spcPts val="0"/>
              </a:spcBef>
              <a:spcAft>
                <a:spcPts val="0"/>
              </a:spcAft>
              <a:buClr>
                <a:schemeClr val="dk1"/>
              </a:buClr>
              <a:buSzPts val="1600"/>
              <a:buNone/>
            </a:pPr>
            <a:r>
              <a:t/>
            </a:r>
            <a:endParaRPr sz="1500">
              <a:solidFill>
                <a:schemeClr val="dk1"/>
              </a:solidFill>
              <a:latin typeface="Nunito Sans"/>
              <a:ea typeface="Nunito Sans"/>
              <a:cs typeface="Nunito Sans"/>
              <a:sym typeface="Nunito Sans"/>
            </a:endParaRPr>
          </a:p>
          <a:p>
            <a:pPr indent="0" lvl="0" marL="0" rtl="0" algn="l">
              <a:lnSpc>
                <a:spcPct val="125000"/>
              </a:lnSpc>
              <a:spcBef>
                <a:spcPts val="0"/>
              </a:spcBef>
              <a:spcAft>
                <a:spcPts val="0"/>
              </a:spcAft>
              <a:buClr>
                <a:schemeClr val="dk1"/>
              </a:buClr>
              <a:buSzPts val="1600"/>
              <a:buNone/>
            </a:pPr>
            <a:r>
              <a:rPr lang="en-US" sz="1500">
                <a:solidFill>
                  <a:schemeClr val="dk1"/>
                </a:solidFill>
                <a:latin typeface="Nunito Sans"/>
                <a:ea typeface="Nunito Sans"/>
                <a:cs typeface="Nunito Sans"/>
                <a:sym typeface="Nunito Sans"/>
              </a:rPr>
              <a:t>Hệ thống hoạt động như “người giám sát an toàn”, tự động cảnh báo và ghi lại sự kiện khi phát hiện hành vi nguy hiểm. Giúp doanh nghiệp giảm tai nạn, giảm chi phí bảo hiểm và tăng uy tín dịch vụ.</a:t>
            </a:r>
            <a:endParaRPr sz="1500">
              <a:solidFill>
                <a:schemeClr val="dk1"/>
              </a:solidFill>
              <a:latin typeface="Nunito Sans"/>
              <a:ea typeface="Nunito Sans"/>
              <a:cs typeface="Nunito Sans"/>
              <a:sym typeface="Nunito Sans"/>
            </a:endParaRPr>
          </a:p>
          <a:p>
            <a:pPr indent="0" lvl="0" marL="0" rtl="0" algn="l">
              <a:lnSpc>
                <a:spcPct val="125000"/>
              </a:lnSpc>
              <a:spcBef>
                <a:spcPts val="0"/>
              </a:spcBef>
              <a:spcAft>
                <a:spcPts val="0"/>
              </a:spcAft>
              <a:buClr>
                <a:schemeClr val="dk1"/>
              </a:buClr>
              <a:buSzPts val="1600"/>
              <a:buNone/>
            </a:pPr>
            <a:r>
              <a:t/>
            </a:r>
            <a:endParaRPr sz="1500">
              <a:solidFill>
                <a:schemeClr val="dk1"/>
              </a:solidFill>
              <a:latin typeface="Nunito Sans"/>
              <a:ea typeface="Nunito Sans"/>
              <a:cs typeface="Nunito Sans"/>
              <a:sym typeface="Nunito Sans"/>
            </a:endParaRPr>
          </a:p>
          <a:p>
            <a:pPr indent="0" lvl="0" marL="0" rtl="0" algn="l">
              <a:lnSpc>
                <a:spcPct val="125000"/>
              </a:lnSpc>
              <a:spcBef>
                <a:spcPts val="0"/>
              </a:spcBef>
              <a:spcAft>
                <a:spcPts val="0"/>
              </a:spcAft>
              <a:buClr>
                <a:schemeClr val="dk1"/>
              </a:buClr>
              <a:buSzPts val="1600"/>
              <a:buNone/>
            </a:pPr>
            <a:r>
              <a:rPr lang="en-US" sz="1500">
                <a:solidFill>
                  <a:schemeClr val="dk1"/>
                </a:solidFill>
                <a:latin typeface="Nunito Sans"/>
                <a:ea typeface="Nunito Sans"/>
                <a:cs typeface="Nunito Sans"/>
                <a:sym typeface="Nunito Sans"/>
              </a:rPr>
              <a:t>DMS(Driver Monitoring System) đặc biệt phù hợp cho đơn vị vận tải đường dài, xe container, taxi, xe khách – nơi tài xế thường phải lái xe liên tục trong thời gian dài.</a:t>
            </a:r>
            <a:endParaRPr sz="1500">
              <a:solidFill>
                <a:schemeClr val="dk1"/>
              </a:solidFill>
              <a:latin typeface="Nunito Sans"/>
              <a:ea typeface="Nunito Sans"/>
              <a:cs typeface="Nunito Sans"/>
              <a:sym typeface="Nunito Sans"/>
            </a:endParaRPr>
          </a:p>
        </p:txBody>
      </p:sp>
      <p:pic>
        <p:nvPicPr>
          <p:cNvPr id="251" name="Google Shape;251;p12"/>
          <p:cNvPicPr preferRelativeResize="0"/>
          <p:nvPr/>
        </p:nvPicPr>
        <p:blipFill rotWithShape="1">
          <a:blip r:embed="rId4">
            <a:alphaModFix/>
          </a:blip>
          <a:srcRect b="0" l="0" r="0" t="0"/>
          <a:stretch/>
        </p:blipFill>
        <p:spPr>
          <a:xfrm>
            <a:off x="1128115" y="5187780"/>
            <a:ext cx="369332" cy="369332"/>
          </a:xfrm>
          <a:prstGeom prst="rect">
            <a:avLst/>
          </a:prstGeom>
          <a:noFill/>
          <a:ln>
            <a:noFill/>
          </a:ln>
        </p:spPr>
      </p:pic>
      <p:sp>
        <p:nvSpPr>
          <p:cNvPr id="252" name="Google Shape;252;p12"/>
          <p:cNvSpPr txBox="1"/>
          <p:nvPr/>
        </p:nvSpPr>
        <p:spPr>
          <a:xfrm>
            <a:off x="1723140" y="5187780"/>
            <a:ext cx="2424653" cy="3077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Nunito Sans"/>
              <a:buNone/>
            </a:pPr>
            <a:r>
              <a:rPr lang="en-US" sz="1400">
                <a:solidFill>
                  <a:schemeClr val="dk1"/>
                </a:solidFill>
                <a:latin typeface="Nunito Sans"/>
                <a:ea typeface="Nunito Sans"/>
                <a:cs typeface="Nunito Sans"/>
                <a:sym typeface="Nunito Sans"/>
              </a:rPr>
              <a:t>Nhận diện khuôn mặt tài xế</a:t>
            </a:r>
            <a:endParaRPr sz="1800">
              <a:solidFill>
                <a:schemeClr val="dk1"/>
              </a:solidFill>
              <a:latin typeface="Nunito Sans"/>
              <a:ea typeface="Nunito Sans"/>
              <a:cs typeface="Nunito Sans"/>
              <a:sym typeface="Nunito Sans"/>
            </a:endParaRPr>
          </a:p>
        </p:txBody>
      </p:sp>
      <p:pic>
        <p:nvPicPr>
          <p:cNvPr id="253" name="Google Shape;253;p12"/>
          <p:cNvPicPr preferRelativeResize="0"/>
          <p:nvPr/>
        </p:nvPicPr>
        <p:blipFill rotWithShape="1">
          <a:blip r:embed="rId5">
            <a:alphaModFix/>
          </a:blip>
          <a:srcRect b="0" l="0" r="0" t="0"/>
          <a:stretch/>
        </p:blipFill>
        <p:spPr>
          <a:xfrm>
            <a:off x="1128114" y="5734598"/>
            <a:ext cx="369333" cy="369333"/>
          </a:xfrm>
          <a:prstGeom prst="rect">
            <a:avLst/>
          </a:prstGeom>
          <a:noFill/>
          <a:ln>
            <a:noFill/>
          </a:ln>
        </p:spPr>
      </p:pic>
      <p:sp>
        <p:nvSpPr>
          <p:cNvPr id="254" name="Google Shape;254;p12"/>
          <p:cNvSpPr txBox="1"/>
          <p:nvPr/>
        </p:nvSpPr>
        <p:spPr>
          <a:xfrm>
            <a:off x="1723141" y="5734599"/>
            <a:ext cx="2424652" cy="3077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Nunito Sans"/>
              <a:buNone/>
            </a:pPr>
            <a:r>
              <a:rPr lang="en-US" sz="1400">
                <a:solidFill>
                  <a:schemeClr val="dk1"/>
                </a:solidFill>
                <a:latin typeface="Nunito Sans"/>
                <a:ea typeface="Nunito Sans"/>
                <a:cs typeface="Nunito Sans"/>
                <a:sym typeface="Nunito Sans"/>
              </a:rPr>
              <a:t>Nhận diện trạng thái tài xế</a:t>
            </a:r>
            <a:endParaRPr sz="1800">
              <a:solidFill>
                <a:schemeClr val="dk1"/>
              </a:solidFill>
              <a:latin typeface="Nunito Sans"/>
              <a:ea typeface="Nunito Sans"/>
              <a:cs typeface="Nunito Sans"/>
              <a:sym typeface="Nunito Sans"/>
            </a:endParaRPr>
          </a:p>
        </p:txBody>
      </p:sp>
      <p:pic>
        <p:nvPicPr>
          <p:cNvPr id="255" name="Google Shape;255;p12"/>
          <p:cNvPicPr preferRelativeResize="0"/>
          <p:nvPr/>
        </p:nvPicPr>
        <p:blipFill rotWithShape="1">
          <a:blip r:embed="rId6">
            <a:alphaModFix/>
          </a:blip>
          <a:srcRect b="0" l="0" r="0" t="0"/>
          <a:stretch/>
        </p:blipFill>
        <p:spPr>
          <a:xfrm>
            <a:off x="4447129" y="5187779"/>
            <a:ext cx="369333" cy="369333"/>
          </a:xfrm>
          <a:prstGeom prst="rect">
            <a:avLst/>
          </a:prstGeom>
          <a:noFill/>
          <a:ln>
            <a:noFill/>
          </a:ln>
        </p:spPr>
      </p:pic>
      <p:sp>
        <p:nvSpPr>
          <p:cNvPr id="256" name="Google Shape;256;p12"/>
          <p:cNvSpPr txBox="1"/>
          <p:nvPr/>
        </p:nvSpPr>
        <p:spPr>
          <a:xfrm>
            <a:off x="4847731" y="5218577"/>
            <a:ext cx="2055319" cy="3077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Nunito Sans"/>
              <a:buNone/>
            </a:pPr>
            <a:r>
              <a:rPr lang="en-US" sz="1400">
                <a:solidFill>
                  <a:schemeClr val="dk1"/>
                </a:solidFill>
                <a:latin typeface="Nunito Sans"/>
                <a:ea typeface="Nunito Sans"/>
                <a:cs typeface="Nunito Sans"/>
                <a:sym typeface="Nunito Sans"/>
              </a:rPr>
              <a:t>Chip xử lý hình ảnh AI</a:t>
            </a:r>
            <a:endParaRPr sz="1800">
              <a:solidFill>
                <a:schemeClr val="dk1"/>
              </a:solidFill>
              <a:latin typeface="Nunito Sans"/>
              <a:ea typeface="Nunito Sans"/>
              <a:cs typeface="Nunito Sans"/>
              <a:sym typeface="Nunito Sans"/>
            </a:endParaRPr>
          </a:p>
        </p:txBody>
      </p:sp>
      <p:sp>
        <p:nvSpPr>
          <p:cNvPr id="257" name="Google Shape;257;p12"/>
          <p:cNvSpPr txBox="1"/>
          <p:nvPr/>
        </p:nvSpPr>
        <p:spPr>
          <a:xfrm>
            <a:off x="4847731" y="5731199"/>
            <a:ext cx="2158971" cy="30773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Nunito Sans"/>
              <a:buNone/>
            </a:pPr>
            <a:r>
              <a:rPr lang="en-US" sz="1400">
                <a:solidFill>
                  <a:schemeClr val="dk1"/>
                </a:solidFill>
                <a:latin typeface="Nunito Sans"/>
                <a:ea typeface="Nunito Sans"/>
                <a:cs typeface="Nunito Sans"/>
                <a:sym typeface="Nunito Sans"/>
              </a:rPr>
              <a:t>Hệ thống quản lý tài xế</a:t>
            </a:r>
            <a:endParaRPr sz="1400">
              <a:solidFill>
                <a:schemeClr val="dk1"/>
              </a:solidFill>
              <a:latin typeface="Nunito Sans"/>
              <a:ea typeface="Nunito Sans"/>
              <a:cs typeface="Nunito Sans"/>
              <a:sym typeface="Nunito Sans"/>
            </a:endParaRPr>
          </a:p>
        </p:txBody>
      </p:sp>
      <p:sp>
        <p:nvSpPr>
          <p:cNvPr id="258" name="Google Shape;258;p12"/>
          <p:cNvSpPr txBox="1"/>
          <p:nvPr/>
        </p:nvSpPr>
        <p:spPr>
          <a:xfrm>
            <a:off x="4356356" y="5731199"/>
            <a:ext cx="59182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00"/>
              <a:buFont typeface="Calibri"/>
              <a:buNone/>
            </a:pPr>
            <a:r>
              <a:rPr b="1" lang="en-US" sz="1600">
                <a:solidFill>
                  <a:schemeClr val="dk1"/>
                </a:solidFill>
                <a:latin typeface="Calibri"/>
                <a:ea typeface="Calibri"/>
                <a:cs typeface="Calibri"/>
                <a:sym typeface="Calibri"/>
              </a:rPr>
              <a:t>DMS</a:t>
            </a:r>
            <a:endParaRPr sz="1800">
              <a:solidFill>
                <a:schemeClr val="dk1"/>
              </a:solidFill>
              <a:latin typeface="Calibri"/>
              <a:ea typeface="Calibri"/>
              <a:cs typeface="Calibri"/>
              <a:sym typeface="Calibri"/>
            </a:endParaRPr>
          </a:p>
        </p:txBody>
      </p:sp>
      <p:sp>
        <p:nvSpPr>
          <p:cNvPr id="259" name="Google Shape;259;p12"/>
          <p:cNvSpPr txBox="1"/>
          <p:nvPr/>
        </p:nvSpPr>
        <p:spPr>
          <a:xfrm>
            <a:off x="882587" y="4160750"/>
            <a:ext cx="4159569" cy="67333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t/>
            </a:r>
            <a:endParaRPr b="1" sz="3200">
              <a:solidFill>
                <a:srgbClr val="1C367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3"/>
          <p:cNvSpPr txBox="1"/>
          <p:nvPr>
            <p:ph type="title"/>
          </p:nvPr>
        </p:nvSpPr>
        <p:spPr>
          <a:xfrm>
            <a:off x="893550" y="2080049"/>
            <a:ext cx="4114799" cy="3486673"/>
          </a:xfrm>
          <a:prstGeom prst="rect">
            <a:avLst/>
          </a:prstGeom>
          <a:noFill/>
          <a:ln>
            <a:noFill/>
          </a:ln>
        </p:spPr>
        <p:txBody>
          <a:bodyPr anchorCtr="0" anchor="ctr" bIns="45700" lIns="91425" spcFirstLastPara="1" rIns="91425" wrap="square" tIns="45700">
            <a:noAutofit/>
          </a:bodyPr>
          <a:lstStyle/>
          <a:p>
            <a:pPr indent="0" lvl="0" marL="0" rtl="0" algn="l">
              <a:lnSpc>
                <a:spcPct val="200000"/>
              </a:lnSpc>
              <a:spcBef>
                <a:spcPts val="0"/>
              </a:spcBef>
              <a:spcAft>
                <a:spcPts val="0"/>
              </a:spcAft>
              <a:buClr>
                <a:srgbClr val="3A3838"/>
              </a:buClr>
              <a:buSzPts val="1600"/>
              <a:buFont typeface="Nunito Sans"/>
              <a:buNone/>
            </a:pPr>
            <a:r>
              <a:rPr lang="en-US" sz="1600">
                <a:solidFill>
                  <a:srgbClr val="3A3838"/>
                </a:solidFill>
                <a:latin typeface="Nunito Sans"/>
                <a:ea typeface="Nunito Sans"/>
                <a:cs typeface="Nunito Sans"/>
                <a:sym typeface="Nunito Sans"/>
              </a:rPr>
              <a:t>Buồn ngủ</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Hút thuốc</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Mệt mỏi, mất tập trung</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Sử dụng điện thoại</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Thắt dây an toàn </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Mất tập trung  </a:t>
            </a:r>
            <a:br>
              <a:rPr lang="en-US" sz="1600">
                <a:solidFill>
                  <a:srgbClr val="3A3838"/>
                </a:solidFill>
                <a:latin typeface="Nunito Sans"/>
                <a:ea typeface="Nunito Sans"/>
                <a:cs typeface="Nunito Sans"/>
                <a:sym typeface="Nunito Sans"/>
              </a:rPr>
            </a:br>
            <a:r>
              <a:rPr lang="en-US" sz="1600">
                <a:solidFill>
                  <a:srgbClr val="3A3838"/>
                </a:solidFill>
                <a:latin typeface="Nunito Sans"/>
                <a:ea typeface="Nunito Sans"/>
                <a:cs typeface="Nunito Sans"/>
                <a:sym typeface="Nunito Sans"/>
              </a:rPr>
              <a:t>Nhận diện tài xế</a:t>
            </a:r>
            <a:endParaRPr b="1" sz="1600">
              <a:solidFill>
                <a:srgbClr val="3A3838"/>
              </a:solidFill>
              <a:latin typeface="Nunito Sans"/>
              <a:ea typeface="Nunito Sans"/>
              <a:cs typeface="Nunito Sans"/>
              <a:sym typeface="Nunito Sans"/>
            </a:endParaRPr>
          </a:p>
        </p:txBody>
      </p:sp>
      <p:sp>
        <p:nvSpPr>
          <p:cNvPr id="265" name="Google Shape;265;p13"/>
          <p:cNvSpPr txBox="1"/>
          <p:nvPr/>
        </p:nvSpPr>
        <p:spPr>
          <a:xfrm>
            <a:off x="801278" y="1291278"/>
            <a:ext cx="44115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Nunito Sans"/>
                <a:ea typeface="Nunito Sans"/>
                <a:cs typeface="Nunito Sans"/>
                <a:sym typeface="Nunito Sans"/>
              </a:rPr>
              <a:t>DMS là công nghệ sử dụng </a:t>
            </a:r>
            <a:r>
              <a:rPr b="1" lang="en-US" sz="1600">
                <a:solidFill>
                  <a:schemeClr val="dk1"/>
                </a:solidFill>
                <a:latin typeface="Nunito Sans"/>
                <a:ea typeface="Nunito Sans"/>
                <a:cs typeface="Nunito Sans"/>
                <a:sym typeface="Nunito Sans"/>
              </a:rPr>
              <a:t>AI và camera</a:t>
            </a:r>
            <a:r>
              <a:rPr lang="en-US" sz="1600">
                <a:solidFill>
                  <a:schemeClr val="dk1"/>
                </a:solidFill>
                <a:latin typeface="Nunito Sans"/>
                <a:ea typeface="Nunito Sans"/>
                <a:cs typeface="Nunito Sans"/>
                <a:sym typeface="Nunito Sans"/>
              </a:rPr>
              <a:t> để </a:t>
            </a:r>
            <a:r>
              <a:rPr b="1" lang="en-US" sz="1600">
                <a:solidFill>
                  <a:schemeClr val="dk1"/>
                </a:solidFill>
                <a:latin typeface="Nunito Sans"/>
                <a:ea typeface="Nunito Sans"/>
                <a:cs typeface="Nunito Sans"/>
                <a:sym typeface="Nunito Sans"/>
              </a:rPr>
              <a:t>theo dõi hành vi, trạng thái và sự tập trung của tài xế</a:t>
            </a:r>
            <a:r>
              <a:rPr lang="en-US" sz="1600">
                <a:solidFill>
                  <a:schemeClr val="dk1"/>
                </a:solidFill>
                <a:latin typeface="Nunito Sans"/>
                <a:ea typeface="Nunito Sans"/>
                <a:cs typeface="Nunito Sans"/>
                <a:sym typeface="Nunito Sans"/>
              </a:rPr>
              <a:t> trong quá trình lái xe.</a:t>
            </a:r>
            <a:endParaRPr/>
          </a:p>
        </p:txBody>
      </p:sp>
      <p:pic>
        <p:nvPicPr>
          <p:cNvPr descr="A screenshot of a video&#10;&#10;Description automatically generated" id="266" name="Google Shape;266;p13"/>
          <p:cNvPicPr preferRelativeResize="0"/>
          <p:nvPr/>
        </p:nvPicPr>
        <p:blipFill rotWithShape="1">
          <a:blip r:embed="rId3">
            <a:alphaModFix/>
          </a:blip>
          <a:srcRect b="0" l="0" r="0" t="0"/>
          <a:stretch/>
        </p:blipFill>
        <p:spPr>
          <a:xfrm>
            <a:off x="5497089" y="1254204"/>
            <a:ext cx="5721441" cy="4831636"/>
          </a:xfrm>
          <a:prstGeom prst="rect">
            <a:avLst/>
          </a:prstGeom>
          <a:noFill/>
          <a:ln>
            <a:noFill/>
          </a:ln>
        </p:spPr>
      </p:pic>
      <p:sp>
        <p:nvSpPr>
          <p:cNvPr id="267" name="Google Shape;267;p13"/>
          <p:cNvSpPr txBox="1"/>
          <p:nvPr/>
        </p:nvSpPr>
        <p:spPr>
          <a:xfrm>
            <a:off x="404809" y="414839"/>
            <a:ext cx="7061220" cy="923768"/>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rPr b="1" lang="en-US" sz="3200">
                <a:solidFill>
                  <a:srgbClr val="1C3678"/>
                </a:solidFill>
                <a:latin typeface="Calibri"/>
                <a:ea typeface="Calibri"/>
                <a:cs typeface="Calibri"/>
                <a:sym typeface="Calibri"/>
              </a:rPr>
              <a:t>1.2 Tính năng phân tích hành vi tài xế</a:t>
            </a:r>
            <a:endParaRPr b="1" sz="3200">
              <a:solidFill>
                <a:srgbClr val="1C3678"/>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4"/>
          <p:cNvSpPr txBox="1"/>
          <p:nvPr>
            <p:ph idx="1" type="body"/>
          </p:nvPr>
        </p:nvSpPr>
        <p:spPr>
          <a:xfrm>
            <a:off x="6470578" y="1310325"/>
            <a:ext cx="5334000" cy="3381815"/>
          </a:xfrm>
          <a:prstGeom prst="rect">
            <a:avLst/>
          </a:prstGeom>
          <a:noFill/>
          <a:ln>
            <a:noFill/>
          </a:ln>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1600"/>
              <a:buNone/>
            </a:pPr>
            <a:r>
              <a:rPr lang="en-US" sz="1600">
                <a:solidFill>
                  <a:schemeClr val="dk1"/>
                </a:solidFill>
                <a:latin typeface="Calibri"/>
                <a:ea typeface="Calibri"/>
                <a:cs typeface="Calibri"/>
                <a:sym typeface="Calibri"/>
              </a:rPr>
              <a:t>Những tình huống không mong muốn như va quệt, bị trộm linh kiện xe…Với khả năng quan sát toàn cảnh AutoSecure sẽ theo dõi và ghi lại. Người chủ xe sẽ ngay lập tức nhận được thông báo về những sự kiện xảy ra và có phương án xử lý.</a:t>
            </a:r>
            <a:endParaRPr/>
          </a:p>
          <a:p>
            <a:pPr indent="0" lvl="0" marL="0" rtl="0" algn="just">
              <a:lnSpc>
                <a:spcPct val="125000"/>
              </a:lnSpc>
              <a:spcBef>
                <a:spcPts val="0"/>
              </a:spcBef>
              <a:spcAft>
                <a:spcPts val="0"/>
              </a:spcAft>
              <a:buClr>
                <a:schemeClr val="dk1"/>
              </a:buClr>
              <a:buSzPts val="1600"/>
              <a:buNone/>
            </a:pPr>
            <a:r>
              <a:t/>
            </a:r>
            <a:endParaRPr sz="1600">
              <a:solidFill>
                <a:schemeClr val="dk1"/>
              </a:solidFill>
              <a:latin typeface="Calibri"/>
              <a:ea typeface="Calibri"/>
              <a:cs typeface="Calibri"/>
              <a:sym typeface="Calibri"/>
            </a:endParaRPr>
          </a:p>
          <a:p>
            <a:pPr indent="0" lvl="0" marL="0" rtl="0" algn="just">
              <a:lnSpc>
                <a:spcPct val="125000"/>
              </a:lnSpc>
              <a:spcBef>
                <a:spcPts val="0"/>
              </a:spcBef>
              <a:spcAft>
                <a:spcPts val="0"/>
              </a:spcAft>
              <a:buClr>
                <a:schemeClr val="dk1"/>
              </a:buClr>
              <a:buSzPts val="1600"/>
              <a:buNone/>
            </a:pPr>
            <a:r>
              <a:rPr lang="en-US" sz="1600">
                <a:solidFill>
                  <a:schemeClr val="dk1"/>
                </a:solidFill>
                <a:latin typeface="Calibri"/>
                <a:ea typeface="Calibri"/>
                <a:cs typeface="Calibri"/>
                <a:sym typeface="Calibri"/>
              </a:rPr>
              <a:t>Ngay cả khi AutoSecure bị phá hủy hoặc đánh cắp bởi kẻ xấu, đoạn video quay lại sự cố sẽ luôn được lưu trữ trên máy chủ để làm bằng chứng, chủ xe có thể dễ dàng tải về để trình báo với cơ quan công an hoặc giải trình với các đơn vị bảo hiểm.</a:t>
            </a:r>
            <a:endParaRPr sz="1600">
              <a:solidFill>
                <a:schemeClr val="dk1"/>
              </a:solidFill>
              <a:latin typeface="Calibri"/>
              <a:ea typeface="Calibri"/>
              <a:cs typeface="Calibri"/>
              <a:sym typeface="Calibri"/>
            </a:endParaRPr>
          </a:p>
        </p:txBody>
      </p:sp>
      <p:pic>
        <p:nvPicPr>
          <p:cNvPr id="276" name="Google Shape;276;p14"/>
          <p:cNvPicPr preferRelativeResize="0"/>
          <p:nvPr/>
        </p:nvPicPr>
        <p:blipFill rotWithShape="1">
          <a:blip r:embed="rId3">
            <a:alphaModFix/>
          </a:blip>
          <a:srcRect b="0" l="0" r="0" t="0"/>
          <a:stretch/>
        </p:blipFill>
        <p:spPr>
          <a:xfrm>
            <a:off x="698716" y="1945655"/>
            <a:ext cx="5533469" cy="3112577"/>
          </a:xfrm>
          <a:prstGeom prst="rect">
            <a:avLst/>
          </a:prstGeom>
          <a:noFill/>
          <a:ln>
            <a:noFill/>
          </a:ln>
          <a:effectLst>
            <a:reflection blurRad="0" dir="0" dist="0" endA="300" endPos="35000" kx="0" rotWithShape="0" algn="bl" stA="52000" stPos="0" sy="-100000" ky="0"/>
          </a:effectLst>
        </p:spPr>
      </p:pic>
      <p:sp>
        <p:nvSpPr>
          <p:cNvPr id="277" name="Google Shape;277;p14"/>
          <p:cNvSpPr txBox="1"/>
          <p:nvPr/>
        </p:nvSpPr>
        <p:spPr>
          <a:xfrm>
            <a:off x="6357834" y="4156404"/>
            <a:ext cx="5334000" cy="606553"/>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25000"/>
              </a:lnSpc>
              <a:spcBef>
                <a:spcPts val="0"/>
              </a:spcBef>
              <a:spcAft>
                <a:spcPts val="0"/>
              </a:spcAft>
              <a:buClr>
                <a:schemeClr val="dk1"/>
              </a:buClr>
              <a:buSzPts val="2800"/>
              <a:buFont typeface="Arial"/>
              <a:buNone/>
            </a:pPr>
            <a:r>
              <a:rPr lang="en-US" sz="2800">
                <a:solidFill>
                  <a:schemeClr val="dk1"/>
                </a:solidFill>
                <a:latin typeface="Calibri"/>
                <a:ea typeface="Calibri"/>
                <a:cs typeface="Calibri"/>
                <a:sym typeface="Calibri"/>
              </a:rPr>
              <a:t>Tính năng nổi bật</a:t>
            </a:r>
            <a:endParaRPr sz="1800">
              <a:solidFill>
                <a:schemeClr val="dk1"/>
              </a:solidFill>
              <a:latin typeface="Calibri"/>
              <a:ea typeface="Calibri"/>
              <a:cs typeface="Calibri"/>
              <a:sym typeface="Calibri"/>
            </a:endParaRPr>
          </a:p>
        </p:txBody>
      </p:sp>
      <p:pic>
        <p:nvPicPr>
          <p:cNvPr id="278" name="Google Shape;278;p14"/>
          <p:cNvPicPr preferRelativeResize="0"/>
          <p:nvPr/>
        </p:nvPicPr>
        <p:blipFill rotWithShape="1">
          <a:blip r:embed="rId4">
            <a:alphaModFix/>
          </a:blip>
          <a:srcRect b="0" l="0" r="0" t="0"/>
          <a:stretch/>
        </p:blipFill>
        <p:spPr>
          <a:xfrm>
            <a:off x="6470579" y="4880262"/>
            <a:ext cx="369332" cy="369332"/>
          </a:xfrm>
          <a:prstGeom prst="rect">
            <a:avLst/>
          </a:prstGeom>
          <a:noFill/>
          <a:ln>
            <a:noFill/>
          </a:ln>
        </p:spPr>
      </p:pic>
      <p:sp>
        <p:nvSpPr>
          <p:cNvPr id="279" name="Google Shape;279;p14"/>
          <p:cNvSpPr txBox="1"/>
          <p:nvPr/>
        </p:nvSpPr>
        <p:spPr>
          <a:xfrm>
            <a:off x="6979880" y="4880262"/>
            <a:ext cx="194700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Siêu tiết kiệm điện năng</a:t>
            </a:r>
            <a:endParaRPr sz="1800">
              <a:solidFill>
                <a:schemeClr val="dk1"/>
              </a:solidFill>
              <a:latin typeface="Calibri"/>
              <a:ea typeface="Calibri"/>
              <a:cs typeface="Calibri"/>
              <a:sym typeface="Calibri"/>
            </a:endParaRPr>
          </a:p>
        </p:txBody>
      </p:sp>
      <p:pic>
        <p:nvPicPr>
          <p:cNvPr id="280" name="Google Shape;280;p14"/>
          <p:cNvPicPr preferRelativeResize="0"/>
          <p:nvPr/>
        </p:nvPicPr>
        <p:blipFill rotWithShape="1">
          <a:blip r:embed="rId5">
            <a:alphaModFix/>
          </a:blip>
          <a:srcRect b="0" l="0" r="0" t="0"/>
          <a:stretch/>
        </p:blipFill>
        <p:spPr>
          <a:xfrm>
            <a:off x="6470578" y="5335305"/>
            <a:ext cx="369333" cy="369333"/>
          </a:xfrm>
          <a:prstGeom prst="rect">
            <a:avLst/>
          </a:prstGeom>
          <a:noFill/>
          <a:ln>
            <a:noFill/>
          </a:ln>
        </p:spPr>
      </p:pic>
      <p:pic>
        <p:nvPicPr>
          <p:cNvPr id="281" name="Google Shape;281;p14"/>
          <p:cNvPicPr preferRelativeResize="0"/>
          <p:nvPr/>
        </p:nvPicPr>
        <p:blipFill rotWithShape="1">
          <a:blip r:embed="rId6">
            <a:alphaModFix/>
          </a:blip>
          <a:srcRect b="0" l="0" r="0" t="0"/>
          <a:stretch/>
        </p:blipFill>
        <p:spPr>
          <a:xfrm>
            <a:off x="9582078" y="5335305"/>
            <a:ext cx="369333" cy="369333"/>
          </a:xfrm>
          <a:prstGeom prst="rect">
            <a:avLst/>
          </a:prstGeom>
          <a:noFill/>
          <a:ln>
            <a:noFill/>
          </a:ln>
        </p:spPr>
      </p:pic>
      <p:pic>
        <p:nvPicPr>
          <p:cNvPr id="282" name="Google Shape;282;p14"/>
          <p:cNvPicPr preferRelativeResize="0"/>
          <p:nvPr/>
        </p:nvPicPr>
        <p:blipFill rotWithShape="1">
          <a:blip r:embed="rId7">
            <a:alphaModFix/>
          </a:blip>
          <a:srcRect b="0" l="0" r="0" t="0"/>
          <a:stretch/>
        </p:blipFill>
        <p:spPr>
          <a:xfrm>
            <a:off x="9582079" y="4866609"/>
            <a:ext cx="369332" cy="369332"/>
          </a:xfrm>
          <a:prstGeom prst="rect">
            <a:avLst/>
          </a:prstGeom>
          <a:noFill/>
          <a:ln>
            <a:noFill/>
          </a:ln>
        </p:spPr>
      </p:pic>
      <p:sp>
        <p:nvSpPr>
          <p:cNvPr id="283" name="Google Shape;283;p14"/>
          <p:cNvSpPr txBox="1"/>
          <p:nvPr/>
        </p:nvSpPr>
        <p:spPr>
          <a:xfrm>
            <a:off x="6979880" y="5335306"/>
            <a:ext cx="140910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Bảo vệ toàn diện</a:t>
            </a:r>
            <a:endParaRPr sz="1800">
              <a:solidFill>
                <a:schemeClr val="dk1"/>
              </a:solidFill>
              <a:latin typeface="Calibri"/>
              <a:ea typeface="Calibri"/>
              <a:cs typeface="Calibri"/>
              <a:sym typeface="Calibri"/>
            </a:endParaRPr>
          </a:p>
        </p:txBody>
      </p:sp>
      <p:sp>
        <p:nvSpPr>
          <p:cNvPr id="284" name="Google Shape;284;p14"/>
          <p:cNvSpPr txBox="1"/>
          <p:nvPr/>
        </p:nvSpPr>
        <p:spPr>
          <a:xfrm>
            <a:off x="10087255" y="4888926"/>
            <a:ext cx="167539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Theo dõi video từ xa</a:t>
            </a:r>
            <a:endParaRPr sz="1800">
              <a:solidFill>
                <a:schemeClr val="dk1"/>
              </a:solidFill>
              <a:latin typeface="Calibri"/>
              <a:ea typeface="Calibri"/>
              <a:cs typeface="Calibri"/>
              <a:sym typeface="Calibri"/>
            </a:endParaRPr>
          </a:p>
        </p:txBody>
      </p:sp>
      <p:sp>
        <p:nvSpPr>
          <p:cNvPr id="285" name="Google Shape;285;p14"/>
          <p:cNvSpPr txBox="1"/>
          <p:nvPr/>
        </p:nvSpPr>
        <p:spPr>
          <a:xfrm>
            <a:off x="10087255" y="5371171"/>
            <a:ext cx="158248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Báo động đột nhập</a:t>
            </a:r>
            <a:endParaRPr sz="1800">
              <a:solidFill>
                <a:schemeClr val="dk1"/>
              </a:solidFill>
              <a:latin typeface="Calibri"/>
              <a:ea typeface="Calibri"/>
              <a:cs typeface="Calibri"/>
              <a:sym typeface="Calibri"/>
            </a:endParaRPr>
          </a:p>
        </p:txBody>
      </p:sp>
      <p:pic>
        <p:nvPicPr>
          <p:cNvPr id="286" name="Google Shape;286;p14"/>
          <p:cNvPicPr preferRelativeResize="0"/>
          <p:nvPr/>
        </p:nvPicPr>
        <p:blipFill rotWithShape="1">
          <a:blip r:embed="rId8">
            <a:alphaModFix/>
          </a:blip>
          <a:srcRect b="0" l="0" r="0" t="0"/>
          <a:stretch/>
        </p:blipFill>
        <p:spPr>
          <a:xfrm>
            <a:off x="429350" y="4223926"/>
            <a:ext cx="2701459" cy="1279152"/>
          </a:xfrm>
          <a:prstGeom prst="roundRect">
            <a:avLst>
              <a:gd fmla="val 11752" name="adj"/>
            </a:avLst>
          </a:prstGeom>
          <a:solidFill>
            <a:srgbClr val="ECECEC"/>
          </a:solidFill>
          <a:ln cap="flat" cmpd="sng" w="9525">
            <a:solidFill>
              <a:srgbClr val="151919"/>
            </a:solidFill>
            <a:prstDash val="solid"/>
            <a:round/>
            <a:headEnd len="sm" w="sm" type="none"/>
            <a:tailEnd len="sm" w="sm" type="none"/>
          </a:ln>
          <a:effectLst>
            <a:outerShdw blurRad="63500" sx="102000" rotWithShape="0" algn="ctr" sy="102000">
              <a:srgbClr val="000000">
                <a:alpha val="40000"/>
              </a:srgbClr>
            </a:outerShdw>
            <a:reflection blurRad="0" dir="5400000" dist="5000" endA="0" endPos="25000" kx="0" rotWithShape="0" algn="bl" stA="38000" stPos="0" sy="-100000" ky="0"/>
          </a:effectLst>
        </p:spPr>
      </p:pic>
      <p:sp>
        <p:nvSpPr>
          <p:cNvPr id="287" name="Google Shape;287;p14"/>
          <p:cNvSpPr txBox="1"/>
          <p:nvPr/>
        </p:nvSpPr>
        <p:spPr>
          <a:xfrm>
            <a:off x="762000" y="145621"/>
            <a:ext cx="10668000" cy="1250509"/>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rPr b="1" lang="en-US" sz="3200">
                <a:solidFill>
                  <a:srgbClr val="1C3678"/>
                </a:solidFill>
                <a:latin typeface="Calibri"/>
                <a:ea typeface="Calibri"/>
                <a:cs typeface="Calibri"/>
                <a:sym typeface="Calibri"/>
              </a:rPr>
              <a:t>1.3 Tính năng quản lý an toàn xe và khách</a:t>
            </a:r>
            <a:endParaRPr b="1" sz="3200">
              <a:solidFill>
                <a:srgbClr val="1C3678"/>
              </a:solidFill>
              <a:latin typeface="Calibri"/>
              <a:ea typeface="Calibri"/>
              <a:cs typeface="Calibri"/>
              <a:sym typeface="Calibri"/>
            </a:endParaRPr>
          </a:p>
        </p:txBody>
      </p:sp>
      <p:sp>
        <p:nvSpPr>
          <p:cNvPr id="288" name="Google Shape;288;p14"/>
          <p:cNvSpPr txBox="1"/>
          <p:nvPr/>
        </p:nvSpPr>
        <p:spPr>
          <a:xfrm>
            <a:off x="1447042" y="1121790"/>
            <a:ext cx="3275787" cy="49962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rPr b="1" lang="en-US" sz="2400">
                <a:solidFill>
                  <a:schemeClr val="dk1"/>
                </a:solidFill>
                <a:latin typeface="Calibri"/>
                <a:ea typeface="Calibri"/>
                <a:cs typeface="Calibri"/>
                <a:sym typeface="Calibri"/>
              </a:rPr>
              <a:t>Giám sát khi đỗ xe</a:t>
            </a:r>
            <a:endParaRPr b="1" sz="24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5"/>
          <p:cNvSpPr txBox="1"/>
          <p:nvPr>
            <p:ph type="title"/>
          </p:nvPr>
        </p:nvSpPr>
        <p:spPr>
          <a:xfrm>
            <a:off x="203917" y="3779716"/>
            <a:ext cx="10668000" cy="14804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200">
                <a:solidFill>
                  <a:schemeClr val="dk2"/>
                </a:solidFill>
                <a:latin typeface="Calibri"/>
                <a:ea typeface="Calibri"/>
                <a:cs typeface="Calibri"/>
                <a:sym typeface="Calibri"/>
              </a:rPr>
              <a:t>2. Phần mềm quản lý – FMS </a:t>
            </a:r>
            <a:r>
              <a:rPr lang="en-US" sz="3200">
                <a:solidFill>
                  <a:schemeClr val="dk2"/>
                </a:solidFill>
                <a:latin typeface="Calibri"/>
                <a:ea typeface="Calibri"/>
                <a:cs typeface="Calibri"/>
                <a:sym typeface="Calibri"/>
              </a:rPr>
              <a:t>(Fleet Management System)</a:t>
            </a:r>
            <a:endParaRPr sz="3200">
              <a:solidFill>
                <a:schemeClr val="dk2"/>
              </a:solidFill>
              <a:latin typeface="Calibri"/>
              <a:ea typeface="Calibri"/>
              <a:cs typeface="Calibri"/>
              <a:sym typeface="Calibri"/>
            </a:endParaRPr>
          </a:p>
        </p:txBody>
      </p:sp>
      <p:sp>
        <p:nvSpPr>
          <p:cNvPr id="297" name="Google Shape;297;p15"/>
          <p:cNvSpPr txBox="1"/>
          <p:nvPr>
            <p:ph idx="1" type="body"/>
          </p:nvPr>
        </p:nvSpPr>
        <p:spPr>
          <a:xfrm>
            <a:off x="203917" y="4884953"/>
            <a:ext cx="8825783" cy="1392021"/>
          </a:xfrm>
          <a:prstGeom prst="rect">
            <a:avLst/>
          </a:prstGeom>
          <a:noFill/>
          <a:ln>
            <a:noFill/>
          </a:ln>
        </p:spPr>
        <p:txBody>
          <a:bodyPr anchorCtr="0" anchor="t" bIns="45700" lIns="91425" spcFirstLastPara="1" rIns="91425" wrap="square" tIns="45700">
            <a:normAutofit/>
          </a:bodyPr>
          <a:lstStyle/>
          <a:p>
            <a:pPr indent="0" lvl="0" marL="0" rtl="0" algn="just">
              <a:lnSpc>
                <a:spcPct val="125000"/>
              </a:lnSpc>
              <a:spcBef>
                <a:spcPts val="0"/>
              </a:spcBef>
              <a:spcAft>
                <a:spcPts val="0"/>
              </a:spcAft>
              <a:buClr>
                <a:schemeClr val="dk1"/>
              </a:buClr>
              <a:buSzPts val="2000"/>
              <a:buNone/>
            </a:pPr>
            <a:r>
              <a:rPr lang="en-US" sz="1800">
                <a:solidFill>
                  <a:schemeClr val="dk1"/>
                </a:solidFill>
                <a:latin typeface="Nunito Sans"/>
                <a:ea typeface="Nunito Sans"/>
                <a:cs typeface="Nunito Sans"/>
                <a:sym typeface="Nunito Sans"/>
              </a:rPr>
              <a:t>AutoSecure đi kèm một bộ phần mềm giám sát camera, phương tiện và tài xế đa tính năng, là một công cụ hỗ trợ đắc lực cho doanh nghiệp trong quá trình quản lý vận hành.</a:t>
            </a:r>
            <a:endParaRPr sz="1800">
              <a:latin typeface="Nunito Sans"/>
              <a:ea typeface="Nunito Sans"/>
              <a:cs typeface="Nunito Sans"/>
              <a:sym typeface="Nunito Sans"/>
            </a:endParaRPr>
          </a:p>
        </p:txBody>
      </p:sp>
      <p:pic>
        <p:nvPicPr>
          <p:cNvPr descr="Fleetminder Features &amp; Benefits" id="298" name="Google Shape;298;p15"/>
          <p:cNvPicPr preferRelativeResize="0"/>
          <p:nvPr/>
        </p:nvPicPr>
        <p:blipFill rotWithShape="1">
          <a:blip r:embed="rId3">
            <a:alphaModFix/>
          </a:blip>
          <a:srcRect b="0" l="0" r="0" t="0"/>
          <a:stretch/>
        </p:blipFill>
        <p:spPr>
          <a:xfrm>
            <a:off x="0" y="299740"/>
            <a:ext cx="9029700" cy="37388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6"/>
          <p:cNvSpPr txBox="1"/>
          <p:nvPr>
            <p:ph idx="1" type="body"/>
          </p:nvPr>
        </p:nvSpPr>
        <p:spPr>
          <a:xfrm>
            <a:off x="7354529" y="1209449"/>
            <a:ext cx="4005922" cy="477939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25000"/>
              </a:lnSpc>
              <a:spcBef>
                <a:spcPts val="0"/>
              </a:spcBef>
              <a:spcAft>
                <a:spcPts val="0"/>
              </a:spcAft>
              <a:buClr>
                <a:schemeClr val="dk1"/>
              </a:buClr>
              <a:buSzPts val="1600"/>
              <a:buNone/>
            </a:pPr>
            <a:r>
              <a:t/>
            </a:r>
            <a:endParaRPr sz="1800">
              <a:solidFill>
                <a:schemeClr val="dk1"/>
              </a:solidFill>
              <a:latin typeface="Calibri"/>
              <a:ea typeface="Calibri"/>
              <a:cs typeface="Calibri"/>
              <a:sym typeface="Calibri"/>
            </a:endParaRPr>
          </a:p>
          <a:p>
            <a:pPr indent="0" lvl="0" marL="0" rtl="0" algn="just">
              <a:lnSpc>
                <a:spcPct val="125000"/>
              </a:lnSpc>
              <a:spcBef>
                <a:spcPts val="0"/>
              </a:spcBef>
              <a:spcAft>
                <a:spcPts val="0"/>
              </a:spcAft>
              <a:buClr>
                <a:schemeClr val="dk1"/>
              </a:buClr>
              <a:buSzPts val="1600"/>
              <a:buNone/>
            </a:pPr>
            <a:r>
              <a:rPr b="1" lang="en-US" sz="1800">
                <a:solidFill>
                  <a:schemeClr val="dk1"/>
                </a:solidFill>
                <a:latin typeface="Nunito Sans"/>
                <a:ea typeface="Nunito Sans"/>
                <a:cs typeface="Nunito Sans"/>
                <a:sym typeface="Nunito Sans"/>
              </a:rPr>
              <a:t>Theo dõi quãng đường hoạt động, thời gian hoạt động</a:t>
            </a:r>
            <a:endParaRPr b="1" sz="1800">
              <a:solidFill>
                <a:schemeClr val="dk1"/>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rPr b="1" lang="en-US" sz="1800">
                <a:solidFill>
                  <a:schemeClr val="dk1"/>
                </a:solidFill>
                <a:latin typeface="Nunito Sans"/>
                <a:ea typeface="Nunito Sans"/>
                <a:cs typeface="Nunito Sans"/>
                <a:sym typeface="Nunito Sans"/>
              </a:rPr>
              <a:t>Xác định các điểm dừng đỗ không cần thiết</a:t>
            </a:r>
            <a:endParaRPr b="1" sz="1800">
              <a:solidFill>
                <a:schemeClr val="dk1"/>
              </a:solidFill>
              <a:latin typeface="Nunito Sans"/>
              <a:ea typeface="Nunito Sans"/>
              <a:cs typeface="Nunito Sans"/>
              <a:sym typeface="Nunito Sans"/>
            </a:endParaRPr>
          </a:p>
          <a:p>
            <a:pPr indent="0" lvl="0" marL="0" rtl="0" algn="just">
              <a:lnSpc>
                <a:spcPct val="125000"/>
              </a:lnSpc>
              <a:spcBef>
                <a:spcPts val="0"/>
              </a:spcBef>
              <a:spcAft>
                <a:spcPts val="0"/>
              </a:spcAft>
              <a:buClr>
                <a:schemeClr val="dk1"/>
              </a:buClr>
              <a:buSzPts val="1600"/>
              <a:buNone/>
            </a:pPr>
            <a:r>
              <a:rPr b="1" lang="en-US" sz="1800">
                <a:solidFill>
                  <a:schemeClr val="dk1"/>
                </a:solidFill>
                <a:latin typeface="Nunito Sans"/>
                <a:ea typeface="Nunito Sans"/>
                <a:cs typeface="Nunito Sans"/>
                <a:sym typeface="Nunito Sans"/>
              </a:rPr>
              <a:t>=&gt; Tối ưu hóa lộ trình.</a:t>
            </a:r>
            <a:endParaRPr/>
          </a:p>
          <a:p>
            <a:pPr indent="0" lvl="0" marL="0" rtl="0" algn="just">
              <a:lnSpc>
                <a:spcPct val="125000"/>
              </a:lnSpc>
              <a:spcBef>
                <a:spcPts val="0"/>
              </a:spcBef>
              <a:spcAft>
                <a:spcPts val="0"/>
              </a:spcAft>
              <a:buClr>
                <a:schemeClr val="dk1"/>
              </a:buClr>
              <a:buSzPts val="1600"/>
              <a:buNone/>
            </a:pPr>
            <a:r>
              <a:t/>
            </a:r>
            <a:endParaRPr sz="1800">
              <a:solidFill>
                <a:schemeClr val="dk1"/>
              </a:solidFill>
              <a:latin typeface="Nunito Sans"/>
              <a:ea typeface="Nunito Sans"/>
              <a:cs typeface="Nunito Sans"/>
              <a:sym typeface="Nunito Sans"/>
            </a:endParaRPr>
          </a:p>
          <a:p>
            <a:pPr indent="0" lvl="0" marL="0" rtl="0" algn="l">
              <a:lnSpc>
                <a:spcPct val="125000"/>
              </a:lnSpc>
              <a:spcBef>
                <a:spcPts val="0"/>
              </a:spcBef>
              <a:spcAft>
                <a:spcPts val="0"/>
              </a:spcAft>
              <a:buClr>
                <a:schemeClr val="dk1"/>
              </a:buClr>
              <a:buSzPts val="1600"/>
              <a:buNone/>
            </a:pPr>
            <a:r>
              <a:rPr lang="en-US" sz="1800">
                <a:solidFill>
                  <a:schemeClr val="dk1"/>
                </a:solidFill>
                <a:latin typeface="Nunito Sans"/>
                <a:ea typeface="Nunito Sans"/>
                <a:cs typeface="Nunito Sans"/>
                <a:sym typeface="Nunito Sans"/>
              </a:rPr>
              <a:t>- Bằng cách theo dõi hoạt động của xe, g</a:t>
            </a:r>
            <a:r>
              <a:rPr lang="en-US" sz="1800">
                <a:latin typeface="Nunito Sans"/>
                <a:ea typeface="Nunito Sans"/>
                <a:cs typeface="Nunito Sans"/>
                <a:sym typeface="Nunito Sans"/>
              </a:rPr>
              <a:t>iúp </a:t>
            </a:r>
            <a:r>
              <a:rPr b="1" lang="en-US" sz="1800">
                <a:latin typeface="Nunito Sans"/>
                <a:ea typeface="Nunito Sans"/>
                <a:cs typeface="Nunito Sans"/>
                <a:sym typeface="Nunito Sans"/>
              </a:rPr>
              <a:t>quản lý lộ trình di chuyển, thời gian lái xe và dừng nghỉ</a:t>
            </a:r>
            <a:r>
              <a:rPr lang="en-US" sz="1800">
                <a:latin typeface="Nunito Sans"/>
                <a:ea typeface="Nunito Sans"/>
                <a:cs typeface="Nunito Sans"/>
                <a:sym typeface="Nunito Sans"/>
              </a:rPr>
              <a:t> của từng phương tiện.</a:t>
            </a:r>
            <a:br>
              <a:rPr lang="en-US" sz="1800">
                <a:latin typeface="Nunito Sans"/>
                <a:ea typeface="Nunito Sans"/>
                <a:cs typeface="Nunito Sans"/>
                <a:sym typeface="Nunito Sans"/>
              </a:rPr>
            </a:br>
            <a:r>
              <a:rPr lang="en-US" sz="1800">
                <a:latin typeface="Nunito Sans"/>
                <a:ea typeface="Nunito Sans"/>
                <a:cs typeface="Nunito Sans"/>
                <a:sym typeface="Nunito Sans"/>
              </a:rPr>
              <a:t>- Hỗ trợ </a:t>
            </a:r>
            <a:r>
              <a:rPr b="1" lang="en-US" sz="1800">
                <a:latin typeface="Nunito Sans"/>
                <a:ea typeface="Nunito Sans"/>
                <a:cs typeface="Nunito Sans"/>
                <a:sym typeface="Nunito Sans"/>
              </a:rPr>
              <a:t>tối ưu hiệu suất khai thác, kiểm soát vi phạm hành trình</a:t>
            </a:r>
            <a:r>
              <a:rPr lang="en-US" sz="1800">
                <a:latin typeface="Nunito Sans"/>
                <a:ea typeface="Nunito Sans"/>
                <a:cs typeface="Nunito Sans"/>
                <a:sym typeface="Nunito Sans"/>
              </a:rPr>
              <a:t> và </a:t>
            </a:r>
            <a:r>
              <a:rPr b="1" lang="en-US" sz="1800">
                <a:latin typeface="Nunito Sans"/>
                <a:ea typeface="Nunito Sans"/>
                <a:cs typeface="Nunito Sans"/>
                <a:sym typeface="Nunito Sans"/>
              </a:rPr>
              <a:t>nâng cao an toàn vận tải</a:t>
            </a:r>
            <a:r>
              <a:rPr lang="en-US" sz="1800">
                <a:latin typeface="Nunito Sans"/>
                <a:ea typeface="Nunito Sans"/>
                <a:cs typeface="Nunito Sans"/>
                <a:sym typeface="Nunito Sans"/>
              </a:rPr>
              <a:t>.</a:t>
            </a:r>
            <a:endParaRPr sz="1800">
              <a:solidFill>
                <a:schemeClr val="dk1"/>
              </a:solidFill>
              <a:latin typeface="Nunito Sans"/>
              <a:ea typeface="Nunito Sans"/>
              <a:cs typeface="Nunito Sans"/>
              <a:sym typeface="Nunito Sans"/>
            </a:endParaRPr>
          </a:p>
        </p:txBody>
      </p:sp>
      <p:sp>
        <p:nvSpPr>
          <p:cNvPr id="307" name="Google Shape;307;p16"/>
          <p:cNvSpPr txBox="1"/>
          <p:nvPr/>
        </p:nvSpPr>
        <p:spPr>
          <a:xfrm>
            <a:off x="713963" y="143989"/>
            <a:ext cx="7138565" cy="1005531"/>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libri"/>
              <a:buNone/>
            </a:pPr>
            <a:r>
              <a:t/>
            </a:r>
            <a:endParaRPr sz="3200">
              <a:solidFill>
                <a:srgbClr val="1C3678"/>
              </a:solidFill>
              <a:latin typeface="Calibri"/>
              <a:ea typeface="Calibri"/>
              <a:cs typeface="Calibri"/>
              <a:sym typeface="Calibri"/>
            </a:endParaRPr>
          </a:p>
        </p:txBody>
      </p:sp>
      <p:sp>
        <p:nvSpPr>
          <p:cNvPr id="308" name="Google Shape;308;p16"/>
          <p:cNvSpPr txBox="1"/>
          <p:nvPr/>
        </p:nvSpPr>
        <p:spPr>
          <a:xfrm>
            <a:off x="1170914" y="1149521"/>
            <a:ext cx="5054509" cy="51431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600"/>
              <a:buFont typeface="Calibri"/>
              <a:buNone/>
            </a:pPr>
            <a:r>
              <a:t/>
            </a:r>
            <a:endParaRPr b="1" sz="2400">
              <a:solidFill>
                <a:schemeClr val="dk1"/>
              </a:solidFill>
              <a:latin typeface="Calibri"/>
              <a:ea typeface="Calibri"/>
              <a:cs typeface="Calibri"/>
              <a:sym typeface="Calibri"/>
            </a:endParaRPr>
          </a:p>
        </p:txBody>
      </p:sp>
      <p:sp>
        <p:nvSpPr>
          <p:cNvPr id="309" name="Google Shape;309;p16"/>
          <p:cNvSpPr txBox="1"/>
          <p:nvPr/>
        </p:nvSpPr>
        <p:spPr>
          <a:xfrm>
            <a:off x="716008" y="655631"/>
            <a:ext cx="5964320" cy="568754"/>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3600"/>
              <a:buFont typeface="Calibri"/>
              <a:buNone/>
            </a:pPr>
            <a:r>
              <a:rPr b="1" lang="en-US" sz="2600" u="sng">
                <a:solidFill>
                  <a:schemeClr val="dk1"/>
                </a:solidFill>
                <a:latin typeface="Calibri"/>
                <a:ea typeface="Calibri"/>
                <a:cs typeface="Calibri"/>
                <a:sym typeface="Calibri"/>
              </a:rPr>
              <a:t> 2.1 Theo dõi hành trình và điểm dừng đỗ</a:t>
            </a:r>
            <a:endParaRPr b="1" sz="2600" u="sng">
              <a:solidFill>
                <a:schemeClr val="dk1"/>
              </a:solidFill>
              <a:latin typeface="Calibri"/>
              <a:ea typeface="Calibri"/>
              <a:cs typeface="Calibri"/>
              <a:sym typeface="Calibri"/>
            </a:endParaRPr>
          </a:p>
        </p:txBody>
      </p:sp>
      <p:pic>
        <p:nvPicPr>
          <p:cNvPr id="310" name="Google Shape;310;p16"/>
          <p:cNvPicPr preferRelativeResize="0"/>
          <p:nvPr/>
        </p:nvPicPr>
        <p:blipFill rotWithShape="1">
          <a:blip r:embed="rId3">
            <a:alphaModFix/>
          </a:blip>
          <a:srcRect b="0" l="0" r="0" t="0"/>
          <a:stretch/>
        </p:blipFill>
        <p:spPr>
          <a:xfrm>
            <a:off x="713963" y="1636354"/>
            <a:ext cx="6167603" cy="39255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17"/>
          <p:cNvPicPr preferRelativeResize="0"/>
          <p:nvPr/>
        </p:nvPicPr>
        <p:blipFill rotWithShape="1">
          <a:blip r:embed="rId3">
            <a:alphaModFix/>
          </a:blip>
          <a:srcRect b="0" l="0" r="0" t="7026"/>
          <a:stretch/>
        </p:blipFill>
        <p:spPr>
          <a:xfrm>
            <a:off x="6439301" y="1352524"/>
            <a:ext cx="5350689" cy="3581763"/>
          </a:xfrm>
          <a:prstGeom prst="rect">
            <a:avLst/>
          </a:prstGeom>
          <a:noFill/>
          <a:ln>
            <a:noFill/>
          </a:ln>
        </p:spPr>
      </p:pic>
      <p:pic>
        <p:nvPicPr>
          <p:cNvPr id="319" name="Google Shape;319;p17"/>
          <p:cNvPicPr preferRelativeResize="0"/>
          <p:nvPr/>
        </p:nvPicPr>
        <p:blipFill rotWithShape="1">
          <a:blip r:embed="rId4">
            <a:alphaModFix/>
          </a:blip>
          <a:srcRect b="26143" l="0" r="9614" t="27191"/>
          <a:stretch/>
        </p:blipFill>
        <p:spPr>
          <a:xfrm>
            <a:off x="6439300" y="4934287"/>
            <a:ext cx="5350689" cy="1797693"/>
          </a:xfrm>
          <a:prstGeom prst="rect">
            <a:avLst/>
          </a:prstGeom>
          <a:noFill/>
          <a:ln>
            <a:noFill/>
          </a:ln>
        </p:spPr>
      </p:pic>
      <p:sp>
        <p:nvSpPr>
          <p:cNvPr id="320" name="Google Shape;320;p17"/>
          <p:cNvSpPr txBox="1"/>
          <p:nvPr>
            <p:ph idx="1" type="body"/>
          </p:nvPr>
        </p:nvSpPr>
        <p:spPr>
          <a:xfrm>
            <a:off x="566286" y="1248744"/>
            <a:ext cx="5431857" cy="2648242"/>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1600"/>
              <a:buFont typeface="Noto Sans Symbols"/>
              <a:buChar char="▪"/>
            </a:pPr>
            <a:r>
              <a:rPr lang="en-US" sz="1600">
                <a:solidFill>
                  <a:schemeClr val="dk1"/>
                </a:solidFill>
                <a:latin typeface="Nunito Sans"/>
                <a:ea typeface="Nunito Sans"/>
                <a:cs typeface="Nunito Sans"/>
                <a:sym typeface="Nunito Sans"/>
              </a:rPr>
              <a:t>Phần mềm có thể tích hợp vào các giải pháp quản lý đội xe (</a:t>
            </a:r>
            <a:r>
              <a:rPr b="1" lang="en-US" sz="1600">
                <a:solidFill>
                  <a:schemeClr val="dk1"/>
                </a:solidFill>
                <a:latin typeface="Nunito Sans"/>
                <a:ea typeface="Nunito Sans"/>
                <a:cs typeface="Nunito Sans"/>
                <a:sym typeface="Nunito Sans"/>
              </a:rPr>
              <a:t>Fleet Management</a:t>
            </a:r>
            <a:r>
              <a:rPr lang="en-US" sz="1600">
                <a:solidFill>
                  <a:schemeClr val="dk1"/>
                </a:solidFill>
                <a:latin typeface="Nunito Sans"/>
                <a:ea typeface="Nunito Sans"/>
                <a:cs typeface="Nunito Sans"/>
                <a:sym typeface="Nunito Sans"/>
              </a:rPr>
              <a:t>)</a:t>
            </a:r>
            <a:endParaRPr sz="1600">
              <a:solidFill>
                <a:schemeClr val="dk1"/>
              </a:solidFill>
              <a:latin typeface="Nunito Sans"/>
              <a:ea typeface="Nunito Sans"/>
              <a:cs typeface="Nunito Sans"/>
              <a:sym typeface="Nunito Sans"/>
            </a:endParaRPr>
          </a:p>
          <a:p>
            <a:pPr indent="-228600" lvl="0" marL="228600" rtl="0" algn="just">
              <a:lnSpc>
                <a:spcPct val="150000"/>
              </a:lnSpc>
              <a:spcBef>
                <a:spcPts val="0"/>
              </a:spcBef>
              <a:spcAft>
                <a:spcPts val="0"/>
              </a:spcAft>
              <a:buClr>
                <a:schemeClr val="dk1"/>
              </a:buClr>
              <a:buSzPts val="1600"/>
              <a:buFont typeface="Noto Sans Symbols"/>
              <a:buChar char="▪"/>
            </a:pPr>
            <a:r>
              <a:rPr lang="en-US" sz="1600">
                <a:solidFill>
                  <a:schemeClr val="dk1"/>
                </a:solidFill>
                <a:latin typeface="Nunito Sans"/>
                <a:ea typeface="Nunito Sans"/>
                <a:cs typeface="Nunito Sans"/>
                <a:sym typeface="Nunito Sans"/>
              </a:rPr>
              <a:t>Đảm bảo chấp hành kỷ luật, an toàn của tài xế và hành khách. </a:t>
            </a:r>
            <a:endParaRPr sz="1600">
              <a:solidFill>
                <a:schemeClr val="dk1"/>
              </a:solidFill>
              <a:latin typeface="Nunito Sans"/>
              <a:ea typeface="Nunito Sans"/>
              <a:cs typeface="Nunito Sans"/>
              <a:sym typeface="Nunito Sans"/>
            </a:endParaRPr>
          </a:p>
          <a:p>
            <a:pPr indent="-228600" lvl="0" marL="228600" rtl="0" algn="just">
              <a:lnSpc>
                <a:spcPct val="150000"/>
              </a:lnSpc>
              <a:spcBef>
                <a:spcPts val="0"/>
              </a:spcBef>
              <a:spcAft>
                <a:spcPts val="0"/>
              </a:spcAft>
              <a:buClr>
                <a:schemeClr val="dk1"/>
              </a:buClr>
              <a:buSzPts val="1600"/>
              <a:buFont typeface="Noto Sans Symbols"/>
              <a:buChar char="▪"/>
            </a:pPr>
            <a:r>
              <a:rPr lang="en-US" sz="1600">
                <a:solidFill>
                  <a:schemeClr val="dk1"/>
                </a:solidFill>
                <a:latin typeface="Nunito Sans"/>
                <a:ea typeface="Nunito Sans"/>
                <a:cs typeface="Nunito Sans"/>
                <a:sym typeface="Nunito Sans"/>
              </a:rPr>
              <a:t>Công cụ hữu ích giúp quản lý đánh giá thái độ làm việc của tài xế, thưởng phạt công bằng và toàn diện hơn. </a:t>
            </a:r>
            <a:endParaRPr>
              <a:latin typeface="Nunito Sans"/>
              <a:ea typeface="Nunito Sans"/>
              <a:cs typeface="Nunito Sans"/>
              <a:sym typeface="Nunito Sans"/>
            </a:endParaRPr>
          </a:p>
        </p:txBody>
      </p:sp>
      <p:sp>
        <p:nvSpPr>
          <p:cNvPr id="321" name="Google Shape;321;p17"/>
          <p:cNvSpPr txBox="1"/>
          <p:nvPr/>
        </p:nvSpPr>
        <p:spPr>
          <a:xfrm>
            <a:off x="728747" y="4512066"/>
            <a:ext cx="5334000" cy="606553"/>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25000"/>
              </a:lnSpc>
              <a:spcBef>
                <a:spcPts val="0"/>
              </a:spcBef>
              <a:spcAft>
                <a:spcPts val="0"/>
              </a:spcAft>
              <a:buClr>
                <a:schemeClr val="dk1"/>
              </a:buClr>
              <a:buSzPts val="2800"/>
              <a:buFont typeface="Arial"/>
              <a:buNone/>
            </a:pPr>
            <a:r>
              <a:rPr b="1" lang="en-US" sz="2800">
                <a:solidFill>
                  <a:schemeClr val="dk1"/>
                </a:solidFill>
                <a:latin typeface="Calibri"/>
                <a:ea typeface="Calibri"/>
                <a:cs typeface="Calibri"/>
                <a:sym typeface="Calibri"/>
              </a:rPr>
              <a:t>Tính năng nổi bật</a:t>
            </a:r>
            <a:endParaRPr b="1" sz="1800">
              <a:solidFill>
                <a:schemeClr val="dk1"/>
              </a:solidFill>
              <a:latin typeface="Calibri"/>
              <a:ea typeface="Calibri"/>
              <a:cs typeface="Calibri"/>
              <a:sym typeface="Calibri"/>
            </a:endParaRPr>
          </a:p>
        </p:txBody>
      </p:sp>
      <p:grpSp>
        <p:nvGrpSpPr>
          <p:cNvPr id="322" name="Google Shape;322;p17"/>
          <p:cNvGrpSpPr/>
          <p:nvPr/>
        </p:nvGrpSpPr>
        <p:grpSpPr>
          <a:xfrm>
            <a:off x="917014" y="5231616"/>
            <a:ext cx="4426241" cy="1048362"/>
            <a:chOff x="788195" y="5745395"/>
            <a:chExt cx="4426241" cy="1048362"/>
          </a:xfrm>
        </p:grpSpPr>
        <p:pic>
          <p:nvPicPr>
            <p:cNvPr id="323" name="Google Shape;323;p17"/>
            <p:cNvPicPr preferRelativeResize="0"/>
            <p:nvPr/>
          </p:nvPicPr>
          <p:blipFill rotWithShape="1">
            <a:blip r:embed="rId5">
              <a:alphaModFix/>
            </a:blip>
            <a:srcRect b="0" l="0" r="0" t="0"/>
            <a:stretch/>
          </p:blipFill>
          <p:spPr>
            <a:xfrm>
              <a:off x="788196" y="5759048"/>
              <a:ext cx="369332" cy="369332"/>
            </a:xfrm>
            <a:prstGeom prst="rect">
              <a:avLst/>
            </a:prstGeom>
            <a:noFill/>
            <a:ln>
              <a:noFill/>
            </a:ln>
          </p:spPr>
        </p:pic>
        <p:sp>
          <p:nvSpPr>
            <p:cNvPr id="324" name="Google Shape;324;p17"/>
            <p:cNvSpPr txBox="1"/>
            <p:nvPr/>
          </p:nvSpPr>
          <p:spPr>
            <a:xfrm>
              <a:off x="1277347" y="5759048"/>
              <a:ext cx="21184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Báo cáo thời gian thực</a:t>
              </a:r>
              <a:endParaRPr sz="1800">
                <a:solidFill>
                  <a:schemeClr val="dk1"/>
                </a:solidFill>
                <a:latin typeface="Calibri"/>
                <a:ea typeface="Calibri"/>
                <a:cs typeface="Calibri"/>
                <a:sym typeface="Calibri"/>
              </a:endParaRPr>
            </a:p>
          </p:txBody>
        </p:sp>
        <p:pic>
          <p:nvPicPr>
            <p:cNvPr id="325" name="Google Shape;325;p17"/>
            <p:cNvPicPr preferRelativeResize="0"/>
            <p:nvPr/>
          </p:nvPicPr>
          <p:blipFill rotWithShape="1">
            <a:blip r:embed="rId6">
              <a:alphaModFix/>
            </a:blip>
            <a:srcRect b="0" l="0" r="0" t="0"/>
            <a:stretch/>
          </p:blipFill>
          <p:spPr>
            <a:xfrm>
              <a:off x="788195" y="6388560"/>
              <a:ext cx="369333" cy="369333"/>
            </a:xfrm>
            <a:prstGeom prst="rect">
              <a:avLst/>
            </a:prstGeom>
            <a:noFill/>
            <a:ln>
              <a:noFill/>
            </a:ln>
          </p:spPr>
        </p:pic>
        <p:pic>
          <p:nvPicPr>
            <p:cNvPr id="326" name="Google Shape;326;p17"/>
            <p:cNvPicPr preferRelativeResize="0"/>
            <p:nvPr/>
          </p:nvPicPr>
          <p:blipFill rotWithShape="1">
            <a:blip r:embed="rId7">
              <a:alphaModFix/>
            </a:blip>
            <a:srcRect b="0" l="0" r="0" t="0"/>
            <a:stretch/>
          </p:blipFill>
          <p:spPr>
            <a:xfrm>
              <a:off x="3899696" y="5745395"/>
              <a:ext cx="369332" cy="369332"/>
            </a:xfrm>
            <a:prstGeom prst="rect">
              <a:avLst/>
            </a:prstGeom>
            <a:noFill/>
            <a:ln>
              <a:noFill/>
            </a:ln>
          </p:spPr>
        </p:pic>
        <p:sp>
          <p:nvSpPr>
            <p:cNvPr id="327" name="Google Shape;327;p17"/>
            <p:cNvSpPr txBox="1"/>
            <p:nvPr/>
          </p:nvSpPr>
          <p:spPr>
            <a:xfrm>
              <a:off x="4384722" y="5767712"/>
              <a:ext cx="82971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API Fleet</a:t>
              </a:r>
              <a:endParaRPr sz="1800">
                <a:solidFill>
                  <a:schemeClr val="dk1"/>
                </a:solidFill>
                <a:latin typeface="Calibri"/>
                <a:ea typeface="Calibri"/>
                <a:cs typeface="Calibri"/>
                <a:sym typeface="Calibri"/>
              </a:endParaRPr>
            </a:p>
          </p:txBody>
        </p:sp>
        <p:sp>
          <p:nvSpPr>
            <p:cNvPr id="328" name="Google Shape;328;p17"/>
            <p:cNvSpPr txBox="1"/>
            <p:nvPr/>
          </p:nvSpPr>
          <p:spPr>
            <a:xfrm>
              <a:off x="1273222" y="6424426"/>
              <a:ext cx="116140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Lưu trữ vật lý</a:t>
              </a:r>
              <a:endParaRPr sz="1800">
                <a:solidFill>
                  <a:schemeClr val="dk1"/>
                </a:solidFill>
                <a:latin typeface="Calibri"/>
                <a:ea typeface="Calibri"/>
                <a:cs typeface="Calibri"/>
                <a:sym typeface="Calibri"/>
              </a:endParaRPr>
            </a:p>
          </p:txBody>
        </p:sp>
        <p:pic>
          <p:nvPicPr>
            <p:cNvPr id="329" name="Google Shape;329;p17"/>
            <p:cNvPicPr preferRelativeResize="0"/>
            <p:nvPr/>
          </p:nvPicPr>
          <p:blipFill rotWithShape="1">
            <a:blip r:embed="rId8">
              <a:alphaModFix/>
            </a:blip>
            <a:srcRect b="0" l="0" r="0" t="0"/>
            <a:stretch/>
          </p:blipFill>
          <p:spPr>
            <a:xfrm>
              <a:off x="3899696" y="6424425"/>
              <a:ext cx="369332" cy="369332"/>
            </a:xfrm>
            <a:prstGeom prst="rect">
              <a:avLst/>
            </a:prstGeom>
            <a:noFill/>
            <a:ln>
              <a:noFill/>
            </a:ln>
          </p:spPr>
        </p:pic>
        <p:sp>
          <p:nvSpPr>
            <p:cNvPr id="330" name="Google Shape;330;p17"/>
            <p:cNvSpPr txBox="1"/>
            <p:nvPr/>
          </p:nvSpPr>
          <p:spPr>
            <a:xfrm>
              <a:off x="4384722" y="6419337"/>
              <a:ext cx="47320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Calibri"/>
                <a:buNone/>
              </a:pPr>
              <a:r>
                <a:rPr lang="en-US" sz="1400">
                  <a:solidFill>
                    <a:schemeClr val="dk1"/>
                  </a:solidFill>
                  <a:latin typeface="Calibri"/>
                  <a:ea typeface="Calibri"/>
                  <a:cs typeface="Calibri"/>
                  <a:sym typeface="Calibri"/>
                </a:rPr>
                <a:t>GPS</a:t>
              </a:r>
              <a:endParaRPr sz="1800">
                <a:solidFill>
                  <a:schemeClr val="dk1"/>
                </a:solidFill>
                <a:latin typeface="Calibri"/>
                <a:ea typeface="Calibri"/>
                <a:cs typeface="Calibri"/>
                <a:sym typeface="Calibri"/>
              </a:endParaRPr>
            </a:p>
          </p:txBody>
        </p:sp>
      </p:grpSp>
      <p:grpSp>
        <p:nvGrpSpPr>
          <p:cNvPr id="331" name="Google Shape;331;p17"/>
          <p:cNvGrpSpPr/>
          <p:nvPr/>
        </p:nvGrpSpPr>
        <p:grpSpPr>
          <a:xfrm>
            <a:off x="637263" y="3721153"/>
            <a:ext cx="4577173" cy="801356"/>
            <a:chOff x="502531" y="3304100"/>
            <a:chExt cx="4577173" cy="801356"/>
          </a:xfrm>
        </p:grpSpPr>
        <p:pic>
          <p:nvPicPr>
            <p:cNvPr descr="Urma emisferă fructe de mare apple store download android umiditate pâlnie  Diverse" id="332" name="Google Shape;332;p17"/>
            <p:cNvPicPr preferRelativeResize="0"/>
            <p:nvPr/>
          </p:nvPicPr>
          <p:blipFill rotWithShape="1">
            <a:blip r:embed="rId9">
              <a:alphaModFix/>
            </a:blip>
            <a:srcRect b="0" l="0" r="0" t="0"/>
            <a:stretch/>
          </p:blipFill>
          <p:spPr>
            <a:xfrm>
              <a:off x="502531" y="3304100"/>
              <a:ext cx="3205424" cy="801356"/>
            </a:xfrm>
            <a:prstGeom prst="rect">
              <a:avLst/>
            </a:prstGeom>
            <a:noFill/>
            <a:ln>
              <a:noFill/>
            </a:ln>
          </p:spPr>
        </p:pic>
        <p:pic>
          <p:nvPicPr>
            <p:cNvPr id="333" name="Google Shape;333;p17"/>
            <p:cNvPicPr preferRelativeResize="0"/>
            <p:nvPr/>
          </p:nvPicPr>
          <p:blipFill rotWithShape="1">
            <a:blip r:embed="rId10">
              <a:alphaModFix/>
            </a:blip>
            <a:srcRect b="0" l="0" r="0" t="0"/>
            <a:stretch/>
          </p:blipFill>
          <p:spPr>
            <a:xfrm>
              <a:off x="3899696" y="3369920"/>
              <a:ext cx="1180008" cy="663754"/>
            </a:xfrm>
            <a:prstGeom prst="rect">
              <a:avLst/>
            </a:prstGeom>
            <a:noFill/>
            <a:ln>
              <a:noFill/>
            </a:ln>
          </p:spPr>
        </p:pic>
      </p:grpSp>
      <p:pic>
        <p:nvPicPr>
          <p:cNvPr id="334" name="Google Shape;334;p17"/>
          <p:cNvPicPr preferRelativeResize="0"/>
          <p:nvPr/>
        </p:nvPicPr>
        <p:blipFill rotWithShape="1">
          <a:blip r:embed="rId11">
            <a:alphaModFix/>
          </a:blip>
          <a:srcRect b="0" l="0" r="0" t="0"/>
          <a:stretch/>
        </p:blipFill>
        <p:spPr>
          <a:xfrm>
            <a:off x="10989905" y="7166530"/>
            <a:ext cx="1003385" cy="255057"/>
          </a:xfrm>
          <a:prstGeom prst="rect">
            <a:avLst/>
          </a:prstGeom>
          <a:noFill/>
          <a:ln>
            <a:noFill/>
          </a:ln>
        </p:spPr>
      </p:pic>
      <p:sp>
        <p:nvSpPr>
          <p:cNvPr id="335" name="Google Shape;335;p17"/>
          <p:cNvSpPr txBox="1"/>
          <p:nvPr>
            <p:ph type="title"/>
          </p:nvPr>
        </p:nvSpPr>
        <p:spPr>
          <a:xfrm>
            <a:off x="917014" y="329891"/>
            <a:ext cx="3467708" cy="100827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1" lang="en-US" sz="2600" u="sng">
                <a:solidFill>
                  <a:srgbClr val="3A3838"/>
                </a:solidFill>
                <a:latin typeface="Calibri"/>
                <a:ea typeface="Calibri"/>
                <a:cs typeface="Calibri"/>
                <a:sym typeface="Calibri"/>
              </a:rPr>
              <a:t>2.2 Tính năng </a:t>
            </a:r>
            <a:endParaRPr b="1" sz="2600" u="sng">
              <a:solidFill>
                <a:srgbClr val="3A383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8"/>
          <p:cNvSpPr txBox="1"/>
          <p:nvPr>
            <p:ph idx="1" type="body"/>
          </p:nvPr>
        </p:nvSpPr>
        <p:spPr>
          <a:xfrm>
            <a:off x="683100" y="1643763"/>
            <a:ext cx="2660650" cy="3790751"/>
          </a:xfrm>
          <a:prstGeom prst="rect">
            <a:avLst/>
          </a:prstGeom>
          <a:noFill/>
          <a:ln>
            <a:noFill/>
          </a:ln>
        </p:spPr>
        <p:txBody>
          <a:bodyPr anchorCtr="0" anchor="t" bIns="34275" lIns="68550" spcFirstLastPara="1" rIns="68550" wrap="square" tIns="34275">
            <a:noAutofit/>
          </a:bodyPr>
          <a:lstStyle/>
          <a:p>
            <a:pPr indent="-228600" lvl="0" marL="228600" rtl="0" algn="just">
              <a:lnSpc>
                <a:spcPct val="150000"/>
              </a:lnSpc>
              <a:spcBef>
                <a:spcPts val="0"/>
              </a:spcBef>
              <a:spcAft>
                <a:spcPts val="0"/>
              </a:spcAft>
              <a:buClr>
                <a:schemeClr val="dk1"/>
              </a:buClr>
              <a:buSzPts val="1600"/>
              <a:buFont typeface="Noto Sans Symbols"/>
              <a:buChar char="▪"/>
            </a:pPr>
            <a:r>
              <a:rPr lang="en-US" sz="1600">
                <a:solidFill>
                  <a:schemeClr val="dk1"/>
                </a:solidFill>
                <a:latin typeface="Nunito Sans"/>
                <a:ea typeface="Nunito Sans"/>
                <a:cs typeface="Nunito Sans"/>
                <a:sym typeface="Nunito Sans"/>
              </a:rPr>
              <a:t>Sử dụng đơn giản nhưng hiệu quả được thiết kế́ hướng tới cho người dùng cuối</a:t>
            </a:r>
            <a:endParaRPr sz="1600">
              <a:solidFill>
                <a:schemeClr val="dk1"/>
              </a:solidFill>
              <a:latin typeface="Nunito Sans"/>
              <a:ea typeface="Nunito Sans"/>
              <a:cs typeface="Nunito Sans"/>
              <a:sym typeface="Nunito Sans"/>
            </a:endParaRPr>
          </a:p>
          <a:p>
            <a:pPr indent="-228600" lvl="0" marL="228600" rtl="0" algn="just">
              <a:lnSpc>
                <a:spcPct val="150000"/>
              </a:lnSpc>
              <a:spcBef>
                <a:spcPts val="0"/>
              </a:spcBef>
              <a:spcAft>
                <a:spcPts val="0"/>
              </a:spcAft>
              <a:buClr>
                <a:schemeClr val="dk1"/>
              </a:buClr>
              <a:buSzPts val="1600"/>
              <a:buFont typeface="Noto Sans Symbols"/>
              <a:buChar char="▪"/>
            </a:pPr>
            <a:r>
              <a:rPr lang="en-US" sz="1600">
                <a:solidFill>
                  <a:schemeClr val="dk1"/>
                </a:solidFill>
                <a:latin typeface="Nunito Sans"/>
                <a:ea typeface="Nunito Sans"/>
                <a:cs typeface="Nunito Sans"/>
                <a:sym typeface="Nunito Sans"/>
              </a:rPr>
              <a:t>Giúp doanh nghiệp dễ dàng giám sát cả đội xe và tra soát nhanh chóng những thông tin quan trọng </a:t>
            </a:r>
            <a:endParaRPr sz="1600">
              <a:solidFill>
                <a:schemeClr val="dk1"/>
              </a:solidFill>
              <a:latin typeface="Nunito Sans"/>
              <a:ea typeface="Nunito Sans"/>
              <a:cs typeface="Nunito Sans"/>
              <a:sym typeface="Nunito Sans"/>
            </a:endParaRPr>
          </a:p>
        </p:txBody>
      </p:sp>
      <p:pic>
        <p:nvPicPr>
          <p:cNvPr id="344" name="Google Shape;344;p18"/>
          <p:cNvPicPr preferRelativeResize="0"/>
          <p:nvPr/>
        </p:nvPicPr>
        <p:blipFill rotWithShape="1">
          <a:blip r:embed="rId3">
            <a:alphaModFix/>
          </a:blip>
          <a:srcRect b="0" l="0" r="0" t="0"/>
          <a:stretch/>
        </p:blipFill>
        <p:spPr>
          <a:xfrm>
            <a:off x="4062953" y="1461155"/>
            <a:ext cx="7445947" cy="4322152"/>
          </a:xfrm>
          <a:prstGeom prst="rect">
            <a:avLst/>
          </a:prstGeom>
          <a:noFill/>
          <a:ln>
            <a:noFill/>
          </a:ln>
          <a:effectLst>
            <a:outerShdw blurRad="190500" rotWithShape="0" algn="tl">
              <a:srgbClr val="000000">
                <a:alpha val="69412"/>
              </a:srgbClr>
            </a:outerShdw>
          </a:effectLst>
        </p:spPr>
      </p:pic>
      <p:sp>
        <p:nvSpPr>
          <p:cNvPr id="345" name="Google Shape;345;p18"/>
          <p:cNvSpPr txBox="1"/>
          <p:nvPr>
            <p:ph type="title"/>
          </p:nvPr>
        </p:nvSpPr>
        <p:spPr>
          <a:xfrm>
            <a:off x="991175" y="494539"/>
            <a:ext cx="4221848" cy="7143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1" lang="en-US" sz="2600" u="sng">
                <a:solidFill>
                  <a:srgbClr val="3A3838"/>
                </a:solidFill>
                <a:latin typeface="Calibri"/>
                <a:ea typeface="Calibri"/>
                <a:cs typeface="Calibri"/>
                <a:sym typeface="Calibri"/>
              </a:rPr>
              <a:t>2.3 Quản lý tập trung</a:t>
            </a:r>
            <a:endParaRPr b="1" sz="2600" u="sng">
              <a:solidFill>
                <a:srgbClr val="3A3838"/>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9"/>
          <p:cNvSpPr txBox="1"/>
          <p:nvPr>
            <p:ph idx="1" type="body"/>
          </p:nvPr>
        </p:nvSpPr>
        <p:spPr>
          <a:xfrm>
            <a:off x="527698" y="1963201"/>
            <a:ext cx="3827486" cy="4013393"/>
          </a:xfrm>
          <a:prstGeom prst="rect">
            <a:avLst/>
          </a:prstGeom>
          <a:noFill/>
          <a:ln>
            <a:noFill/>
          </a:ln>
        </p:spPr>
        <p:txBody>
          <a:bodyPr anchorCtr="0" anchor="t" bIns="34275" lIns="68550" spcFirstLastPara="1" rIns="68550" wrap="square" tIns="34275">
            <a:noAutofit/>
          </a:bodyPr>
          <a:lstStyle/>
          <a:p>
            <a:pPr indent="-228600" lvl="0" marL="228600" rtl="0" algn="l">
              <a:lnSpc>
                <a:spcPct val="150000"/>
              </a:lnSpc>
              <a:spcBef>
                <a:spcPts val="0"/>
              </a:spcBef>
              <a:spcAft>
                <a:spcPts val="0"/>
              </a:spcAft>
              <a:buClr>
                <a:schemeClr val="dk1"/>
              </a:buClr>
              <a:buSzPts val="1600"/>
              <a:buFont typeface="Noto Sans Symbols"/>
              <a:buChar char="▪"/>
            </a:pPr>
            <a:r>
              <a:rPr lang="en-US" sz="1600">
                <a:solidFill>
                  <a:schemeClr val="dk1"/>
                </a:solidFill>
                <a:latin typeface="Roboto"/>
                <a:ea typeface="Roboto"/>
                <a:cs typeface="Roboto"/>
                <a:sym typeface="Roboto"/>
              </a:rPr>
              <a:t>Báo cáo chi tiết về các sự kiện bất thường, lộ trình chuyến đi,….giúp doanh nghiệp giám sát và xây dựng những KPI phù hợp với việc giám sát xe vận tải</a:t>
            </a:r>
            <a:endParaRPr/>
          </a:p>
          <a:p>
            <a:pPr indent="-228600" lvl="0" marL="228600" rtl="0" algn="l">
              <a:lnSpc>
                <a:spcPct val="150000"/>
              </a:lnSpc>
              <a:spcBef>
                <a:spcPts val="0"/>
              </a:spcBef>
              <a:spcAft>
                <a:spcPts val="0"/>
              </a:spcAft>
              <a:buClr>
                <a:schemeClr val="dk1"/>
              </a:buClr>
              <a:buSzPts val="1600"/>
              <a:buFont typeface="Noto Sans Symbols"/>
              <a:buChar char="▪"/>
            </a:pPr>
            <a:r>
              <a:rPr lang="en-US" sz="1600">
                <a:solidFill>
                  <a:schemeClr val="dk1"/>
                </a:solidFill>
                <a:latin typeface="Roboto"/>
                <a:ea typeface="Roboto"/>
                <a:cs typeface="Roboto"/>
                <a:sym typeface="Roboto"/>
              </a:rPr>
              <a:t>Quản lý các sự kiện bất thường </a:t>
            </a:r>
            <a:endParaRPr sz="1600">
              <a:solidFill>
                <a:schemeClr val="dk1"/>
              </a:solidFill>
              <a:latin typeface="Roboto"/>
              <a:ea typeface="Roboto"/>
              <a:cs typeface="Roboto"/>
              <a:sym typeface="Roboto"/>
            </a:endParaRPr>
          </a:p>
          <a:p>
            <a:pPr indent="-228600" lvl="0" marL="228600" rtl="0" algn="l">
              <a:lnSpc>
                <a:spcPct val="150000"/>
              </a:lnSpc>
              <a:spcBef>
                <a:spcPts val="0"/>
              </a:spcBef>
              <a:spcAft>
                <a:spcPts val="0"/>
              </a:spcAft>
              <a:buClr>
                <a:schemeClr val="dk1"/>
              </a:buClr>
              <a:buSzPts val="1600"/>
              <a:buFont typeface="Noto Sans Symbols"/>
              <a:buChar char="▪"/>
            </a:pPr>
            <a:r>
              <a:rPr lang="en-US" sz="1600">
                <a:solidFill>
                  <a:schemeClr val="dk1"/>
                </a:solidFill>
                <a:latin typeface="Roboto"/>
                <a:ea typeface="Roboto"/>
                <a:cs typeface="Roboto"/>
                <a:sym typeface="Roboto"/>
              </a:rPr>
              <a:t>Lưu trư ̃- Phân tích - Báo cáo theo hành trình, sự kiện, phương tiện hoặc tài xế.</a:t>
            </a:r>
            <a:endParaRPr sz="1600">
              <a:solidFill>
                <a:schemeClr val="dk1"/>
              </a:solidFill>
              <a:latin typeface="Roboto"/>
              <a:ea typeface="Roboto"/>
              <a:cs typeface="Roboto"/>
              <a:sym typeface="Roboto"/>
            </a:endParaRPr>
          </a:p>
          <a:p>
            <a:pPr indent="-127000" lvl="0" marL="228600" rtl="0" algn="l">
              <a:lnSpc>
                <a:spcPct val="150000"/>
              </a:lnSpc>
              <a:spcBef>
                <a:spcPts val="0"/>
              </a:spcBef>
              <a:spcAft>
                <a:spcPts val="0"/>
              </a:spcAft>
              <a:buClr>
                <a:schemeClr val="dk1"/>
              </a:buClr>
              <a:buSzPts val="1600"/>
              <a:buNone/>
            </a:pPr>
            <a:r>
              <a:t/>
            </a:r>
            <a:endParaRPr sz="1600">
              <a:latin typeface="Roboto"/>
              <a:ea typeface="Roboto"/>
              <a:cs typeface="Roboto"/>
              <a:sym typeface="Roboto"/>
            </a:endParaRPr>
          </a:p>
        </p:txBody>
      </p:sp>
      <p:sp>
        <p:nvSpPr>
          <p:cNvPr id="354" name="Google Shape;354;p19"/>
          <p:cNvSpPr txBox="1"/>
          <p:nvPr>
            <p:ph type="title"/>
          </p:nvPr>
        </p:nvSpPr>
        <p:spPr>
          <a:xfrm>
            <a:off x="668599" y="706896"/>
            <a:ext cx="10668000" cy="7143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2600" u="sng">
                <a:latin typeface="Calibri"/>
                <a:ea typeface="Calibri"/>
                <a:cs typeface="Calibri"/>
                <a:sym typeface="Calibri"/>
              </a:rPr>
              <a:t>2.4 Thống kê báo cáo</a:t>
            </a:r>
            <a:endParaRPr b="1" sz="2600" u="sng">
              <a:latin typeface="Calibri"/>
              <a:ea typeface="Calibri"/>
              <a:cs typeface="Calibri"/>
              <a:sym typeface="Calibri"/>
            </a:endParaRPr>
          </a:p>
        </p:txBody>
      </p:sp>
      <p:pic>
        <p:nvPicPr>
          <p:cNvPr id="355" name="Google Shape;355;p19"/>
          <p:cNvPicPr preferRelativeResize="0"/>
          <p:nvPr/>
        </p:nvPicPr>
        <p:blipFill rotWithShape="1">
          <a:blip r:embed="rId3">
            <a:alphaModFix/>
          </a:blip>
          <a:srcRect b="0" l="0" r="0" t="0"/>
          <a:stretch/>
        </p:blipFill>
        <p:spPr>
          <a:xfrm>
            <a:off x="4450025" y="1582558"/>
            <a:ext cx="7214277" cy="44423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0"/>
          <p:cNvSpPr txBox="1"/>
          <p:nvPr>
            <p:ph type="title"/>
          </p:nvPr>
        </p:nvSpPr>
        <p:spPr>
          <a:xfrm>
            <a:off x="474811" y="273200"/>
            <a:ext cx="9224025" cy="713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200">
                <a:solidFill>
                  <a:srgbClr val="1C3678"/>
                </a:solidFill>
                <a:latin typeface="Calibri"/>
                <a:ea typeface="Calibri"/>
                <a:cs typeface="Calibri"/>
                <a:sym typeface="Calibri"/>
              </a:rPr>
              <a:t>Mô hình kiến trúc giải pháp tổng thể</a:t>
            </a:r>
            <a:endParaRPr sz="3200">
              <a:solidFill>
                <a:srgbClr val="1C3678"/>
              </a:solidFill>
              <a:latin typeface="Calibri"/>
              <a:ea typeface="Calibri"/>
              <a:cs typeface="Calibri"/>
              <a:sym typeface="Calibri"/>
            </a:endParaRPr>
          </a:p>
        </p:txBody>
      </p:sp>
      <p:pic>
        <p:nvPicPr>
          <p:cNvPr id="361" name="Google Shape;361;p20"/>
          <p:cNvPicPr preferRelativeResize="0"/>
          <p:nvPr/>
        </p:nvPicPr>
        <p:blipFill rotWithShape="1">
          <a:blip r:embed="rId3">
            <a:alphaModFix/>
          </a:blip>
          <a:srcRect b="0" l="0" r="0" t="0"/>
          <a:stretch/>
        </p:blipFill>
        <p:spPr>
          <a:xfrm>
            <a:off x="738790" y="-263951"/>
            <a:ext cx="10714420" cy="6938129"/>
          </a:xfrm>
          <a:prstGeom prst="rect">
            <a:avLst/>
          </a:prstGeom>
          <a:noFill/>
          <a:ln>
            <a:noFill/>
          </a:ln>
        </p:spPr>
      </p:pic>
    </p:spTree>
  </p:cSld>
  <p:clrMapOvr>
    <a:masterClrMapping/>
  </p:clrMapOvr>
  <mc:AlternateContent>
    <mc:Choice Requires="p14">
      <p:transition spd="slow" p14:dur="900">
        <p14:warp dir="in"/>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txBox="1"/>
          <p:nvPr>
            <p:ph type="title"/>
          </p:nvPr>
        </p:nvSpPr>
        <p:spPr>
          <a:xfrm>
            <a:off x="838200" y="365125"/>
            <a:ext cx="6533561" cy="87921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200">
                <a:solidFill>
                  <a:srgbClr val="1C3678"/>
                </a:solidFill>
                <a:latin typeface="Calibri"/>
                <a:ea typeface="Calibri"/>
                <a:cs typeface="Calibri"/>
                <a:sym typeface="Calibri"/>
              </a:rPr>
              <a:t>Thế mạnh của MK Vision</a:t>
            </a:r>
            <a:endParaRPr/>
          </a:p>
        </p:txBody>
      </p:sp>
      <p:grpSp>
        <p:nvGrpSpPr>
          <p:cNvPr id="368" name="Google Shape;368;p21"/>
          <p:cNvGrpSpPr/>
          <p:nvPr/>
        </p:nvGrpSpPr>
        <p:grpSpPr>
          <a:xfrm>
            <a:off x="2031999" y="1121790"/>
            <a:ext cx="8632961" cy="5371085"/>
            <a:chOff x="0" y="0"/>
            <a:chExt cx="8632961" cy="5371085"/>
          </a:xfrm>
        </p:grpSpPr>
        <p:sp>
          <p:nvSpPr>
            <p:cNvPr id="369" name="Google Shape;369;p21"/>
            <p:cNvSpPr/>
            <p:nvPr/>
          </p:nvSpPr>
          <p:spPr>
            <a:xfrm>
              <a:off x="0" y="0"/>
              <a:ext cx="5442896" cy="5371085"/>
            </a:xfrm>
            <a:prstGeom prst="triangle">
              <a:avLst>
                <a:gd fmla="val 50000" name="adj"/>
              </a:avLst>
            </a:prstGeom>
            <a:solidFill>
              <a:srgbClr val="599BD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1"/>
            <p:cNvSpPr/>
            <p:nvPr/>
          </p:nvSpPr>
          <p:spPr>
            <a:xfrm>
              <a:off x="1444710" y="687897"/>
              <a:ext cx="7188251" cy="1258184"/>
            </a:xfrm>
            <a:prstGeom prst="roundRect">
              <a:avLst>
                <a:gd fmla="val 16667" name="adj"/>
              </a:avLst>
            </a:prstGeom>
            <a:solidFill>
              <a:schemeClr val="lt1">
                <a:alpha val="89804"/>
              </a:schemeClr>
            </a:solidFill>
            <a:ln cap="flat" cmpd="sng" w="12700">
              <a:solidFill>
                <a:srgbClr val="599BD5"/>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1"/>
            <p:cNvSpPr txBox="1"/>
            <p:nvPr/>
          </p:nvSpPr>
          <p:spPr>
            <a:xfrm>
              <a:off x="1506129" y="749316"/>
              <a:ext cx="7065413" cy="1135346"/>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Nunito Sans"/>
                <a:buNone/>
              </a:pPr>
              <a:r>
                <a:rPr b="1" lang="en-US" sz="1800">
                  <a:solidFill>
                    <a:schemeClr val="dk1"/>
                  </a:solidFill>
                  <a:latin typeface="Nunito Sans"/>
                  <a:ea typeface="Nunito Sans"/>
                  <a:cs typeface="Nunito Sans"/>
                  <a:sym typeface="Nunito Sans"/>
                </a:rPr>
                <a:t>1. Made in Vietnam: sản xuất tại Việt Nam. Hỗ trợ support 24/7 </a:t>
              </a:r>
              <a:endParaRPr b="1" sz="4800">
                <a:solidFill>
                  <a:schemeClr val="dk1"/>
                </a:solidFill>
                <a:latin typeface="Nunito Sans"/>
                <a:ea typeface="Nunito Sans"/>
                <a:cs typeface="Nunito Sans"/>
                <a:sym typeface="Nunito Sans"/>
              </a:endParaRPr>
            </a:p>
          </p:txBody>
        </p:sp>
        <p:sp>
          <p:nvSpPr>
            <p:cNvPr id="372" name="Google Shape;372;p21"/>
            <p:cNvSpPr/>
            <p:nvPr/>
          </p:nvSpPr>
          <p:spPr>
            <a:xfrm>
              <a:off x="1409204" y="2069844"/>
              <a:ext cx="7143424" cy="909743"/>
            </a:xfrm>
            <a:prstGeom prst="roundRect">
              <a:avLst>
                <a:gd fmla="val 16667" name="adj"/>
              </a:avLst>
            </a:prstGeom>
            <a:solidFill>
              <a:schemeClr val="lt1">
                <a:alpha val="89804"/>
              </a:schemeClr>
            </a:solidFill>
            <a:ln cap="flat" cmpd="sng" w="12700">
              <a:solidFill>
                <a:srgbClr val="4CC38C"/>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1"/>
            <p:cNvSpPr txBox="1"/>
            <p:nvPr/>
          </p:nvSpPr>
          <p:spPr>
            <a:xfrm>
              <a:off x="1453614" y="2114254"/>
              <a:ext cx="7054604" cy="820923"/>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Nunito Sans"/>
                <a:buNone/>
              </a:pPr>
              <a:r>
                <a:rPr b="1" lang="en-US" sz="1800">
                  <a:solidFill>
                    <a:schemeClr val="dk1"/>
                  </a:solidFill>
                  <a:latin typeface="Nunito Sans"/>
                  <a:ea typeface="Nunito Sans"/>
                  <a:cs typeface="Nunito Sans"/>
                  <a:sym typeface="Nunito Sans"/>
                </a:rPr>
                <a:t>2. Ai Camera - xử lý tại biên là sản phẩm công nghiệp chiến lược ưu tiên triển khai năm 2026</a:t>
              </a:r>
              <a:endParaRPr sz="1800">
                <a:solidFill>
                  <a:schemeClr val="dk1"/>
                </a:solidFill>
                <a:latin typeface="Nunito Sans"/>
                <a:ea typeface="Nunito Sans"/>
                <a:cs typeface="Nunito Sans"/>
                <a:sym typeface="Nunito Sans"/>
              </a:endParaRPr>
            </a:p>
          </p:txBody>
        </p:sp>
        <p:sp>
          <p:nvSpPr>
            <p:cNvPr id="374" name="Google Shape;374;p21"/>
            <p:cNvSpPr/>
            <p:nvPr/>
          </p:nvSpPr>
          <p:spPr>
            <a:xfrm>
              <a:off x="1458657" y="3158954"/>
              <a:ext cx="7122652" cy="1665538"/>
            </a:xfrm>
            <a:prstGeom prst="roundRect">
              <a:avLst>
                <a:gd fmla="val 16667" name="adj"/>
              </a:avLst>
            </a:prstGeom>
            <a:solidFill>
              <a:schemeClr val="lt1">
                <a:alpha val="89804"/>
              </a:schemeClr>
            </a:solidFill>
            <a:ln cap="flat" cmpd="sng" w="12700">
              <a:solidFill>
                <a:srgbClr val="6FAB46"/>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txBox="1"/>
            <p:nvPr/>
          </p:nvSpPr>
          <p:spPr>
            <a:xfrm>
              <a:off x="1539962" y="3240259"/>
              <a:ext cx="6960042" cy="150292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dk1"/>
                </a:buClr>
                <a:buSzPts val="1800"/>
                <a:buFont typeface="Calibri"/>
                <a:buNone/>
              </a:pPr>
              <a:r>
                <a:rPr b="1" lang="en-US" sz="1800">
                  <a:solidFill>
                    <a:schemeClr val="dk1"/>
                  </a:solidFill>
                  <a:latin typeface="Calibri"/>
                  <a:ea typeface="Calibri"/>
                  <a:cs typeface="Calibri"/>
                  <a:sym typeface="Calibri"/>
                </a:rPr>
                <a:t>3. Make in Viet Nam – sản phẩm do Người Việt Nam làm chủ. Sản phẩm có thể cung cấp các giao thức cho các đối tác có thể sử dụng và customize theo yêu cầu riêng</a:t>
              </a:r>
              <a:endParaRPr b="1" sz="1800">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2"/>
          <p:cNvSpPr txBox="1"/>
          <p:nvPr>
            <p:ph type="title"/>
          </p:nvPr>
        </p:nvSpPr>
        <p:spPr>
          <a:xfrm>
            <a:off x="7927674" y="3429000"/>
            <a:ext cx="3035699" cy="62468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300"/>
              <a:buFont typeface="Calibri"/>
              <a:buNone/>
            </a:pPr>
            <a:r>
              <a:rPr lang="en-US" sz="1300"/>
              <a:t>Cần hình ảnh thực tế camera auto secure lắp trên xe oto</a:t>
            </a:r>
            <a:endParaRPr sz="1300"/>
          </a:p>
        </p:txBody>
      </p:sp>
      <p:pic>
        <p:nvPicPr>
          <p:cNvPr id="381" name="Google Shape;381;p22"/>
          <p:cNvPicPr preferRelativeResize="0"/>
          <p:nvPr/>
        </p:nvPicPr>
        <p:blipFill rotWithShape="1">
          <a:blip r:embed="rId3">
            <a:alphaModFix/>
          </a:blip>
          <a:srcRect b="0" l="0" r="0" t="0"/>
          <a:stretch/>
        </p:blipFill>
        <p:spPr>
          <a:xfrm>
            <a:off x="8069165" y="867266"/>
            <a:ext cx="3261853" cy="2518816"/>
          </a:xfrm>
          <a:prstGeom prst="rect">
            <a:avLst/>
          </a:prstGeom>
          <a:noFill/>
          <a:ln>
            <a:noFill/>
          </a:ln>
        </p:spPr>
      </p:pic>
      <p:sp>
        <p:nvSpPr>
          <p:cNvPr id="382" name="Google Shape;382;p22"/>
          <p:cNvSpPr txBox="1"/>
          <p:nvPr/>
        </p:nvSpPr>
        <p:spPr>
          <a:xfrm>
            <a:off x="1228627" y="2160863"/>
            <a:ext cx="5580668" cy="40318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Nunito Sans"/>
                <a:ea typeface="Nunito Sans"/>
                <a:cs typeface="Nunito Sans"/>
                <a:sym typeface="Nunito Sans"/>
              </a:rPr>
              <a:t>1. Giám sát hành trình và vị trí xe: camera kết hợp GPS giúp theo dõi lộ trình, thời gian dừng đỗ và tốc độ.</a:t>
            </a:r>
            <a:endParaRPr/>
          </a:p>
          <a:p>
            <a:pPr indent="0" lvl="0" marL="0" marR="0" rtl="0" algn="l">
              <a:spcBef>
                <a:spcPts val="0"/>
              </a:spcBef>
              <a:spcAft>
                <a:spcPts val="0"/>
              </a:spcAft>
              <a:buNone/>
            </a:pPr>
            <a:r>
              <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rPr lang="en-US" sz="1600">
                <a:solidFill>
                  <a:schemeClr val="dk1"/>
                </a:solidFill>
                <a:latin typeface="Nunito Sans"/>
                <a:ea typeface="Nunito Sans"/>
                <a:cs typeface="Nunito Sans"/>
                <a:sym typeface="Nunito Sans"/>
              </a:rPr>
              <a:t>2. Ghi hình sự kiện và bằng chứng: quay lại cảnh quay trước, trong khoang lái, hỗ trợ xử lý tranh chấp hoặc sự cố.</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rPr lang="en-US" sz="1600">
                <a:solidFill>
                  <a:schemeClr val="dk1"/>
                </a:solidFill>
                <a:latin typeface="Nunito Sans"/>
                <a:ea typeface="Nunito Sans"/>
                <a:cs typeface="Nunito Sans"/>
                <a:sym typeface="Nunito Sans"/>
              </a:rPr>
              <a:t>3. Kết nối từ xa &amp; cảnh báo tức thì: camera có kết nối 4G truyền hình ảnh/video về trung tâm quản lý, giúp xử lý nhanh khi có vấn đề.</a:t>
            </a:r>
            <a:endParaRPr/>
          </a:p>
          <a:p>
            <a:pPr indent="0" lvl="0" marL="0" marR="0" rtl="0" algn="l">
              <a:spcBef>
                <a:spcPts val="0"/>
              </a:spcBef>
              <a:spcAft>
                <a:spcPts val="0"/>
              </a:spcAft>
              <a:buNone/>
            </a:pPr>
            <a:r>
              <a:t/>
            </a:r>
            <a:endParaRPr sz="1600">
              <a:solidFill>
                <a:schemeClr val="dk1"/>
              </a:solidFill>
              <a:latin typeface="Nunito Sans"/>
              <a:ea typeface="Nunito Sans"/>
              <a:cs typeface="Nunito Sans"/>
              <a:sym typeface="Nunito Sans"/>
            </a:endParaRPr>
          </a:p>
          <a:p>
            <a:pPr indent="0" lvl="0" marL="0" marR="0" rtl="0" algn="l">
              <a:spcBef>
                <a:spcPts val="0"/>
              </a:spcBef>
              <a:spcAft>
                <a:spcPts val="0"/>
              </a:spcAft>
              <a:buNone/>
            </a:pPr>
            <a:r>
              <a:rPr lang="en-US" sz="1600">
                <a:solidFill>
                  <a:schemeClr val="dk1"/>
                </a:solidFill>
                <a:latin typeface="Nunito Sans"/>
                <a:ea typeface="Nunito Sans"/>
                <a:cs typeface="Nunito Sans"/>
                <a:sym typeface="Nunito Sans"/>
              </a:rPr>
              <a:t>4. Phân tích dữ liệu hành trình &amp; hành vi lái xe giúp doanh nghiệp đánh giá tài xế, tối ưu lộ trình và nâng cao an toàn vận hành.</a:t>
            </a:r>
            <a:endParaRPr sz="1600">
              <a:solidFill>
                <a:schemeClr val="dk1"/>
              </a:solidFill>
              <a:latin typeface="Nunito Sans"/>
              <a:ea typeface="Nunito Sans"/>
              <a:cs typeface="Nunito Sans"/>
              <a:sym typeface="Nunito Sans"/>
            </a:endParaRPr>
          </a:p>
          <a:p>
            <a:pPr indent="-184150" lvl="0" marL="285750" marR="0" rtl="0" algn="l">
              <a:spcBef>
                <a:spcPts val="0"/>
              </a:spcBef>
              <a:spcAft>
                <a:spcPts val="0"/>
              </a:spcAft>
              <a:buClr>
                <a:schemeClr val="dk1"/>
              </a:buClr>
              <a:buSzPts val="1600"/>
              <a:buFont typeface="Calibri"/>
              <a:buNone/>
            </a:pPr>
            <a:r>
              <a:t/>
            </a:r>
            <a:endParaRPr sz="1600">
              <a:solidFill>
                <a:schemeClr val="dk1"/>
              </a:solidFill>
              <a:latin typeface="Nunito Sans"/>
              <a:ea typeface="Nunito Sans"/>
              <a:cs typeface="Nunito Sans"/>
              <a:sym typeface="Nunito Sans"/>
            </a:endParaRPr>
          </a:p>
        </p:txBody>
      </p:sp>
      <p:pic>
        <p:nvPicPr>
          <p:cNvPr id="383" name="Google Shape;383;p22"/>
          <p:cNvPicPr preferRelativeResize="0"/>
          <p:nvPr/>
        </p:nvPicPr>
        <p:blipFill rotWithShape="1">
          <a:blip r:embed="rId4">
            <a:alphaModFix/>
          </a:blip>
          <a:srcRect b="0" l="0" r="0" t="0"/>
          <a:stretch/>
        </p:blipFill>
        <p:spPr>
          <a:xfrm>
            <a:off x="8069166" y="3930977"/>
            <a:ext cx="3261853" cy="2276793"/>
          </a:xfrm>
          <a:prstGeom prst="rect">
            <a:avLst/>
          </a:prstGeom>
          <a:noFill/>
          <a:ln>
            <a:noFill/>
          </a:ln>
        </p:spPr>
      </p:pic>
      <p:sp>
        <p:nvSpPr>
          <p:cNvPr id="384" name="Google Shape;384;p22"/>
          <p:cNvSpPr txBox="1"/>
          <p:nvPr/>
        </p:nvSpPr>
        <p:spPr>
          <a:xfrm>
            <a:off x="1226966" y="867266"/>
            <a:ext cx="6212264" cy="978729"/>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None/>
            </a:pPr>
            <a:r>
              <a:rPr b="1" lang="en-US" sz="3200">
                <a:solidFill>
                  <a:srgbClr val="1C3678"/>
                </a:solidFill>
                <a:latin typeface="Calibri"/>
                <a:ea typeface="Calibri"/>
                <a:cs typeface="Calibri"/>
                <a:sym typeface="Calibri"/>
              </a:rPr>
              <a:t>Ứng dụng của Camera hành trình Auto secure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3"/>
          <p:cNvSpPr txBox="1"/>
          <p:nvPr>
            <p:ph type="title"/>
          </p:nvPr>
        </p:nvSpPr>
        <p:spPr>
          <a:xfrm>
            <a:off x="2032000" y="327418"/>
            <a:ext cx="6552415" cy="78494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solidFill>
                  <a:srgbClr val="1C3678"/>
                </a:solidFill>
                <a:latin typeface="Calibri"/>
                <a:ea typeface="Calibri"/>
                <a:cs typeface="Calibri"/>
                <a:sym typeface="Calibri"/>
              </a:rPr>
              <a:t>Lợi ích cho doanh nghiệp </a:t>
            </a:r>
            <a:endParaRPr/>
          </a:p>
        </p:txBody>
      </p:sp>
      <p:grpSp>
        <p:nvGrpSpPr>
          <p:cNvPr id="390" name="Google Shape;390;p23"/>
          <p:cNvGrpSpPr/>
          <p:nvPr/>
        </p:nvGrpSpPr>
        <p:grpSpPr>
          <a:xfrm>
            <a:off x="1928305" y="1498325"/>
            <a:ext cx="8328058" cy="4551120"/>
            <a:chOff x="0" y="2562"/>
            <a:chExt cx="8328058" cy="4551120"/>
          </a:xfrm>
        </p:grpSpPr>
        <p:sp>
          <p:nvSpPr>
            <p:cNvPr id="391" name="Google Shape;391;p23"/>
            <p:cNvSpPr/>
            <p:nvPr/>
          </p:nvSpPr>
          <p:spPr>
            <a:xfrm>
              <a:off x="0" y="2562"/>
              <a:ext cx="8328058" cy="804960"/>
            </a:xfrm>
            <a:prstGeom prst="roundRect">
              <a:avLst>
                <a:gd fmla="val 16667" name="adj"/>
              </a:avLst>
            </a:prstGeom>
            <a:solidFill>
              <a:srgbClr val="3A66B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3"/>
            <p:cNvSpPr txBox="1"/>
            <p:nvPr/>
          </p:nvSpPr>
          <p:spPr>
            <a:xfrm>
              <a:off x="39295" y="41857"/>
              <a:ext cx="8249468" cy="72637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lang="en-US" sz="2800">
                  <a:solidFill>
                    <a:schemeClr val="lt1"/>
                  </a:solidFill>
                  <a:latin typeface="Calibri"/>
                  <a:ea typeface="Calibri"/>
                  <a:cs typeface="Calibri"/>
                  <a:sym typeface="Calibri"/>
                </a:rPr>
                <a:t>1. </a:t>
              </a:r>
              <a:r>
                <a:rPr b="0" i="0" lang="en-US" sz="2800">
                  <a:solidFill>
                    <a:schemeClr val="lt1"/>
                  </a:solidFill>
                  <a:latin typeface="Calibri"/>
                  <a:ea typeface="Calibri"/>
                  <a:cs typeface="Calibri"/>
                  <a:sym typeface="Calibri"/>
                </a:rPr>
                <a:t>Đảm bảo an toàn &amp; tuân thủ pháp lý</a:t>
              </a:r>
              <a:endParaRPr sz="2800">
                <a:solidFill>
                  <a:schemeClr val="lt1"/>
                </a:solidFill>
                <a:latin typeface="Calibri"/>
                <a:ea typeface="Calibri"/>
                <a:cs typeface="Calibri"/>
                <a:sym typeface="Calibri"/>
              </a:endParaRPr>
            </a:p>
          </p:txBody>
        </p:sp>
        <p:sp>
          <p:nvSpPr>
            <p:cNvPr id="393" name="Google Shape;393;p23"/>
            <p:cNvSpPr/>
            <p:nvPr/>
          </p:nvSpPr>
          <p:spPr>
            <a:xfrm>
              <a:off x="0" y="807522"/>
              <a:ext cx="8328058" cy="712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3"/>
            <p:cNvSpPr txBox="1"/>
            <p:nvPr/>
          </p:nvSpPr>
          <p:spPr>
            <a:xfrm>
              <a:off x="0" y="807522"/>
              <a:ext cx="8328058" cy="712080"/>
            </a:xfrm>
            <a:prstGeom prst="rect">
              <a:avLst/>
            </a:prstGeom>
            <a:noFill/>
            <a:ln>
              <a:noFill/>
            </a:ln>
          </p:spPr>
          <p:txBody>
            <a:bodyPr anchorCtr="0" anchor="t" bIns="20300" lIns="264400" spcFirstLastPara="1" rIns="113775" wrap="square" tIns="20300">
              <a:noAutofit/>
            </a:bodyPr>
            <a:lstStyle/>
            <a:p>
              <a:pPr indent="-171450" lvl="1" marL="171450" marR="0" rtl="0" algn="l">
                <a:lnSpc>
                  <a:spcPct val="90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 Giám sát hành vi lái xe, hạn chế tai nạn và đáp ứng Nghị định 10/2020 &amp; Thông tư 12/2020 của Bộ GTVT.</a:t>
              </a:r>
              <a:endParaRPr b="0" i="0" sz="1600" u="none" cap="none" strike="noStrike">
                <a:solidFill>
                  <a:schemeClr val="dk1"/>
                </a:solidFill>
                <a:latin typeface="Calibri"/>
                <a:ea typeface="Calibri"/>
                <a:cs typeface="Calibri"/>
                <a:sym typeface="Calibri"/>
              </a:endParaRPr>
            </a:p>
          </p:txBody>
        </p:sp>
        <p:sp>
          <p:nvSpPr>
            <p:cNvPr id="395" name="Google Shape;395;p23"/>
            <p:cNvSpPr/>
            <p:nvPr/>
          </p:nvSpPr>
          <p:spPr>
            <a:xfrm>
              <a:off x="0" y="1534613"/>
              <a:ext cx="8328058" cy="804960"/>
            </a:xfrm>
            <a:prstGeom prst="roundRect">
              <a:avLst>
                <a:gd fmla="val 16667" name="adj"/>
              </a:avLst>
            </a:prstGeom>
            <a:solidFill>
              <a:srgbClr val="6786C7"/>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
            <p:cNvSpPr txBox="1"/>
            <p:nvPr/>
          </p:nvSpPr>
          <p:spPr>
            <a:xfrm>
              <a:off x="39295" y="1573908"/>
              <a:ext cx="8249468" cy="72637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lang="en-US" sz="2800">
                  <a:solidFill>
                    <a:schemeClr val="lt1"/>
                  </a:solidFill>
                  <a:latin typeface="Calibri"/>
                  <a:ea typeface="Calibri"/>
                  <a:cs typeface="Calibri"/>
                  <a:sym typeface="Calibri"/>
                </a:rPr>
                <a:t>2. </a:t>
              </a:r>
              <a:r>
                <a:rPr b="0" i="0" lang="en-US" sz="2800">
                  <a:solidFill>
                    <a:schemeClr val="lt1"/>
                  </a:solidFill>
                  <a:latin typeface="Calibri"/>
                  <a:ea typeface="Calibri"/>
                  <a:cs typeface="Calibri"/>
                  <a:sym typeface="Calibri"/>
                </a:rPr>
                <a:t>Tối ưu quản lý &amp; hiệu suất vận hành</a:t>
              </a:r>
              <a:endParaRPr sz="2800">
                <a:solidFill>
                  <a:schemeClr val="lt1"/>
                </a:solidFill>
                <a:latin typeface="Calibri"/>
                <a:ea typeface="Calibri"/>
                <a:cs typeface="Calibri"/>
                <a:sym typeface="Calibri"/>
              </a:endParaRPr>
            </a:p>
          </p:txBody>
        </p:sp>
        <p:sp>
          <p:nvSpPr>
            <p:cNvPr id="397" name="Google Shape;397;p23"/>
            <p:cNvSpPr/>
            <p:nvPr/>
          </p:nvSpPr>
          <p:spPr>
            <a:xfrm>
              <a:off x="0" y="2324562"/>
              <a:ext cx="8328058" cy="712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3"/>
            <p:cNvSpPr txBox="1"/>
            <p:nvPr/>
          </p:nvSpPr>
          <p:spPr>
            <a:xfrm>
              <a:off x="0" y="2324562"/>
              <a:ext cx="8328058" cy="712080"/>
            </a:xfrm>
            <a:prstGeom prst="rect">
              <a:avLst/>
            </a:prstGeom>
            <a:noFill/>
            <a:ln>
              <a:noFill/>
            </a:ln>
          </p:spPr>
          <p:txBody>
            <a:bodyPr anchorCtr="0" anchor="t" bIns="20300" lIns="264400" spcFirstLastPara="1" rIns="113775" wrap="square" tIns="20300">
              <a:noAutofit/>
            </a:bodyPr>
            <a:lstStyle/>
            <a:p>
              <a:pPr indent="-171450" lvl="1" marL="171450" marR="0" rtl="0" algn="l">
                <a:lnSpc>
                  <a:spcPct val="90000"/>
                </a:lnSpc>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Theo dõi hành trình, tốc độ, điểm dừng đỗ giúp điều phối xe hiệu quả, tiết kiệm nhiên liệu và chi phí</a:t>
              </a:r>
              <a:endParaRPr b="0" i="0" sz="1600" u="none" cap="none" strike="noStrike">
                <a:solidFill>
                  <a:schemeClr val="dk1"/>
                </a:solidFill>
                <a:latin typeface="Calibri"/>
                <a:ea typeface="Calibri"/>
                <a:cs typeface="Calibri"/>
                <a:sym typeface="Calibri"/>
              </a:endParaRPr>
            </a:p>
          </p:txBody>
        </p:sp>
        <p:sp>
          <p:nvSpPr>
            <p:cNvPr id="399" name="Google Shape;399;p23"/>
            <p:cNvSpPr/>
            <p:nvPr/>
          </p:nvSpPr>
          <p:spPr>
            <a:xfrm>
              <a:off x="0" y="3036642"/>
              <a:ext cx="8328058" cy="804960"/>
            </a:xfrm>
            <a:prstGeom prst="roundRect">
              <a:avLst>
                <a:gd fmla="val 16667" name="adj"/>
              </a:avLst>
            </a:prstGeom>
            <a:solidFill>
              <a:srgbClr val="9BABD7"/>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3"/>
            <p:cNvSpPr txBox="1"/>
            <p:nvPr/>
          </p:nvSpPr>
          <p:spPr>
            <a:xfrm>
              <a:off x="39295" y="3075937"/>
              <a:ext cx="8249468" cy="726370"/>
            </a:xfrm>
            <a:prstGeom prst="rect">
              <a:avLst/>
            </a:prstGeom>
            <a:noFill/>
            <a:ln>
              <a:noFill/>
            </a:ln>
          </p:spPr>
          <p:txBody>
            <a:bodyPr anchorCtr="0" anchor="ctr" bIns="106675" lIns="106675" spcFirstLastPara="1" rIns="106675" wrap="square" tIns="106675">
              <a:noAutofit/>
            </a:bodyPr>
            <a:lstStyle/>
            <a:p>
              <a:pPr indent="0" lvl="0" marL="0" marR="0" rtl="0" algn="l">
                <a:lnSpc>
                  <a:spcPct val="90000"/>
                </a:lnSpc>
                <a:spcBef>
                  <a:spcPts val="0"/>
                </a:spcBef>
                <a:spcAft>
                  <a:spcPts val="0"/>
                </a:spcAft>
                <a:buClr>
                  <a:schemeClr val="lt1"/>
                </a:buClr>
                <a:buSzPts val="2800"/>
                <a:buFont typeface="Calibri"/>
                <a:buNone/>
              </a:pPr>
              <a:r>
                <a:rPr b="0" i="0" lang="en-US" sz="2800">
                  <a:solidFill>
                    <a:schemeClr val="lt1"/>
                  </a:solidFill>
                  <a:latin typeface="Calibri"/>
                  <a:ea typeface="Calibri"/>
                  <a:cs typeface="Calibri"/>
                  <a:sym typeface="Calibri"/>
                </a:rPr>
                <a:t>3. Bảo vệ doanh nghiệp &amp; tài xế</a:t>
              </a:r>
              <a:endParaRPr sz="2800">
                <a:solidFill>
                  <a:schemeClr val="lt1"/>
                </a:solidFill>
                <a:latin typeface="Calibri"/>
                <a:ea typeface="Calibri"/>
                <a:cs typeface="Calibri"/>
                <a:sym typeface="Calibri"/>
              </a:endParaRPr>
            </a:p>
          </p:txBody>
        </p:sp>
        <p:sp>
          <p:nvSpPr>
            <p:cNvPr id="401" name="Google Shape;401;p23"/>
            <p:cNvSpPr/>
            <p:nvPr/>
          </p:nvSpPr>
          <p:spPr>
            <a:xfrm>
              <a:off x="0" y="3841602"/>
              <a:ext cx="8328058" cy="712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3"/>
            <p:cNvSpPr txBox="1"/>
            <p:nvPr/>
          </p:nvSpPr>
          <p:spPr>
            <a:xfrm>
              <a:off x="0" y="3841602"/>
              <a:ext cx="8328058" cy="712080"/>
            </a:xfrm>
            <a:prstGeom prst="rect">
              <a:avLst/>
            </a:prstGeom>
            <a:noFill/>
            <a:ln>
              <a:noFill/>
            </a:ln>
          </p:spPr>
          <p:txBody>
            <a:bodyPr anchorCtr="0" anchor="t" bIns="20300" lIns="264400" spcFirstLastPara="1" rIns="113775" wrap="square" tIns="20300">
              <a:noAutofit/>
            </a:bodyPr>
            <a:lstStyle/>
            <a:p>
              <a:pPr indent="-171450" lvl="1" marL="171450" marR="0" rtl="0" algn="l">
                <a:lnSpc>
                  <a:spcPct val="90000"/>
                </a:lnSpc>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  Hình ảnh và dữ liệu lưu trữ làm bằng chứng minh bạch khi xảy ra sự cố hoặc tranh chấp, tăng uy tín dịch vụ.</a:t>
              </a:r>
              <a:endParaRPr b="0" i="0" sz="1600" u="none" cap="none" strike="noStrik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2024-08-20T02:49:43Z</dcterms:created>
  <dc:creator>Ngoan Pham</dc:creator>
</cp:coreProperties>
</file>